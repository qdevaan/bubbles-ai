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 the panel. Name the project in one breath: Bubbles is an AI that listens while you talk, whispers what to say next, and remembers everything so you can ask about it later. Two-person FYP. We'll show the problem, the solution, how it's built, and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did what. A clean two-person ownership boundary: Ahmad owns the client and architecture, Attique owns the AI brain and memory. R&amp;D project, areas: AI, NLP, mobile. SDG: Quality Education.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with a relatable moment — interview, viva, negotiation, tough call. You freeze, you fumble, and you only spot the mistake afterwards. Bubbles fixes the timing problem: it helps during, and remembers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decides interviews, vivas, deals, relationships. Writing has Grammarly, spell-check, undo. Speech has nothing — the feedback always arrives too late. That asymmetry is the wound the whole project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origin story. We weren't chasing a market — we hit this ourselves and confirmed it with classmates (introspection + peer interviews, our elicitation method). Three recurring failure moments became the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camps. Notetakers transcribe and summarize after the fact. Assistants answer commands but treat each chat as an island. Neither coaches you live, and neither remembers your people and topics across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formal research gap from our literature review. Otter/Gong analyze after the fact. Siri/ChatGPT forget across sessions. Enterprise tools are team-first and data-hungry. Nobody serves one user, improving one skill, privately, in the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Post-hoc notes are good for records, useless for the moment. Once the conversation is over, advice is worth almost nothing. Coaching has to happen during, not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once, slowly. It is the single sentence the entire project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maps to SDG Quality Education. We frame Bubbles as a habit-building skill app: measurable progress, targeted practice, and rewards for improvement — gamified communication growth for a single learner.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product in four verbs. Everything technical that follows hangs off these four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Bubbles listens to the other person, decides if advice is worth giving, and pushes a short tip mid-conversation without breaking your flow. It only advises on what the OTHER person said — never parrots your own sentence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fact, you interrogate your own history. Deep, context-aware Q&amp;A — streaming or batched. This is where the big reasoning model in the router earns its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real slip-ups become flashcards; you practice them; the dashboard shows you improving; gamification keeps you coming back. This closes the loop from feedback to measurable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technical claim: a Hybrid Memory Architecture. Vector search finds semantically similar past moments; the knowledge graph stores factual relationships (User knows Asma; Asma manages Project X). We fuse both before answering.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vector RAG is fuzzy — it retrieves text that reads similar, which is how models hallucinate or confuse events. By forcing a graph lookup — a neighbor/ego-graph search around the entities in your question — we anchor answers to hard relationships vectors miss. This directly attacks hallucination.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deliberately keep the phone a thin client — saves battery, keeps models swappable, runs the same on a cheap phone. Trade-off: it needs internet (an explicit constraint). We accepted that because real-time SOTA models don't fit on-device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three tiers once, top to bottom. Everything in this section zooms into one box of this picture — tell the panel that up front so they don't get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Layered client: Screens → State (Riverpod/Provider) → Repositories → custom cache → Services. 25+ screens, 11 repositories, 25 services. Offline-first via a stale-while-revalidate cache over local SQLite.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Two-person team — we can't build and maintain six native apps. Flutter gives one Dart codebase, real desktop targets, and smooth custom UI. React Native's JS bridge and thin desktop story ruled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3.12 + FastAPI on Uvicorn/Gunicorn. Fully async, so one server juggles many live audio streams. 40-plus endpoints under /v1, grouped by feature. Pydantic v2 validates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Django/Flask are sync-first; blocking a worker per audio stream doesn't scale. FastAPI's async lets us await network and LLM calls without freezing the server, and gives typed schemas plus auto-generated OpenAPI docs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task is routed to the model that fits it — fast 8B for live advice, a bigger model for deep Q&amp;A. Per-provider circuit breakers: if a provider starts failing, we trip the breaker and fail over to the next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provider means one outage kills the app, one price hike traps you, one model is wrong for some tasks. Splitting by task lets us use a fast 8B for live advice (latency) and a big model for deep Q&amp;A (quality), with automatic failover for uptime.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Porcupine wake-word runs on-device. LiveKit carries low-latency audio. Groq Whisper transcribes. Speaker enrollment/identification separates you from them. Edge-TTS speaks responses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you talk, the fast LLM pulls out people, topics and events as nodes, and their relationships as edges, modeled with NetworkX and persisted in Postgres link tables. You can browse it as an interactive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expensive runs in Redis-backed ARQ workers, idempotent so a retry never double-counts. Only live advice stays on the hot path. The result: rich features without slowing the real-time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naive Wingman chained everything serially: speech-to-text, then vector search, then the LLM, then response. 3 to 5 seconds of dead air — useless in a live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re-architected: only advice generation stays on the hot path; knowledge extraction and memory saving became fire-and-forget background jobs. Switching the live tier to an 8B model on Groq's LPU dropped inference from about 2 seconds to about 300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mic stream merges speakers and confuses the AI. We parse the word-level timestamps to split User from Other, so Wingman reacts to what the other person said — not your own sentence echoing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Hallucination: we force graph facts first and add a strict system prompt that tells the model to admit when it doesn't know. State: HTTP is stateless and forgets mid-conversation, so we hold live context in RAM for speed while persisting it to Supabase for reliability.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a demo script — it has production guardrails. Failures isolate, retries are safe, jobs never double-fire, abuse is rate-limited, and IDs are sortable and collision-safe.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Breadth shot — every one of these has a real screen and a wired endpoint. We'll deep-dive four that show genuine engineering, not just UI. LIVE DEMO CUE: this is a good point to switch to the app — start a Wingman session, show an insight card, end it, ask the Consultant about it, show the graph, open the dashboard. Keep screenshot fallback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Runs entirely on the phone — counts fillers and hedges over the last 8 seconds, smoothed. The server only stores the per-turn score at session end for the trend chart. Zero added latency to the live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mistakes from your sessions become cards. Correct moves a card up a box and shows it less often; wrong resets to Box 1. XP on every transition (+15 to advance, +5 for showing up), idempotent so the same transition never double-pays. Spaced-repetition science applied to your weak spots.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endpoint, time-bucketed by range (daily, weekly, monthly). No new tables — pure read-side aggregation over existing data, with previous-window deltas. Mistakes trending down and sentiment up is the entire point of the app, made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Pulls real people, tasks and events from your knowledge graph and generates practice scenarios. Finish one and it's auto-graded against its success criteria; a pass earns 40 XP. The feed never repeats because used topics are excluded.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Habit mechanics borrowed from Duolingo, applied to talking: quests, achievements, rewards, streaks. The leaderboard is opt-in, consistent with our privacy-first 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memory made visible — a navigable map of who and what you talk about, on a timeline. The same nodes and edges the AI uses for grounding, now browsable by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pillars — vector memory (384-dim embeddings for recall), the knowledge graph (nodes and edges), and session logs (verbatim transcript with speaker role). Postgres + pgvector, with versioned, reversible Alembic migrations.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 Row-Level Security means a user can only ever touch their own graph and memories — enforced at the database, not just the app. This turns the third research gap into a design principle: a personal growth tool, not org surveillance.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day one we can see the system — errors, traces, latency, metrics, structured logs. This is what separates a deployable system from an FYP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judge success: transcription accuracy (WER, target ≥85% in moderate noise), end-to-end glass-to-glass latency, hallucination rate, and retrieval accuracy. On 30+ trial sessions we answered with correct context about 80% of the time — and we're improving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Strict typing, linting, real test layers, load testing for concurrency, and containerized multi-stage builds. Not vibes —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R&amp;D suits an iterative model — build each hard module (diarization, RAG, knowledge graph) in isolation, test it, then integrate. Ahmad owns client, architecture and data; Attique owns the AI pipeline, memory and backend. Map to the Gantt if the panel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deliberate boundaries of the current build — not a wishlist, just the edges of what we demo today: English-only, cloud-connected, thin client. These are design choices, and examiners respect a clear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this is the roadmap, separate from everything already demoed. Tie each item to something concrete — the ONNX local-embedding fallback already exists, so offline is a continuation not a fantasy; multi-language and tone coaching extend pipelines we already run. Keep it honest: these are next, not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Restate the one-sentence pitch from the first slide. Invite questions. If demo wasn't shown earlier, this is the fallback spot to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9692640" y="-1097280"/>
            <a:ext cx="3840480" cy="3840480"/>
          </a:xfrm>
          <a:prstGeom prst="ellipse">
            <a:avLst/>
          </a:prstGeom>
          <a:solidFill>
            <a:srgbClr val="0E7C86">
              <a:alpha val="14000"/>
            </a:srgbClr>
          </a:solidFill>
          <a:ln/>
        </p:spPr>
      </p:sp>
      <p:sp>
        <p:nvSpPr>
          <p:cNvPr id="3" name="Shape 1"/>
          <p:cNvSpPr/>
          <p:nvPr/>
        </p:nvSpPr>
        <p:spPr>
          <a:xfrm>
            <a:off x="10881360" y="1554480"/>
            <a:ext cx="1371600" cy="1371600"/>
          </a:xfrm>
          <a:prstGeom prst="ellipse">
            <a:avLst/>
          </a:prstGeom>
          <a:solidFill>
            <a:srgbClr val="E08A2B">
              <a:alpha val="16000"/>
            </a:srgbClr>
          </a:solidFill>
          <a:ln/>
        </p:spPr>
      </p:sp>
      <p:sp>
        <p:nvSpPr>
          <p:cNvPr id="4" name="Shape 2"/>
          <p:cNvSpPr/>
          <p:nvPr/>
        </p:nvSpPr>
        <p:spPr>
          <a:xfrm>
            <a:off x="-822960" y="5120640"/>
            <a:ext cx="2743200" cy="2743200"/>
          </a:xfrm>
          <a:prstGeom prst="ellipse">
            <a:avLst/>
          </a:prstGeom>
          <a:solidFill>
            <a:srgbClr val="0E7C86">
              <a:alpha val="10000"/>
            </a:srgbClr>
          </a:solidFill>
          <a:ln/>
        </p:spPr>
      </p:sp>
      <p:pic>
        <p:nvPicPr>
          <p:cNvPr id="5" name="Image 0" descr="assets/logo_dark.png"/>
          <p:cNvPicPr>
            <a:picLocks noChangeAspect="1"/>
          </p:cNvPicPr>
          <p:nvPr/>
        </p:nvPicPr>
        <p:blipFill>
          <a:blip r:embed="rId1"/>
          <a:stretch>
            <a:fillRect/>
          </a:stretch>
        </p:blipFill>
        <p:spPr>
          <a:xfrm>
            <a:off x="566928" y="822960"/>
            <a:ext cx="1371600" cy="1371600"/>
          </a:xfrm>
          <a:prstGeom prst="rect">
            <a:avLst/>
          </a:prstGeom>
        </p:spPr>
      </p:pic>
      <p:sp>
        <p:nvSpPr>
          <p:cNvPr id="6" name="Text 3"/>
          <p:cNvSpPr/>
          <p:nvPr/>
        </p:nvSpPr>
        <p:spPr>
          <a:xfrm>
            <a:off x="566928" y="2331720"/>
            <a:ext cx="9144000" cy="1371600"/>
          </a:xfrm>
          <a:prstGeom prst="rect">
            <a:avLst/>
          </a:prstGeom>
          <a:noFill/>
          <a:ln/>
        </p:spPr>
        <p:txBody>
          <a:bodyPr wrap="square" rtlCol="0" anchor="ctr"/>
          <a:lstStyle/>
          <a:p>
            <a:pPr indent="0" marL="0">
              <a:buNone/>
            </a:pPr>
            <a:r>
              <a:rPr lang="en-US" sz="7800" b="1" dirty="0">
                <a:solidFill>
                  <a:srgbClr val="1A1A1A"/>
                </a:solidFill>
                <a:latin typeface="Segoe UI" pitchFamily="34" charset="0"/>
                <a:ea typeface="Segoe UI" pitchFamily="34" charset="-122"/>
                <a:cs typeface="Segoe UI" pitchFamily="34" charset="-120"/>
              </a:rPr>
              <a:t>Bubbles</a:t>
            </a:r>
            <a:endParaRPr lang="en-US" sz="7800" dirty="0"/>
          </a:p>
        </p:txBody>
      </p:sp>
      <p:sp>
        <p:nvSpPr>
          <p:cNvPr id="7" name="Text 4"/>
          <p:cNvSpPr/>
          <p:nvPr/>
        </p:nvSpPr>
        <p:spPr>
          <a:xfrm>
            <a:off x="566928" y="3703320"/>
            <a:ext cx="8778240" cy="914400"/>
          </a:xfrm>
          <a:prstGeom prst="rect">
            <a:avLst/>
          </a:prstGeom>
          <a:noFill/>
          <a:ln/>
        </p:spPr>
        <p:txBody>
          <a:bodyPr wrap="square" rtlCol="0" anchor="ctr"/>
          <a:lstStyle/>
          <a:p>
            <a:pPr indent="0" marL="0">
              <a:lnSpc>
                <a:spcPct val="105000"/>
              </a:lnSpc>
              <a:buNone/>
            </a:pPr>
            <a:r>
              <a:rPr lang="en-US" sz="2100" dirty="0">
                <a:solidFill>
                  <a:srgbClr val="3A3A3A"/>
                </a:solidFill>
                <a:latin typeface="Segoe UI" pitchFamily="34" charset="0"/>
                <a:ea typeface="Segoe UI" pitchFamily="34" charset="-122"/>
                <a:cs typeface="Segoe UI" pitchFamily="34" charset="-120"/>
              </a:rPr>
              <a:t>Your AI conversation co-pilot — live coaching while you talk,</a:t>
            </a:r>
            <a:endParaRPr lang="en-US" sz="2100" dirty="0"/>
          </a:p>
          <a:p>
            <a:pPr indent="0" marL="0">
              <a:lnSpc>
                <a:spcPct val="105000"/>
              </a:lnSpc>
              <a:buNone/>
            </a:pPr>
            <a:r>
              <a:rPr lang="en-US" sz="2100" dirty="0">
                <a:solidFill>
                  <a:srgbClr val="3A3A3A"/>
                </a:solidFill>
                <a:latin typeface="Segoe UI" pitchFamily="34" charset="0"/>
                <a:ea typeface="Segoe UI" pitchFamily="34" charset="-122"/>
                <a:cs typeface="Segoe UI" pitchFamily="34" charset="-120"/>
              </a:rPr>
              <a:t>and a smart assistant that remembers.</a:t>
            </a:r>
            <a:endParaRPr lang="en-US" sz="2100" dirty="0"/>
          </a:p>
        </p:txBody>
      </p:sp>
      <p:sp>
        <p:nvSpPr>
          <p:cNvPr id="8" name="Shape 5"/>
          <p:cNvSpPr/>
          <p:nvPr/>
        </p:nvSpPr>
        <p:spPr>
          <a:xfrm>
            <a:off x="566928" y="4892040"/>
            <a:ext cx="1371600" cy="45720"/>
          </a:xfrm>
          <a:prstGeom prst="rect">
            <a:avLst/>
          </a:prstGeom>
          <a:solidFill>
            <a:srgbClr val="0E7C86"/>
          </a:solidFill>
          <a:ln/>
        </p:spPr>
      </p:sp>
      <p:sp>
        <p:nvSpPr>
          <p:cNvPr id="9" name="Text 6"/>
          <p:cNvSpPr/>
          <p:nvPr/>
        </p:nvSpPr>
        <p:spPr>
          <a:xfrm>
            <a:off x="566928" y="5074920"/>
            <a:ext cx="10058400" cy="365760"/>
          </a:xfrm>
          <a:prstGeom prst="rect">
            <a:avLst/>
          </a:prstGeom>
          <a:noFill/>
          <a:ln/>
        </p:spPr>
        <p:txBody>
          <a:bodyPr wrap="square" rtlCol="0" anchor="ctr"/>
          <a:lstStyle/>
          <a:p>
            <a:pPr indent="0" marL="0">
              <a:buNone/>
            </a:pPr>
            <a:r>
              <a:rPr lang="en-US" sz="1400" b="1" dirty="0">
                <a:solidFill>
                  <a:srgbClr val="1A1A1A"/>
                </a:solidFill>
                <a:latin typeface="Segoe UI" pitchFamily="34" charset="0"/>
                <a:ea typeface="Segoe UI" pitchFamily="34" charset="-122"/>
                <a:cs typeface="Segoe UI" pitchFamily="34" charset="-120"/>
              </a:rPr>
              <a:t>Muhammad Ahmad</a:t>
            </a:r>
            <a:pPr indent="0" marL="0">
              <a:buNone/>
            </a:pPr>
            <a:r>
              <a:rPr lang="en-US" sz="1400" dirty="0">
                <a:solidFill>
                  <a:srgbClr val="1A1A1A"/>
                </a:solidFill>
                <a:latin typeface="Segoe UI" pitchFamily="34" charset="0"/>
                <a:ea typeface="Segoe UI" pitchFamily="34" charset="-122"/>
                <a:cs typeface="Segoe UI" pitchFamily="34" charset="-120"/>
              </a:rPr>
              <a:t>  FA22-BCS-025      </a:t>
            </a:r>
            <a:pPr indent="0" marL="0">
              <a:buNone/>
            </a:pPr>
            <a:r>
              <a:rPr lang="en-US" sz="1400" b="1" dirty="0">
                <a:solidFill>
                  <a:srgbClr val="1A1A1A"/>
                </a:solidFill>
                <a:latin typeface="Segoe UI" pitchFamily="34" charset="0"/>
                <a:ea typeface="Segoe UI" pitchFamily="34" charset="-122"/>
                <a:cs typeface="Segoe UI" pitchFamily="34" charset="-120"/>
              </a:rPr>
              <a:t>Attique Rehman</a:t>
            </a:r>
            <a:pPr indent="0" marL="0">
              <a:buNone/>
            </a:pPr>
            <a:r>
              <a:rPr lang="en-US" sz="1400" dirty="0">
                <a:solidFill>
                  <a:srgbClr val="1A1A1A"/>
                </a:solidFill>
                <a:latin typeface="Segoe UI" pitchFamily="34" charset="0"/>
                <a:ea typeface="Segoe UI" pitchFamily="34" charset="-122"/>
                <a:cs typeface="Segoe UI" pitchFamily="34" charset="-120"/>
              </a:rPr>
              <a:t>  FA22-BCS-164</a:t>
            </a:r>
            <a:endParaRPr lang="en-US" sz="1400" dirty="0"/>
          </a:p>
        </p:txBody>
      </p:sp>
      <p:sp>
        <p:nvSpPr>
          <p:cNvPr id="10" name="Text 7"/>
          <p:cNvSpPr/>
          <p:nvPr/>
        </p:nvSpPr>
        <p:spPr>
          <a:xfrm>
            <a:off x="566928" y="5532120"/>
            <a:ext cx="10515600" cy="365760"/>
          </a:xfrm>
          <a:prstGeom prst="rect">
            <a:avLst/>
          </a:prstGeom>
          <a:noFill/>
          <a:ln/>
        </p:spPr>
        <p:txBody>
          <a:bodyPr wrap="square" rtlCol="0" anchor="ctr"/>
          <a:lstStyle/>
          <a:p>
            <a:pPr indent="0" marL="0">
              <a:buNone/>
            </a:pPr>
            <a:r>
              <a:rPr lang="en-US" sz="1250" dirty="0">
                <a:solidFill>
                  <a:srgbClr val="9A9285"/>
                </a:solidFill>
                <a:latin typeface="Segoe UI" pitchFamily="34" charset="0"/>
                <a:ea typeface="Segoe UI" pitchFamily="34" charset="-122"/>
                <a:cs typeface="Segoe UI" pitchFamily="34" charset="-120"/>
              </a:rPr>
              <a:t>Final Year Project · Mid Evaluation · BS Computer Science · COMSATS University Islamabad, Lahore Campus</a:t>
            </a:r>
            <a:endParaRPr lang="en-US" sz="125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THE TEAM &amp; THE BRIEF</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Two people. One split-stack build.</a:t>
            </a:r>
            <a:endParaRPr lang="en-US" sz="3300" dirty="0"/>
          </a:p>
        </p:txBody>
      </p:sp>
      <p:sp>
        <p:nvSpPr>
          <p:cNvPr id="4" name="Shape 2"/>
          <p:cNvSpPr/>
          <p:nvPr/>
        </p:nvSpPr>
        <p:spPr>
          <a:xfrm>
            <a:off x="566928" y="2103120"/>
            <a:ext cx="5212080" cy="3017520"/>
          </a:xfrm>
          <a:prstGeom prst="roundRect">
            <a:avLst>
              <a:gd name="adj" fmla="val 3636"/>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Shape 3"/>
          <p:cNvSpPr/>
          <p:nvPr/>
        </p:nvSpPr>
        <p:spPr>
          <a:xfrm>
            <a:off x="566928" y="2103120"/>
            <a:ext cx="128016" cy="3017520"/>
          </a:xfrm>
          <a:prstGeom prst="rect">
            <a:avLst/>
          </a:prstGeom>
          <a:solidFill>
            <a:srgbClr val="0E7C86"/>
          </a:solidFill>
          <a:ln/>
        </p:spPr>
      </p:sp>
      <p:sp>
        <p:nvSpPr>
          <p:cNvPr id="6" name="Text 4"/>
          <p:cNvSpPr/>
          <p:nvPr/>
        </p:nvSpPr>
        <p:spPr>
          <a:xfrm>
            <a:off x="978408" y="2359152"/>
            <a:ext cx="4572000" cy="411480"/>
          </a:xfrm>
          <a:prstGeom prst="rect">
            <a:avLst/>
          </a:prstGeom>
          <a:noFill/>
          <a:ln/>
        </p:spPr>
        <p:txBody>
          <a:bodyPr wrap="square" rtlCol="0" anchor="ctr"/>
          <a:lstStyle/>
          <a:p>
            <a:pPr indent="0" marL="0">
              <a:buNone/>
            </a:pPr>
            <a:r>
              <a:rPr lang="en-US" sz="2200" b="1" dirty="0">
                <a:solidFill>
                  <a:srgbClr val="1A1A1A"/>
                </a:solidFill>
                <a:latin typeface="Segoe UI" pitchFamily="34" charset="0"/>
                <a:ea typeface="Segoe UI" pitchFamily="34" charset="-122"/>
                <a:cs typeface="Segoe UI" pitchFamily="34" charset="-120"/>
              </a:rPr>
              <a:t>Muhammad Ahmad</a:t>
            </a:r>
            <a:endParaRPr lang="en-US" sz="2200" dirty="0"/>
          </a:p>
        </p:txBody>
      </p:sp>
      <p:sp>
        <p:nvSpPr>
          <p:cNvPr id="7" name="Text 5"/>
          <p:cNvSpPr/>
          <p:nvPr/>
        </p:nvSpPr>
        <p:spPr>
          <a:xfrm>
            <a:off x="978408" y="2798064"/>
            <a:ext cx="4572000" cy="320040"/>
          </a:xfrm>
          <a:prstGeom prst="rect">
            <a:avLst/>
          </a:prstGeom>
          <a:noFill/>
          <a:ln/>
        </p:spPr>
        <p:txBody>
          <a:bodyPr wrap="square" rtlCol="0" anchor="ctr"/>
          <a:lstStyle/>
          <a:p>
            <a:pPr indent="0" marL="0">
              <a:buNone/>
            </a:pPr>
            <a:r>
              <a:rPr lang="en-US" sz="1300" b="1" dirty="0">
                <a:solidFill>
                  <a:srgbClr val="0E7C86"/>
                </a:solidFill>
                <a:latin typeface="Segoe UI" pitchFamily="34" charset="0"/>
                <a:ea typeface="Segoe UI" pitchFamily="34" charset="-122"/>
                <a:cs typeface="Segoe UI" pitchFamily="34" charset="-120"/>
              </a:rPr>
              <a:t>FA22-BCS-025   ·   App · Architecture · Frontend</a:t>
            </a:r>
            <a:endParaRPr lang="en-US" sz="1300" dirty="0"/>
          </a:p>
        </p:txBody>
      </p:sp>
      <p:sp>
        <p:nvSpPr>
          <p:cNvPr id="8" name="Text 6"/>
          <p:cNvSpPr/>
          <p:nvPr/>
        </p:nvSpPr>
        <p:spPr>
          <a:xfrm>
            <a:off x="978408" y="3246120"/>
            <a:ext cx="4526280" cy="1691640"/>
          </a:xfrm>
          <a:prstGeom prst="rect">
            <a:avLst/>
          </a:prstGeom>
          <a:noFill/>
          <a:ln/>
        </p:spPr>
        <p:txBody>
          <a:bodyPr wrap="square" rtlCol="0" anchor="ctr"/>
          <a:lstStyle/>
          <a:p>
            <a:pPr marL="342900" indent="-342900">
              <a:lnSpc>
                <a:spcPct val="120000"/>
              </a:lnSpc>
              <a:spcAft>
                <a:spcPts val="700"/>
              </a:spcAft>
              <a:buSzPct val="100000"/>
              <a:buChar char="•"/>
            </a:pPr>
            <a:r>
              <a:rPr lang="en-US" sz="1500" dirty="0">
                <a:solidFill>
                  <a:srgbClr val="3A3A3A"/>
                </a:solidFill>
                <a:latin typeface="Segoe UI" pitchFamily="34" charset="0"/>
                <a:ea typeface="Segoe UI" pitchFamily="34" charset="-122"/>
                <a:cs typeface="Segoe UI" pitchFamily="34" charset="-120"/>
              </a:rPr>
              <a:t>Flutter client across 6 platforms</a:t>
            </a:r>
            <a:endParaRPr lang="en-US" sz="1500" dirty="0"/>
          </a:p>
          <a:p>
            <a:pPr marL="342900" indent="-342900">
              <a:lnSpc>
                <a:spcPct val="120000"/>
              </a:lnSpc>
              <a:spcAft>
                <a:spcPts val="700"/>
              </a:spcAft>
              <a:buSzPct val="100000"/>
              <a:buChar char="•"/>
            </a:pPr>
            <a:r>
              <a:rPr lang="en-US" sz="1500" dirty="0">
                <a:solidFill>
                  <a:srgbClr val="3A3A3A"/>
                </a:solidFill>
                <a:latin typeface="Segoe UI" pitchFamily="34" charset="0"/>
                <a:ea typeface="Segoe UI" pitchFamily="34" charset="-122"/>
                <a:cs typeface="Segoe UI" pitchFamily="34" charset="-120"/>
              </a:rPr>
              <a:t>System architecture &amp; data model</a:t>
            </a:r>
            <a:endParaRPr lang="en-US" sz="1500" dirty="0"/>
          </a:p>
          <a:p>
            <a:pPr marL="342900" indent="-342900">
              <a:lnSpc>
                <a:spcPct val="120000"/>
              </a:lnSpc>
              <a:spcAft>
                <a:spcPts val="700"/>
              </a:spcAft>
              <a:buSzPct val="100000"/>
              <a:buChar char="•"/>
            </a:pPr>
            <a:r>
              <a:rPr lang="en-US" sz="1500" dirty="0">
                <a:solidFill>
                  <a:srgbClr val="3A3A3A"/>
                </a:solidFill>
                <a:latin typeface="Segoe UI" pitchFamily="34" charset="0"/>
                <a:ea typeface="Segoe UI" pitchFamily="34" charset="-122"/>
                <a:cs typeface="Segoe UI" pitchFamily="34" charset="-120"/>
              </a:rPr>
              <a:t>Auth, UI/UX, caching, releases</a:t>
            </a:r>
            <a:endParaRPr lang="en-US" sz="1500" dirty="0"/>
          </a:p>
        </p:txBody>
      </p:sp>
      <p:sp>
        <p:nvSpPr>
          <p:cNvPr id="9" name="Shape 7"/>
          <p:cNvSpPr/>
          <p:nvPr/>
        </p:nvSpPr>
        <p:spPr>
          <a:xfrm>
            <a:off x="6144768" y="2103120"/>
            <a:ext cx="5212080" cy="3017520"/>
          </a:xfrm>
          <a:prstGeom prst="roundRect">
            <a:avLst>
              <a:gd name="adj" fmla="val 3636"/>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0" name="Shape 8"/>
          <p:cNvSpPr/>
          <p:nvPr/>
        </p:nvSpPr>
        <p:spPr>
          <a:xfrm>
            <a:off x="6144768" y="2103120"/>
            <a:ext cx="128016" cy="3017520"/>
          </a:xfrm>
          <a:prstGeom prst="rect">
            <a:avLst/>
          </a:prstGeom>
          <a:solidFill>
            <a:srgbClr val="E08A2B"/>
          </a:solidFill>
          <a:ln/>
        </p:spPr>
      </p:sp>
      <p:sp>
        <p:nvSpPr>
          <p:cNvPr id="11" name="Text 9"/>
          <p:cNvSpPr/>
          <p:nvPr/>
        </p:nvSpPr>
        <p:spPr>
          <a:xfrm>
            <a:off x="6556248" y="2359152"/>
            <a:ext cx="4572000" cy="411480"/>
          </a:xfrm>
          <a:prstGeom prst="rect">
            <a:avLst/>
          </a:prstGeom>
          <a:noFill/>
          <a:ln/>
        </p:spPr>
        <p:txBody>
          <a:bodyPr wrap="square" rtlCol="0" anchor="ctr"/>
          <a:lstStyle/>
          <a:p>
            <a:pPr indent="0" marL="0">
              <a:buNone/>
            </a:pPr>
            <a:r>
              <a:rPr lang="en-US" sz="2200" b="1" dirty="0">
                <a:solidFill>
                  <a:srgbClr val="1A1A1A"/>
                </a:solidFill>
                <a:latin typeface="Segoe UI" pitchFamily="34" charset="0"/>
                <a:ea typeface="Segoe UI" pitchFamily="34" charset="-122"/>
                <a:cs typeface="Segoe UI" pitchFamily="34" charset="-120"/>
              </a:rPr>
              <a:t>Attique Rehman</a:t>
            </a:r>
            <a:endParaRPr lang="en-US" sz="2200" dirty="0"/>
          </a:p>
        </p:txBody>
      </p:sp>
      <p:sp>
        <p:nvSpPr>
          <p:cNvPr id="12" name="Text 10"/>
          <p:cNvSpPr/>
          <p:nvPr/>
        </p:nvSpPr>
        <p:spPr>
          <a:xfrm>
            <a:off x="6556248" y="2798064"/>
            <a:ext cx="4572000" cy="320040"/>
          </a:xfrm>
          <a:prstGeom prst="rect">
            <a:avLst/>
          </a:prstGeom>
          <a:noFill/>
          <a:ln/>
        </p:spPr>
        <p:txBody>
          <a:bodyPr wrap="square" rtlCol="0" anchor="ctr"/>
          <a:lstStyle/>
          <a:p>
            <a:pPr indent="0" marL="0">
              <a:buNone/>
            </a:pPr>
            <a:r>
              <a:rPr lang="en-US" sz="1300" b="1" dirty="0">
                <a:solidFill>
                  <a:srgbClr val="0E7C86"/>
                </a:solidFill>
                <a:latin typeface="Segoe UI" pitchFamily="34" charset="0"/>
                <a:ea typeface="Segoe UI" pitchFamily="34" charset="-122"/>
                <a:cs typeface="Segoe UI" pitchFamily="34" charset="-120"/>
              </a:rPr>
              <a:t>FA22-BCS-164   ·   AI · Backend · Memory systems</a:t>
            </a:r>
            <a:endParaRPr lang="en-US" sz="1300" dirty="0"/>
          </a:p>
        </p:txBody>
      </p:sp>
      <p:sp>
        <p:nvSpPr>
          <p:cNvPr id="13" name="Text 11"/>
          <p:cNvSpPr/>
          <p:nvPr/>
        </p:nvSpPr>
        <p:spPr>
          <a:xfrm>
            <a:off x="6556248" y="3246120"/>
            <a:ext cx="4526280" cy="1691640"/>
          </a:xfrm>
          <a:prstGeom prst="rect">
            <a:avLst/>
          </a:prstGeom>
          <a:noFill/>
          <a:ln/>
        </p:spPr>
        <p:txBody>
          <a:bodyPr wrap="square" rtlCol="0" anchor="ctr"/>
          <a:lstStyle/>
          <a:p>
            <a:pPr marL="342900" indent="-342900">
              <a:lnSpc>
                <a:spcPct val="120000"/>
              </a:lnSpc>
              <a:spcAft>
                <a:spcPts val="700"/>
              </a:spcAft>
              <a:buSzPct val="100000"/>
              <a:buChar char="•"/>
            </a:pPr>
            <a:r>
              <a:rPr lang="en-US" sz="1500" dirty="0">
                <a:solidFill>
                  <a:srgbClr val="3A3A3A"/>
                </a:solidFill>
                <a:latin typeface="Segoe UI" pitchFamily="34" charset="0"/>
                <a:ea typeface="Segoe UI" pitchFamily="34" charset="-122"/>
                <a:cs typeface="Segoe UI" pitchFamily="34" charset="-120"/>
              </a:rPr>
              <a:t>FastAPI brain &amp; LLM router</a:t>
            </a:r>
            <a:endParaRPr lang="en-US" sz="1500" dirty="0"/>
          </a:p>
          <a:p>
            <a:pPr marL="342900" indent="-342900">
              <a:lnSpc>
                <a:spcPct val="120000"/>
              </a:lnSpc>
              <a:spcAft>
                <a:spcPts val="700"/>
              </a:spcAft>
              <a:buSzPct val="100000"/>
              <a:buChar char="•"/>
            </a:pPr>
            <a:r>
              <a:rPr lang="en-US" sz="1500" dirty="0">
                <a:solidFill>
                  <a:srgbClr val="3A3A3A"/>
                </a:solidFill>
                <a:latin typeface="Segoe UI" pitchFamily="34" charset="0"/>
                <a:ea typeface="Segoe UI" pitchFamily="34" charset="-122"/>
                <a:cs typeface="Segoe UI" pitchFamily="34" charset="-120"/>
              </a:rPr>
              <a:t>Knowledge graph + vector memory</a:t>
            </a:r>
            <a:endParaRPr lang="en-US" sz="1500" dirty="0"/>
          </a:p>
          <a:p>
            <a:pPr marL="342900" indent="-342900">
              <a:lnSpc>
                <a:spcPct val="120000"/>
              </a:lnSpc>
              <a:spcAft>
                <a:spcPts val="700"/>
              </a:spcAft>
              <a:buSzPct val="100000"/>
              <a:buChar char="•"/>
            </a:pPr>
            <a:r>
              <a:rPr lang="en-US" sz="1500" dirty="0">
                <a:solidFill>
                  <a:srgbClr val="3A3A3A"/>
                </a:solidFill>
                <a:latin typeface="Segoe UI" pitchFamily="34" charset="0"/>
                <a:ea typeface="Segoe UI" pitchFamily="34" charset="-122"/>
                <a:cs typeface="Segoe UI" pitchFamily="34" charset="-120"/>
              </a:rPr>
              <a:t>Real-time pipeline &amp; workers</a:t>
            </a:r>
            <a:endParaRPr lang="en-US" sz="1500" dirty="0"/>
          </a:p>
        </p:txBody>
      </p:sp>
      <p:sp>
        <p:nvSpPr>
          <p:cNvPr id="14" name="Text 12"/>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5" name="Text 13"/>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01</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IN PLAIN ENGLISH</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A friend in your ear — and a memory that lasts.</a:t>
            </a:r>
            <a:endParaRPr lang="en-US" sz="3300" dirty="0"/>
          </a:p>
        </p:txBody>
      </p:sp>
      <p:sp>
        <p:nvSpPr>
          <p:cNvPr id="4" name="Shape 2"/>
          <p:cNvSpPr/>
          <p:nvPr/>
        </p:nvSpPr>
        <p:spPr>
          <a:xfrm>
            <a:off x="566928" y="2148840"/>
            <a:ext cx="914400" cy="914400"/>
          </a:xfrm>
          <a:prstGeom prst="ellipse">
            <a:avLst/>
          </a:prstGeom>
          <a:solidFill>
            <a:srgbClr val="E4EFEF"/>
          </a:solidFill>
          <a:ln w="19050">
            <a:solidFill>
              <a:srgbClr val="0E7C86"/>
            </a:solidFill>
            <a:prstDash val="solid"/>
          </a:ln>
        </p:spPr>
      </p:sp>
      <p:sp>
        <p:nvSpPr>
          <p:cNvPr id="5" name="Text 3"/>
          <p:cNvSpPr/>
          <p:nvPr/>
        </p:nvSpPr>
        <p:spPr>
          <a:xfrm>
            <a:off x="566928" y="2148840"/>
            <a:ext cx="914400" cy="914400"/>
          </a:xfrm>
          <a:prstGeom prst="rect">
            <a:avLst/>
          </a:prstGeom>
          <a:noFill/>
          <a:ln/>
        </p:spPr>
        <p:txBody>
          <a:bodyPr wrap="square" rtlCol="0" anchor="ctr"/>
          <a:lstStyle/>
          <a:p>
            <a:pPr algn="ctr" indent="0" marL="0">
              <a:buNone/>
            </a:pPr>
            <a:r>
              <a:rPr lang="en-US" sz="3000" b="1" dirty="0">
                <a:solidFill>
                  <a:srgbClr val="0E7C86"/>
                </a:solidFill>
                <a:latin typeface="Segoe UI" pitchFamily="34" charset="0"/>
                <a:ea typeface="Segoe UI" pitchFamily="34" charset="-122"/>
                <a:cs typeface="Segoe UI" pitchFamily="34" charset="-120"/>
              </a:rPr>
              <a:t>1</a:t>
            </a:r>
            <a:endParaRPr lang="en-US" sz="3000" dirty="0"/>
          </a:p>
        </p:txBody>
      </p:sp>
      <p:sp>
        <p:nvSpPr>
          <p:cNvPr id="6" name="Text 4"/>
          <p:cNvSpPr/>
          <p:nvPr/>
        </p:nvSpPr>
        <p:spPr>
          <a:xfrm>
            <a:off x="1755648" y="2167128"/>
            <a:ext cx="3657600" cy="457200"/>
          </a:xfrm>
          <a:prstGeom prst="rect">
            <a:avLst/>
          </a:prstGeom>
          <a:noFill/>
          <a:ln/>
        </p:spPr>
        <p:txBody>
          <a:bodyPr wrap="square" rtlCol="0" anchor="ctr"/>
          <a:lstStyle/>
          <a:p>
            <a:pPr indent="0" marL="0">
              <a:buNone/>
            </a:pPr>
            <a:r>
              <a:rPr lang="en-US" sz="2300" b="1" dirty="0">
                <a:solidFill>
                  <a:srgbClr val="1A1A1A"/>
                </a:solidFill>
                <a:latin typeface="Segoe UI" pitchFamily="34" charset="0"/>
                <a:ea typeface="Segoe UI" pitchFamily="34" charset="-122"/>
                <a:cs typeface="Segoe UI" pitchFamily="34" charset="-120"/>
              </a:rPr>
              <a:t>Listens</a:t>
            </a:r>
            <a:endParaRPr lang="en-US" sz="2300" dirty="0"/>
          </a:p>
        </p:txBody>
      </p:sp>
      <p:sp>
        <p:nvSpPr>
          <p:cNvPr id="7" name="Text 5"/>
          <p:cNvSpPr/>
          <p:nvPr/>
        </p:nvSpPr>
        <p:spPr>
          <a:xfrm>
            <a:off x="1755648" y="2624328"/>
            <a:ext cx="9601200" cy="457200"/>
          </a:xfrm>
          <a:prstGeom prst="rect">
            <a:avLst/>
          </a:prstGeom>
          <a:noFill/>
          <a:ln/>
        </p:spPr>
        <p:txBody>
          <a:bodyPr wrap="square" rtlCol="0" anchor="ctr"/>
          <a:lstStyle/>
          <a:p>
            <a:pPr indent="0" marL="0">
              <a:buNone/>
            </a:pPr>
            <a:r>
              <a:rPr lang="en-US" sz="1600" dirty="0">
                <a:solidFill>
                  <a:srgbClr val="3A3A3A"/>
                </a:solidFill>
                <a:latin typeface="Segoe UI" pitchFamily="34" charset="0"/>
                <a:ea typeface="Segoe UI" pitchFamily="34" charset="-122"/>
                <a:cs typeface="Segoe UI" pitchFamily="34" charset="-120"/>
              </a:rPr>
              <a:t>Hears the conversation as it happens, in real time.</a:t>
            </a:r>
            <a:endParaRPr lang="en-US" sz="1600" dirty="0"/>
          </a:p>
        </p:txBody>
      </p:sp>
      <p:sp>
        <p:nvSpPr>
          <p:cNvPr id="8" name="Shape 6"/>
          <p:cNvSpPr/>
          <p:nvPr/>
        </p:nvSpPr>
        <p:spPr>
          <a:xfrm>
            <a:off x="566928" y="3474720"/>
            <a:ext cx="914400" cy="914400"/>
          </a:xfrm>
          <a:prstGeom prst="ellipse">
            <a:avLst/>
          </a:prstGeom>
          <a:solidFill>
            <a:srgbClr val="E4EFEF"/>
          </a:solidFill>
          <a:ln w="19050">
            <a:solidFill>
              <a:srgbClr val="0E7C86"/>
            </a:solidFill>
            <a:prstDash val="solid"/>
          </a:ln>
        </p:spPr>
      </p:sp>
      <p:sp>
        <p:nvSpPr>
          <p:cNvPr id="9" name="Text 7"/>
          <p:cNvSpPr/>
          <p:nvPr/>
        </p:nvSpPr>
        <p:spPr>
          <a:xfrm>
            <a:off x="566928" y="3474720"/>
            <a:ext cx="914400" cy="914400"/>
          </a:xfrm>
          <a:prstGeom prst="rect">
            <a:avLst/>
          </a:prstGeom>
          <a:noFill/>
          <a:ln/>
        </p:spPr>
        <p:txBody>
          <a:bodyPr wrap="square" rtlCol="0" anchor="ctr"/>
          <a:lstStyle/>
          <a:p>
            <a:pPr algn="ctr" indent="0" marL="0">
              <a:buNone/>
            </a:pPr>
            <a:r>
              <a:rPr lang="en-US" sz="3000" b="1" dirty="0">
                <a:solidFill>
                  <a:srgbClr val="0E7C86"/>
                </a:solidFill>
                <a:latin typeface="Segoe UI" pitchFamily="34" charset="0"/>
                <a:ea typeface="Segoe UI" pitchFamily="34" charset="-122"/>
                <a:cs typeface="Segoe UI" pitchFamily="34" charset="-120"/>
              </a:rPr>
              <a:t>2</a:t>
            </a:r>
            <a:endParaRPr lang="en-US" sz="3000" dirty="0"/>
          </a:p>
        </p:txBody>
      </p:sp>
      <p:sp>
        <p:nvSpPr>
          <p:cNvPr id="10" name="Text 8"/>
          <p:cNvSpPr/>
          <p:nvPr/>
        </p:nvSpPr>
        <p:spPr>
          <a:xfrm>
            <a:off x="1755648" y="3493008"/>
            <a:ext cx="3657600" cy="457200"/>
          </a:xfrm>
          <a:prstGeom prst="rect">
            <a:avLst/>
          </a:prstGeom>
          <a:noFill/>
          <a:ln/>
        </p:spPr>
        <p:txBody>
          <a:bodyPr wrap="square" rtlCol="0" anchor="ctr"/>
          <a:lstStyle/>
          <a:p>
            <a:pPr indent="0" marL="0">
              <a:buNone/>
            </a:pPr>
            <a:r>
              <a:rPr lang="en-US" sz="2300" b="1" dirty="0">
                <a:solidFill>
                  <a:srgbClr val="1A1A1A"/>
                </a:solidFill>
                <a:latin typeface="Segoe UI" pitchFamily="34" charset="0"/>
                <a:ea typeface="Segoe UI" pitchFamily="34" charset="-122"/>
                <a:cs typeface="Segoe UI" pitchFamily="34" charset="-120"/>
              </a:rPr>
              <a:t>Suggests</a:t>
            </a:r>
            <a:endParaRPr lang="en-US" sz="2300" dirty="0"/>
          </a:p>
        </p:txBody>
      </p:sp>
      <p:sp>
        <p:nvSpPr>
          <p:cNvPr id="11" name="Text 9"/>
          <p:cNvSpPr/>
          <p:nvPr/>
        </p:nvSpPr>
        <p:spPr>
          <a:xfrm>
            <a:off x="1755648" y="3950208"/>
            <a:ext cx="9601200" cy="457200"/>
          </a:xfrm>
          <a:prstGeom prst="rect">
            <a:avLst/>
          </a:prstGeom>
          <a:noFill/>
          <a:ln/>
        </p:spPr>
        <p:txBody>
          <a:bodyPr wrap="square" rtlCol="0" anchor="ctr"/>
          <a:lstStyle/>
          <a:p>
            <a:pPr indent="0" marL="0">
              <a:buNone/>
            </a:pPr>
            <a:r>
              <a:rPr lang="en-US" sz="1600" dirty="0">
                <a:solidFill>
                  <a:srgbClr val="3A3A3A"/>
                </a:solidFill>
                <a:latin typeface="Segoe UI" pitchFamily="34" charset="0"/>
                <a:ea typeface="Segoe UI" pitchFamily="34" charset="-122"/>
                <a:cs typeface="Segoe UI" pitchFamily="34" charset="-120"/>
              </a:rPr>
              <a:t>Quietly whispers what to say next, so you never freeze.</a:t>
            </a:r>
            <a:endParaRPr lang="en-US" sz="1600" dirty="0"/>
          </a:p>
        </p:txBody>
      </p:sp>
      <p:sp>
        <p:nvSpPr>
          <p:cNvPr id="12" name="Shape 10"/>
          <p:cNvSpPr/>
          <p:nvPr/>
        </p:nvSpPr>
        <p:spPr>
          <a:xfrm>
            <a:off x="566928" y="4800600"/>
            <a:ext cx="914400" cy="914400"/>
          </a:xfrm>
          <a:prstGeom prst="ellipse">
            <a:avLst/>
          </a:prstGeom>
          <a:solidFill>
            <a:srgbClr val="E4EFEF"/>
          </a:solidFill>
          <a:ln w="19050">
            <a:solidFill>
              <a:srgbClr val="0E7C86"/>
            </a:solidFill>
            <a:prstDash val="solid"/>
          </a:ln>
        </p:spPr>
      </p:sp>
      <p:sp>
        <p:nvSpPr>
          <p:cNvPr id="13" name="Text 11"/>
          <p:cNvSpPr/>
          <p:nvPr/>
        </p:nvSpPr>
        <p:spPr>
          <a:xfrm>
            <a:off x="566928" y="4800600"/>
            <a:ext cx="914400" cy="914400"/>
          </a:xfrm>
          <a:prstGeom prst="rect">
            <a:avLst/>
          </a:prstGeom>
          <a:noFill/>
          <a:ln/>
        </p:spPr>
        <p:txBody>
          <a:bodyPr wrap="square" rtlCol="0" anchor="ctr"/>
          <a:lstStyle/>
          <a:p>
            <a:pPr algn="ctr" indent="0" marL="0">
              <a:buNone/>
            </a:pPr>
            <a:r>
              <a:rPr lang="en-US" sz="3000" b="1" dirty="0">
                <a:solidFill>
                  <a:srgbClr val="0E7C86"/>
                </a:solidFill>
                <a:latin typeface="Segoe UI" pitchFamily="34" charset="0"/>
                <a:ea typeface="Segoe UI" pitchFamily="34" charset="-122"/>
                <a:cs typeface="Segoe UI" pitchFamily="34" charset="-120"/>
              </a:rPr>
              <a:t>3</a:t>
            </a:r>
            <a:endParaRPr lang="en-US" sz="3000" dirty="0"/>
          </a:p>
        </p:txBody>
      </p:sp>
      <p:sp>
        <p:nvSpPr>
          <p:cNvPr id="14" name="Text 12"/>
          <p:cNvSpPr/>
          <p:nvPr/>
        </p:nvSpPr>
        <p:spPr>
          <a:xfrm>
            <a:off x="1755648" y="4818888"/>
            <a:ext cx="3657600" cy="457200"/>
          </a:xfrm>
          <a:prstGeom prst="rect">
            <a:avLst/>
          </a:prstGeom>
          <a:noFill/>
          <a:ln/>
        </p:spPr>
        <p:txBody>
          <a:bodyPr wrap="square" rtlCol="0" anchor="ctr"/>
          <a:lstStyle/>
          <a:p>
            <a:pPr indent="0" marL="0">
              <a:buNone/>
            </a:pPr>
            <a:r>
              <a:rPr lang="en-US" sz="2300" b="1" dirty="0">
                <a:solidFill>
                  <a:srgbClr val="1A1A1A"/>
                </a:solidFill>
                <a:latin typeface="Segoe UI" pitchFamily="34" charset="0"/>
                <a:ea typeface="Segoe UI" pitchFamily="34" charset="-122"/>
                <a:cs typeface="Segoe UI" pitchFamily="34" charset="-120"/>
              </a:rPr>
              <a:t>Remembers</a:t>
            </a:r>
            <a:endParaRPr lang="en-US" sz="2300" dirty="0"/>
          </a:p>
        </p:txBody>
      </p:sp>
      <p:sp>
        <p:nvSpPr>
          <p:cNvPr id="15" name="Text 13"/>
          <p:cNvSpPr/>
          <p:nvPr/>
        </p:nvSpPr>
        <p:spPr>
          <a:xfrm>
            <a:off x="1755648" y="5276088"/>
            <a:ext cx="9601200" cy="457200"/>
          </a:xfrm>
          <a:prstGeom prst="rect">
            <a:avLst/>
          </a:prstGeom>
          <a:noFill/>
          <a:ln/>
        </p:spPr>
        <p:txBody>
          <a:bodyPr wrap="square" rtlCol="0" anchor="ctr"/>
          <a:lstStyle/>
          <a:p>
            <a:pPr indent="0" marL="0">
              <a:buNone/>
            </a:pPr>
            <a:r>
              <a:rPr lang="en-US" sz="1600" dirty="0">
                <a:solidFill>
                  <a:srgbClr val="3A3A3A"/>
                </a:solidFill>
                <a:latin typeface="Segoe UI" pitchFamily="34" charset="0"/>
                <a:ea typeface="Segoe UI" pitchFamily="34" charset="-122"/>
                <a:cs typeface="Segoe UI" pitchFamily="34" charset="-120"/>
              </a:rPr>
              <a:t>Keeps your people and topics, so you can ask about them later.</a:t>
            </a:r>
            <a:endParaRPr lang="en-US" sz="1600" dirty="0"/>
          </a:p>
        </p:txBody>
      </p:sp>
      <p:sp>
        <p:nvSpPr>
          <p:cNvPr id="16" name="Shape 14"/>
          <p:cNvSpPr/>
          <p:nvPr/>
        </p:nvSpPr>
        <p:spPr>
          <a:xfrm>
            <a:off x="10607040" y="4937760"/>
            <a:ext cx="2377440" cy="2377440"/>
          </a:xfrm>
          <a:prstGeom prst="ellipse">
            <a:avLst/>
          </a:prstGeom>
          <a:solidFill>
            <a:srgbClr val="E08A2B">
              <a:alpha val="12000"/>
            </a:srgbClr>
          </a:solidFill>
          <a:ln/>
        </p:spPr>
      </p:sp>
      <p:sp>
        <p:nvSpPr>
          <p:cNvPr id="17" name="Text 15"/>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8" name="Text 16"/>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02</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par>
                    <p:cTn id="142" presetID="10" presetClass="entr" presetSubtype="0" fill="hold" grpId="0" nodeType="afterEffect">
                      <p:stCondLst>
                        <p:cond delay="1680"/>
                      </p:stCondLst>
                      <p:childTnLst>
                        <p:set>
                          <p:cBhvr>
                            <p:cTn id="143" dur="1" fill="hold">
                              <p:stCondLst>
                                <p:cond delay="0"/>
                              </p:stCondLst>
                            </p:cTn>
                            <p:tgtEl>
                              <p:spTgt spid="16"/>
                            </p:tgtEl>
                            <p:attrNameLst>
                              <p:attrName>style.visibility</p:attrName>
                            </p:attrNameLst>
                          </p:cBhvr>
                          <p:to>
                            <p:strVal val="visible"/>
                          </p:to>
                        </p:set>
                        <p:animEffect transition="in" filter="fade">
                          <p:cBhvr>
                            <p:cTn id="144" dur="450"/>
                            <p:tgtEl>
                              <p:spTgt spid="16"/>
                            </p:tgtEl>
                          </p:cBhvr>
                        </p:animEffect>
                      </p:childTnLst>
                    </p:cTn>
                  </p:par>
                  <p:par>
                    <p:cTn id="145" presetID="10" presetClass="entr" presetSubtype="0" fill="hold" grpId="0" nodeType="afterEffect">
                      <p:stCondLst>
                        <p:cond delay="1800"/>
                      </p:stCondLst>
                      <p:childTnLst>
                        <p:set>
                          <p:cBhvr>
                            <p:cTn id="146" dur="1" fill="hold">
                              <p:stCondLst>
                                <p:cond delay="0"/>
                              </p:stCondLst>
                            </p:cTn>
                            <p:tgtEl>
                              <p:spTgt spid="17"/>
                            </p:tgtEl>
                            <p:attrNameLst>
                              <p:attrName>style.visibility</p:attrName>
                            </p:attrNameLst>
                          </p:cBhvr>
                          <p:to>
                            <p:strVal val="visible"/>
                          </p:to>
                        </p:set>
                        <p:animEffect transition="in" filter="fade">
                          <p:cBhvr>
                            <p:cTn id="147" dur="450"/>
                            <p:tgtEl>
                              <p:spTgt spid="17"/>
                            </p:tgtEl>
                          </p:cBhvr>
                        </p:animEffect>
                      </p:childTnLst>
                    </p:cTn>
                  </p:par>
                  <p:par>
                    <p:cTn id="148" presetID="10" presetClass="entr" presetSubtype="0" fill="hold" grpId="0" nodeType="afterEffect">
                      <p:stCondLst>
                        <p:cond delay="1920"/>
                      </p:stCondLst>
                      <p:childTnLst>
                        <p:set>
                          <p:cBhvr>
                            <p:cTn id="149" dur="1" fill="hold">
                              <p:stCondLst>
                                <p:cond delay="0"/>
                              </p:stCondLst>
                            </p:cTn>
                            <p:tgtEl>
                              <p:spTgt spid="18"/>
                            </p:tgtEl>
                            <p:attrNameLst>
                              <p:attrName>style.visibility</p:attrName>
                            </p:attrNameLst>
                          </p:cBhvr>
                          <p:to>
                            <p:strVal val="visible"/>
                          </p:to>
                        </p:set>
                        <p:animEffect transition="in" filter="fade">
                          <p:cBhvr>
                            <p:cTn id="150" dur="450"/>
                            <p:tgtEl>
                              <p:spTgt spid="18"/>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THE HUMAN PROBLEM</a:t>
            </a:r>
            <a:endParaRPr lang="en-US" sz="1250" dirty="0"/>
          </a:p>
        </p:txBody>
      </p:sp>
      <p:sp>
        <p:nvSpPr>
          <p:cNvPr id="3" name="Text 1"/>
          <p:cNvSpPr/>
          <p:nvPr/>
        </p:nvSpPr>
        <p:spPr>
          <a:xfrm>
            <a:off x="566928" y="2194560"/>
            <a:ext cx="10789920" cy="2194560"/>
          </a:xfrm>
          <a:prstGeom prst="rect">
            <a:avLst/>
          </a:prstGeom>
          <a:noFill/>
          <a:ln/>
        </p:spPr>
        <p:txBody>
          <a:bodyPr wrap="square" rtlCol="0" anchor="ctr"/>
          <a:lstStyle/>
          <a:p>
            <a:pPr indent="0" marL="0">
              <a:lnSpc>
                <a:spcPct val="102000"/>
              </a:lnSpc>
              <a:buNone/>
            </a:pPr>
            <a:r>
              <a:rPr lang="en-US" sz="5200" b="1" dirty="0">
                <a:solidFill>
                  <a:srgbClr val="3A3A3A"/>
                </a:solidFill>
                <a:latin typeface="Segoe UI" pitchFamily="34" charset="0"/>
                <a:ea typeface="Segoe UI" pitchFamily="34" charset="-122"/>
                <a:cs typeface="Segoe UI" pitchFamily="34" charset="-120"/>
              </a:rPr>
              <a:t>Writing got autocorrect.
</a:t>
            </a:r>
            <a:pPr indent="0" marL="0">
              <a:lnSpc>
                <a:spcPct val="102000"/>
              </a:lnSpc>
              <a:buNone/>
            </a:pPr>
            <a:r>
              <a:rPr lang="en-US" sz="5200" b="1" dirty="0">
                <a:solidFill>
                  <a:srgbClr val="0E7C86"/>
                </a:solidFill>
                <a:latin typeface="Segoe UI" pitchFamily="34" charset="0"/>
                <a:ea typeface="Segoe UI" pitchFamily="34" charset="-122"/>
                <a:cs typeface="Segoe UI" pitchFamily="34" charset="-120"/>
              </a:rPr>
              <a:t>Speaking never did.</a:t>
            </a:r>
            <a:endParaRPr lang="en-US" sz="5200" dirty="0"/>
          </a:p>
        </p:txBody>
      </p:sp>
      <p:sp>
        <p:nvSpPr>
          <p:cNvPr id="4" name="Text 2"/>
          <p:cNvSpPr/>
          <p:nvPr/>
        </p:nvSpPr>
        <p:spPr>
          <a:xfrm>
            <a:off x="566928" y="4572000"/>
            <a:ext cx="9601200" cy="731520"/>
          </a:xfrm>
          <a:prstGeom prst="rect">
            <a:avLst/>
          </a:prstGeom>
          <a:noFill/>
          <a:ln/>
        </p:spPr>
        <p:txBody>
          <a:bodyPr wrap="square" rtlCol="0" anchor="ctr"/>
          <a:lstStyle/>
          <a:p>
            <a:pPr indent="0" marL="0">
              <a:buNone/>
            </a:pPr>
            <a:r>
              <a:rPr lang="en-US" sz="1800" dirty="0">
                <a:solidFill>
                  <a:srgbClr val="3A3A3A"/>
                </a:solidFill>
                <a:latin typeface="Segoe UI" pitchFamily="34" charset="0"/>
                <a:ea typeface="Segoe UI" pitchFamily="34" charset="-122"/>
                <a:cs typeface="Segoe UI" pitchFamily="34" charset="-120"/>
              </a:rPr>
              <a:t>Speech happens in real time. We notice the wrong word or wrong tone only after the moment is gone.</a:t>
            </a:r>
            <a:endParaRPr lang="en-US" sz="1800" dirty="0"/>
          </a:p>
        </p:txBody>
      </p:sp>
      <p:sp>
        <p:nvSpPr>
          <p:cNvPr id="5" name="Shape 3"/>
          <p:cNvSpPr/>
          <p:nvPr/>
        </p:nvSpPr>
        <p:spPr>
          <a:xfrm>
            <a:off x="9966960" y="182880"/>
            <a:ext cx="2926080" cy="2926080"/>
          </a:xfrm>
          <a:prstGeom prst="ellipse">
            <a:avLst/>
          </a:prstGeom>
          <a:solidFill>
            <a:srgbClr val="0E7C86">
              <a:alpha val="10000"/>
            </a:srgbClr>
          </a:solidFill>
          <a:ln/>
        </p:spPr>
      </p:sp>
      <p:sp>
        <p:nvSpPr>
          <p:cNvPr id="6" name="Text 4"/>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7" name="Text 5"/>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03</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WHERE THE IDEA CAME FROM</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We kept losing the moment.</a:t>
            </a:r>
            <a:endParaRPr lang="en-US" sz="3300" dirty="0"/>
          </a:p>
        </p:txBody>
      </p:sp>
      <p:sp>
        <p:nvSpPr>
          <p:cNvPr id="4" name="Shape 2"/>
          <p:cNvSpPr/>
          <p:nvPr/>
        </p:nvSpPr>
        <p:spPr>
          <a:xfrm>
            <a:off x="566928" y="2148840"/>
            <a:ext cx="3429000" cy="3017520"/>
          </a:xfrm>
          <a:prstGeom prst="roundRect">
            <a:avLst>
              <a:gd name="adj" fmla="val 3636"/>
            </a:avLst>
          </a:prstGeom>
          <a:solidFill>
            <a:srgbClr val="F0EBE1"/>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Text 3"/>
          <p:cNvSpPr/>
          <p:nvPr/>
        </p:nvSpPr>
        <p:spPr>
          <a:xfrm>
            <a:off x="886968" y="2377440"/>
            <a:ext cx="1828800" cy="548640"/>
          </a:xfrm>
          <a:prstGeom prst="rect">
            <a:avLst/>
          </a:prstGeom>
          <a:noFill/>
          <a:ln/>
        </p:spPr>
        <p:txBody>
          <a:bodyPr wrap="square" rtlCol="0" anchor="ctr"/>
          <a:lstStyle/>
          <a:p>
            <a:pPr indent="0" marL="0">
              <a:buNone/>
            </a:pPr>
            <a:r>
              <a:rPr lang="en-US" sz="3000" b="1" dirty="0">
                <a:solidFill>
                  <a:srgbClr val="0E7C86"/>
                </a:solidFill>
                <a:latin typeface="Segoe UI" pitchFamily="34" charset="0"/>
                <a:ea typeface="Segoe UI" pitchFamily="34" charset="-122"/>
                <a:cs typeface="Segoe UI" pitchFamily="34" charset="-120"/>
              </a:rPr>
              <a:t>01</a:t>
            </a:r>
            <a:endParaRPr lang="en-US" sz="3000" dirty="0"/>
          </a:p>
        </p:txBody>
      </p:sp>
      <p:sp>
        <p:nvSpPr>
          <p:cNvPr id="6" name="Text 4"/>
          <p:cNvSpPr/>
          <p:nvPr/>
        </p:nvSpPr>
        <p:spPr>
          <a:xfrm>
            <a:off x="886968" y="3063240"/>
            <a:ext cx="2834640" cy="548640"/>
          </a:xfrm>
          <a:prstGeom prst="rect">
            <a:avLst/>
          </a:prstGeom>
          <a:noFill/>
          <a:ln/>
        </p:spPr>
        <p:txBody>
          <a:bodyPr wrap="square" rtlCol="0" anchor="ctr"/>
          <a:lstStyle/>
          <a:p>
            <a:pPr indent="0" marL="0">
              <a:buNone/>
            </a:pPr>
            <a:r>
              <a:rPr lang="en-US" sz="1800" b="1" dirty="0">
                <a:solidFill>
                  <a:srgbClr val="1A1A1A"/>
                </a:solidFill>
                <a:latin typeface="Segoe UI" pitchFamily="34" charset="0"/>
                <a:ea typeface="Segoe UI" pitchFamily="34" charset="-122"/>
                <a:cs typeface="Segoe UI" pitchFamily="34" charset="-120"/>
              </a:rPr>
              <a:t>The blank-out</a:t>
            </a:r>
            <a:endParaRPr lang="en-US" sz="1800" dirty="0"/>
          </a:p>
        </p:txBody>
      </p:sp>
      <p:sp>
        <p:nvSpPr>
          <p:cNvPr id="7" name="Text 5"/>
          <p:cNvSpPr/>
          <p:nvPr/>
        </p:nvSpPr>
        <p:spPr>
          <a:xfrm>
            <a:off x="886968" y="3611880"/>
            <a:ext cx="2880360" cy="1371600"/>
          </a:xfrm>
          <a:prstGeom prst="rect">
            <a:avLst/>
          </a:prstGeom>
          <a:noFill/>
          <a:ln/>
        </p:spPr>
        <p:txBody>
          <a:bodyPr wrap="square" rtlCol="0" anchor="ctr"/>
          <a:lstStyle/>
          <a:p>
            <a:pPr indent="0" marL="0">
              <a:lnSpc>
                <a:spcPct val="112000"/>
              </a:lnSpc>
              <a:buNone/>
            </a:pPr>
            <a:r>
              <a:rPr lang="en-US" sz="1450" dirty="0">
                <a:solidFill>
                  <a:srgbClr val="3A3A3A"/>
                </a:solidFill>
                <a:latin typeface="Segoe UI" pitchFamily="34" charset="0"/>
                <a:ea typeface="Segoe UI" pitchFamily="34" charset="-122"/>
                <a:cs typeface="Segoe UI" pitchFamily="34" charset="-120"/>
              </a:rPr>
              <a:t>Froze mid-interview — knew the answer, couldn't get it out.</a:t>
            </a:r>
            <a:endParaRPr lang="en-US" sz="1450" dirty="0"/>
          </a:p>
        </p:txBody>
      </p:sp>
      <p:sp>
        <p:nvSpPr>
          <p:cNvPr id="8" name="Shape 6"/>
          <p:cNvSpPr/>
          <p:nvPr/>
        </p:nvSpPr>
        <p:spPr>
          <a:xfrm>
            <a:off x="4288536" y="2148840"/>
            <a:ext cx="3429000" cy="3017520"/>
          </a:xfrm>
          <a:prstGeom prst="roundRect">
            <a:avLst>
              <a:gd name="adj" fmla="val 3636"/>
            </a:avLst>
          </a:prstGeom>
          <a:solidFill>
            <a:srgbClr val="F0EBE1"/>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9" name="Text 7"/>
          <p:cNvSpPr/>
          <p:nvPr/>
        </p:nvSpPr>
        <p:spPr>
          <a:xfrm>
            <a:off x="4608576" y="2377440"/>
            <a:ext cx="1828800" cy="548640"/>
          </a:xfrm>
          <a:prstGeom prst="rect">
            <a:avLst/>
          </a:prstGeom>
          <a:noFill/>
          <a:ln/>
        </p:spPr>
        <p:txBody>
          <a:bodyPr wrap="square" rtlCol="0" anchor="ctr"/>
          <a:lstStyle/>
          <a:p>
            <a:pPr indent="0" marL="0">
              <a:buNone/>
            </a:pPr>
            <a:r>
              <a:rPr lang="en-US" sz="3000" b="1" dirty="0">
                <a:solidFill>
                  <a:srgbClr val="0E7C86"/>
                </a:solidFill>
                <a:latin typeface="Segoe UI" pitchFamily="34" charset="0"/>
                <a:ea typeface="Segoe UI" pitchFamily="34" charset="-122"/>
                <a:cs typeface="Segoe UI" pitchFamily="34" charset="-120"/>
              </a:rPr>
              <a:t>02</a:t>
            </a:r>
            <a:endParaRPr lang="en-US" sz="3000" dirty="0"/>
          </a:p>
        </p:txBody>
      </p:sp>
      <p:sp>
        <p:nvSpPr>
          <p:cNvPr id="10" name="Text 8"/>
          <p:cNvSpPr/>
          <p:nvPr/>
        </p:nvSpPr>
        <p:spPr>
          <a:xfrm>
            <a:off x="4608576" y="3063240"/>
            <a:ext cx="2834640" cy="548640"/>
          </a:xfrm>
          <a:prstGeom prst="rect">
            <a:avLst/>
          </a:prstGeom>
          <a:noFill/>
          <a:ln/>
        </p:spPr>
        <p:txBody>
          <a:bodyPr wrap="square" rtlCol="0" anchor="ctr"/>
          <a:lstStyle/>
          <a:p>
            <a:pPr indent="0" marL="0">
              <a:buNone/>
            </a:pPr>
            <a:r>
              <a:rPr lang="en-US" sz="1800" b="1" dirty="0">
                <a:solidFill>
                  <a:srgbClr val="1A1A1A"/>
                </a:solidFill>
                <a:latin typeface="Segoe UI" pitchFamily="34" charset="0"/>
                <a:ea typeface="Segoe UI" pitchFamily="34" charset="-122"/>
                <a:cs typeface="Segoe UI" pitchFamily="34" charset="-120"/>
              </a:rPr>
              <a:t>The forgotten promise</a:t>
            </a:r>
            <a:endParaRPr lang="en-US" sz="1800" dirty="0"/>
          </a:p>
        </p:txBody>
      </p:sp>
      <p:sp>
        <p:nvSpPr>
          <p:cNvPr id="11" name="Text 9"/>
          <p:cNvSpPr/>
          <p:nvPr/>
        </p:nvSpPr>
        <p:spPr>
          <a:xfrm>
            <a:off x="4608576" y="3611880"/>
            <a:ext cx="2880360" cy="1371600"/>
          </a:xfrm>
          <a:prstGeom prst="rect">
            <a:avLst/>
          </a:prstGeom>
          <a:noFill/>
          <a:ln/>
        </p:spPr>
        <p:txBody>
          <a:bodyPr wrap="square" rtlCol="0" anchor="ctr"/>
          <a:lstStyle/>
          <a:p>
            <a:pPr indent="0" marL="0">
              <a:lnSpc>
                <a:spcPct val="112000"/>
              </a:lnSpc>
              <a:buNone/>
            </a:pPr>
            <a:r>
              <a:rPr lang="en-US" sz="1450" dirty="0">
                <a:solidFill>
                  <a:srgbClr val="3A3A3A"/>
                </a:solidFill>
                <a:latin typeface="Segoe UI" pitchFamily="34" charset="0"/>
                <a:ea typeface="Segoe UI" pitchFamily="34" charset="-122"/>
                <a:cs typeface="Segoe UI" pitchFamily="34" charset="-120"/>
              </a:rPr>
              <a:t>Couldn't recall what a client actually agreed to last week.</a:t>
            </a:r>
            <a:endParaRPr lang="en-US" sz="1450" dirty="0"/>
          </a:p>
        </p:txBody>
      </p:sp>
      <p:sp>
        <p:nvSpPr>
          <p:cNvPr id="12" name="Shape 10"/>
          <p:cNvSpPr/>
          <p:nvPr/>
        </p:nvSpPr>
        <p:spPr>
          <a:xfrm>
            <a:off x="8010144" y="2148840"/>
            <a:ext cx="3429000" cy="3017520"/>
          </a:xfrm>
          <a:prstGeom prst="roundRect">
            <a:avLst>
              <a:gd name="adj" fmla="val 3636"/>
            </a:avLst>
          </a:prstGeom>
          <a:solidFill>
            <a:srgbClr val="F0EBE1"/>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3" name="Text 11"/>
          <p:cNvSpPr/>
          <p:nvPr/>
        </p:nvSpPr>
        <p:spPr>
          <a:xfrm>
            <a:off x="8330184" y="2377440"/>
            <a:ext cx="1828800" cy="548640"/>
          </a:xfrm>
          <a:prstGeom prst="rect">
            <a:avLst/>
          </a:prstGeom>
          <a:noFill/>
          <a:ln/>
        </p:spPr>
        <p:txBody>
          <a:bodyPr wrap="square" rtlCol="0" anchor="ctr"/>
          <a:lstStyle/>
          <a:p>
            <a:pPr indent="0" marL="0">
              <a:buNone/>
            </a:pPr>
            <a:r>
              <a:rPr lang="en-US" sz="3000" b="1" dirty="0">
                <a:solidFill>
                  <a:srgbClr val="0E7C86"/>
                </a:solidFill>
                <a:latin typeface="Segoe UI" pitchFamily="34" charset="0"/>
                <a:ea typeface="Segoe UI" pitchFamily="34" charset="-122"/>
                <a:cs typeface="Segoe UI" pitchFamily="34" charset="-120"/>
              </a:rPr>
              <a:t>03</a:t>
            </a:r>
            <a:endParaRPr lang="en-US" sz="3000" dirty="0"/>
          </a:p>
        </p:txBody>
      </p:sp>
      <p:sp>
        <p:nvSpPr>
          <p:cNvPr id="14" name="Text 12"/>
          <p:cNvSpPr/>
          <p:nvPr/>
        </p:nvSpPr>
        <p:spPr>
          <a:xfrm>
            <a:off x="8330184" y="3063240"/>
            <a:ext cx="2834640" cy="548640"/>
          </a:xfrm>
          <a:prstGeom prst="rect">
            <a:avLst/>
          </a:prstGeom>
          <a:noFill/>
          <a:ln/>
        </p:spPr>
        <p:txBody>
          <a:bodyPr wrap="square" rtlCol="0" anchor="ctr"/>
          <a:lstStyle/>
          <a:p>
            <a:pPr indent="0" marL="0">
              <a:buNone/>
            </a:pPr>
            <a:r>
              <a:rPr lang="en-US" sz="1800" b="1" dirty="0">
                <a:solidFill>
                  <a:srgbClr val="1A1A1A"/>
                </a:solidFill>
                <a:latin typeface="Segoe UI" pitchFamily="34" charset="0"/>
                <a:ea typeface="Segoe UI" pitchFamily="34" charset="-122"/>
                <a:cs typeface="Segoe UI" pitchFamily="34" charset="-120"/>
              </a:rPr>
              <a:t>The walk-home regret</a:t>
            </a:r>
            <a:endParaRPr lang="en-US" sz="1800" dirty="0"/>
          </a:p>
        </p:txBody>
      </p:sp>
      <p:sp>
        <p:nvSpPr>
          <p:cNvPr id="15" name="Text 13"/>
          <p:cNvSpPr/>
          <p:nvPr/>
        </p:nvSpPr>
        <p:spPr>
          <a:xfrm>
            <a:off x="8330184" y="3611880"/>
            <a:ext cx="2880360" cy="1371600"/>
          </a:xfrm>
          <a:prstGeom prst="rect">
            <a:avLst/>
          </a:prstGeom>
          <a:noFill/>
          <a:ln/>
        </p:spPr>
        <p:txBody>
          <a:bodyPr wrap="square" rtlCol="0" anchor="ctr"/>
          <a:lstStyle/>
          <a:p>
            <a:pPr indent="0" marL="0">
              <a:lnSpc>
                <a:spcPct val="112000"/>
              </a:lnSpc>
              <a:buNone/>
            </a:pPr>
            <a:r>
              <a:rPr lang="en-US" sz="1450" dirty="0">
                <a:solidFill>
                  <a:srgbClr val="3A3A3A"/>
                </a:solidFill>
                <a:latin typeface="Segoe UI" pitchFamily="34" charset="0"/>
                <a:ea typeface="Segoe UI" pitchFamily="34" charset="-122"/>
                <a:cs typeface="Segoe UI" pitchFamily="34" charset="-120"/>
              </a:rPr>
              <a:t>Realized the better phrasing only hours after it mattered.</a:t>
            </a:r>
            <a:endParaRPr lang="en-US" sz="1450" dirty="0"/>
          </a:p>
        </p:txBody>
      </p:sp>
      <p:sp>
        <p:nvSpPr>
          <p:cNvPr id="16" name="Text 14"/>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7" name="Text 15"/>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04</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par>
                    <p:cTn id="142" presetID="10" presetClass="entr" presetSubtype="0" fill="hold" grpId="0" nodeType="afterEffect">
                      <p:stCondLst>
                        <p:cond delay="1680"/>
                      </p:stCondLst>
                      <p:childTnLst>
                        <p:set>
                          <p:cBhvr>
                            <p:cTn id="143" dur="1" fill="hold">
                              <p:stCondLst>
                                <p:cond delay="0"/>
                              </p:stCondLst>
                            </p:cTn>
                            <p:tgtEl>
                              <p:spTgt spid="16"/>
                            </p:tgtEl>
                            <p:attrNameLst>
                              <p:attrName>style.visibility</p:attrName>
                            </p:attrNameLst>
                          </p:cBhvr>
                          <p:to>
                            <p:strVal val="visible"/>
                          </p:to>
                        </p:set>
                        <p:animEffect transition="in" filter="fade">
                          <p:cBhvr>
                            <p:cTn id="144" dur="450"/>
                            <p:tgtEl>
                              <p:spTgt spid="16"/>
                            </p:tgtEl>
                          </p:cBhvr>
                        </p:animEffect>
                      </p:childTnLst>
                    </p:cTn>
                  </p:par>
                  <p:par>
                    <p:cTn id="145" presetID="10" presetClass="entr" presetSubtype="0" fill="hold" grpId="0" nodeType="afterEffect">
                      <p:stCondLst>
                        <p:cond delay="1800"/>
                      </p:stCondLst>
                      <p:childTnLst>
                        <p:set>
                          <p:cBhvr>
                            <p:cTn id="146" dur="1" fill="hold">
                              <p:stCondLst>
                                <p:cond delay="0"/>
                              </p:stCondLst>
                            </p:cTn>
                            <p:tgtEl>
                              <p:spTgt spid="17"/>
                            </p:tgtEl>
                            <p:attrNameLst>
                              <p:attrName>style.visibility</p:attrName>
                            </p:attrNameLst>
                          </p:cBhvr>
                          <p:to>
                            <p:strVal val="visible"/>
                          </p:to>
                        </p:set>
                        <p:animEffect transition="in" filter="fade">
                          <p:cBhvr>
                            <p:cTn id="147" dur="450"/>
                            <p:tgtEl>
                              <p:spTgt spid="17"/>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WHAT ALREADY EXISTS</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Two camps today — neither helps in the moment.</a:t>
            </a:r>
            <a:endParaRPr lang="en-US" sz="3300" dirty="0"/>
          </a:p>
        </p:txBody>
      </p:sp>
      <p:sp>
        <p:nvSpPr>
          <p:cNvPr id="4" name="Shape 2"/>
          <p:cNvSpPr/>
          <p:nvPr/>
        </p:nvSpPr>
        <p:spPr>
          <a:xfrm>
            <a:off x="566928" y="2103120"/>
            <a:ext cx="5212080" cy="3200400"/>
          </a:xfrm>
          <a:prstGeom prst="roundRect">
            <a:avLst>
              <a:gd name="adj" fmla="val 3429"/>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Shape 3"/>
          <p:cNvSpPr/>
          <p:nvPr/>
        </p:nvSpPr>
        <p:spPr>
          <a:xfrm>
            <a:off x="566928" y="2103120"/>
            <a:ext cx="5212080" cy="777240"/>
          </a:xfrm>
          <a:prstGeom prst="rect">
            <a:avLst/>
          </a:prstGeom>
          <a:solidFill>
            <a:srgbClr val="E4EFEF"/>
          </a:solidFill>
          <a:ln/>
        </p:spPr>
      </p:sp>
      <p:sp>
        <p:nvSpPr>
          <p:cNvPr id="6" name="Text 4"/>
          <p:cNvSpPr/>
          <p:nvPr/>
        </p:nvSpPr>
        <p:spPr>
          <a:xfrm>
            <a:off x="932688" y="2194560"/>
            <a:ext cx="4572000" cy="594360"/>
          </a:xfrm>
          <a:prstGeom prst="rect">
            <a:avLst/>
          </a:prstGeom>
          <a:noFill/>
          <a:ln/>
        </p:spPr>
        <p:txBody>
          <a:bodyPr wrap="square" rtlCol="0" anchor="ctr"/>
          <a:lstStyle/>
          <a:p>
            <a:pPr indent="0" marL="0">
              <a:buNone/>
            </a:pPr>
            <a:r>
              <a:rPr lang="en-US" sz="2000" b="1" dirty="0">
                <a:solidFill>
                  <a:srgbClr val="0E7C86"/>
                </a:solidFill>
                <a:latin typeface="Segoe UI" pitchFamily="34" charset="0"/>
                <a:ea typeface="Segoe UI" pitchFamily="34" charset="-122"/>
                <a:cs typeface="Segoe UI" pitchFamily="34" charset="-120"/>
              </a:rPr>
              <a:t>Meeting notetakers</a:t>
            </a:r>
            <a:endParaRPr lang="en-US" sz="2000" dirty="0"/>
          </a:p>
        </p:txBody>
      </p:sp>
      <p:sp>
        <p:nvSpPr>
          <p:cNvPr id="7" name="Text 5"/>
          <p:cNvSpPr/>
          <p:nvPr/>
        </p:nvSpPr>
        <p:spPr>
          <a:xfrm>
            <a:off x="932688" y="3108960"/>
            <a:ext cx="4572000" cy="457200"/>
          </a:xfrm>
          <a:prstGeom prst="rect">
            <a:avLst/>
          </a:prstGeom>
          <a:noFill/>
          <a:ln/>
        </p:spPr>
        <p:txBody>
          <a:bodyPr wrap="square" rtlCol="0" anchor="ctr"/>
          <a:lstStyle/>
          <a:p>
            <a:pPr indent="0" marL="0">
              <a:buNone/>
            </a:pPr>
            <a:r>
              <a:rPr lang="en-US" sz="1600" b="1" dirty="0">
                <a:solidFill>
                  <a:srgbClr val="1A1A1A"/>
                </a:solidFill>
                <a:latin typeface="Segoe UI" pitchFamily="34" charset="0"/>
                <a:ea typeface="Segoe UI" pitchFamily="34" charset="-122"/>
                <a:cs typeface="Segoe UI" pitchFamily="34" charset="-120"/>
              </a:rPr>
              <a:t>Otter · Fathom · Notta · Gong</a:t>
            </a:r>
            <a:endParaRPr lang="en-US" sz="1600" dirty="0"/>
          </a:p>
        </p:txBody>
      </p:sp>
      <p:sp>
        <p:nvSpPr>
          <p:cNvPr id="8" name="Text 6"/>
          <p:cNvSpPr/>
          <p:nvPr/>
        </p:nvSpPr>
        <p:spPr>
          <a:xfrm>
            <a:off x="932688" y="3657600"/>
            <a:ext cx="4572000" cy="1280160"/>
          </a:xfrm>
          <a:prstGeom prst="rect">
            <a:avLst/>
          </a:prstGeom>
          <a:noFill/>
          <a:ln/>
        </p:spPr>
        <p:txBody>
          <a:bodyPr wrap="square" rtlCol="0" anchor="ctr"/>
          <a:lstStyle/>
          <a:p>
            <a:pPr indent="0" marL="0">
              <a:lnSpc>
                <a:spcPct val="115000"/>
              </a:lnSpc>
              <a:buNone/>
            </a:pPr>
            <a:r>
              <a:rPr lang="en-US" sz="1550" dirty="0">
                <a:solidFill>
                  <a:srgbClr val="3A3A3A"/>
                </a:solidFill>
                <a:latin typeface="Segoe UI" pitchFamily="34" charset="0"/>
                <a:ea typeface="Segoe UI" pitchFamily="34" charset="-122"/>
                <a:cs typeface="Segoe UI" pitchFamily="34" charset="-120"/>
              </a:rPr>
              <a:t>Transcribe &amp; summarize — but only after the meeting ends.</a:t>
            </a:r>
            <a:endParaRPr lang="en-US" sz="1550" dirty="0"/>
          </a:p>
        </p:txBody>
      </p:sp>
      <p:sp>
        <p:nvSpPr>
          <p:cNvPr id="9" name="Shape 7"/>
          <p:cNvSpPr/>
          <p:nvPr/>
        </p:nvSpPr>
        <p:spPr>
          <a:xfrm>
            <a:off x="6144768" y="2103120"/>
            <a:ext cx="5212080" cy="3200400"/>
          </a:xfrm>
          <a:prstGeom prst="roundRect">
            <a:avLst>
              <a:gd name="adj" fmla="val 3429"/>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0" name="Shape 8"/>
          <p:cNvSpPr/>
          <p:nvPr/>
        </p:nvSpPr>
        <p:spPr>
          <a:xfrm>
            <a:off x="6144768" y="2103120"/>
            <a:ext cx="5212080" cy="777240"/>
          </a:xfrm>
          <a:prstGeom prst="rect">
            <a:avLst/>
          </a:prstGeom>
          <a:solidFill>
            <a:srgbClr val="EFE3D2"/>
          </a:solidFill>
          <a:ln/>
        </p:spPr>
      </p:sp>
      <p:sp>
        <p:nvSpPr>
          <p:cNvPr id="11" name="Text 9"/>
          <p:cNvSpPr/>
          <p:nvPr/>
        </p:nvSpPr>
        <p:spPr>
          <a:xfrm>
            <a:off x="6510528" y="2194560"/>
            <a:ext cx="4572000" cy="594360"/>
          </a:xfrm>
          <a:prstGeom prst="rect">
            <a:avLst/>
          </a:prstGeom>
          <a:noFill/>
          <a:ln/>
        </p:spPr>
        <p:txBody>
          <a:bodyPr wrap="square" rtlCol="0" anchor="ctr"/>
          <a:lstStyle/>
          <a:p>
            <a:pPr indent="0" marL="0">
              <a:buNone/>
            </a:pPr>
            <a:r>
              <a:rPr lang="en-US" sz="2000" b="1" dirty="0">
                <a:solidFill>
                  <a:srgbClr val="E08A2B"/>
                </a:solidFill>
                <a:latin typeface="Segoe UI" pitchFamily="34" charset="0"/>
                <a:ea typeface="Segoe UI" pitchFamily="34" charset="-122"/>
                <a:cs typeface="Segoe UI" pitchFamily="34" charset="-120"/>
              </a:rPr>
              <a:t>General assistants</a:t>
            </a:r>
            <a:endParaRPr lang="en-US" sz="2000" dirty="0"/>
          </a:p>
        </p:txBody>
      </p:sp>
      <p:sp>
        <p:nvSpPr>
          <p:cNvPr id="12" name="Text 10"/>
          <p:cNvSpPr/>
          <p:nvPr/>
        </p:nvSpPr>
        <p:spPr>
          <a:xfrm>
            <a:off x="6510528" y="3108960"/>
            <a:ext cx="4572000" cy="457200"/>
          </a:xfrm>
          <a:prstGeom prst="rect">
            <a:avLst/>
          </a:prstGeom>
          <a:noFill/>
          <a:ln/>
        </p:spPr>
        <p:txBody>
          <a:bodyPr wrap="square" rtlCol="0" anchor="ctr"/>
          <a:lstStyle/>
          <a:p>
            <a:pPr indent="0" marL="0">
              <a:buNone/>
            </a:pPr>
            <a:r>
              <a:rPr lang="en-US" sz="1600" b="1" dirty="0">
                <a:solidFill>
                  <a:srgbClr val="1A1A1A"/>
                </a:solidFill>
                <a:latin typeface="Segoe UI" pitchFamily="34" charset="0"/>
                <a:ea typeface="Segoe UI" pitchFamily="34" charset="-122"/>
                <a:cs typeface="Segoe UI" pitchFamily="34" charset="-120"/>
              </a:rPr>
              <a:t>Siri · Google Assistant · ChatGPT</a:t>
            </a:r>
            <a:endParaRPr lang="en-US" sz="1600" dirty="0"/>
          </a:p>
        </p:txBody>
      </p:sp>
      <p:sp>
        <p:nvSpPr>
          <p:cNvPr id="13" name="Text 11"/>
          <p:cNvSpPr/>
          <p:nvPr/>
        </p:nvSpPr>
        <p:spPr>
          <a:xfrm>
            <a:off x="6510528" y="3657600"/>
            <a:ext cx="4572000" cy="1280160"/>
          </a:xfrm>
          <a:prstGeom prst="rect">
            <a:avLst/>
          </a:prstGeom>
          <a:noFill/>
          <a:ln/>
        </p:spPr>
        <p:txBody>
          <a:bodyPr wrap="square" rtlCol="0" anchor="ctr"/>
          <a:lstStyle/>
          <a:p>
            <a:pPr indent="0" marL="0">
              <a:lnSpc>
                <a:spcPct val="115000"/>
              </a:lnSpc>
              <a:buNone/>
            </a:pPr>
            <a:r>
              <a:rPr lang="en-US" sz="1550" dirty="0">
                <a:solidFill>
                  <a:srgbClr val="3A3A3A"/>
                </a:solidFill>
                <a:latin typeface="Segoe UI" pitchFamily="34" charset="0"/>
                <a:ea typeface="Segoe UI" pitchFamily="34" charset="-122"/>
                <a:cs typeface="Segoe UI" pitchFamily="34" charset="-120"/>
              </a:rPr>
              <a:t>Answer commands — but forget you between sessions.</a:t>
            </a:r>
            <a:endParaRPr lang="en-US" sz="1550" dirty="0"/>
          </a:p>
        </p:txBody>
      </p:sp>
      <p:sp>
        <p:nvSpPr>
          <p:cNvPr id="14" name="Text 12"/>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5" name="Text 13"/>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05</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THE RESEARCH GAP</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Three things nobody does together.</a:t>
            </a:r>
            <a:endParaRPr lang="en-US" sz="3300" dirty="0"/>
          </a:p>
        </p:txBody>
      </p:sp>
      <p:sp>
        <p:nvSpPr>
          <p:cNvPr id="4" name="Shape 2"/>
          <p:cNvSpPr/>
          <p:nvPr/>
        </p:nvSpPr>
        <p:spPr>
          <a:xfrm>
            <a:off x="566928" y="2148840"/>
            <a:ext cx="868680" cy="868680"/>
          </a:xfrm>
          <a:prstGeom prst="roundRect">
            <a:avLst>
              <a:gd name="adj" fmla="val 10526"/>
            </a:avLst>
          </a:prstGeom>
          <a:solidFill>
            <a:srgbClr val="F7E2DC"/>
          </a:solidFill>
          <a:ln w="16510">
            <a:solidFill>
              <a:srgbClr val="C0492F"/>
            </a:solidFill>
            <a:prstDash val="solid"/>
          </a:ln>
        </p:spPr>
      </p:sp>
      <p:sp>
        <p:nvSpPr>
          <p:cNvPr id="5" name="Text 3"/>
          <p:cNvSpPr/>
          <p:nvPr/>
        </p:nvSpPr>
        <p:spPr>
          <a:xfrm>
            <a:off x="566928" y="2148840"/>
            <a:ext cx="868680" cy="868680"/>
          </a:xfrm>
          <a:prstGeom prst="rect">
            <a:avLst/>
          </a:prstGeom>
          <a:noFill/>
          <a:ln/>
        </p:spPr>
        <p:txBody>
          <a:bodyPr wrap="square" rtlCol="0" anchor="ctr"/>
          <a:lstStyle/>
          <a:p>
            <a:pPr algn="ctr" indent="0" marL="0">
              <a:buNone/>
            </a:pPr>
            <a:r>
              <a:rPr lang="en-US" sz="3000" b="1" dirty="0">
                <a:solidFill>
                  <a:srgbClr val="C0492F"/>
                </a:solidFill>
                <a:latin typeface="Segoe UI" pitchFamily="34" charset="0"/>
                <a:ea typeface="Segoe UI" pitchFamily="34" charset="-122"/>
                <a:cs typeface="Segoe UI" pitchFamily="34" charset="-120"/>
              </a:rPr>
              <a:t>✕</a:t>
            </a:r>
            <a:endParaRPr lang="en-US" sz="3000" dirty="0"/>
          </a:p>
        </p:txBody>
      </p:sp>
      <p:sp>
        <p:nvSpPr>
          <p:cNvPr id="6" name="Text 4"/>
          <p:cNvSpPr/>
          <p:nvPr/>
        </p:nvSpPr>
        <p:spPr>
          <a:xfrm>
            <a:off x="1709928" y="2167128"/>
            <a:ext cx="10058400" cy="457200"/>
          </a:xfrm>
          <a:prstGeom prst="rect">
            <a:avLst/>
          </a:prstGeom>
          <a:noFill/>
          <a:ln/>
        </p:spPr>
        <p:txBody>
          <a:bodyPr wrap="square" rtlCol="0" anchor="ctr"/>
          <a:lstStyle/>
          <a:p>
            <a:pPr indent="0" marL="0">
              <a:buNone/>
            </a:pPr>
            <a:r>
              <a:rPr lang="en-US" sz="2200" b="1" dirty="0">
                <a:solidFill>
                  <a:srgbClr val="1A1A1A"/>
                </a:solidFill>
                <a:latin typeface="Segoe UI" pitchFamily="34" charset="0"/>
                <a:ea typeface="Segoe UI" pitchFamily="34" charset="-122"/>
                <a:cs typeface="Segoe UI" pitchFamily="34" charset="-120"/>
              </a:rPr>
              <a:t>No real-time coaching</a:t>
            </a:r>
            <a:endParaRPr lang="en-US" sz="2200" dirty="0"/>
          </a:p>
        </p:txBody>
      </p:sp>
      <p:sp>
        <p:nvSpPr>
          <p:cNvPr id="7" name="Text 5"/>
          <p:cNvSpPr/>
          <p:nvPr/>
        </p:nvSpPr>
        <p:spPr>
          <a:xfrm>
            <a:off x="1709928" y="2651760"/>
            <a:ext cx="10058400" cy="365760"/>
          </a:xfrm>
          <a:prstGeom prst="rect">
            <a:avLst/>
          </a:prstGeom>
          <a:noFill/>
          <a:ln/>
        </p:spPr>
        <p:txBody>
          <a:bodyPr wrap="square" rtlCol="0" anchor="ctr"/>
          <a:lstStyle/>
          <a:p>
            <a:pPr indent="0" marL="0">
              <a:buNone/>
            </a:pPr>
            <a:r>
              <a:rPr lang="en-US" sz="1600" dirty="0">
                <a:solidFill>
                  <a:srgbClr val="3A3A3A"/>
                </a:solidFill>
                <a:latin typeface="Segoe UI" pitchFamily="34" charset="0"/>
                <a:ea typeface="Segoe UI" pitchFamily="34" charset="-122"/>
                <a:cs typeface="Segoe UI" pitchFamily="34" charset="-120"/>
              </a:rPr>
              <a:t>Everything on the market is post-meeting analysis.</a:t>
            </a:r>
            <a:endParaRPr lang="en-US" sz="1600" dirty="0"/>
          </a:p>
        </p:txBody>
      </p:sp>
      <p:sp>
        <p:nvSpPr>
          <p:cNvPr id="8" name="Shape 6"/>
          <p:cNvSpPr/>
          <p:nvPr/>
        </p:nvSpPr>
        <p:spPr>
          <a:xfrm>
            <a:off x="566928" y="3429000"/>
            <a:ext cx="868680" cy="868680"/>
          </a:xfrm>
          <a:prstGeom prst="roundRect">
            <a:avLst>
              <a:gd name="adj" fmla="val 10526"/>
            </a:avLst>
          </a:prstGeom>
          <a:solidFill>
            <a:srgbClr val="F7E2DC"/>
          </a:solidFill>
          <a:ln w="16510">
            <a:solidFill>
              <a:srgbClr val="C0492F"/>
            </a:solidFill>
            <a:prstDash val="solid"/>
          </a:ln>
        </p:spPr>
      </p:sp>
      <p:sp>
        <p:nvSpPr>
          <p:cNvPr id="9" name="Text 7"/>
          <p:cNvSpPr/>
          <p:nvPr/>
        </p:nvSpPr>
        <p:spPr>
          <a:xfrm>
            <a:off x="566928" y="3429000"/>
            <a:ext cx="868680" cy="868680"/>
          </a:xfrm>
          <a:prstGeom prst="rect">
            <a:avLst/>
          </a:prstGeom>
          <a:noFill/>
          <a:ln/>
        </p:spPr>
        <p:txBody>
          <a:bodyPr wrap="square" rtlCol="0" anchor="ctr"/>
          <a:lstStyle/>
          <a:p>
            <a:pPr algn="ctr" indent="0" marL="0">
              <a:buNone/>
            </a:pPr>
            <a:r>
              <a:rPr lang="en-US" sz="3000" b="1" dirty="0">
                <a:solidFill>
                  <a:srgbClr val="C0492F"/>
                </a:solidFill>
                <a:latin typeface="Segoe UI" pitchFamily="34" charset="0"/>
                <a:ea typeface="Segoe UI" pitchFamily="34" charset="-122"/>
                <a:cs typeface="Segoe UI" pitchFamily="34" charset="-120"/>
              </a:rPr>
              <a:t>✕</a:t>
            </a:r>
            <a:endParaRPr lang="en-US" sz="3000" dirty="0"/>
          </a:p>
        </p:txBody>
      </p:sp>
      <p:sp>
        <p:nvSpPr>
          <p:cNvPr id="10" name="Text 8"/>
          <p:cNvSpPr/>
          <p:nvPr/>
        </p:nvSpPr>
        <p:spPr>
          <a:xfrm>
            <a:off x="1709928" y="3447288"/>
            <a:ext cx="10058400" cy="457200"/>
          </a:xfrm>
          <a:prstGeom prst="rect">
            <a:avLst/>
          </a:prstGeom>
          <a:noFill/>
          <a:ln/>
        </p:spPr>
        <p:txBody>
          <a:bodyPr wrap="square" rtlCol="0" anchor="ctr"/>
          <a:lstStyle/>
          <a:p>
            <a:pPr indent="0" marL="0">
              <a:buNone/>
            </a:pPr>
            <a:r>
              <a:rPr lang="en-US" sz="2200" b="1" dirty="0">
                <a:solidFill>
                  <a:srgbClr val="1A1A1A"/>
                </a:solidFill>
                <a:latin typeface="Segoe UI" pitchFamily="34" charset="0"/>
                <a:ea typeface="Segoe UI" pitchFamily="34" charset="-122"/>
                <a:cs typeface="Segoe UI" pitchFamily="34" charset="-120"/>
              </a:rPr>
              <a:t>No long-term context</a:t>
            </a:r>
            <a:endParaRPr lang="en-US" sz="2200" dirty="0"/>
          </a:p>
        </p:txBody>
      </p:sp>
      <p:sp>
        <p:nvSpPr>
          <p:cNvPr id="11" name="Text 9"/>
          <p:cNvSpPr/>
          <p:nvPr/>
        </p:nvSpPr>
        <p:spPr>
          <a:xfrm>
            <a:off x="1709928" y="3931920"/>
            <a:ext cx="10058400" cy="365760"/>
          </a:xfrm>
          <a:prstGeom prst="rect">
            <a:avLst/>
          </a:prstGeom>
          <a:noFill/>
          <a:ln/>
        </p:spPr>
        <p:txBody>
          <a:bodyPr wrap="square" rtlCol="0" anchor="ctr"/>
          <a:lstStyle/>
          <a:p>
            <a:pPr indent="0" marL="0">
              <a:buNone/>
            </a:pPr>
            <a:r>
              <a:rPr lang="en-US" sz="1600" dirty="0">
                <a:solidFill>
                  <a:srgbClr val="3A3A3A"/>
                </a:solidFill>
                <a:latin typeface="Segoe UI" pitchFamily="34" charset="0"/>
                <a:ea typeface="Segoe UI" pitchFamily="34" charset="-122"/>
                <a:cs typeface="Segoe UI" pitchFamily="34" charset="-120"/>
              </a:rPr>
              <a:t>Assistants forget who and what you talked about.</a:t>
            </a:r>
            <a:endParaRPr lang="en-US" sz="1600" dirty="0"/>
          </a:p>
        </p:txBody>
      </p:sp>
      <p:sp>
        <p:nvSpPr>
          <p:cNvPr id="12" name="Shape 10"/>
          <p:cNvSpPr/>
          <p:nvPr/>
        </p:nvSpPr>
        <p:spPr>
          <a:xfrm>
            <a:off x="566928" y="4709160"/>
            <a:ext cx="868680" cy="868680"/>
          </a:xfrm>
          <a:prstGeom prst="roundRect">
            <a:avLst>
              <a:gd name="adj" fmla="val 10526"/>
            </a:avLst>
          </a:prstGeom>
          <a:solidFill>
            <a:srgbClr val="F7E2DC"/>
          </a:solidFill>
          <a:ln w="16510">
            <a:solidFill>
              <a:srgbClr val="C0492F"/>
            </a:solidFill>
            <a:prstDash val="solid"/>
          </a:ln>
        </p:spPr>
      </p:sp>
      <p:sp>
        <p:nvSpPr>
          <p:cNvPr id="13" name="Text 11"/>
          <p:cNvSpPr/>
          <p:nvPr/>
        </p:nvSpPr>
        <p:spPr>
          <a:xfrm>
            <a:off x="566928" y="4709160"/>
            <a:ext cx="868680" cy="868680"/>
          </a:xfrm>
          <a:prstGeom prst="rect">
            <a:avLst/>
          </a:prstGeom>
          <a:noFill/>
          <a:ln/>
        </p:spPr>
        <p:txBody>
          <a:bodyPr wrap="square" rtlCol="0" anchor="ctr"/>
          <a:lstStyle/>
          <a:p>
            <a:pPr algn="ctr" indent="0" marL="0">
              <a:buNone/>
            </a:pPr>
            <a:r>
              <a:rPr lang="en-US" sz="3000" b="1" dirty="0">
                <a:solidFill>
                  <a:srgbClr val="C0492F"/>
                </a:solidFill>
                <a:latin typeface="Segoe UI" pitchFamily="34" charset="0"/>
                <a:ea typeface="Segoe UI" pitchFamily="34" charset="-122"/>
                <a:cs typeface="Segoe UI" pitchFamily="34" charset="-120"/>
              </a:rPr>
              <a:t>✕</a:t>
            </a:r>
            <a:endParaRPr lang="en-US" sz="3000" dirty="0"/>
          </a:p>
        </p:txBody>
      </p:sp>
      <p:sp>
        <p:nvSpPr>
          <p:cNvPr id="14" name="Text 12"/>
          <p:cNvSpPr/>
          <p:nvPr/>
        </p:nvSpPr>
        <p:spPr>
          <a:xfrm>
            <a:off x="1709928" y="4727448"/>
            <a:ext cx="10058400" cy="457200"/>
          </a:xfrm>
          <a:prstGeom prst="rect">
            <a:avLst/>
          </a:prstGeom>
          <a:noFill/>
          <a:ln/>
        </p:spPr>
        <p:txBody>
          <a:bodyPr wrap="square" rtlCol="0" anchor="ctr"/>
          <a:lstStyle/>
          <a:p>
            <a:pPr indent="0" marL="0">
              <a:buNone/>
            </a:pPr>
            <a:r>
              <a:rPr lang="en-US" sz="2200" b="1" dirty="0">
                <a:solidFill>
                  <a:srgbClr val="1A1A1A"/>
                </a:solidFill>
                <a:latin typeface="Segoe UI" pitchFamily="34" charset="0"/>
                <a:ea typeface="Segoe UI" pitchFamily="34" charset="-122"/>
                <a:cs typeface="Segoe UI" pitchFamily="34" charset="-120"/>
              </a:rPr>
              <a:t>Not privacy-first</a:t>
            </a:r>
            <a:endParaRPr lang="en-US" sz="2200" dirty="0"/>
          </a:p>
        </p:txBody>
      </p:sp>
      <p:sp>
        <p:nvSpPr>
          <p:cNvPr id="15" name="Text 13"/>
          <p:cNvSpPr/>
          <p:nvPr/>
        </p:nvSpPr>
        <p:spPr>
          <a:xfrm>
            <a:off x="1709928" y="5212080"/>
            <a:ext cx="10058400" cy="365760"/>
          </a:xfrm>
          <a:prstGeom prst="rect">
            <a:avLst/>
          </a:prstGeom>
          <a:noFill/>
          <a:ln/>
        </p:spPr>
        <p:txBody>
          <a:bodyPr wrap="square" rtlCol="0" anchor="ctr"/>
          <a:lstStyle/>
          <a:p>
            <a:pPr indent="0" marL="0">
              <a:buNone/>
            </a:pPr>
            <a:r>
              <a:rPr lang="en-US" sz="1600" dirty="0">
                <a:solidFill>
                  <a:srgbClr val="3A3A3A"/>
                </a:solidFill>
                <a:latin typeface="Segoe UI" pitchFamily="34" charset="0"/>
                <a:ea typeface="Segoe UI" pitchFamily="34" charset="-122"/>
                <a:cs typeface="Segoe UI" pitchFamily="34" charset="-120"/>
              </a:rPr>
              <a:t>Enterprise tools mine your data for the org, not you.</a:t>
            </a:r>
            <a:endParaRPr lang="en-US" sz="1600" dirty="0"/>
          </a:p>
        </p:txBody>
      </p:sp>
      <p:sp>
        <p:nvSpPr>
          <p:cNvPr id="16" name="Text 14"/>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7" name="Text 15"/>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06</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par>
                    <p:cTn id="142" presetID="10" presetClass="entr" presetSubtype="0" fill="hold" grpId="0" nodeType="afterEffect">
                      <p:stCondLst>
                        <p:cond delay="1680"/>
                      </p:stCondLst>
                      <p:childTnLst>
                        <p:set>
                          <p:cBhvr>
                            <p:cTn id="143" dur="1" fill="hold">
                              <p:stCondLst>
                                <p:cond delay="0"/>
                              </p:stCondLst>
                            </p:cTn>
                            <p:tgtEl>
                              <p:spTgt spid="16"/>
                            </p:tgtEl>
                            <p:attrNameLst>
                              <p:attrName>style.visibility</p:attrName>
                            </p:attrNameLst>
                          </p:cBhvr>
                          <p:to>
                            <p:strVal val="visible"/>
                          </p:to>
                        </p:set>
                        <p:animEffect transition="in" filter="fade">
                          <p:cBhvr>
                            <p:cTn id="144" dur="450"/>
                            <p:tgtEl>
                              <p:spTgt spid="16"/>
                            </p:tgtEl>
                          </p:cBhvr>
                        </p:animEffect>
                      </p:childTnLst>
                    </p:cTn>
                  </p:par>
                  <p:par>
                    <p:cTn id="145" presetID="10" presetClass="entr" presetSubtype="0" fill="hold" grpId="0" nodeType="afterEffect">
                      <p:stCondLst>
                        <p:cond delay="1800"/>
                      </p:stCondLst>
                      <p:childTnLst>
                        <p:set>
                          <p:cBhvr>
                            <p:cTn id="146" dur="1" fill="hold">
                              <p:stCondLst>
                                <p:cond delay="0"/>
                              </p:stCondLst>
                            </p:cTn>
                            <p:tgtEl>
                              <p:spTgt spid="17"/>
                            </p:tgtEl>
                            <p:attrNameLst>
                              <p:attrName>style.visibility</p:attrName>
                            </p:attrNameLst>
                          </p:cBhvr>
                          <p:to>
                            <p:strVal val="visible"/>
                          </p:to>
                        </p:set>
                        <p:animEffect transition="in" filter="fade">
                          <p:cBhvr>
                            <p:cTn id="147" dur="450"/>
                            <p:tgtEl>
                              <p:spTgt spid="17"/>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WHY POST-MEETING ISN'T ENOUGH</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The value of advice decays in seconds.</a:t>
            </a:r>
            <a:endParaRPr lang="en-US" sz="3300" dirty="0"/>
          </a:p>
        </p:txBody>
      </p:sp>
      <p:sp>
        <p:nvSpPr>
          <p:cNvPr id="4" name="Shape 2"/>
          <p:cNvSpPr/>
          <p:nvPr/>
        </p:nvSpPr>
        <p:spPr>
          <a:xfrm>
            <a:off x="749808" y="3657600"/>
            <a:ext cx="9966960" cy="0"/>
          </a:xfrm>
          <a:prstGeom prst="line">
            <a:avLst/>
          </a:prstGeom>
          <a:noFill/>
          <a:ln w="31750">
            <a:solidFill>
              <a:srgbClr val="E3DCCF"/>
            </a:solidFill>
            <a:prstDash val="solid"/>
          </a:ln>
        </p:spPr>
      </p:sp>
      <p:sp>
        <p:nvSpPr>
          <p:cNvPr id="5" name="Shape 3"/>
          <p:cNvSpPr/>
          <p:nvPr/>
        </p:nvSpPr>
        <p:spPr>
          <a:xfrm>
            <a:off x="585216" y="3493008"/>
            <a:ext cx="329184" cy="329184"/>
          </a:xfrm>
          <a:prstGeom prst="ellipse">
            <a:avLst/>
          </a:prstGeom>
          <a:solidFill>
            <a:srgbClr val="C0492F"/>
          </a:solidFill>
          <a:ln/>
        </p:spPr>
      </p:sp>
      <p:sp>
        <p:nvSpPr>
          <p:cNvPr id="6" name="Text 4"/>
          <p:cNvSpPr/>
          <p:nvPr/>
        </p:nvSpPr>
        <p:spPr>
          <a:xfrm>
            <a:off x="566928" y="3931920"/>
            <a:ext cx="2926080" cy="548640"/>
          </a:xfrm>
          <a:prstGeom prst="rect">
            <a:avLst/>
          </a:prstGeom>
          <a:noFill/>
          <a:ln/>
        </p:spPr>
        <p:txBody>
          <a:bodyPr wrap="square" rtlCol="0" anchor="ctr"/>
          <a:lstStyle/>
          <a:p>
            <a:pPr algn="l" indent="0" marL="0">
              <a:buNone/>
            </a:pPr>
            <a:r>
              <a:rPr lang="en-US" sz="1400" b="1" dirty="0">
                <a:solidFill>
                  <a:srgbClr val="1A1A1A"/>
                </a:solidFill>
                <a:latin typeface="Segoe UI" pitchFamily="34" charset="0"/>
                <a:ea typeface="Segoe UI" pitchFamily="34" charset="-122"/>
                <a:cs typeface="Segoe UI" pitchFamily="34" charset="-120"/>
              </a:rPr>
              <a:t>Mistake made</a:t>
            </a:r>
            <a:endParaRPr lang="en-US" sz="1400" dirty="0"/>
          </a:p>
        </p:txBody>
      </p:sp>
      <p:sp>
        <p:nvSpPr>
          <p:cNvPr id="7" name="Shape 5"/>
          <p:cNvSpPr/>
          <p:nvPr/>
        </p:nvSpPr>
        <p:spPr>
          <a:xfrm>
            <a:off x="5522976" y="3493008"/>
            <a:ext cx="329184" cy="329184"/>
          </a:xfrm>
          <a:prstGeom prst="ellipse">
            <a:avLst/>
          </a:prstGeom>
          <a:solidFill>
            <a:srgbClr val="9A9285"/>
          </a:solidFill>
          <a:ln/>
        </p:spPr>
      </p:sp>
      <p:sp>
        <p:nvSpPr>
          <p:cNvPr id="8" name="Text 6"/>
          <p:cNvSpPr/>
          <p:nvPr/>
        </p:nvSpPr>
        <p:spPr>
          <a:xfrm>
            <a:off x="4224528" y="3931920"/>
            <a:ext cx="2926080" cy="548640"/>
          </a:xfrm>
          <a:prstGeom prst="rect">
            <a:avLst/>
          </a:prstGeom>
          <a:noFill/>
          <a:ln/>
        </p:spPr>
        <p:txBody>
          <a:bodyPr wrap="square" rtlCol="0" anchor="ctr"/>
          <a:lstStyle/>
          <a:p>
            <a:pPr algn="ctr" indent="0" marL="0">
              <a:buNone/>
            </a:pPr>
            <a:r>
              <a:rPr lang="en-US" sz="1400" b="1" dirty="0">
                <a:solidFill>
                  <a:srgbClr val="1A1A1A"/>
                </a:solidFill>
                <a:latin typeface="Segoe UI" pitchFamily="34" charset="0"/>
                <a:ea typeface="Segoe UI" pitchFamily="34" charset="-122"/>
                <a:cs typeface="Segoe UI" pitchFamily="34" charset="-120"/>
              </a:rPr>
              <a:t>Conversation ends</a:t>
            </a:r>
            <a:endParaRPr lang="en-US" sz="1400" dirty="0"/>
          </a:p>
        </p:txBody>
      </p:sp>
      <p:sp>
        <p:nvSpPr>
          <p:cNvPr id="9" name="Shape 7"/>
          <p:cNvSpPr/>
          <p:nvPr/>
        </p:nvSpPr>
        <p:spPr>
          <a:xfrm>
            <a:off x="10552176" y="3493008"/>
            <a:ext cx="329184" cy="329184"/>
          </a:xfrm>
          <a:prstGeom prst="ellipse">
            <a:avLst/>
          </a:prstGeom>
          <a:solidFill>
            <a:srgbClr val="9A9285"/>
          </a:solidFill>
          <a:ln/>
        </p:spPr>
      </p:sp>
      <p:sp>
        <p:nvSpPr>
          <p:cNvPr id="10" name="Text 8"/>
          <p:cNvSpPr/>
          <p:nvPr/>
        </p:nvSpPr>
        <p:spPr>
          <a:xfrm>
            <a:off x="7973568" y="3931920"/>
            <a:ext cx="2926080" cy="548640"/>
          </a:xfrm>
          <a:prstGeom prst="rect">
            <a:avLst/>
          </a:prstGeom>
          <a:noFill/>
          <a:ln/>
        </p:spPr>
        <p:txBody>
          <a:bodyPr wrap="square" rtlCol="0" anchor="ctr"/>
          <a:lstStyle/>
          <a:p>
            <a:pPr algn="r" indent="0" marL="0">
              <a:buNone/>
            </a:pPr>
            <a:r>
              <a:rPr lang="en-US" sz="1400" b="1" dirty="0">
                <a:solidFill>
                  <a:srgbClr val="1A1A1A"/>
                </a:solidFill>
                <a:latin typeface="Segoe UI" pitchFamily="34" charset="0"/>
                <a:ea typeface="Segoe UI" pitchFamily="34" charset="-122"/>
                <a:cs typeface="Segoe UI" pitchFamily="34" charset="-120"/>
              </a:rPr>
              <a:t>You read the summary</a:t>
            </a:r>
            <a:endParaRPr lang="en-US" sz="1400" dirty="0"/>
          </a:p>
        </p:txBody>
      </p:sp>
      <p:sp>
        <p:nvSpPr>
          <p:cNvPr id="11" name="Text 9"/>
          <p:cNvSpPr/>
          <p:nvPr/>
        </p:nvSpPr>
        <p:spPr>
          <a:xfrm>
            <a:off x="566928" y="4937760"/>
            <a:ext cx="10424160" cy="457200"/>
          </a:xfrm>
          <a:prstGeom prst="rect">
            <a:avLst/>
          </a:prstGeom>
          <a:noFill/>
          <a:ln/>
        </p:spPr>
        <p:txBody>
          <a:bodyPr wrap="square" rtlCol="0" anchor="ctr"/>
          <a:lstStyle/>
          <a:p>
            <a:pPr indent="0" marL="0">
              <a:buNone/>
            </a:pPr>
            <a:r>
              <a:rPr lang="en-US" sz="1700" i="1" dirty="0">
                <a:solidFill>
                  <a:srgbClr val="3A3A3A"/>
                </a:solidFill>
                <a:latin typeface="Segoe UI" pitchFamily="34" charset="0"/>
                <a:ea typeface="Segoe UI" pitchFamily="34" charset="-122"/>
                <a:cs typeface="Segoe UI" pitchFamily="34" charset="-120"/>
              </a:rPr>
              <a:t>Feedback only ever lands here →  too late to change the outcome.</a:t>
            </a:r>
            <a:endParaRPr lang="en-US" sz="1700" dirty="0"/>
          </a:p>
        </p:txBody>
      </p:sp>
      <p:sp>
        <p:nvSpPr>
          <p:cNvPr id="12" name="Text 10"/>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3" name="Text 11"/>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07</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PROBLEM STATEMENT</a:t>
            </a:r>
            <a:endParaRPr lang="en-US" sz="1250" dirty="0"/>
          </a:p>
        </p:txBody>
      </p:sp>
      <p:sp>
        <p:nvSpPr>
          <p:cNvPr id="3" name="Shape 1"/>
          <p:cNvSpPr/>
          <p:nvPr/>
        </p:nvSpPr>
        <p:spPr>
          <a:xfrm>
            <a:off x="566928" y="2103120"/>
            <a:ext cx="146304" cy="2743200"/>
          </a:xfrm>
          <a:prstGeom prst="rect">
            <a:avLst/>
          </a:prstGeom>
          <a:solidFill>
            <a:srgbClr val="0E7C86"/>
          </a:solidFill>
          <a:ln/>
        </p:spPr>
      </p:sp>
      <p:sp>
        <p:nvSpPr>
          <p:cNvPr id="4" name="Text 2"/>
          <p:cNvSpPr/>
          <p:nvPr/>
        </p:nvSpPr>
        <p:spPr>
          <a:xfrm>
            <a:off x="1024128" y="2103120"/>
            <a:ext cx="10058400" cy="2743200"/>
          </a:xfrm>
          <a:prstGeom prst="rect">
            <a:avLst/>
          </a:prstGeom>
          <a:noFill/>
          <a:ln/>
        </p:spPr>
        <p:txBody>
          <a:bodyPr wrap="square" rtlCol="0" anchor="t"/>
          <a:lstStyle/>
          <a:p>
            <a:pPr indent="0" marL="0">
              <a:lnSpc>
                <a:spcPct val="112000"/>
              </a:lnSpc>
              <a:buNone/>
            </a:pPr>
            <a:r>
              <a:rPr lang="en-US" sz="3000" i="1" dirty="0">
                <a:solidFill>
                  <a:srgbClr val="1A1A1A"/>
                </a:solidFill>
                <a:latin typeface="Segoe UI" pitchFamily="34" charset="0"/>
                <a:ea typeface="Segoe UI" pitchFamily="34" charset="-122"/>
                <a:cs typeface="Segoe UI" pitchFamily="34" charset="-120"/>
              </a:rPr>
              <a:t>Success often depends on communication, yet errors are hard to catch while speaking. Existing AI only transcribes or summarizes after the fact — with no live, context-aware, privacy-respecting feedback.</a:t>
            </a:r>
            <a:endParaRPr lang="en-US" sz="3000" dirty="0"/>
          </a:p>
        </p:txBody>
      </p:sp>
      <p:sp>
        <p:nvSpPr>
          <p:cNvPr id="5" name="Shape 3"/>
          <p:cNvSpPr/>
          <p:nvPr/>
        </p:nvSpPr>
        <p:spPr>
          <a:xfrm>
            <a:off x="10424160" y="4754880"/>
            <a:ext cx="2377440" cy="2377440"/>
          </a:xfrm>
          <a:prstGeom prst="ellipse">
            <a:avLst/>
          </a:prstGeom>
          <a:solidFill>
            <a:srgbClr val="E08A2B">
              <a:alpha val="12000"/>
            </a:srgbClr>
          </a:solidFill>
          <a:ln/>
        </p:spPr>
      </p:sp>
      <p:sp>
        <p:nvSpPr>
          <p:cNvPr id="6" name="Text 4"/>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7" name="Text 5"/>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08</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WHY IT MATTERS</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Soft-skills coaching, made a daily habit.</a:t>
            </a:r>
            <a:endParaRPr lang="en-US" sz="3300" dirty="0"/>
          </a:p>
        </p:txBody>
      </p:sp>
      <p:sp>
        <p:nvSpPr>
          <p:cNvPr id="4" name="Text 2"/>
          <p:cNvSpPr/>
          <p:nvPr/>
        </p:nvSpPr>
        <p:spPr>
          <a:xfrm>
            <a:off x="566928" y="1920240"/>
            <a:ext cx="10058400" cy="640080"/>
          </a:xfrm>
          <a:prstGeom prst="rect">
            <a:avLst/>
          </a:prstGeom>
          <a:noFill/>
          <a:ln/>
        </p:spPr>
        <p:txBody>
          <a:bodyPr wrap="square" rtlCol="0" anchor="ctr"/>
          <a:lstStyle/>
          <a:p>
            <a:pPr indent="0" marL="0">
              <a:buNone/>
            </a:pPr>
            <a:r>
              <a:rPr lang="en-US" sz="1900" dirty="0">
                <a:solidFill>
                  <a:srgbClr val="3A3A3A"/>
                </a:solidFill>
                <a:latin typeface="Segoe UI" pitchFamily="34" charset="0"/>
                <a:ea typeface="Segoe UI" pitchFamily="34" charset="-122"/>
                <a:cs typeface="Segoe UI" pitchFamily="34" charset="-120"/>
              </a:rPr>
              <a:t>Like Duolingo — but for talking. Track progress, drill weak spots, reward improvement.</a:t>
            </a:r>
            <a:endParaRPr lang="en-US" sz="1900" dirty="0"/>
          </a:p>
        </p:txBody>
      </p:sp>
      <p:sp>
        <p:nvSpPr>
          <p:cNvPr id="5" name="Shape 3"/>
          <p:cNvSpPr/>
          <p:nvPr/>
        </p:nvSpPr>
        <p:spPr>
          <a:xfrm>
            <a:off x="566928" y="2834640"/>
            <a:ext cx="5029200" cy="2286000"/>
          </a:xfrm>
          <a:prstGeom prst="roundRect">
            <a:avLst>
              <a:gd name="adj" fmla="val 4800"/>
            </a:avLst>
          </a:prstGeom>
          <a:solidFill>
            <a:srgbClr val="E4EFEF"/>
          </a:solidFill>
          <a:ln w="12700">
            <a:solidFill>
              <a:srgbClr val="0E7C86"/>
            </a:solidFill>
            <a:prstDash val="solid"/>
          </a:ln>
          <a:effectLst>
            <a:outerShdw sx="100000" sy="100000" kx="0" ky="0" algn="bl" rotWithShape="0" blurRad="88900" dist="25400" dir="5400000">
              <a:srgbClr val="BBB2A2">
                <a:alpha val="22000"/>
              </a:srgbClr>
            </a:outerShdw>
          </a:effectLst>
        </p:spPr>
      </p:sp>
      <p:sp>
        <p:nvSpPr>
          <p:cNvPr id="6" name="Text 4"/>
          <p:cNvSpPr/>
          <p:nvPr/>
        </p:nvSpPr>
        <p:spPr>
          <a:xfrm>
            <a:off x="932688" y="3108960"/>
            <a:ext cx="3657600" cy="640080"/>
          </a:xfrm>
          <a:prstGeom prst="rect">
            <a:avLst/>
          </a:prstGeom>
          <a:noFill/>
          <a:ln/>
        </p:spPr>
        <p:txBody>
          <a:bodyPr wrap="square" rtlCol="0" anchor="ctr"/>
          <a:lstStyle/>
          <a:p>
            <a:pPr indent="0" marL="0">
              <a:buNone/>
            </a:pPr>
            <a:r>
              <a:rPr lang="en-US" sz="3000" b="1" dirty="0">
                <a:solidFill>
                  <a:srgbClr val="0E7C86"/>
                </a:solidFill>
                <a:latin typeface="Segoe UI" pitchFamily="34" charset="0"/>
                <a:ea typeface="Segoe UI" pitchFamily="34" charset="-122"/>
                <a:cs typeface="Segoe UI" pitchFamily="34" charset="-120"/>
              </a:rPr>
              <a:t>SDG 4</a:t>
            </a:r>
            <a:endParaRPr lang="en-US" sz="3000" dirty="0"/>
          </a:p>
        </p:txBody>
      </p:sp>
      <p:sp>
        <p:nvSpPr>
          <p:cNvPr id="7" name="Text 5"/>
          <p:cNvSpPr/>
          <p:nvPr/>
        </p:nvSpPr>
        <p:spPr>
          <a:xfrm>
            <a:off x="932688" y="3749040"/>
            <a:ext cx="4206240" cy="457200"/>
          </a:xfrm>
          <a:prstGeom prst="rect">
            <a:avLst/>
          </a:prstGeom>
          <a:noFill/>
          <a:ln/>
        </p:spPr>
        <p:txBody>
          <a:bodyPr wrap="square" rtlCol="0" anchor="ctr"/>
          <a:lstStyle/>
          <a:p>
            <a:pPr indent="0" marL="0">
              <a:buNone/>
            </a:pPr>
            <a:r>
              <a:rPr lang="en-US" sz="1900" b="1" dirty="0">
                <a:solidFill>
                  <a:srgbClr val="1A1A1A"/>
                </a:solidFill>
                <a:latin typeface="Segoe UI" pitchFamily="34" charset="0"/>
                <a:ea typeface="Segoe UI" pitchFamily="34" charset="-122"/>
                <a:cs typeface="Segoe UI" pitchFamily="34" charset="-120"/>
              </a:rPr>
              <a:t>Quality Education</a:t>
            </a:r>
            <a:endParaRPr lang="en-US" sz="1900" dirty="0"/>
          </a:p>
        </p:txBody>
      </p:sp>
      <p:sp>
        <p:nvSpPr>
          <p:cNvPr id="8" name="Text 6"/>
          <p:cNvSpPr/>
          <p:nvPr/>
        </p:nvSpPr>
        <p:spPr>
          <a:xfrm>
            <a:off x="932688" y="4206240"/>
            <a:ext cx="4297680" cy="822960"/>
          </a:xfrm>
          <a:prstGeom prst="rect">
            <a:avLst/>
          </a:prstGeom>
          <a:noFill/>
          <a:ln/>
        </p:spPr>
        <p:txBody>
          <a:bodyPr wrap="square" rtlCol="0" anchor="ctr"/>
          <a:lstStyle/>
          <a:p>
            <a:pPr indent="0" marL="0">
              <a:lnSpc>
                <a:spcPct val="110000"/>
              </a:lnSpc>
              <a:buNone/>
            </a:pPr>
            <a:r>
              <a:rPr lang="en-US" sz="1350" dirty="0">
                <a:solidFill>
                  <a:srgbClr val="3A3A3A"/>
                </a:solidFill>
                <a:latin typeface="Segoe UI" pitchFamily="34" charset="0"/>
                <a:ea typeface="Segoe UI" pitchFamily="34" charset="-122"/>
                <a:cs typeface="Segoe UI" pitchFamily="34" charset="-120"/>
              </a:rPr>
              <a:t>Aligned to the UN Sustainable Development Goal we mapped this project to.</a:t>
            </a:r>
            <a:endParaRPr lang="en-US" sz="1350" dirty="0"/>
          </a:p>
        </p:txBody>
      </p:sp>
      <p:sp>
        <p:nvSpPr>
          <p:cNvPr id="9" name="Shape 7"/>
          <p:cNvSpPr/>
          <p:nvPr/>
        </p:nvSpPr>
        <p:spPr>
          <a:xfrm>
            <a:off x="6400800" y="2926080"/>
            <a:ext cx="0" cy="2103120"/>
          </a:xfrm>
          <a:prstGeom prst="line">
            <a:avLst/>
          </a:prstGeom>
          <a:noFill/>
          <a:ln w="19050">
            <a:solidFill>
              <a:srgbClr val="E3DCCF"/>
            </a:solidFill>
            <a:prstDash val="solid"/>
          </a:ln>
        </p:spPr>
      </p:sp>
      <p:sp>
        <p:nvSpPr>
          <p:cNvPr id="10" name="Shape 8"/>
          <p:cNvSpPr/>
          <p:nvPr/>
        </p:nvSpPr>
        <p:spPr>
          <a:xfrm>
            <a:off x="6400800" y="5029200"/>
            <a:ext cx="4572000" cy="0"/>
          </a:xfrm>
          <a:prstGeom prst="line">
            <a:avLst/>
          </a:prstGeom>
          <a:noFill/>
          <a:ln w="19050">
            <a:solidFill>
              <a:srgbClr val="E3DCCF"/>
            </a:solidFill>
            <a:prstDash val="solid"/>
          </a:ln>
        </p:spPr>
      </p:sp>
      <p:sp>
        <p:nvSpPr>
          <p:cNvPr id="11" name="Shape 9"/>
          <p:cNvSpPr/>
          <p:nvPr/>
        </p:nvSpPr>
        <p:spPr>
          <a:xfrm flipV="1">
            <a:off x="6492240" y="4389120"/>
            <a:ext cx="1097280" cy="365760"/>
          </a:xfrm>
          <a:prstGeom prst="line">
            <a:avLst/>
          </a:prstGeom>
          <a:noFill/>
          <a:ln w="38100">
            <a:solidFill>
              <a:srgbClr val="0E7C86"/>
            </a:solidFill>
            <a:prstDash val="solid"/>
          </a:ln>
        </p:spPr>
      </p:sp>
      <p:sp>
        <p:nvSpPr>
          <p:cNvPr id="12" name="Shape 10"/>
          <p:cNvSpPr/>
          <p:nvPr/>
        </p:nvSpPr>
        <p:spPr>
          <a:xfrm flipV="1">
            <a:off x="7589520" y="3931920"/>
            <a:ext cx="1097280" cy="457200"/>
          </a:xfrm>
          <a:prstGeom prst="line">
            <a:avLst/>
          </a:prstGeom>
          <a:noFill/>
          <a:ln w="38100">
            <a:solidFill>
              <a:srgbClr val="0E7C86"/>
            </a:solidFill>
            <a:prstDash val="solid"/>
          </a:ln>
        </p:spPr>
      </p:sp>
      <p:sp>
        <p:nvSpPr>
          <p:cNvPr id="13" name="Shape 11"/>
          <p:cNvSpPr/>
          <p:nvPr/>
        </p:nvSpPr>
        <p:spPr>
          <a:xfrm flipV="1">
            <a:off x="8686800" y="3520440"/>
            <a:ext cx="1097280" cy="411480"/>
          </a:xfrm>
          <a:prstGeom prst="line">
            <a:avLst/>
          </a:prstGeom>
          <a:noFill/>
          <a:ln w="38100">
            <a:solidFill>
              <a:srgbClr val="0E7C86"/>
            </a:solidFill>
            <a:prstDash val="solid"/>
          </a:ln>
        </p:spPr>
      </p:sp>
      <p:sp>
        <p:nvSpPr>
          <p:cNvPr id="14" name="Shape 12"/>
          <p:cNvSpPr/>
          <p:nvPr/>
        </p:nvSpPr>
        <p:spPr>
          <a:xfrm flipV="1">
            <a:off x="9784080" y="3063240"/>
            <a:ext cx="1097280" cy="457200"/>
          </a:xfrm>
          <a:prstGeom prst="line">
            <a:avLst/>
          </a:prstGeom>
          <a:noFill/>
          <a:ln w="38100">
            <a:solidFill>
              <a:srgbClr val="0E7C86"/>
            </a:solidFill>
            <a:prstDash val="solid"/>
          </a:ln>
        </p:spPr>
      </p:sp>
      <p:sp>
        <p:nvSpPr>
          <p:cNvPr id="15" name="Shape 13"/>
          <p:cNvSpPr/>
          <p:nvPr/>
        </p:nvSpPr>
        <p:spPr>
          <a:xfrm>
            <a:off x="6428232" y="4690872"/>
            <a:ext cx="128016" cy="128016"/>
          </a:xfrm>
          <a:prstGeom prst="ellipse">
            <a:avLst/>
          </a:prstGeom>
          <a:solidFill>
            <a:srgbClr val="0E7C86"/>
          </a:solidFill>
          <a:ln/>
        </p:spPr>
      </p:sp>
      <p:sp>
        <p:nvSpPr>
          <p:cNvPr id="16" name="Shape 14"/>
          <p:cNvSpPr/>
          <p:nvPr/>
        </p:nvSpPr>
        <p:spPr>
          <a:xfrm>
            <a:off x="7525512" y="4325112"/>
            <a:ext cx="128016" cy="128016"/>
          </a:xfrm>
          <a:prstGeom prst="ellipse">
            <a:avLst/>
          </a:prstGeom>
          <a:solidFill>
            <a:srgbClr val="0E7C86"/>
          </a:solidFill>
          <a:ln/>
        </p:spPr>
      </p:sp>
      <p:sp>
        <p:nvSpPr>
          <p:cNvPr id="17" name="Shape 15"/>
          <p:cNvSpPr/>
          <p:nvPr/>
        </p:nvSpPr>
        <p:spPr>
          <a:xfrm>
            <a:off x="8622792" y="3867912"/>
            <a:ext cx="128016" cy="128016"/>
          </a:xfrm>
          <a:prstGeom prst="ellipse">
            <a:avLst/>
          </a:prstGeom>
          <a:solidFill>
            <a:srgbClr val="0E7C86"/>
          </a:solidFill>
          <a:ln/>
        </p:spPr>
      </p:sp>
      <p:sp>
        <p:nvSpPr>
          <p:cNvPr id="18" name="Shape 16"/>
          <p:cNvSpPr/>
          <p:nvPr/>
        </p:nvSpPr>
        <p:spPr>
          <a:xfrm>
            <a:off x="9720072" y="3456432"/>
            <a:ext cx="128016" cy="128016"/>
          </a:xfrm>
          <a:prstGeom prst="ellipse">
            <a:avLst/>
          </a:prstGeom>
          <a:solidFill>
            <a:srgbClr val="0E7C86"/>
          </a:solidFill>
          <a:ln/>
        </p:spPr>
      </p:sp>
      <p:sp>
        <p:nvSpPr>
          <p:cNvPr id="19" name="Shape 17"/>
          <p:cNvSpPr/>
          <p:nvPr/>
        </p:nvSpPr>
        <p:spPr>
          <a:xfrm>
            <a:off x="10817352" y="2999232"/>
            <a:ext cx="128016" cy="128016"/>
          </a:xfrm>
          <a:prstGeom prst="ellipse">
            <a:avLst/>
          </a:prstGeom>
          <a:solidFill>
            <a:srgbClr val="0E7C86"/>
          </a:solidFill>
          <a:ln/>
        </p:spPr>
      </p:sp>
      <p:sp>
        <p:nvSpPr>
          <p:cNvPr id="20" name="Text 18"/>
          <p:cNvSpPr/>
          <p:nvPr/>
        </p:nvSpPr>
        <p:spPr>
          <a:xfrm>
            <a:off x="6400800" y="5138928"/>
            <a:ext cx="4572000" cy="365760"/>
          </a:xfrm>
          <a:prstGeom prst="rect">
            <a:avLst/>
          </a:prstGeom>
          <a:noFill/>
          <a:ln/>
        </p:spPr>
        <p:txBody>
          <a:bodyPr wrap="square" rtlCol="0" anchor="ctr"/>
          <a:lstStyle/>
          <a:p>
            <a:pPr indent="0" marL="0">
              <a:buNone/>
            </a:pPr>
            <a:r>
              <a:rPr lang="en-US" sz="1300" i="1" dirty="0">
                <a:solidFill>
                  <a:srgbClr val="9A9285"/>
                </a:solidFill>
                <a:latin typeface="Segoe UI" pitchFamily="34" charset="0"/>
                <a:ea typeface="Segoe UI" pitchFamily="34" charset="-122"/>
                <a:cs typeface="Segoe UI" pitchFamily="34" charset="-120"/>
              </a:rPr>
              <a:t>Confidence over time</a:t>
            </a:r>
            <a:endParaRPr lang="en-US" sz="1300" dirty="0"/>
          </a:p>
        </p:txBody>
      </p:sp>
      <p:sp>
        <p:nvSpPr>
          <p:cNvPr id="21" name="Text 19"/>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2" name="Text 20"/>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09</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par>
                    <p:cTn id="142" presetID="10" presetClass="entr" presetSubtype="0" fill="hold" grpId="0" nodeType="afterEffect">
                      <p:stCondLst>
                        <p:cond delay="1680"/>
                      </p:stCondLst>
                      <p:childTnLst>
                        <p:set>
                          <p:cBhvr>
                            <p:cTn id="143" dur="1" fill="hold">
                              <p:stCondLst>
                                <p:cond delay="0"/>
                              </p:stCondLst>
                            </p:cTn>
                            <p:tgtEl>
                              <p:spTgt spid="16"/>
                            </p:tgtEl>
                            <p:attrNameLst>
                              <p:attrName>style.visibility</p:attrName>
                            </p:attrNameLst>
                          </p:cBhvr>
                          <p:to>
                            <p:strVal val="visible"/>
                          </p:to>
                        </p:set>
                        <p:animEffect transition="in" filter="fade">
                          <p:cBhvr>
                            <p:cTn id="144" dur="450"/>
                            <p:tgtEl>
                              <p:spTgt spid="16"/>
                            </p:tgtEl>
                          </p:cBhvr>
                        </p:animEffect>
                      </p:childTnLst>
                    </p:cTn>
                  </p:par>
                  <p:par>
                    <p:cTn id="145" presetID="10" presetClass="entr" presetSubtype="0" fill="hold" grpId="0" nodeType="afterEffect">
                      <p:stCondLst>
                        <p:cond delay="1800"/>
                      </p:stCondLst>
                      <p:childTnLst>
                        <p:set>
                          <p:cBhvr>
                            <p:cTn id="146" dur="1" fill="hold">
                              <p:stCondLst>
                                <p:cond delay="0"/>
                              </p:stCondLst>
                            </p:cTn>
                            <p:tgtEl>
                              <p:spTgt spid="17"/>
                            </p:tgtEl>
                            <p:attrNameLst>
                              <p:attrName>style.visibility</p:attrName>
                            </p:attrNameLst>
                          </p:cBhvr>
                          <p:to>
                            <p:strVal val="visible"/>
                          </p:to>
                        </p:set>
                        <p:animEffect transition="in" filter="fade">
                          <p:cBhvr>
                            <p:cTn id="147" dur="450"/>
                            <p:tgtEl>
                              <p:spTgt spid="17"/>
                            </p:tgtEl>
                          </p:cBhvr>
                        </p:animEffect>
                      </p:childTnLst>
                    </p:cTn>
                  </p:par>
                  <p:par>
                    <p:cTn id="148" presetID="10" presetClass="entr" presetSubtype="0" fill="hold" grpId="0" nodeType="afterEffect">
                      <p:stCondLst>
                        <p:cond delay="1920"/>
                      </p:stCondLst>
                      <p:childTnLst>
                        <p:set>
                          <p:cBhvr>
                            <p:cTn id="149" dur="1" fill="hold">
                              <p:stCondLst>
                                <p:cond delay="0"/>
                              </p:stCondLst>
                            </p:cTn>
                            <p:tgtEl>
                              <p:spTgt spid="18"/>
                            </p:tgtEl>
                            <p:attrNameLst>
                              <p:attrName>style.visibility</p:attrName>
                            </p:attrNameLst>
                          </p:cBhvr>
                          <p:to>
                            <p:strVal val="visible"/>
                          </p:to>
                        </p:set>
                        <p:animEffect transition="in" filter="fade">
                          <p:cBhvr>
                            <p:cTn id="150" dur="450"/>
                            <p:tgtEl>
                              <p:spTgt spid="18"/>
                            </p:tgtEl>
                          </p:cBhvr>
                        </p:animEffect>
                      </p:childTnLst>
                    </p:cTn>
                  </p:par>
                  <p:par>
                    <p:cTn id="151" presetID="10" presetClass="entr" presetSubtype="0" fill="hold" grpId="0" nodeType="afterEffect">
                      <p:stCondLst>
                        <p:cond delay="2040"/>
                      </p:stCondLst>
                      <p:childTnLst>
                        <p:set>
                          <p:cBhvr>
                            <p:cTn id="152" dur="1" fill="hold">
                              <p:stCondLst>
                                <p:cond delay="0"/>
                              </p:stCondLst>
                            </p:cTn>
                            <p:tgtEl>
                              <p:spTgt spid="19"/>
                            </p:tgtEl>
                            <p:attrNameLst>
                              <p:attrName>style.visibility</p:attrName>
                            </p:attrNameLst>
                          </p:cBhvr>
                          <p:to>
                            <p:strVal val="visible"/>
                          </p:to>
                        </p:set>
                        <p:animEffect transition="in" filter="fade">
                          <p:cBhvr>
                            <p:cTn id="153" dur="450"/>
                            <p:tgtEl>
                              <p:spTgt spid="19"/>
                            </p:tgtEl>
                          </p:cBhvr>
                        </p:animEffect>
                      </p:childTnLst>
                    </p:cTn>
                  </p:par>
                  <p:par>
                    <p:cTn id="154" presetID="10" presetClass="entr" presetSubtype="0" fill="hold" grpId="0" nodeType="afterEffect">
                      <p:stCondLst>
                        <p:cond delay="2160"/>
                      </p:stCondLst>
                      <p:childTnLst>
                        <p:set>
                          <p:cBhvr>
                            <p:cTn id="155" dur="1" fill="hold">
                              <p:stCondLst>
                                <p:cond delay="0"/>
                              </p:stCondLst>
                            </p:cTn>
                            <p:tgtEl>
                              <p:spTgt spid="20"/>
                            </p:tgtEl>
                            <p:attrNameLst>
                              <p:attrName>style.visibility</p:attrName>
                            </p:attrNameLst>
                          </p:cBhvr>
                          <p:to>
                            <p:strVal val="visible"/>
                          </p:to>
                        </p:set>
                        <p:animEffect transition="in" filter="fade">
                          <p:cBhvr>
                            <p:cTn id="156" dur="450"/>
                            <p:tgtEl>
                              <p:spTgt spid="20"/>
                            </p:tgtEl>
                          </p:cBhvr>
                        </p:animEffect>
                      </p:childTnLst>
                    </p:cTn>
                  </p:par>
                  <p:par>
                    <p:cTn id="157" presetID="10" presetClass="entr" presetSubtype="0" fill="hold" grpId="0" nodeType="afterEffect">
                      <p:stCondLst>
                        <p:cond delay="2280"/>
                      </p:stCondLst>
                      <p:childTnLst>
                        <p:set>
                          <p:cBhvr>
                            <p:cTn id="158" dur="1" fill="hold">
                              <p:stCondLst>
                                <p:cond delay="0"/>
                              </p:stCondLst>
                            </p:cTn>
                            <p:tgtEl>
                              <p:spTgt spid="21"/>
                            </p:tgtEl>
                            <p:attrNameLst>
                              <p:attrName>style.visibility</p:attrName>
                            </p:attrNameLst>
                          </p:cBhvr>
                          <p:to>
                            <p:strVal val="visible"/>
                          </p:to>
                        </p:set>
                        <p:animEffect transition="in" filter="fade">
                          <p:cBhvr>
                            <p:cTn id="159" dur="450"/>
                            <p:tgtEl>
                              <p:spTgt spid="21"/>
                            </p:tgtEl>
                          </p:cBhvr>
                        </p:animEffect>
                      </p:childTnLst>
                    </p:cTn>
                  </p:par>
                  <p:par>
                    <p:cTn id="160" presetID="10" presetClass="entr" presetSubtype="0" fill="hold" grpId="0" nodeType="afterEffect">
                      <p:stCondLst>
                        <p:cond delay="2400"/>
                      </p:stCondLst>
                      <p:childTnLst>
                        <p:set>
                          <p:cBhvr>
                            <p:cTn id="161" dur="1" fill="hold">
                              <p:stCondLst>
                                <p:cond delay="0"/>
                              </p:stCondLst>
                            </p:cTn>
                            <p:tgtEl>
                              <p:spTgt spid="22"/>
                            </p:tgtEl>
                            <p:attrNameLst>
                              <p:attrName>style.visibility</p:attrName>
                            </p:attrNameLst>
                          </p:cBhvr>
                          <p:to>
                            <p:strVal val="visible"/>
                          </p:to>
                        </p:set>
                        <p:animEffect transition="in" filter="fade">
                          <p:cBhvr>
                            <p:cTn id="162" dur="450"/>
                            <p:tgtEl>
                              <p:spTgt spid="22"/>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THE SOLUTION, IN FOUR VERBS</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Listen → Whisper → Remember → Improve</a:t>
            </a:r>
            <a:endParaRPr lang="en-US" sz="3300" dirty="0"/>
          </a:p>
        </p:txBody>
      </p:sp>
      <p:sp>
        <p:nvSpPr>
          <p:cNvPr id="4" name="Shape 2"/>
          <p:cNvSpPr/>
          <p:nvPr/>
        </p:nvSpPr>
        <p:spPr>
          <a:xfrm>
            <a:off x="566928" y="2651760"/>
            <a:ext cx="2468880" cy="1737360"/>
          </a:xfrm>
          <a:prstGeom prst="roundRect">
            <a:avLst>
              <a:gd name="adj" fmla="val 6316"/>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Shape 3"/>
          <p:cNvSpPr/>
          <p:nvPr/>
        </p:nvSpPr>
        <p:spPr>
          <a:xfrm>
            <a:off x="1481328" y="2880360"/>
            <a:ext cx="640080" cy="640080"/>
          </a:xfrm>
          <a:prstGeom prst="ellipse">
            <a:avLst/>
          </a:prstGeom>
          <a:solidFill>
            <a:srgbClr val="0E7C86"/>
          </a:solidFill>
          <a:ln/>
        </p:spPr>
      </p:sp>
      <p:sp>
        <p:nvSpPr>
          <p:cNvPr id="6" name="Text 4"/>
          <p:cNvSpPr/>
          <p:nvPr/>
        </p:nvSpPr>
        <p:spPr>
          <a:xfrm>
            <a:off x="1481328" y="2880360"/>
            <a:ext cx="640080" cy="640080"/>
          </a:xfrm>
          <a:prstGeom prst="rect">
            <a:avLst/>
          </a:prstGeom>
          <a:noFill/>
          <a:ln/>
        </p:spPr>
        <p:txBody>
          <a:bodyPr wrap="square"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sp>
        <p:nvSpPr>
          <p:cNvPr id="7" name="Text 5"/>
          <p:cNvSpPr/>
          <p:nvPr/>
        </p:nvSpPr>
        <p:spPr>
          <a:xfrm>
            <a:off x="658368" y="3611880"/>
            <a:ext cx="2286000" cy="411480"/>
          </a:xfrm>
          <a:prstGeom prst="rect">
            <a:avLst/>
          </a:prstGeom>
          <a:noFill/>
          <a:ln/>
        </p:spPr>
        <p:txBody>
          <a:bodyPr wrap="square" rtlCol="0" anchor="ctr"/>
          <a:lstStyle/>
          <a:p>
            <a:pPr algn="ctr" indent="0" marL="0">
              <a:buNone/>
            </a:pPr>
            <a:r>
              <a:rPr lang="en-US" sz="1800" b="1" dirty="0">
                <a:solidFill>
                  <a:srgbClr val="1A1A1A"/>
                </a:solidFill>
                <a:latin typeface="Segoe UI" pitchFamily="34" charset="0"/>
                <a:ea typeface="Segoe UI" pitchFamily="34" charset="-122"/>
                <a:cs typeface="Segoe UI" pitchFamily="34" charset="-120"/>
              </a:rPr>
              <a:t>Listen</a:t>
            </a:r>
            <a:endParaRPr lang="en-US" sz="1800" dirty="0"/>
          </a:p>
        </p:txBody>
      </p:sp>
      <p:sp>
        <p:nvSpPr>
          <p:cNvPr id="8" name="Text 6"/>
          <p:cNvSpPr/>
          <p:nvPr/>
        </p:nvSpPr>
        <p:spPr>
          <a:xfrm>
            <a:off x="704088" y="4005072"/>
            <a:ext cx="2194560" cy="457200"/>
          </a:xfrm>
          <a:prstGeom prst="rect">
            <a:avLst/>
          </a:prstGeom>
          <a:noFill/>
          <a:ln/>
        </p:spPr>
        <p:txBody>
          <a:bodyPr wrap="square" rtlCol="0" anchor="ctr"/>
          <a:lstStyle/>
          <a:p>
            <a:pPr algn="ctr" indent="0" marL="0">
              <a:buNone/>
            </a:pPr>
            <a:r>
              <a:rPr lang="en-US" sz="1200" dirty="0">
                <a:solidFill>
                  <a:srgbClr val="3A3A3A"/>
                </a:solidFill>
                <a:latin typeface="Segoe UI" pitchFamily="34" charset="0"/>
                <a:ea typeface="Segoe UI" pitchFamily="34" charset="-122"/>
                <a:cs typeface="Segoe UI" pitchFamily="34" charset="-120"/>
              </a:rPr>
              <a:t>to the live conversation</a:t>
            </a:r>
            <a:endParaRPr lang="en-US" sz="1200" dirty="0"/>
          </a:p>
        </p:txBody>
      </p:sp>
      <p:sp>
        <p:nvSpPr>
          <p:cNvPr id="9" name="Text 7"/>
          <p:cNvSpPr/>
          <p:nvPr/>
        </p:nvSpPr>
        <p:spPr>
          <a:xfrm>
            <a:off x="2944368" y="2651760"/>
            <a:ext cx="457200" cy="1737360"/>
          </a:xfrm>
          <a:prstGeom prst="rect">
            <a:avLst/>
          </a:prstGeom>
          <a:noFill/>
          <a:ln/>
        </p:spPr>
        <p:txBody>
          <a:bodyPr wrap="square" rtlCol="0" anchor="ctr"/>
          <a:lstStyle/>
          <a:p>
            <a:pPr algn="ctr" indent="0" marL="0">
              <a:buNone/>
            </a:pPr>
            <a:r>
              <a:rPr lang="en-US" sz="3000" b="1" dirty="0">
                <a:solidFill>
                  <a:srgbClr val="0E7C86"/>
                </a:solidFill>
                <a:latin typeface="Segoe UI" pitchFamily="34" charset="0"/>
                <a:ea typeface="Segoe UI" pitchFamily="34" charset="-122"/>
                <a:cs typeface="Segoe UI" pitchFamily="34" charset="-120"/>
              </a:rPr>
              <a:t>›</a:t>
            </a:r>
            <a:endParaRPr lang="en-US" sz="3000" dirty="0"/>
          </a:p>
        </p:txBody>
      </p:sp>
      <p:sp>
        <p:nvSpPr>
          <p:cNvPr id="10" name="Shape 8"/>
          <p:cNvSpPr/>
          <p:nvPr/>
        </p:nvSpPr>
        <p:spPr>
          <a:xfrm>
            <a:off x="3355848" y="2651760"/>
            <a:ext cx="2468880" cy="1737360"/>
          </a:xfrm>
          <a:prstGeom prst="roundRect">
            <a:avLst>
              <a:gd name="adj" fmla="val 6316"/>
            </a:avLst>
          </a:prstGeom>
          <a:solidFill>
            <a:srgbClr val="F0EBE1"/>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1" name="Shape 9"/>
          <p:cNvSpPr/>
          <p:nvPr/>
        </p:nvSpPr>
        <p:spPr>
          <a:xfrm>
            <a:off x="4270248" y="2880360"/>
            <a:ext cx="640080" cy="640080"/>
          </a:xfrm>
          <a:prstGeom prst="ellipse">
            <a:avLst/>
          </a:prstGeom>
          <a:solidFill>
            <a:srgbClr val="0E7C86"/>
          </a:solidFill>
          <a:ln/>
        </p:spPr>
      </p:sp>
      <p:sp>
        <p:nvSpPr>
          <p:cNvPr id="12" name="Text 10"/>
          <p:cNvSpPr/>
          <p:nvPr/>
        </p:nvSpPr>
        <p:spPr>
          <a:xfrm>
            <a:off x="4270248" y="2880360"/>
            <a:ext cx="640080" cy="640080"/>
          </a:xfrm>
          <a:prstGeom prst="rect">
            <a:avLst/>
          </a:prstGeom>
          <a:noFill/>
          <a:ln/>
        </p:spPr>
        <p:txBody>
          <a:bodyPr wrap="square"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2</a:t>
            </a:r>
            <a:endParaRPr lang="en-US" sz="2000" dirty="0"/>
          </a:p>
        </p:txBody>
      </p:sp>
      <p:sp>
        <p:nvSpPr>
          <p:cNvPr id="13" name="Text 11"/>
          <p:cNvSpPr/>
          <p:nvPr/>
        </p:nvSpPr>
        <p:spPr>
          <a:xfrm>
            <a:off x="3447288" y="3611880"/>
            <a:ext cx="2286000" cy="411480"/>
          </a:xfrm>
          <a:prstGeom prst="rect">
            <a:avLst/>
          </a:prstGeom>
          <a:noFill/>
          <a:ln/>
        </p:spPr>
        <p:txBody>
          <a:bodyPr wrap="square" rtlCol="0" anchor="ctr"/>
          <a:lstStyle/>
          <a:p>
            <a:pPr algn="ctr" indent="0" marL="0">
              <a:buNone/>
            </a:pPr>
            <a:r>
              <a:rPr lang="en-US" sz="1800" b="1" dirty="0">
                <a:solidFill>
                  <a:srgbClr val="1A1A1A"/>
                </a:solidFill>
                <a:latin typeface="Segoe UI" pitchFamily="34" charset="0"/>
                <a:ea typeface="Segoe UI" pitchFamily="34" charset="-122"/>
                <a:cs typeface="Segoe UI" pitchFamily="34" charset="-120"/>
              </a:rPr>
              <a:t>Whisper</a:t>
            </a:r>
            <a:endParaRPr lang="en-US" sz="1800" dirty="0"/>
          </a:p>
        </p:txBody>
      </p:sp>
      <p:sp>
        <p:nvSpPr>
          <p:cNvPr id="14" name="Text 12"/>
          <p:cNvSpPr/>
          <p:nvPr/>
        </p:nvSpPr>
        <p:spPr>
          <a:xfrm>
            <a:off x="3493008" y="4005072"/>
            <a:ext cx="2194560" cy="457200"/>
          </a:xfrm>
          <a:prstGeom prst="rect">
            <a:avLst/>
          </a:prstGeom>
          <a:noFill/>
          <a:ln/>
        </p:spPr>
        <p:txBody>
          <a:bodyPr wrap="square" rtlCol="0" anchor="ctr"/>
          <a:lstStyle/>
          <a:p>
            <a:pPr algn="ctr" indent="0" marL="0">
              <a:buNone/>
            </a:pPr>
            <a:r>
              <a:rPr lang="en-US" sz="1200" dirty="0">
                <a:solidFill>
                  <a:srgbClr val="3A3A3A"/>
                </a:solidFill>
                <a:latin typeface="Segoe UI" pitchFamily="34" charset="0"/>
                <a:ea typeface="Segoe UI" pitchFamily="34" charset="-122"/>
                <a:cs typeface="Segoe UI" pitchFamily="34" charset="-120"/>
              </a:rPr>
              <a:t>the next thing to say</a:t>
            </a:r>
            <a:endParaRPr lang="en-US" sz="1200" dirty="0"/>
          </a:p>
        </p:txBody>
      </p:sp>
      <p:sp>
        <p:nvSpPr>
          <p:cNvPr id="15" name="Text 13"/>
          <p:cNvSpPr/>
          <p:nvPr/>
        </p:nvSpPr>
        <p:spPr>
          <a:xfrm>
            <a:off x="5733288" y="2651760"/>
            <a:ext cx="457200" cy="1737360"/>
          </a:xfrm>
          <a:prstGeom prst="rect">
            <a:avLst/>
          </a:prstGeom>
          <a:noFill/>
          <a:ln/>
        </p:spPr>
        <p:txBody>
          <a:bodyPr wrap="square" rtlCol="0" anchor="ctr"/>
          <a:lstStyle/>
          <a:p>
            <a:pPr algn="ctr" indent="0" marL="0">
              <a:buNone/>
            </a:pPr>
            <a:r>
              <a:rPr lang="en-US" sz="3000" b="1" dirty="0">
                <a:solidFill>
                  <a:srgbClr val="0E7C86"/>
                </a:solidFill>
                <a:latin typeface="Segoe UI" pitchFamily="34" charset="0"/>
                <a:ea typeface="Segoe UI" pitchFamily="34" charset="-122"/>
                <a:cs typeface="Segoe UI" pitchFamily="34" charset="-120"/>
              </a:rPr>
              <a:t>›</a:t>
            </a:r>
            <a:endParaRPr lang="en-US" sz="3000" dirty="0"/>
          </a:p>
        </p:txBody>
      </p:sp>
      <p:sp>
        <p:nvSpPr>
          <p:cNvPr id="16" name="Shape 14"/>
          <p:cNvSpPr/>
          <p:nvPr/>
        </p:nvSpPr>
        <p:spPr>
          <a:xfrm>
            <a:off x="6144768" y="2651760"/>
            <a:ext cx="2468880" cy="1737360"/>
          </a:xfrm>
          <a:prstGeom prst="roundRect">
            <a:avLst>
              <a:gd name="adj" fmla="val 6316"/>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7" name="Shape 15"/>
          <p:cNvSpPr/>
          <p:nvPr/>
        </p:nvSpPr>
        <p:spPr>
          <a:xfrm>
            <a:off x="7059168" y="2880360"/>
            <a:ext cx="640080" cy="640080"/>
          </a:xfrm>
          <a:prstGeom prst="ellipse">
            <a:avLst/>
          </a:prstGeom>
          <a:solidFill>
            <a:srgbClr val="0E7C86"/>
          </a:solidFill>
          <a:ln/>
        </p:spPr>
      </p:sp>
      <p:sp>
        <p:nvSpPr>
          <p:cNvPr id="18" name="Text 16"/>
          <p:cNvSpPr/>
          <p:nvPr/>
        </p:nvSpPr>
        <p:spPr>
          <a:xfrm>
            <a:off x="7059168" y="2880360"/>
            <a:ext cx="640080" cy="640080"/>
          </a:xfrm>
          <a:prstGeom prst="rect">
            <a:avLst/>
          </a:prstGeom>
          <a:noFill/>
          <a:ln/>
        </p:spPr>
        <p:txBody>
          <a:bodyPr wrap="square"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3</a:t>
            </a:r>
            <a:endParaRPr lang="en-US" sz="2000" dirty="0"/>
          </a:p>
        </p:txBody>
      </p:sp>
      <p:sp>
        <p:nvSpPr>
          <p:cNvPr id="19" name="Text 17"/>
          <p:cNvSpPr/>
          <p:nvPr/>
        </p:nvSpPr>
        <p:spPr>
          <a:xfrm>
            <a:off x="6236208" y="3611880"/>
            <a:ext cx="2286000" cy="411480"/>
          </a:xfrm>
          <a:prstGeom prst="rect">
            <a:avLst/>
          </a:prstGeom>
          <a:noFill/>
          <a:ln/>
        </p:spPr>
        <p:txBody>
          <a:bodyPr wrap="square" rtlCol="0" anchor="ctr"/>
          <a:lstStyle/>
          <a:p>
            <a:pPr algn="ctr" indent="0" marL="0">
              <a:buNone/>
            </a:pPr>
            <a:r>
              <a:rPr lang="en-US" sz="1800" b="1" dirty="0">
                <a:solidFill>
                  <a:srgbClr val="1A1A1A"/>
                </a:solidFill>
                <a:latin typeface="Segoe UI" pitchFamily="34" charset="0"/>
                <a:ea typeface="Segoe UI" pitchFamily="34" charset="-122"/>
                <a:cs typeface="Segoe UI" pitchFamily="34" charset="-120"/>
              </a:rPr>
              <a:t>Remember</a:t>
            </a:r>
            <a:endParaRPr lang="en-US" sz="1800" dirty="0"/>
          </a:p>
        </p:txBody>
      </p:sp>
      <p:sp>
        <p:nvSpPr>
          <p:cNvPr id="20" name="Text 18"/>
          <p:cNvSpPr/>
          <p:nvPr/>
        </p:nvSpPr>
        <p:spPr>
          <a:xfrm>
            <a:off x="6281928" y="4005072"/>
            <a:ext cx="2194560" cy="457200"/>
          </a:xfrm>
          <a:prstGeom prst="rect">
            <a:avLst/>
          </a:prstGeom>
          <a:noFill/>
          <a:ln/>
        </p:spPr>
        <p:txBody>
          <a:bodyPr wrap="square" rtlCol="0" anchor="ctr"/>
          <a:lstStyle/>
          <a:p>
            <a:pPr algn="ctr" indent="0" marL="0">
              <a:buNone/>
            </a:pPr>
            <a:r>
              <a:rPr lang="en-US" sz="1200" dirty="0">
                <a:solidFill>
                  <a:srgbClr val="3A3A3A"/>
                </a:solidFill>
                <a:latin typeface="Segoe UI" pitchFamily="34" charset="0"/>
                <a:ea typeface="Segoe UI" pitchFamily="34" charset="-122"/>
                <a:cs typeface="Segoe UI" pitchFamily="34" charset="-120"/>
              </a:rPr>
              <a:t>the people &amp; topics</a:t>
            </a:r>
            <a:endParaRPr lang="en-US" sz="1200" dirty="0"/>
          </a:p>
        </p:txBody>
      </p:sp>
      <p:sp>
        <p:nvSpPr>
          <p:cNvPr id="21" name="Text 19"/>
          <p:cNvSpPr/>
          <p:nvPr/>
        </p:nvSpPr>
        <p:spPr>
          <a:xfrm>
            <a:off x="8522208" y="2651760"/>
            <a:ext cx="457200" cy="1737360"/>
          </a:xfrm>
          <a:prstGeom prst="rect">
            <a:avLst/>
          </a:prstGeom>
          <a:noFill/>
          <a:ln/>
        </p:spPr>
        <p:txBody>
          <a:bodyPr wrap="square" rtlCol="0" anchor="ctr"/>
          <a:lstStyle/>
          <a:p>
            <a:pPr algn="ctr" indent="0" marL="0">
              <a:buNone/>
            </a:pPr>
            <a:r>
              <a:rPr lang="en-US" sz="3000" b="1" dirty="0">
                <a:solidFill>
                  <a:srgbClr val="0E7C86"/>
                </a:solidFill>
                <a:latin typeface="Segoe UI" pitchFamily="34" charset="0"/>
                <a:ea typeface="Segoe UI" pitchFamily="34" charset="-122"/>
                <a:cs typeface="Segoe UI" pitchFamily="34" charset="-120"/>
              </a:rPr>
              <a:t>›</a:t>
            </a:r>
            <a:endParaRPr lang="en-US" sz="3000" dirty="0"/>
          </a:p>
        </p:txBody>
      </p:sp>
      <p:sp>
        <p:nvSpPr>
          <p:cNvPr id="22" name="Shape 20"/>
          <p:cNvSpPr/>
          <p:nvPr/>
        </p:nvSpPr>
        <p:spPr>
          <a:xfrm>
            <a:off x="8933688" y="2651760"/>
            <a:ext cx="2468880" cy="1737360"/>
          </a:xfrm>
          <a:prstGeom prst="roundRect">
            <a:avLst>
              <a:gd name="adj" fmla="val 6316"/>
            </a:avLst>
          </a:prstGeom>
          <a:solidFill>
            <a:srgbClr val="F0EBE1"/>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23" name="Shape 21"/>
          <p:cNvSpPr/>
          <p:nvPr/>
        </p:nvSpPr>
        <p:spPr>
          <a:xfrm>
            <a:off x="9848088" y="2880360"/>
            <a:ext cx="640080" cy="640080"/>
          </a:xfrm>
          <a:prstGeom prst="ellipse">
            <a:avLst/>
          </a:prstGeom>
          <a:solidFill>
            <a:srgbClr val="0E7C86"/>
          </a:solidFill>
          <a:ln/>
        </p:spPr>
      </p:sp>
      <p:sp>
        <p:nvSpPr>
          <p:cNvPr id="24" name="Text 22"/>
          <p:cNvSpPr/>
          <p:nvPr/>
        </p:nvSpPr>
        <p:spPr>
          <a:xfrm>
            <a:off x="9848088" y="2880360"/>
            <a:ext cx="640080" cy="640080"/>
          </a:xfrm>
          <a:prstGeom prst="rect">
            <a:avLst/>
          </a:prstGeom>
          <a:noFill/>
          <a:ln/>
        </p:spPr>
        <p:txBody>
          <a:bodyPr wrap="square"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4</a:t>
            </a:r>
            <a:endParaRPr lang="en-US" sz="2000" dirty="0"/>
          </a:p>
        </p:txBody>
      </p:sp>
      <p:sp>
        <p:nvSpPr>
          <p:cNvPr id="25" name="Text 23"/>
          <p:cNvSpPr/>
          <p:nvPr/>
        </p:nvSpPr>
        <p:spPr>
          <a:xfrm>
            <a:off x="9025128" y="3611880"/>
            <a:ext cx="2286000" cy="411480"/>
          </a:xfrm>
          <a:prstGeom prst="rect">
            <a:avLst/>
          </a:prstGeom>
          <a:noFill/>
          <a:ln/>
        </p:spPr>
        <p:txBody>
          <a:bodyPr wrap="square" rtlCol="0" anchor="ctr"/>
          <a:lstStyle/>
          <a:p>
            <a:pPr algn="ctr" indent="0" marL="0">
              <a:buNone/>
            </a:pPr>
            <a:r>
              <a:rPr lang="en-US" sz="1800" b="1" dirty="0">
                <a:solidFill>
                  <a:srgbClr val="1A1A1A"/>
                </a:solidFill>
                <a:latin typeface="Segoe UI" pitchFamily="34" charset="0"/>
                <a:ea typeface="Segoe UI" pitchFamily="34" charset="-122"/>
                <a:cs typeface="Segoe UI" pitchFamily="34" charset="-120"/>
              </a:rPr>
              <a:t>Improve</a:t>
            </a:r>
            <a:endParaRPr lang="en-US" sz="1800" dirty="0"/>
          </a:p>
        </p:txBody>
      </p:sp>
      <p:sp>
        <p:nvSpPr>
          <p:cNvPr id="26" name="Text 24"/>
          <p:cNvSpPr/>
          <p:nvPr/>
        </p:nvSpPr>
        <p:spPr>
          <a:xfrm>
            <a:off x="9070848" y="4005072"/>
            <a:ext cx="2194560" cy="457200"/>
          </a:xfrm>
          <a:prstGeom prst="rect">
            <a:avLst/>
          </a:prstGeom>
          <a:noFill/>
          <a:ln/>
        </p:spPr>
        <p:txBody>
          <a:bodyPr wrap="square" rtlCol="0" anchor="ctr"/>
          <a:lstStyle/>
          <a:p>
            <a:pPr algn="ctr" indent="0" marL="0">
              <a:buNone/>
            </a:pPr>
            <a:r>
              <a:rPr lang="en-US" sz="1200" dirty="0">
                <a:solidFill>
                  <a:srgbClr val="3A3A3A"/>
                </a:solidFill>
                <a:latin typeface="Segoe UI" pitchFamily="34" charset="0"/>
                <a:ea typeface="Segoe UI" pitchFamily="34" charset="-122"/>
                <a:cs typeface="Segoe UI" pitchFamily="34" charset="-120"/>
              </a:rPr>
              <a:t>from your real mistakes</a:t>
            </a:r>
            <a:endParaRPr lang="en-US" sz="1200" dirty="0"/>
          </a:p>
        </p:txBody>
      </p:sp>
      <p:sp>
        <p:nvSpPr>
          <p:cNvPr id="27" name="Text 25"/>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8" name="Text 26"/>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10</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par>
                    <p:cTn id="142" presetID="10" presetClass="entr" presetSubtype="0" fill="hold" grpId="0" nodeType="afterEffect">
                      <p:stCondLst>
                        <p:cond delay="1680"/>
                      </p:stCondLst>
                      <p:childTnLst>
                        <p:set>
                          <p:cBhvr>
                            <p:cTn id="143" dur="1" fill="hold">
                              <p:stCondLst>
                                <p:cond delay="0"/>
                              </p:stCondLst>
                            </p:cTn>
                            <p:tgtEl>
                              <p:spTgt spid="16"/>
                            </p:tgtEl>
                            <p:attrNameLst>
                              <p:attrName>style.visibility</p:attrName>
                            </p:attrNameLst>
                          </p:cBhvr>
                          <p:to>
                            <p:strVal val="visible"/>
                          </p:to>
                        </p:set>
                        <p:animEffect transition="in" filter="fade">
                          <p:cBhvr>
                            <p:cTn id="144" dur="450"/>
                            <p:tgtEl>
                              <p:spTgt spid="16"/>
                            </p:tgtEl>
                          </p:cBhvr>
                        </p:animEffect>
                      </p:childTnLst>
                    </p:cTn>
                  </p:par>
                  <p:par>
                    <p:cTn id="145" presetID="10" presetClass="entr" presetSubtype="0" fill="hold" grpId="0" nodeType="afterEffect">
                      <p:stCondLst>
                        <p:cond delay="1800"/>
                      </p:stCondLst>
                      <p:childTnLst>
                        <p:set>
                          <p:cBhvr>
                            <p:cTn id="146" dur="1" fill="hold">
                              <p:stCondLst>
                                <p:cond delay="0"/>
                              </p:stCondLst>
                            </p:cTn>
                            <p:tgtEl>
                              <p:spTgt spid="17"/>
                            </p:tgtEl>
                            <p:attrNameLst>
                              <p:attrName>style.visibility</p:attrName>
                            </p:attrNameLst>
                          </p:cBhvr>
                          <p:to>
                            <p:strVal val="visible"/>
                          </p:to>
                        </p:set>
                        <p:animEffect transition="in" filter="fade">
                          <p:cBhvr>
                            <p:cTn id="147" dur="450"/>
                            <p:tgtEl>
                              <p:spTgt spid="17"/>
                            </p:tgtEl>
                          </p:cBhvr>
                        </p:animEffect>
                      </p:childTnLst>
                    </p:cTn>
                  </p:par>
                  <p:par>
                    <p:cTn id="148" presetID="10" presetClass="entr" presetSubtype="0" fill="hold" grpId="0" nodeType="afterEffect">
                      <p:stCondLst>
                        <p:cond delay="1920"/>
                      </p:stCondLst>
                      <p:childTnLst>
                        <p:set>
                          <p:cBhvr>
                            <p:cTn id="149" dur="1" fill="hold">
                              <p:stCondLst>
                                <p:cond delay="0"/>
                              </p:stCondLst>
                            </p:cTn>
                            <p:tgtEl>
                              <p:spTgt spid="18"/>
                            </p:tgtEl>
                            <p:attrNameLst>
                              <p:attrName>style.visibility</p:attrName>
                            </p:attrNameLst>
                          </p:cBhvr>
                          <p:to>
                            <p:strVal val="visible"/>
                          </p:to>
                        </p:set>
                        <p:animEffect transition="in" filter="fade">
                          <p:cBhvr>
                            <p:cTn id="150" dur="450"/>
                            <p:tgtEl>
                              <p:spTgt spid="18"/>
                            </p:tgtEl>
                          </p:cBhvr>
                        </p:animEffect>
                      </p:childTnLst>
                    </p:cTn>
                  </p:par>
                  <p:par>
                    <p:cTn id="151" presetID="10" presetClass="entr" presetSubtype="0" fill="hold" grpId="0" nodeType="afterEffect">
                      <p:stCondLst>
                        <p:cond delay="2040"/>
                      </p:stCondLst>
                      <p:childTnLst>
                        <p:set>
                          <p:cBhvr>
                            <p:cTn id="152" dur="1" fill="hold">
                              <p:stCondLst>
                                <p:cond delay="0"/>
                              </p:stCondLst>
                            </p:cTn>
                            <p:tgtEl>
                              <p:spTgt spid="19"/>
                            </p:tgtEl>
                            <p:attrNameLst>
                              <p:attrName>style.visibility</p:attrName>
                            </p:attrNameLst>
                          </p:cBhvr>
                          <p:to>
                            <p:strVal val="visible"/>
                          </p:to>
                        </p:set>
                        <p:animEffect transition="in" filter="fade">
                          <p:cBhvr>
                            <p:cTn id="153" dur="450"/>
                            <p:tgtEl>
                              <p:spTgt spid="19"/>
                            </p:tgtEl>
                          </p:cBhvr>
                        </p:animEffect>
                      </p:childTnLst>
                    </p:cTn>
                  </p:par>
                  <p:par>
                    <p:cTn id="154" presetID="10" presetClass="entr" presetSubtype="0" fill="hold" grpId="0" nodeType="afterEffect">
                      <p:stCondLst>
                        <p:cond delay="2160"/>
                      </p:stCondLst>
                      <p:childTnLst>
                        <p:set>
                          <p:cBhvr>
                            <p:cTn id="155" dur="1" fill="hold">
                              <p:stCondLst>
                                <p:cond delay="0"/>
                              </p:stCondLst>
                            </p:cTn>
                            <p:tgtEl>
                              <p:spTgt spid="20"/>
                            </p:tgtEl>
                            <p:attrNameLst>
                              <p:attrName>style.visibility</p:attrName>
                            </p:attrNameLst>
                          </p:cBhvr>
                          <p:to>
                            <p:strVal val="visible"/>
                          </p:to>
                        </p:set>
                        <p:animEffect transition="in" filter="fade">
                          <p:cBhvr>
                            <p:cTn id="156" dur="450"/>
                            <p:tgtEl>
                              <p:spTgt spid="20"/>
                            </p:tgtEl>
                          </p:cBhvr>
                        </p:animEffect>
                      </p:childTnLst>
                    </p:cTn>
                  </p:par>
                  <p:par>
                    <p:cTn id="157" presetID="10" presetClass="entr" presetSubtype="0" fill="hold" grpId="0" nodeType="afterEffect">
                      <p:stCondLst>
                        <p:cond delay="2280"/>
                      </p:stCondLst>
                      <p:childTnLst>
                        <p:set>
                          <p:cBhvr>
                            <p:cTn id="158" dur="1" fill="hold">
                              <p:stCondLst>
                                <p:cond delay="0"/>
                              </p:stCondLst>
                            </p:cTn>
                            <p:tgtEl>
                              <p:spTgt spid="21"/>
                            </p:tgtEl>
                            <p:attrNameLst>
                              <p:attrName>style.visibility</p:attrName>
                            </p:attrNameLst>
                          </p:cBhvr>
                          <p:to>
                            <p:strVal val="visible"/>
                          </p:to>
                        </p:set>
                        <p:animEffect transition="in" filter="fade">
                          <p:cBhvr>
                            <p:cTn id="159" dur="450"/>
                            <p:tgtEl>
                              <p:spTgt spid="21"/>
                            </p:tgtEl>
                          </p:cBhvr>
                        </p:animEffect>
                      </p:childTnLst>
                    </p:cTn>
                  </p:par>
                  <p:par>
                    <p:cTn id="160" presetID="10" presetClass="entr" presetSubtype="0" fill="hold" grpId="0" nodeType="afterEffect">
                      <p:stCondLst>
                        <p:cond delay="2400"/>
                      </p:stCondLst>
                      <p:childTnLst>
                        <p:set>
                          <p:cBhvr>
                            <p:cTn id="161" dur="1" fill="hold">
                              <p:stCondLst>
                                <p:cond delay="0"/>
                              </p:stCondLst>
                            </p:cTn>
                            <p:tgtEl>
                              <p:spTgt spid="22"/>
                            </p:tgtEl>
                            <p:attrNameLst>
                              <p:attrName>style.visibility</p:attrName>
                            </p:attrNameLst>
                          </p:cBhvr>
                          <p:to>
                            <p:strVal val="visible"/>
                          </p:to>
                        </p:set>
                        <p:animEffect transition="in" filter="fade">
                          <p:cBhvr>
                            <p:cTn id="162" dur="450"/>
                            <p:tgtEl>
                              <p:spTgt spid="22"/>
                            </p:tgtEl>
                          </p:cBhvr>
                        </p:animEffect>
                      </p:childTnLst>
                    </p:cTn>
                  </p:par>
                  <p:par>
                    <p:cTn id="163" presetID="10" presetClass="entr" presetSubtype="0" fill="hold" grpId="0" nodeType="afterEffect">
                      <p:stCondLst>
                        <p:cond delay="2520"/>
                      </p:stCondLst>
                      <p:childTnLst>
                        <p:set>
                          <p:cBhvr>
                            <p:cTn id="164" dur="1" fill="hold">
                              <p:stCondLst>
                                <p:cond delay="0"/>
                              </p:stCondLst>
                            </p:cTn>
                            <p:tgtEl>
                              <p:spTgt spid="23"/>
                            </p:tgtEl>
                            <p:attrNameLst>
                              <p:attrName>style.visibility</p:attrName>
                            </p:attrNameLst>
                          </p:cBhvr>
                          <p:to>
                            <p:strVal val="visible"/>
                          </p:to>
                        </p:set>
                        <p:animEffect transition="in" filter="fade">
                          <p:cBhvr>
                            <p:cTn id="165" dur="450"/>
                            <p:tgtEl>
                              <p:spTgt spid="23"/>
                            </p:tgtEl>
                          </p:cBhvr>
                        </p:animEffect>
                      </p:childTnLst>
                    </p:cTn>
                  </p:par>
                  <p:par>
                    <p:cTn id="166" presetID="10" presetClass="entr" presetSubtype="0" fill="hold" grpId="0" nodeType="afterEffect">
                      <p:stCondLst>
                        <p:cond delay="2640"/>
                      </p:stCondLst>
                      <p:childTnLst>
                        <p:set>
                          <p:cBhvr>
                            <p:cTn id="167" dur="1" fill="hold">
                              <p:stCondLst>
                                <p:cond delay="0"/>
                              </p:stCondLst>
                            </p:cTn>
                            <p:tgtEl>
                              <p:spTgt spid="24"/>
                            </p:tgtEl>
                            <p:attrNameLst>
                              <p:attrName>style.visibility</p:attrName>
                            </p:attrNameLst>
                          </p:cBhvr>
                          <p:to>
                            <p:strVal val="visible"/>
                          </p:to>
                        </p:set>
                        <p:animEffect transition="in" filter="fade">
                          <p:cBhvr>
                            <p:cTn id="168" dur="450"/>
                            <p:tgtEl>
                              <p:spTgt spid="24"/>
                            </p:tgtEl>
                          </p:cBhvr>
                        </p:animEffect>
                      </p:childTnLst>
                    </p:cTn>
                  </p:par>
                  <p:par>
                    <p:cTn id="169" presetID="10" presetClass="entr" presetSubtype="0" fill="hold" grpId="0" nodeType="afterEffect">
                      <p:stCondLst>
                        <p:cond delay="2760"/>
                      </p:stCondLst>
                      <p:childTnLst>
                        <p:set>
                          <p:cBhvr>
                            <p:cTn id="170" dur="1" fill="hold">
                              <p:stCondLst>
                                <p:cond delay="0"/>
                              </p:stCondLst>
                            </p:cTn>
                            <p:tgtEl>
                              <p:spTgt spid="25"/>
                            </p:tgtEl>
                            <p:attrNameLst>
                              <p:attrName>style.visibility</p:attrName>
                            </p:attrNameLst>
                          </p:cBhvr>
                          <p:to>
                            <p:strVal val="visible"/>
                          </p:to>
                        </p:set>
                        <p:animEffect transition="in" filter="fade">
                          <p:cBhvr>
                            <p:cTn id="171" dur="450"/>
                            <p:tgtEl>
                              <p:spTgt spid="25"/>
                            </p:tgtEl>
                          </p:cBhvr>
                        </p:animEffect>
                      </p:childTnLst>
                    </p:cTn>
                  </p:par>
                  <p:par>
                    <p:cTn id="172" presetID="10" presetClass="entr" presetSubtype="0" fill="hold" grpId="0" nodeType="afterEffect">
                      <p:stCondLst>
                        <p:cond delay="2880"/>
                      </p:stCondLst>
                      <p:childTnLst>
                        <p:set>
                          <p:cBhvr>
                            <p:cTn id="173" dur="1" fill="hold">
                              <p:stCondLst>
                                <p:cond delay="0"/>
                              </p:stCondLst>
                            </p:cTn>
                            <p:tgtEl>
                              <p:spTgt spid="26"/>
                            </p:tgtEl>
                            <p:attrNameLst>
                              <p:attrName>style.visibility</p:attrName>
                            </p:attrNameLst>
                          </p:cBhvr>
                          <p:to>
                            <p:strVal val="visible"/>
                          </p:to>
                        </p:set>
                        <p:animEffect transition="in" filter="fade">
                          <p:cBhvr>
                            <p:cTn id="174" dur="450"/>
                            <p:tgtEl>
                              <p:spTgt spid="26"/>
                            </p:tgtEl>
                          </p:cBhvr>
                        </p:animEffect>
                      </p:childTnLst>
                    </p:cTn>
                  </p:par>
                  <p:par>
                    <p:cTn id="175" presetID="10" presetClass="entr" presetSubtype="0" fill="hold" grpId="0" nodeType="afterEffect">
                      <p:stCondLst>
                        <p:cond delay="3000"/>
                      </p:stCondLst>
                      <p:childTnLst>
                        <p:set>
                          <p:cBhvr>
                            <p:cTn id="176" dur="1" fill="hold">
                              <p:stCondLst>
                                <p:cond delay="0"/>
                              </p:stCondLst>
                            </p:cTn>
                            <p:tgtEl>
                              <p:spTgt spid="27"/>
                            </p:tgtEl>
                            <p:attrNameLst>
                              <p:attrName>style.visibility</p:attrName>
                            </p:attrNameLst>
                          </p:cBhvr>
                          <p:to>
                            <p:strVal val="visible"/>
                          </p:to>
                        </p:set>
                        <p:animEffect transition="in" filter="fade">
                          <p:cBhvr>
                            <p:cTn id="177" dur="450"/>
                            <p:tgtEl>
                              <p:spTgt spid="27"/>
                            </p:tgtEl>
                          </p:cBhvr>
                        </p:animEffect>
                      </p:childTnLst>
                    </p:cTn>
                  </p:par>
                  <p:par>
                    <p:cTn id="178" presetID="10" presetClass="entr" presetSubtype="0" fill="hold" grpId="0" nodeType="afterEffect">
                      <p:stCondLst>
                        <p:cond delay="3120"/>
                      </p:stCondLst>
                      <p:childTnLst>
                        <p:set>
                          <p:cBhvr>
                            <p:cTn id="179" dur="1" fill="hold">
                              <p:stCondLst>
                                <p:cond delay="0"/>
                              </p:stCondLst>
                            </p:cTn>
                            <p:tgtEl>
                              <p:spTgt spid="28"/>
                            </p:tgtEl>
                            <p:attrNameLst>
                              <p:attrName>style.visibility</p:attrName>
                            </p:attrNameLst>
                          </p:cBhvr>
                          <p:to>
                            <p:strVal val="visible"/>
                          </p:to>
                        </p:set>
                        <p:animEffect transition="in" filter="fade">
                          <p:cBhvr>
                            <p:cTn id="180" dur="450"/>
                            <p:tgtEl>
                              <p:spTgt spid="28"/>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MODE 1</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Live Wingman — coaches you while you talk.</a:t>
            </a:r>
            <a:endParaRPr lang="en-US" sz="3300" dirty="0"/>
          </a:p>
        </p:txBody>
      </p:sp>
      <p:sp>
        <p:nvSpPr>
          <p:cNvPr id="4" name="Text 2"/>
          <p:cNvSpPr/>
          <p:nvPr/>
        </p:nvSpPr>
        <p:spPr>
          <a:xfrm>
            <a:off x="566928" y="2194560"/>
            <a:ext cx="6583680" cy="2743200"/>
          </a:xfrm>
          <a:prstGeom prst="rect">
            <a:avLst/>
          </a:prstGeom>
          <a:noFill/>
          <a:ln/>
        </p:spPr>
        <p:txBody>
          <a:bodyPr wrap="square" rtlCol="0" anchor="ctr"/>
          <a:lstStyle/>
          <a:p>
            <a:pPr marL="342900" indent="-342900">
              <a:lnSpc>
                <a:spcPct val="125000"/>
              </a:lnSpc>
              <a:spcAft>
                <a:spcPts val="1200"/>
              </a:spcAft>
              <a:buSzPct val="100000"/>
              <a:buChar char="•"/>
            </a:pPr>
            <a:r>
              <a:rPr lang="en-US" sz="1750" dirty="0">
                <a:solidFill>
                  <a:srgbClr val="3A3A3A"/>
                </a:solidFill>
                <a:latin typeface="Segoe UI" pitchFamily="34" charset="0"/>
                <a:ea typeface="Segoe UI" pitchFamily="34" charset="-122"/>
                <a:cs typeface="Segoe UI" pitchFamily="34" charset="-120"/>
              </a:rPr>
              <a:t>Real-time advice generated from the live transcript</a:t>
            </a:r>
            <a:endParaRPr lang="en-US" sz="1750" dirty="0"/>
          </a:p>
          <a:p>
            <a:pPr marL="342900" indent="-342900">
              <a:lnSpc>
                <a:spcPct val="125000"/>
              </a:lnSpc>
              <a:spcAft>
                <a:spcPts val="1200"/>
              </a:spcAft>
              <a:buSzPct val="100000"/>
              <a:buChar char="•"/>
            </a:pPr>
            <a:r>
              <a:rPr lang="en-US" sz="1750" dirty="0">
                <a:solidFill>
                  <a:srgbClr val="3A3A3A"/>
                </a:solidFill>
                <a:latin typeface="Segoe UI" pitchFamily="34" charset="0"/>
                <a:ea typeface="Segoe UI" pitchFamily="34" charset="-122"/>
                <a:cs typeface="Segoe UI" pitchFamily="34" charset="-120"/>
              </a:rPr>
              <a:t>Clarifying questions when the moment needs one</a:t>
            </a:r>
            <a:endParaRPr lang="en-US" sz="1750" dirty="0"/>
          </a:p>
          <a:p>
            <a:pPr marL="342900" indent="-342900">
              <a:lnSpc>
                <a:spcPct val="125000"/>
              </a:lnSpc>
              <a:spcAft>
                <a:spcPts val="1200"/>
              </a:spcAft>
              <a:buSzPct val="100000"/>
              <a:buChar char="•"/>
            </a:pPr>
            <a:r>
              <a:rPr lang="en-US" sz="1750" dirty="0">
                <a:solidFill>
                  <a:srgbClr val="3A3A3A"/>
                </a:solidFill>
                <a:latin typeface="Segoe UI" pitchFamily="34" charset="0"/>
                <a:ea typeface="Segoe UI" pitchFamily="34" charset="-122"/>
                <a:cs typeface="Segoe UI" pitchFamily="34" charset="-120"/>
              </a:rPr>
              <a:t>Reacts to the other person — never echoes you back</a:t>
            </a:r>
            <a:endParaRPr lang="en-US" sz="1750" dirty="0"/>
          </a:p>
          <a:p>
            <a:pPr marL="342900" indent="-342900">
              <a:lnSpc>
                <a:spcPct val="125000"/>
              </a:lnSpc>
              <a:spcAft>
                <a:spcPts val="1200"/>
              </a:spcAft>
              <a:buSzPct val="100000"/>
              <a:buChar char="•"/>
            </a:pPr>
            <a:r>
              <a:rPr lang="en-US" sz="1750" dirty="0">
                <a:solidFill>
                  <a:srgbClr val="3A3A3A"/>
                </a:solidFill>
                <a:latin typeface="Segoe UI" pitchFamily="34" charset="0"/>
                <a:ea typeface="Segoe UI" pitchFamily="34" charset="-122"/>
                <a:cs typeface="Segoe UI" pitchFamily="34" charset="-120"/>
              </a:rPr>
              <a:t>Pushed to screen over WebSocket, no flow break</a:t>
            </a:r>
            <a:endParaRPr lang="en-US" sz="1750" dirty="0"/>
          </a:p>
        </p:txBody>
      </p:sp>
      <p:sp>
        <p:nvSpPr>
          <p:cNvPr id="5" name="Shape 3"/>
          <p:cNvSpPr/>
          <p:nvPr/>
        </p:nvSpPr>
        <p:spPr>
          <a:xfrm>
            <a:off x="8412480" y="1737360"/>
            <a:ext cx="2926080" cy="4480560"/>
          </a:xfrm>
          <a:prstGeom prst="roundRect">
            <a:avLst>
              <a:gd name="adj" fmla="val 7813"/>
            </a:avLst>
          </a:prstGeom>
          <a:solidFill>
            <a:srgbClr val="0E2A2E"/>
          </a:solidFill>
          <a:ln w="25400">
            <a:solidFill>
              <a:srgbClr val="0A5159"/>
            </a:solidFill>
            <a:prstDash val="solid"/>
          </a:ln>
        </p:spPr>
      </p:sp>
      <p:sp>
        <p:nvSpPr>
          <p:cNvPr id="6" name="Shape 4"/>
          <p:cNvSpPr/>
          <p:nvPr/>
        </p:nvSpPr>
        <p:spPr>
          <a:xfrm>
            <a:off x="8549640" y="1965960"/>
            <a:ext cx="2651760" cy="4023360"/>
          </a:xfrm>
          <a:prstGeom prst="roundRect">
            <a:avLst>
              <a:gd name="adj" fmla="val 5172"/>
            </a:avLst>
          </a:prstGeom>
          <a:solidFill>
            <a:srgbClr val="FAF8F4"/>
          </a:solidFill>
          <a:ln/>
        </p:spPr>
      </p:sp>
      <p:sp>
        <p:nvSpPr>
          <p:cNvPr id="7" name="Text 5"/>
          <p:cNvSpPr/>
          <p:nvPr/>
        </p:nvSpPr>
        <p:spPr>
          <a:xfrm>
            <a:off x="8686800" y="2148840"/>
            <a:ext cx="2377440" cy="365760"/>
          </a:xfrm>
          <a:prstGeom prst="rect">
            <a:avLst/>
          </a:prstGeom>
          <a:noFill/>
          <a:ln/>
        </p:spPr>
        <p:txBody>
          <a:bodyPr wrap="square" rtlCol="0" anchor="ctr"/>
          <a:lstStyle/>
          <a:p>
            <a:pPr indent="0" marL="0">
              <a:buNone/>
            </a:pPr>
            <a:r>
              <a:rPr lang="en-US" sz="1300" b="1" dirty="0">
                <a:solidFill>
                  <a:srgbClr val="0E7C86"/>
                </a:solidFill>
                <a:latin typeface="Segoe UI" pitchFamily="34" charset="0"/>
                <a:ea typeface="Segoe UI" pitchFamily="34" charset="-122"/>
                <a:cs typeface="Segoe UI" pitchFamily="34" charset="-120"/>
              </a:rPr>
              <a:t>Live Wingman</a:t>
            </a:r>
            <a:endParaRPr lang="en-US" sz="1300" dirty="0"/>
          </a:p>
        </p:txBody>
      </p:sp>
      <p:sp>
        <p:nvSpPr>
          <p:cNvPr id="8" name="Shape 6"/>
          <p:cNvSpPr/>
          <p:nvPr/>
        </p:nvSpPr>
        <p:spPr>
          <a:xfrm>
            <a:off x="8686800" y="2697480"/>
            <a:ext cx="1920240" cy="731520"/>
          </a:xfrm>
          <a:prstGeom prst="roundRect">
            <a:avLst>
              <a:gd name="adj" fmla="val 15000"/>
            </a:avLst>
          </a:prstGeom>
          <a:solidFill>
            <a:srgbClr val="F0EBE1"/>
          </a:solidFill>
          <a:ln/>
        </p:spPr>
      </p:sp>
      <p:sp>
        <p:nvSpPr>
          <p:cNvPr id="9" name="Text 7"/>
          <p:cNvSpPr/>
          <p:nvPr/>
        </p:nvSpPr>
        <p:spPr>
          <a:xfrm>
            <a:off x="8778240" y="2743200"/>
            <a:ext cx="1691640" cy="658368"/>
          </a:xfrm>
          <a:prstGeom prst="rect">
            <a:avLst/>
          </a:prstGeom>
          <a:noFill/>
          <a:ln/>
        </p:spPr>
        <p:txBody>
          <a:bodyPr wrap="square" rtlCol="0" anchor="ctr"/>
          <a:lstStyle/>
          <a:p>
            <a:pPr indent="0" marL="0">
              <a:lnSpc>
                <a:spcPct val="95000"/>
              </a:lnSpc>
              <a:buNone/>
            </a:pPr>
            <a:r>
              <a:rPr lang="en-US" sz="950" dirty="0">
                <a:solidFill>
                  <a:srgbClr val="1A1A1A"/>
                </a:solidFill>
                <a:latin typeface="Segoe UI" pitchFamily="34" charset="0"/>
                <a:ea typeface="Segoe UI" pitchFamily="34" charset="-122"/>
                <a:cs typeface="Segoe UI" pitchFamily="34" charset="-120"/>
              </a:rPr>
              <a:t>Other: What do you like in CS?</a:t>
            </a:r>
            <a:endParaRPr lang="en-US" sz="950" dirty="0"/>
          </a:p>
        </p:txBody>
      </p:sp>
      <p:sp>
        <p:nvSpPr>
          <p:cNvPr id="10" name="Shape 8"/>
          <p:cNvSpPr/>
          <p:nvPr/>
        </p:nvSpPr>
        <p:spPr>
          <a:xfrm>
            <a:off x="8686800" y="3566160"/>
            <a:ext cx="1920240" cy="731520"/>
          </a:xfrm>
          <a:prstGeom prst="roundRect">
            <a:avLst>
              <a:gd name="adj" fmla="val 15000"/>
            </a:avLst>
          </a:prstGeom>
          <a:solidFill>
            <a:srgbClr val="E8F4DC"/>
          </a:solidFill>
          <a:ln/>
        </p:spPr>
      </p:sp>
      <p:sp>
        <p:nvSpPr>
          <p:cNvPr id="11" name="Text 9"/>
          <p:cNvSpPr/>
          <p:nvPr/>
        </p:nvSpPr>
        <p:spPr>
          <a:xfrm>
            <a:off x="8778240" y="3611880"/>
            <a:ext cx="1691640" cy="658368"/>
          </a:xfrm>
          <a:prstGeom prst="rect">
            <a:avLst/>
          </a:prstGeom>
          <a:noFill/>
          <a:ln/>
        </p:spPr>
        <p:txBody>
          <a:bodyPr wrap="square" rtlCol="0" anchor="ctr"/>
          <a:lstStyle/>
          <a:p>
            <a:pPr indent="0" marL="0">
              <a:lnSpc>
                <a:spcPct val="95000"/>
              </a:lnSpc>
              <a:buNone/>
            </a:pPr>
            <a:r>
              <a:rPr lang="en-US" sz="950" dirty="0">
                <a:solidFill>
                  <a:srgbClr val="1A1A1A"/>
                </a:solidFill>
                <a:latin typeface="Segoe UI" pitchFamily="34" charset="0"/>
                <a:ea typeface="Segoe UI" pitchFamily="34" charset="-122"/>
                <a:cs typeface="Segoe UI" pitchFamily="34" charset="-120"/>
              </a:rPr>
              <a:t>AI INSIGHT · advice</a:t>
            </a:r>
            <a:endParaRPr lang="en-US" sz="950" dirty="0"/>
          </a:p>
        </p:txBody>
      </p:sp>
      <p:sp>
        <p:nvSpPr>
          <p:cNvPr id="12" name="Shape 10"/>
          <p:cNvSpPr/>
          <p:nvPr/>
        </p:nvSpPr>
        <p:spPr>
          <a:xfrm>
            <a:off x="8686800" y="4434840"/>
            <a:ext cx="1920240" cy="731520"/>
          </a:xfrm>
          <a:prstGeom prst="roundRect">
            <a:avLst>
              <a:gd name="adj" fmla="val 15000"/>
            </a:avLst>
          </a:prstGeom>
          <a:solidFill>
            <a:srgbClr val="E8F4DC"/>
          </a:solidFill>
          <a:ln/>
        </p:spPr>
      </p:sp>
      <p:sp>
        <p:nvSpPr>
          <p:cNvPr id="13" name="Text 11"/>
          <p:cNvSpPr/>
          <p:nvPr/>
        </p:nvSpPr>
        <p:spPr>
          <a:xfrm>
            <a:off x="8778240" y="4480560"/>
            <a:ext cx="1691640" cy="658368"/>
          </a:xfrm>
          <a:prstGeom prst="rect">
            <a:avLst/>
          </a:prstGeom>
          <a:noFill/>
          <a:ln/>
        </p:spPr>
        <p:txBody>
          <a:bodyPr wrap="square" rtlCol="0" anchor="ctr"/>
          <a:lstStyle/>
          <a:p>
            <a:pPr indent="0" marL="0">
              <a:lnSpc>
                <a:spcPct val="95000"/>
              </a:lnSpc>
              <a:buNone/>
            </a:pPr>
            <a:r>
              <a:rPr lang="en-US" sz="950" dirty="0">
                <a:solidFill>
                  <a:srgbClr val="1A1A1A"/>
                </a:solidFill>
                <a:latin typeface="Segoe UI" pitchFamily="34" charset="0"/>
                <a:ea typeface="Segoe UI" pitchFamily="34" charset="-122"/>
                <a:cs typeface="Segoe UI" pitchFamily="34" charset="-120"/>
              </a:rPr>
              <a:t>Ask a follow-up to learn their interest first.</a:t>
            </a:r>
            <a:endParaRPr lang="en-US" sz="950" dirty="0"/>
          </a:p>
        </p:txBody>
      </p:sp>
      <p:sp>
        <p:nvSpPr>
          <p:cNvPr id="14" name="Shape 12"/>
          <p:cNvSpPr/>
          <p:nvPr/>
        </p:nvSpPr>
        <p:spPr>
          <a:xfrm>
            <a:off x="9235440" y="5303520"/>
            <a:ext cx="1828800" cy="731520"/>
          </a:xfrm>
          <a:prstGeom prst="roundRect">
            <a:avLst>
              <a:gd name="adj" fmla="val 15000"/>
            </a:avLst>
          </a:prstGeom>
          <a:solidFill>
            <a:srgbClr val="0E7C86"/>
          </a:solidFill>
          <a:ln/>
        </p:spPr>
      </p:sp>
      <p:sp>
        <p:nvSpPr>
          <p:cNvPr id="15" name="Text 13"/>
          <p:cNvSpPr/>
          <p:nvPr/>
        </p:nvSpPr>
        <p:spPr>
          <a:xfrm>
            <a:off x="9326880" y="5349240"/>
            <a:ext cx="1691640" cy="658368"/>
          </a:xfrm>
          <a:prstGeom prst="rect">
            <a:avLst/>
          </a:prstGeom>
          <a:noFill/>
          <a:ln/>
        </p:spPr>
        <p:txBody>
          <a:bodyPr wrap="square" rtlCol="0" anchor="ctr"/>
          <a:lstStyle/>
          <a:p>
            <a:pPr indent="0" marL="0">
              <a:lnSpc>
                <a:spcPct val="95000"/>
              </a:lnSpc>
              <a:buNone/>
            </a:pPr>
            <a:r>
              <a:rPr lang="en-US" sz="950" dirty="0">
                <a:solidFill>
                  <a:srgbClr val="FFFFFF"/>
                </a:solidFill>
                <a:latin typeface="Segoe UI" pitchFamily="34" charset="0"/>
                <a:ea typeface="Segoe UI" pitchFamily="34" charset="-122"/>
                <a:cs typeface="Segoe UI" pitchFamily="34" charset="-120"/>
              </a:rPr>
              <a:t>I'm doing CS and…</a:t>
            </a:r>
            <a:endParaRPr lang="en-US" sz="950" dirty="0"/>
          </a:p>
        </p:txBody>
      </p:sp>
      <p:sp>
        <p:nvSpPr>
          <p:cNvPr id="16" name="Text 14"/>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7" name="Text 15"/>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11</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par>
                    <p:cTn id="142" presetID="10" presetClass="entr" presetSubtype="0" fill="hold" grpId="0" nodeType="afterEffect">
                      <p:stCondLst>
                        <p:cond delay="1680"/>
                      </p:stCondLst>
                      <p:childTnLst>
                        <p:set>
                          <p:cBhvr>
                            <p:cTn id="143" dur="1" fill="hold">
                              <p:stCondLst>
                                <p:cond delay="0"/>
                              </p:stCondLst>
                            </p:cTn>
                            <p:tgtEl>
                              <p:spTgt spid="16"/>
                            </p:tgtEl>
                            <p:attrNameLst>
                              <p:attrName>style.visibility</p:attrName>
                            </p:attrNameLst>
                          </p:cBhvr>
                          <p:to>
                            <p:strVal val="visible"/>
                          </p:to>
                        </p:set>
                        <p:animEffect transition="in" filter="fade">
                          <p:cBhvr>
                            <p:cTn id="144" dur="450"/>
                            <p:tgtEl>
                              <p:spTgt spid="16"/>
                            </p:tgtEl>
                          </p:cBhvr>
                        </p:animEffect>
                      </p:childTnLst>
                    </p:cTn>
                  </p:par>
                  <p:par>
                    <p:cTn id="145" presetID="10" presetClass="entr" presetSubtype="0" fill="hold" grpId="0" nodeType="afterEffect">
                      <p:stCondLst>
                        <p:cond delay="1800"/>
                      </p:stCondLst>
                      <p:childTnLst>
                        <p:set>
                          <p:cBhvr>
                            <p:cTn id="146" dur="1" fill="hold">
                              <p:stCondLst>
                                <p:cond delay="0"/>
                              </p:stCondLst>
                            </p:cTn>
                            <p:tgtEl>
                              <p:spTgt spid="17"/>
                            </p:tgtEl>
                            <p:attrNameLst>
                              <p:attrName>style.visibility</p:attrName>
                            </p:attrNameLst>
                          </p:cBhvr>
                          <p:to>
                            <p:strVal val="visible"/>
                          </p:to>
                        </p:set>
                        <p:animEffect transition="in" filter="fade">
                          <p:cBhvr>
                            <p:cTn id="147" dur="450"/>
                            <p:tgtEl>
                              <p:spTgt spid="17"/>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MODE 2</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Consultant — ask anything about your past talks.</a:t>
            </a:r>
            <a:endParaRPr lang="en-US" sz="3300" dirty="0"/>
          </a:p>
        </p:txBody>
      </p:sp>
      <p:sp>
        <p:nvSpPr>
          <p:cNvPr id="4" name="Text 2"/>
          <p:cNvSpPr/>
          <p:nvPr/>
        </p:nvSpPr>
        <p:spPr>
          <a:xfrm>
            <a:off x="566928" y="2194560"/>
            <a:ext cx="6583680" cy="2743200"/>
          </a:xfrm>
          <a:prstGeom prst="rect">
            <a:avLst/>
          </a:prstGeom>
          <a:noFill/>
          <a:ln/>
        </p:spPr>
        <p:txBody>
          <a:bodyPr wrap="square" rtlCol="0" anchor="ctr"/>
          <a:lstStyle/>
          <a:p>
            <a:pPr marL="342900" indent="-342900">
              <a:lnSpc>
                <a:spcPct val="125000"/>
              </a:lnSpc>
              <a:spcAft>
                <a:spcPts val="1200"/>
              </a:spcAft>
              <a:buSzPct val="100000"/>
              <a:buChar char="•"/>
            </a:pPr>
            <a:r>
              <a:rPr lang="en-US" sz="1750" dirty="0">
                <a:solidFill>
                  <a:srgbClr val="3A3A3A"/>
                </a:solidFill>
                <a:latin typeface="Segoe UI" pitchFamily="34" charset="0"/>
                <a:ea typeface="Segoe UI" pitchFamily="34" charset="-122"/>
                <a:cs typeface="Segoe UI" pitchFamily="34" charset="-120"/>
              </a:rPr>
              <a:t>Deep, context-aware Q&amp;A over your history</a:t>
            </a:r>
            <a:endParaRPr lang="en-US" sz="1750" dirty="0"/>
          </a:p>
          <a:p>
            <a:pPr marL="342900" indent="-342900">
              <a:lnSpc>
                <a:spcPct val="125000"/>
              </a:lnSpc>
              <a:spcAft>
                <a:spcPts val="1200"/>
              </a:spcAft>
              <a:buSzPct val="100000"/>
              <a:buChar char="•"/>
            </a:pPr>
            <a:r>
              <a:rPr lang="en-US" sz="1750" dirty="0">
                <a:solidFill>
                  <a:srgbClr val="3A3A3A"/>
                </a:solidFill>
                <a:latin typeface="Segoe UI" pitchFamily="34" charset="0"/>
                <a:ea typeface="Segoe UI" pitchFamily="34" charset="-122"/>
                <a:cs typeface="Segoe UI" pitchFamily="34" charset="-120"/>
              </a:rPr>
              <a:t>“What did I promise Client X last week?”</a:t>
            </a:r>
            <a:endParaRPr lang="en-US" sz="1750" dirty="0"/>
          </a:p>
          <a:p>
            <a:pPr marL="342900" indent="-342900">
              <a:lnSpc>
                <a:spcPct val="125000"/>
              </a:lnSpc>
              <a:spcAft>
                <a:spcPts val="1200"/>
              </a:spcAft>
              <a:buSzPct val="100000"/>
              <a:buChar char="•"/>
            </a:pPr>
            <a:r>
              <a:rPr lang="en-US" sz="1750" dirty="0">
                <a:solidFill>
                  <a:srgbClr val="3A3A3A"/>
                </a:solidFill>
                <a:latin typeface="Segoe UI" pitchFamily="34" charset="0"/>
                <a:ea typeface="Segoe UI" pitchFamily="34" charset="-122"/>
                <a:cs typeface="Segoe UI" pitchFamily="34" charset="-120"/>
              </a:rPr>
              <a:t>Streaming, blocking, or batched answers</a:t>
            </a:r>
            <a:endParaRPr lang="en-US" sz="1750" dirty="0"/>
          </a:p>
          <a:p>
            <a:pPr marL="342900" indent="-342900">
              <a:lnSpc>
                <a:spcPct val="125000"/>
              </a:lnSpc>
              <a:spcAft>
                <a:spcPts val="1200"/>
              </a:spcAft>
              <a:buSzPct val="100000"/>
              <a:buChar char="•"/>
            </a:pPr>
            <a:r>
              <a:rPr lang="en-US" sz="1750" dirty="0">
                <a:solidFill>
                  <a:srgbClr val="3A3A3A"/>
                </a:solidFill>
                <a:latin typeface="Segoe UI" pitchFamily="34" charset="0"/>
                <a:ea typeface="Segoe UI" pitchFamily="34" charset="-122"/>
                <a:cs typeface="Segoe UI" pitchFamily="34" charset="-120"/>
              </a:rPr>
              <a:t>Backed by the heavy reasoning model</a:t>
            </a:r>
            <a:endParaRPr lang="en-US" sz="1750" dirty="0"/>
          </a:p>
        </p:txBody>
      </p:sp>
      <p:sp>
        <p:nvSpPr>
          <p:cNvPr id="5" name="Shape 3"/>
          <p:cNvSpPr/>
          <p:nvPr/>
        </p:nvSpPr>
        <p:spPr>
          <a:xfrm>
            <a:off x="8412480" y="1737360"/>
            <a:ext cx="2926080" cy="4480560"/>
          </a:xfrm>
          <a:prstGeom prst="roundRect">
            <a:avLst>
              <a:gd name="adj" fmla="val 7813"/>
            </a:avLst>
          </a:prstGeom>
          <a:solidFill>
            <a:srgbClr val="0E2A2E"/>
          </a:solidFill>
          <a:ln w="25400">
            <a:solidFill>
              <a:srgbClr val="0A5159"/>
            </a:solidFill>
            <a:prstDash val="solid"/>
          </a:ln>
        </p:spPr>
      </p:sp>
      <p:sp>
        <p:nvSpPr>
          <p:cNvPr id="6" name="Shape 4"/>
          <p:cNvSpPr/>
          <p:nvPr/>
        </p:nvSpPr>
        <p:spPr>
          <a:xfrm>
            <a:off x="8549640" y="1965960"/>
            <a:ext cx="2651760" cy="4023360"/>
          </a:xfrm>
          <a:prstGeom prst="roundRect">
            <a:avLst>
              <a:gd name="adj" fmla="val 5172"/>
            </a:avLst>
          </a:prstGeom>
          <a:solidFill>
            <a:srgbClr val="FAF8F4"/>
          </a:solidFill>
          <a:ln/>
        </p:spPr>
      </p:sp>
      <p:sp>
        <p:nvSpPr>
          <p:cNvPr id="7" name="Text 5"/>
          <p:cNvSpPr/>
          <p:nvPr/>
        </p:nvSpPr>
        <p:spPr>
          <a:xfrm>
            <a:off x="8686800" y="2148840"/>
            <a:ext cx="2377440" cy="365760"/>
          </a:xfrm>
          <a:prstGeom prst="rect">
            <a:avLst/>
          </a:prstGeom>
          <a:noFill/>
          <a:ln/>
        </p:spPr>
        <p:txBody>
          <a:bodyPr wrap="square" rtlCol="0" anchor="ctr"/>
          <a:lstStyle/>
          <a:p>
            <a:pPr indent="0" marL="0">
              <a:buNone/>
            </a:pPr>
            <a:r>
              <a:rPr lang="en-US" sz="1300" b="1" dirty="0">
                <a:solidFill>
                  <a:srgbClr val="0E7C86"/>
                </a:solidFill>
                <a:latin typeface="Segoe UI" pitchFamily="34" charset="0"/>
                <a:ea typeface="Segoe UI" pitchFamily="34" charset="-122"/>
                <a:cs typeface="Segoe UI" pitchFamily="34" charset="-120"/>
              </a:rPr>
              <a:t>Consultant AI</a:t>
            </a:r>
            <a:endParaRPr lang="en-US" sz="1300" dirty="0"/>
          </a:p>
        </p:txBody>
      </p:sp>
      <p:sp>
        <p:nvSpPr>
          <p:cNvPr id="8" name="Shape 6"/>
          <p:cNvSpPr/>
          <p:nvPr/>
        </p:nvSpPr>
        <p:spPr>
          <a:xfrm>
            <a:off x="9235440" y="2697480"/>
            <a:ext cx="1828800" cy="731520"/>
          </a:xfrm>
          <a:prstGeom prst="roundRect">
            <a:avLst>
              <a:gd name="adj" fmla="val 15000"/>
            </a:avLst>
          </a:prstGeom>
          <a:solidFill>
            <a:srgbClr val="0E7C86"/>
          </a:solidFill>
          <a:ln/>
        </p:spPr>
      </p:sp>
      <p:sp>
        <p:nvSpPr>
          <p:cNvPr id="9" name="Text 7"/>
          <p:cNvSpPr/>
          <p:nvPr/>
        </p:nvSpPr>
        <p:spPr>
          <a:xfrm>
            <a:off x="9326880" y="2743200"/>
            <a:ext cx="1691640" cy="658368"/>
          </a:xfrm>
          <a:prstGeom prst="rect">
            <a:avLst/>
          </a:prstGeom>
          <a:noFill/>
          <a:ln/>
        </p:spPr>
        <p:txBody>
          <a:bodyPr wrap="square" rtlCol="0" anchor="ctr"/>
          <a:lstStyle/>
          <a:p>
            <a:pPr indent="0" marL="0">
              <a:lnSpc>
                <a:spcPct val="95000"/>
              </a:lnSpc>
              <a:buNone/>
            </a:pPr>
            <a:r>
              <a:rPr lang="en-US" sz="950" dirty="0">
                <a:solidFill>
                  <a:srgbClr val="FFFFFF"/>
                </a:solidFill>
                <a:latin typeface="Segoe UI" pitchFamily="34" charset="0"/>
                <a:ea typeface="Segoe UI" pitchFamily="34" charset="-122"/>
                <a:cs typeface="Segoe UI" pitchFamily="34" charset="-120"/>
              </a:rPr>
              <a:t>What more did we talk about?</a:t>
            </a:r>
            <a:endParaRPr lang="en-US" sz="950" dirty="0"/>
          </a:p>
        </p:txBody>
      </p:sp>
      <p:sp>
        <p:nvSpPr>
          <p:cNvPr id="10" name="Shape 8"/>
          <p:cNvSpPr/>
          <p:nvPr/>
        </p:nvSpPr>
        <p:spPr>
          <a:xfrm>
            <a:off x="8686800" y="3566160"/>
            <a:ext cx="1920240" cy="731520"/>
          </a:xfrm>
          <a:prstGeom prst="roundRect">
            <a:avLst>
              <a:gd name="adj" fmla="val 15000"/>
            </a:avLst>
          </a:prstGeom>
          <a:solidFill>
            <a:srgbClr val="F0EBE1"/>
          </a:solidFill>
          <a:ln/>
        </p:spPr>
      </p:sp>
      <p:sp>
        <p:nvSpPr>
          <p:cNvPr id="11" name="Text 9"/>
          <p:cNvSpPr/>
          <p:nvPr/>
        </p:nvSpPr>
        <p:spPr>
          <a:xfrm>
            <a:off x="8778240" y="3611880"/>
            <a:ext cx="1691640" cy="658368"/>
          </a:xfrm>
          <a:prstGeom prst="rect">
            <a:avLst/>
          </a:prstGeom>
          <a:noFill/>
          <a:ln/>
        </p:spPr>
        <p:txBody>
          <a:bodyPr wrap="square" rtlCol="0" anchor="ctr"/>
          <a:lstStyle/>
          <a:p>
            <a:pPr indent="0" marL="0">
              <a:lnSpc>
                <a:spcPct val="95000"/>
              </a:lnSpc>
              <a:buNone/>
            </a:pPr>
            <a:r>
              <a:rPr lang="en-US" sz="950" dirty="0">
                <a:solidFill>
                  <a:srgbClr val="1A1A1A"/>
                </a:solidFill>
                <a:latin typeface="Segoe UI" pitchFamily="34" charset="0"/>
                <a:ea typeface="Segoe UI" pitchFamily="34" charset="-122"/>
                <a:cs typeface="Segoe UI" pitchFamily="34" charset="-120"/>
              </a:rPr>
              <a:t>You agreed to send the report by Friday and to loop in Asma.</a:t>
            </a:r>
            <a:endParaRPr lang="en-US" sz="950" dirty="0"/>
          </a:p>
        </p:txBody>
      </p:sp>
      <p:sp>
        <p:nvSpPr>
          <p:cNvPr id="12" name="Shape 10"/>
          <p:cNvSpPr/>
          <p:nvPr/>
        </p:nvSpPr>
        <p:spPr>
          <a:xfrm>
            <a:off x="9235440" y="4434840"/>
            <a:ext cx="1828800" cy="731520"/>
          </a:xfrm>
          <a:prstGeom prst="roundRect">
            <a:avLst>
              <a:gd name="adj" fmla="val 15000"/>
            </a:avLst>
          </a:prstGeom>
          <a:solidFill>
            <a:srgbClr val="0E7C86"/>
          </a:solidFill>
          <a:ln/>
        </p:spPr>
      </p:sp>
      <p:sp>
        <p:nvSpPr>
          <p:cNvPr id="13" name="Text 11"/>
          <p:cNvSpPr/>
          <p:nvPr/>
        </p:nvSpPr>
        <p:spPr>
          <a:xfrm>
            <a:off x="9326880" y="4480560"/>
            <a:ext cx="1691640" cy="658368"/>
          </a:xfrm>
          <a:prstGeom prst="rect">
            <a:avLst/>
          </a:prstGeom>
          <a:noFill/>
          <a:ln/>
        </p:spPr>
        <p:txBody>
          <a:bodyPr wrap="square" rtlCol="0" anchor="ctr"/>
          <a:lstStyle/>
          <a:p>
            <a:pPr indent="0" marL="0">
              <a:lnSpc>
                <a:spcPct val="95000"/>
              </a:lnSpc>
              <a:buNone/>
            </a:pPr>
            <a:r>
              <a:rPr lang="en-US" sz="950" dirty="0">
                <a:solidFill>
                  <a:srgbClr val="FFFFFF"/>
                </a:solidFill>
                <a:latin typeface="Segoe UI" pitchFamily="34" charset="0"/>
                <a:ea typeface="Segoe UI" pitchFamily="34" charset="-122"/>
                <a:cs typeface="Segoe UI" pitchFamily="34" charset="-120"/>
              </a:rPr>
              <a:t>Remind me who Asma is</a:t>
            </a:r>
            <a:endParaRPr lang="en-US" sz="950" dirty="0"/>
          </a:p>
        </p:txBody>
      </p:sp>
      <p:sp>
        <p:nvSpPr>
          <p:cNvPr id="14" name="Shape 12"/>
          <p:cNvSpPr/>
          <p:nvPr/>
        </p:nvSpPr>
        <p:spPr>
          <a:xfrm>
            <a:off x="8686800" y="5303520"/>
            <a:ext cx="1920240" cy="731520"/>
          </a:xfrm>
          <a:prstGeom prst="roundRect">
            <a:avLst>
              <a:gd name="adj" fmla="val 15000"/>
            </a:avLst>
          </a:prstGeom>
          <a:solidFill>
            <a:srgbClr val="F0EBE1"/>
          </a:solidFill>
          <a:ln/>
        </p:spPr>
      </p:sp>
      <p:sp>
        <p:nvSpPr>
          <p:cNvPr id="15" name="Text 13"/>
          <p:cNvSpPr/>
          <p:nvPr/>
        </p:nvSpPr>
        <p:spPr>
          <a:xfrm>
            <a:off x="8778240" y="5349240"/>
            <a:ext cx="1691640" cy="658368"/>
          </a:xfrm>
          <a:prstGeom prst="rect">
            <a:avLst/>
          </a:prstGeom>
          <a:noFill/>
          <a:ln/>
        </p:spPr>
        <p:txBody>
          <a:bodyPr wrap="square" rtlCol="0" anchor="ctr"/>
          <a:lstStyle/>
          <a:p>
            <a:pPr indent="0" marL="0">
              <a:lnSpc>
                <a:spcPct val="95000"/>
              </a:lnSpc>
              <a:buNone/>
            </a:pPr>
            <a:r>
              <a:rPr lang="en-US" sz="950" dirty="0">
                <a:solidFill>
                  <a:srgbClr val="1A1A1A"/>
                </a:solidFill>
                <a:latin typeface="Segoe UI" pitchFamily="34" charset="0"/>
                <a:ea typeface="Segoe UI" pitchFamily="34" charset="-122"/>
                <a:cs typeface="Segoe UI" pitchFamily="34" charset="-120"/>
              </a:rPr>
              <a:t>Asma — the project manager on Project X.</a:t>
            </a:r>
            <a:endParaRPr lang="en-US" sz="950" dirty="0"/>
          </a:p>
        </p:txBody>
      </p:sp>
      <p:sp>
        <p:nvSpPr>
          <p:cNvPr id="16" name="Text 14"/>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7" name="Text 15"/>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12</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par>
                    <p:cTn id="142" presetID="10" presetClass="entr" presetSubtype="0" fill="hold" grpId="0" nodeType="afterEffect">
                      <p:stCondLst>
                        <p:cond delay="1680"/>
                      </p:stCondLst>
                      <p:childTnLst>
                        <p:set>
                          <p:cBhvr>
                            <p:cTn id="143" dur="1" fill="hold">
                              <p:stCondLst>
                                <p:cond delay="0"/>
                              </p:stCondLst>
                            </p:cTn>
                            <p:tgtEl>
                              <p:spTgt spid="16"/>
                            </p:tgtEl>
                            <p:attrNameLst>
                              <p:attrName>style.visibility</p:attrName>
                            </p:attrNameLst>
                          </p:cBhvr>
                          <p:to>
                            <p:strVal val="visible"/>
                          </p:to>
                        </p:set>
                        <p:animEffect transition="in" filter="fade">
                          <p:cBhvr>
                            <p:cTn id="144" dur="450"/>
                            <p:tgtEl>
                              <p:spTgt spid="16"/>
                            </p:tgtEl>
                          </p:cBhvr>
                        </p:animEffect>
                      </p:childTnLst>
                    </p:cTn>
                  </p:par>
                  <p:par>
                    <p:cTn id="145" presetID="10" presetClass="entr" presetSubtype="0" fill="hold" grpId="0" nodeType="afterEffect">
                      <p:stCondLst>
                        <p:cond delay="1800"/>
                      </p:stCondLst>
                      <p:childTnLst>
                        <p:set>
                          <p:cBhvr>
                            <p:cTn id="146" dur="1" fill="hold">
                              <p:stCondLst>
                                <p:cond delay="0"/>
                              </p:stCondLst>
                            </p:cTn>
                            <p:tgtEl>
                              <p:spTgt spid="17"/>
                            </p:tgtEl>
                            <p:attrNameLst>
                              <p:attrName>style.visibility</p:attrName>
                            </p:attrNameLst>
                          </p:cBhvr>
                          <p:to>
                            <p:strVal val="visible"/>
                          </p:to>
                        </p:set>
                        <p:animEffect transition="in" filter="fade">
                          <p:cBhvr>
                            <p:cTn id="147" dur="450"/>
                            <p:tgtEl>
                              <p:spTgt spid="17"/>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MODE 3</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Speak-Improve — the coaching loop.</a:t>
            </a:r>
            <a:endParaRPr lang="en-US" sz="3300" dirty="0"/>
          </a:p>
        </p:txBody>
      </p:sp>
      <p:sp>
        <p:nvSpPr>
          <p:cNvPr id="4" name="Shape 2"/>
          <p:cNvSpPr/>
          <p:nvPr/>
        </p:nvSpPr>
        <p:spPr>
          <a:xfrm>
            <a:off x="566928" y="3017520"/>
            <a:ext cx="2331720" cy="1371600"/>
          </a:xfrm>
          <a:prstGeom prst="roundRect">
            <a:avLst>
              <a:gd name="adj" fmla="val 8000"/>
            </a:avLst>
          </a:prstGeom>
          <a:solidFill>
            <a:srgbClr val="E4EFEF"/>
          </a:solidFill>
          <a:ln w="12700">
            <a:solidFill>
              <a:srgbClr val="0E7C86"/>
            </a:solidFill>
            <a:prstDash val="solid"/>
          </a:ln>
        </p:spPr>
      </p:sp>
      <p:sp>
        <p:nvSpPr>
          <p:cNvPr id="5" name="Text 3"/>
          <p:cNvSpPr/>
          <p:nvPr/>
        </p:nvSpPr>
        <p:spPr>
          <a:xfrm>
            <a:off x="704088" y="3108960"/>
            <a:ext cx="2057400" cy="411480"/>
          </a:xfrm>
          <a:prstGeom prst="rect">
            <a:avLst/>
          </a:prstGeom>
          <a:noFill/>
          <a:ln/>
        </p:spPr>
        <p:txBody>
          <a:bodyPr wrap="square" rtlCol="0" anchor="ctr"/>
          <a:lstStyle/>
          <a:p>
            <a:pPr indent="0" marL="0">
              <a:buNone/>
            </a:pPr>
            <a:r>
              <a:rPr lang="en-US" sz="1800" b="1" dirty="0">
                <a:solidFill>
                  <a:srgbClr val="0E7C86"/>
                </a:solidFill>
                <a:latin typeface="Segoe UI" pitchFamily="34" charset="0"/>
                <a:ea typeface="Segoe UI" pitchFamily="34" charset="-122"/>
                <a:cs typeface="Segoe UI" pitchFamily="34" charset="-120"/>
              </a:rPr>
              <a:t>1</a:t>
            </a:r>
            <a:endParaRPr lang="en-US" sz="1800" dirty="0"/>
          </a:p>
        </p:txBody>
      </p:sp>
      <p:sp>
        <p:nvSpPr>
          <p:cNvPr id="6" name="Text 4"/>
          <p:cNvSpPr/>
          <p:nvPr/>
        </p:nvSpPr>
        <p:spPr>
          <a:xfrm>
            <a:off x="658368" y="3520440"/>
            <a:ext cx="2148840" cy="777240"/>
          </a:xfrm>
          <a:prstGeom prst="rect">
            <a:avLst/>
          </a:prstGeom>
          <a:noFill/>
          <a:ln/>
        </p:spPr>
        <p:txBody>
          <a:bodyPr wrap="square" rtlCol="0" anchor="ctr"/>
          <a:lstStyle/>
          <a:p>
            <a:pPr algn="ctr" indent="0" marL="0">
              <a:buNone/>
            </a:pPr>
            <a:r>
              <a:rPr lang="en-US" sz="1450" b="1" dirty="0">
                <a:solidFill>
                  <a:srgbClr val="1A1A1A"/>
                </a:solidFill>
                <a:latin typeface="Segoe UI" pitchFamily="34" charset="0"/>
                <a:ea typeface="Segoe UI" pitchFamily="34" charset="-122"/>
                <a:cs typeface="Segoe UI" pitchFamily="34" charset="-120"/>
              </a:rPr>
              <a:t>Mistakes</a:t>
            </a:r>
            <a:endParaRPr lang="en-US" sz="1450" dirty="0"/>
          </a:p>
          <a:p>
            <a:pPr algn="ctr" indent="0" marL="0">
              <a:buNone/>
            </a:pPr>
            <a:r>
              <a:rPr lang="en-US" sz="1450" b="1" dirty="0">
                <a:solidFill>
                  <a:srgbClr val="1A1A1A"/>
                </a:solidFill>
                <a:latin typeface="Segoe UI" pitchFamily="34" charset="0"/>
                <a:ea typeface="Segoe UI" pitchFamily="34" charset="-122"/>
                <a:cs typeface="Segoe UI" pitchFamily="34" charset="-120"/>
              </a:rPr>
              <a:t>captured</a:t>
            </a:r>
            <a:endParaRPr lang="en-US" sz="1450" dirty="0"/>
          </a:p>
        </p:txBody>
      </p:sp>
      <p:sp>
        <p:nvSpPr>
          <p:cNvPr id="7" name="Text 5"/>
          <p:cNvSpPr/>
          <p:nvPr/>
        </p:nvSpPr>
        <p:spPr>
          <a:xfrm>
            <a:off x="2898648" y="3017520"/>
            <a:ext cx="502920" cy="1371600"/>
          </a:xfrm>
          <a:prstGeom prst="rect">
            <a:avLst/>
          </a:prstGeom>
          <a:noFill/>
          <a:ln/>
        </p:spPr>
        <p:txBody>
          <a:bodyPr wrap="square" rtlCol="0" anchor="ctr"/>
          <a:lstStyle/>
          <a:p>
            <a:pPr algn="ctr" indent="0" marL="0">
              <a:buNone/>
            </a:pPr>
            <a:r>
              <a:rPr lang="en-US" sz="2600" b="1" dirty="0">
                <a:solidFill>
                  <a:srgbClr val="0E7C86"/>
                </a:solidFill>
                <a:latin typeface="Segoe UI" pitchFamily="34" charset="0"/>
                <a:ea typeface="Segoe UI" pitchFamily="34" charset="-122"/>
                <a:cs typeface="Segoe UI" pitchFamily="34" charset="-120"/>
              </a:rPr>
              <a:t>›</a:t>
            </a:r>
            <a:endParaRPr lang="en-US" sz="2600" dirty="0"/>
          </a:p>
        </p:txBody>
      </p:sp>
      <p:sp>
        <p:nvSpPr>
          <p:cNvPr id="8" name="Shape 6"/>
          <p:cNvSpPr/>
          <p:nvPr/>
        </p:nvSpPr>
        <p:spPr>
          <a:xfrm>
            <a:off x="3401568" y="3017520"/>
            <a:ext cx="2331720" cy="1371600"/>
          </a:xfrm>
          <a:prstGeom prst="roundRect">
            <a:avLst>
              <a:gd name="adj" fmla="val 8000"/>
            </a:avLst>
          </a:prstGeom>
          <a:solidFill>
            <a:srgbClr val="F0EBE1"/>
          </a:solidFill>
          <a:ln w="12700">
            <a:solidFill>
              <a:srgbClr val="0E7C86"/>
            </a:solidFill>
            <a:prstDash val="solid"/>
          </a:ln>
        </p:spPr>
      </p:sp>
      <p:sp>
        <p:nvSpPr>
          <p:cNvPr id="9" name="Text 7"/>
          <p:cNvSpPr/>
          <p:nvPr/>
        </p:nvSpPr>
        <p:spPr>
          <a:xfrm>
            <a:off x="3538728" y="3108960"/>
            <a:ext cx="2057400" cy="411480"/>
          </a:xfrm>
          <a:prstGeom prst="rect">
            <a:avLst/>
          </a:prstGeom>
          <a:noFill/>
          <a:ln/>
        </p:spPr>
        <p:txBody>
          <a:bodyPr wrap="square" rtlCol="0" anchor="ctr"/>
          <a:lstStyle/>
          <a:p>
            <a:pPr indent="0" marL="0">
              <a:buNone/>
            </a:pPr>
            <a:r>
              <a:rPr lang="en-US" sz="1800" b="1" dirty="0">
                <a:solidFill>
                  <a:srgbClr val="0E7C86"/>
                </a:solidFill>
                <a:latin typeface="Segoe UI" pitchFamily="34" charset="0"/>
                <a:ea typeface="Segoe UI" pitchFamily="34" charset="-122"/>
                <a:cs typeface="Segoe UI" pitchFamily="34" charset="-120"/>
              </a:rPr>
              <a:t>2</a:t>
            </a:r>
            <a:endParaRPr lang="en-US" sz="1800" dirty="0"/>
          </a:p>
        </p:txBody>
      </p:sp>
      <p:sp>
        <p:nvSpPr>
          <p:cNvPr id="10" name="Text 8"/>
          <p:cNvSpPr/>
          <p:nvPr/>
        </p:nvSpPr>
        <p:spPr>
          <a:xfrm>
            <a:off x="3493008" y="3520440"/>
            <a:ext cx="2148840" cy="777240"/>
          </a:xfrm>
          <a:prstGeom prst="rect">
            <a:avLst/>
          </a:prstGeom>
          <a:noFill/>
          <a:ln/>
        </p:spPr>
        <p:txBody>
          <a:bodyPr wrap="square" rtlCol="0" anchor="ctr"/>
          <a:lstStyle/>
          <a:p>
            <a:pPr algn="ctr" indent="0" marL="0">
              <a:buNone/>
            </a:pPr>
            <a:r>
              <a:rPr lang="en-US" sz="1450" b="1" dirty="0">
                <a:solidFill>
                  <a:srgbClr val="1A1A1A"/>
                </a:solidFill>
                <a:latin typeface="Segoe UI" pitchFamily="34" charset="0"/>
                <a:ea typeface="Segoe UI" pitchFamily="34" charset="-122"/>
                <a:cs typeface="Segoe UI" pitchFamily="34" charset="-120"/>
              </a:rPr>
              <a:t>Turned into</a:t>
            </a:r>
            <a:endParaRPr lang="en-US" sz="1450" dirty="0"/>
          </a:p>
          <a:p>
            <a:pPr algn="ctr" indent="0" marL="0">
              <a:buNone/>
            </a:pPr>
            <a:r>
              <a:rPr lang="en-US" sz="1450" b="1" dirty="0">
                <a:solidFill>
                  <a:srgbClr val="1A1A1A"/>
                </a:solidFill>
                <a:latin typeface="Segoe UI" pitchFamily="34" charset="0"/>
                <a:ea typeface="Segoe UI" pitchFamily="34" charset="-122"/>
                <a:cs typeface="Segoe UI" pitchFamily="34" charset="-120"/>
              </a:rPr>
              <a:t>drills</a:t>
            </a:r>
            <a:endParaRPr lang="en-US" sz="1450" dirty="0"/>
          </a:p>
        </p:txBody>
      </p:sp>
      <p:sp>
        <p:nvSpPr>
          <p:cNvPr id="11" name="Text 9"/>
          <p:cNvSpPr/>
          <p:nvPr/>
        </p:nvSpPr>
        <p:spPr>
          <a:xfrm>
            <a:off x="5733288" y="3017520"/>
            <a:ext cx="502920" cy="1371600"/>
          </a:xfrm>
          <a:prstGeom prst="rect">
            <a:avLst/>
          </a:prstGeom>
          <a:noFill/>
          <a:ln/>
        </p:spPr>
        <p:txBody>
          <a:bodyPr wrap="square" rtlCol="0" anchor="ctr"/>
          <a:lstStyle/>
          <a:p>
            <a:pPr algn="ctr" indent="0" marL="0">
              <a:buNone/>
            </a:pPr>
            <a:r>
              <a:rPr lang="en-US" sz="2600" b="1" dirty="0">
                <a:solidFill>
                  <a:srgbClr val="0E7C86"/>
                </a:solidFill>
                <a:latin typeface="Segoe UI" pitchFamily="34" charset="0"/>
                <a:ea typeface="Segoe UI" pitchFamily="34" charset="-122"/>
                <a:cs typeface="Segoe UI" pitchFamily="34" charset="-120"/>
              </a:rPr>
              <a:t>›</a:t>
            </a:r>
            <a:endParaRPr lang="en-US" sz="2600" dirty="0"/>
          </a:p>
        </p:txBody>
      </p:sp>
      <p:sp>
        <p:nvSpPr>
          <p:cNvPr id="12" name="Shape 10"/>
          <p:cNvSpPr/>
          <p:nvPr/>
        </p:nvSpPr>
        <p:spPr>
          <a:xfrm>
            <a:off x="6236208" y="3017520"/>
            <a:ext cx="2331720" cy="1371600"/>
          </a:xfrm>
          <a:prstGeom prst="roundRect">
            <a:avLst>
              <a:gd name="adj" fmla="val 8000"/>
            </a:avLst>
          </a:prstGeom>
          <a:solidFill>
            <a:srgbClr val="E4EFEF"/>
          </a:solidFill>
          <a:ln w="12700">
            <a:solidFill>
              <a:srgbClr val="0E7C86"/>
            </a:solidFill>
            <a:prstDash val="solid"/>
          </a:ln>
        </p:spPr>
      </p:sp>
      <p:sp>
        <p:nvSpPr>
          <p:cNvPr id="13" name="Text 11"/>
          <p:cNvSpPr/>
          <p:nvPr/>
        </p:nvSpPr>
        <p:spPr>
          <a:xfrm>
            <a:off x="6373368" y="3108960"/>
            <a:ext cx="2057400" cy="411480"/>
          </a:xfrm>
          <a:prstGeom prst="rect">
            <a:avLst/>
          </a:prstGeom>
          <a:noFill/>
          <a:ln/>
        </p:spPr>
        <p:txBody>
          <a:bodyPr wrap="square" rtlCol="0" anchor="ctr"/>
          <a:lstStyle/>
          <a:p>
            <a:pPr indent="0" marL="0">
              <a:buNone/>
            </a:pPr>
            <a:r>
              <a:rPr lang="en-US" sz="1800" b="1" dirty="0">
                <a:solidFill>
                  <a:srgbClr val="0E7C86"/>
                </a:solidFill>
                <a:latin typeface="Segoe UI" pitchFamily="34" charset="0"/>
                <a:ea typeface="Segoe UI" pitchFamily="34" charset="-122"/>
                <a:cs typeface="Segoe UI" pitchFamily="34" charset="-120"/>
              </a:rPr>
              <a:t>3</a:t>
            </a:r>
            <a:endParaRPr lang="en-US" sz="1800" dirty="0"/>
          </a:p>
        </p:txBody>
      </p:sp>
      <p:sp>
        <p:nvSpPr>
          <p:cNvPr id="14" name="Text 12"/>
          <p:cNvSpPr/>
          <p:nvPr/>
        </p:nvSpPr>
        <p:spPr>
          <a:xfrm>
            <a:off x="6327648" y="3520440"/>
            <a:ext cx="2148840" cy="777240"/>
          </a:xfrm>
          <a:prstGeom prst="rect">
            <a:avLst/>
          </a:prstGeom>
          <a:noFill/>
          <a:ln/>
        </p:spPr>
        <p:txBody>
          <a:bodyPr wrap="square" rtlCol="0" anchor="ctr"/>
          <a:lstStyle/>
          <a:p>
            <a:pPr algn="ctr" indent="0" marL="0">
              <a:buNone/>
            </a:pPr>
            <a:r>
              <a:rPr lang="en-US" sz="1450" b="1" dirty="0">
                <a:solidFill>
                  <a:srgbClr val="1A1A1A"/>
                </a:solidFill>
                <a:latin typeface="Segoe UI" pitchFamily="34" charset="0"/>
                <a:ea typeface="Segoe UI" pitchFamily="34" charset="-122"/>
                <a:cs typeface="Segoe UI" pitchFamily="34" charset="-120"/>
              </a:rPr>
              <a:t>Progress</a:t>
            </a:r>
            <a:endParaRPr lang="en-US" sz="1450" dirty="0"/>
          </a:p>
          <a:p>
            <a:pPr algn="ctr" indent="0" marL="0">
              <a:buNone/>
            </a:pPr>
            <a:r>
              <a:rPr lang="en-US" sz="1450" b="1" dirty="0">
                <a:solidFill>
                  <a:srgbClr val="1A1A1A"/>
                </a:solidFill>
                <a:latin typeface="Segoe UI" pitchFamily="34" charset="0"/>
                <a:ea typeface="Segoe UI" pitchFamily="34" charset="-122"/>
                <a:cs typeface="Segoe UI" pitchFamily="34" charset="-120"/>
              </a:rPr>
              <a:t>tracked</a:t>
            </a:r>
            <a:endParaRPr lang="en-US" sz="1450" dirty="0"/>
          </a:p>
        </p:txBody>
      </p:sp>
      <p:sp>
        <p:nvSpPr>
          <p:cNvPr id="15" name="Text 13"/>
          <p:cNvSpPr/>
          <p:nvPr/>
        </p:nvSpPr>
        <p:spPr>
          <a:xfrm>
            <a:off x="8567928" y="3017520"/>
            <a:ext cx="502920" cy="1371600"/>
          </a:xfrm>
          <a:prstGeom prst="rect">
            <a:avLst/>
          </a:prstGeom>
          <a:noFill/>
          <a:ln/>
        </p:spPr>
        <p:txBody>
          <a:bodyPr wrap="square" rtlCol="0" anchor="ctr"/>
          <a:lstStyle/>
          <a:p>
            <a:pPr algn="ctr" indent="0" marL="0">
              <a:buNone/>
            </a:pPr>
            <a:r>
              <a:rPr lang="en-US" sz="2600" b="1" dirty="0">
                <a:solidFill>
                  <a:srgbClr val="0E7C86"/>
                </a:solidFill>
                <a:latin typeface="Segoe UI" pitchFamily="34" charset="0"/>
                <a:ea typeface="Segoe UI" pitchFamily="34" charset="-122"/>
                <a:cs typeface="Segoe UI" pitchFamily="34" charset="-120"/>
              </a:rPr>
              <a:t>›</a:t>
            </a:r>
            <a:endParaRPr lang="en-US" sz="2600" dirty="0"/>
          </a:p>
        </p:txBody>
      </p:sp>
      <p:sp>
        <p:nvSpPr>
          <p:cNvPr id="16" name="Shape 14"/>
          <p:cNvSpPr/>
          <p:nvPr/>
        </p:nvSpPr>
        <p:spPr>
          <a:xfrm>
            <a:off x="9070848" y="3017520"/>
            <a:ext cx="2331720" cy="1371600"/>
          </a:xfrm>
          <a:prstGeom prst="roundRect">
            <a:avLst>
              <a:gd name="adj" fmla="val 8000"/>
            </a:avLst>
          </a:prstGeom>
          <a:solidFill>
            <a:srgbClr val="F0EBE1"/>
          </a:solidFill>
          <a:ln w="12700">
            <a:solidFill>
              <a:srgbClr val="0E7C86"/>
            </a:solidFill>
            <a:prstDash val="solid"/>
          </a:ln>
        </p:spPr>
      </p:sp>
      <p:sp>
        <p:nvSpPr>
          <p:cNvPr id="17" name="Text 15"/>
          <p:cNvSpPr/>
          <p:nvPr/>
        </p:nvSpPr>
        <p:spPr>
          <a:xfrm>
            <a:off x="9208008" y="3108960"/>
            <a:ext cx="2057400" cy="411480"/>
          </a:xfrm>
          <a:prstGeom prst="rect">
            <a:avLst/>
          </a:prstGeom>
          <a:noFill/>
          <a:ln/>
        </p:spPr>
        <p:txBody>
          <a:bodyPr wrap="square" rtlCol="0" anchor="ctr"/>
          <a:lstStyle/>
          <a:p>
            <a:pPr indent="0" marL="0">
              <a:buNone/>
            </a:pPr>
            <a:r>
              <a:rPr lang="en-US" sz="1800" b="1" dirty="0">
                <a:solidFill>
                  <a:srgbClr val="0E7C86"/>
                </a:solidFill>
                <a:latin typeface="Segoe UI" pitchFamily="34" charset="0"/>
                <a:ea typeface="Segoe UI" pitchFamily="34" charset="-122"/>
                <a:cs typeface="Segoe UI" pitchFamily="34" charset="-120"/>
              </a:rPr>
              <a:t>4</a:t>
            </a:r>
            <a:endParaRPr lang="en-US" sz="1800" dirty="0"/>
          </a:p>
        </p:txBody>
      </p:sp>
      <p:sp>
        <p:nvSpPr>
          <p:cNvPr id="18" name="Text 16"/>
          <p:cNvSpPr/>
          <p:nvPr/>
        </p:nvSpPr>
        <p:spPr>
          <a:xfrm>
            <a:off x="9162288" y="3520440"/>
            <a:ext cx="2148840" cy="777240"/>
          </a:xfrm>
          <a:prstGeom prst="rect">
            <a:avLst/>
          </a:prstGeom>
          <a:noFill/>
          <a:ln/>
        </p:spPr>
        <p:txBody>
          <a:bodyPr wrap="square" rtlCol="0" anchor="ctr"/>
          <a:lstStyle/>
          <a:p>
            <a:pPr algn="ctr" indent="0" marL="0">
              <a:buNone/>
            </a:pPr>
            <a:r>
              <a:rPr lang="en-US" sz="1450" b="1" dirty="0">
                <a:solidFill>
                  <a:srgbClr val="1A1A1A"/>
                </a:solidFill>
                <a:latin typeface="Segoe UI" pitchFamily="34" charset="0"/>
                <a:ea typeface="Segoe UI" pitchFamily="34" charset="-122"/>
                <a:cs typeface="Segoe UI" pitchFamily="34" charset="-120"/>
              </a:rPr>
              <a:t>Improvement</a:t>
            </a:r>
            <a:endParaRPr lang="en-US" sz="1450" dirty="0"/>
          </a:p>
          <a:p>
            <a:pPr algn="ctr" indent="0" marL="0">
              <a:buNone/>
            </a:pPr>
            <a:r>
              <a:rPr lang="en-US" sz="1450" b="1" dirty="0">
                <a:solidFill>
                  <a:srgbClr val="1A1A1A"/>
                </a:solidFill>
                <a:latin typeface="Segoe UI" pitchFamily="34" charset="0"/>
                <a:ea typeface="Segoe UI" pitchFamily="34" charset="-122"/>
                <a:cs typeface="Segoe UI" pitchFamily="34" charset="-120"/>
              </a:rPr>
              <a:t>rewarded</a:t>
            </a:r>
            <a:endParaRPr lang="en-US" sz="1450" dirty="0"/>
          </a:p>
        </p:txBody>
      </p:sp>
      <p:sp>
        <p:nvSpPr>
          <p:cNvPr id="19" name="Text 17"/>
          <p:cNvSpPr/>
          <p:nvPr/>
        </p:nvSpPr>
        <p:spPr>
          <a:xfrm>
            <a:off x="566928" y="4754880"/>
            <a:ext cx="10972800" cy="457200"/>
          </a:xfrm>
          <a:prstGeom prst="rect">
            <a:avLst/>
          </a:prstGeom>
          <a:noFill/>
          <a:ln/>
        </p:spPr>
        <p:txBody>
          <a:bodyPr wrap="square" rtlCol="0" anchor="ctr"/>
          <a:lstStyle/>
          <a:p>
            <a:pPr indent="0" marL="0">
              <a:buNone/>
            </a:pPr>
            <a:r>
              <a:rPr lang="en-US" sz="1600" i="1" dirty="0">
                <a:solidFill>
                  <a:srgbClr val="0A5159"/>
                </a:solidFill>
                <a:latin typeface="Segoe UI" pitchFamily="34" charset="0"/>
                <a:ea typeface="Segoe UI" pitchFamily="34" charset="-122"/>
                <a:cs typeface="Segoe UI" pitchFamily="34" charset="-120"/>
              </a:rPr>
              <a:t>↺  and the loop repeats — every session feeds the next.</a:t>
            </a:r>
            <a:endParaRPr lang="en-US" sz="1600" dirty="0"/>
          </a:p>
        </p:txBody>
      </p:sp>
      <p:sp>
        <p:nvSpPr>
          <p:cNvPr id="20" name="Text 18"/>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1" name="Text 19"/>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13</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par>
                    <p:cTn id="142" presetID="10" presetClass="entr" presetSubtype="0" fill="hold" grpId="0" nodeType="afterEffect">
                      <p:stCondLst>
                        <p:cond delay="1680"/>
                      </p:stCondLst>
                      <p:childTnLst>
                        <p:set>
                          <p:cBhvr>
                            <p:cTn id="143" dur="1" fill="hold">
                              <p:stCondLst>
                                <p:cond delay="0"/>
                              </p:stCondLst>
                            </p:cTn>
                            <p:tgtEl>
                              <p:spTgt spid="16"/>
                            </p:tgtEl>
                            <p:attrNameLst>
                              <p:attrName>style.visibility</p:attrName>
                            </p:attrNameLst>
                          </p:cBhvr>
                          <p:to>
                            <p:strVal val="visible"/>
                          </p:to>
                        </p:set>
                        <p:animEffect transition="in" filter="fade">
                          <p:cBhvr>
                            <p:cTn id="144" dur="450"/>
                            <p:tgtEl>
                              <p:spTgt spid="16"/>
                            </p:tgtEl>
                          </p:cBhvr>
                        </p:animEffect>
                      </p:childTnLst>
                    </p:cTn>
                  </p:par>
                  <p:par>
                    <p:cTn id="145" presetID="10" presetClass="entr" presetSubtype="0" fill="hold" grpId="0" nodeType="afterEffect">
                      <p:stCondLst>
                        <p:cond delay="1800"/>
                      </p:stCondLst>
                      <p:childTnLst>
                        <p:set>
                          <p:cBhvr>
                            <p:cTn id="146" dur="1" fill="hold">
                              <p:stCondLst>
                                <p:cond delay="0"/>
                              </p:stCondLst>
                            </p:cTn>
                            <p:tgtEl>
                              <p:spTgt spid="17"/>
                            </p:tgtEl>
                            <p:attrNameLst>
                              <p:attrName>style.visibility</p:attrName>
                            </p:attrNameLst>
                          </p:cBhvr>
                          <p:to>
                            <p:strVal val="visible"/>
                          </p:to>
                        </p:set>
                        <p:animEffect transition="in" filter="fade">
                          <p:cBhvr>
                            <p:cTn id="147" dur="450"/>
                            <p:tgtEl>
                              <p:spTgt spid="17"/>
                            </p:tgtEl>
                          </p:cBhvr>
                        </p:animEffect>
                      </p:childTnLst>
                    </p:cTn>
                  </p:par>
                  <p:par>
                    <p:cTn id="148" presetID="10" presetClass="entr" presetSubtype="0" fill="hold" grpId="0" nodeType="afterEffect">
                      <p:stCondLst>
                        <p:cond delay="1920"/>
                      </p:stCondLst>
                      <p:childTnLst>
                        <p:set>
                          <p:cBhvr>
                            <p:cTn id="149" dur="1" fill="hold">
                              <p:stCondLst>
                                <p:cond delay="0"/>
                              </p:stCondLst>
                            </p:cTn>
                            <p:tgtEl>
                              <p:spTgt spid="18"/>
                            </p:tgtEl>
                            <p:attrNameLst>
                              <p:attrName>style.visibility</p:attrName>
                            </p:attrNameLst>
                          </p:cBhvr>
                          <p:to>
                            <p:strVal val="visible"/>
                          </p:to>
                        </p:set>
                        <p:animEffect transition="in" filter="fade">
                          <p:cBhvr>
                            <p:cTn id="150" dur="450"/>
                            <p:tgtEl>
                              <p:spTgt spid="18"/>
                            </p:tgtEl>
                          </p:cBhvr>
                        </p:animEffect>
                      </p:childTnLst>
                    </p:cTn>
                  </p:par>
                  <p:par>
                    <p:cTn id="151" presetID="10" presetClass="entr" presetSubtype="0" fill="hold" grpId="0" nodeType="afterEffect">
                      <p:stCondLst>
                        <p:cond delay="2040"/>
                      </p:stCondLst>
                      <p:childTnLst>
                        <p:set>
                          <p:cBhvr>
                            <p:cTn id="152" dur="1" fill="hold">
                              <p:stCondLst>
                                <p:cond delay="0"/>
                              </p:stCondLst>
                            </p:cTn>
                            <p:tgtEl>
                              <p:spTgt spid="19"/>
                            </p:tgtEl>
                            <p:attrNameLst>
                              <p:attrName>style.visibility</p:attrName>
                            </p:attrNameLst>
                          </p:cBhvr>
                          <p:to>
                            <p:strVal val="visible"/>
                          </p:to>
                        </p:set>
                        <p:animEffect transition="in" filter="fade">
                          <p:cBhvr>
                            <p:cTn id="153" dur="450"/>
                            <p:tgtEl>
                              <p:spTgt spid="19"/>
                            </p:tgtEl>
                          </p:cBhvr>
                        </p:animEffect>
                      </p:childTnLst>
                    </p:cTn>
                  </p:par>
                  <p:par>
                    <p:cTn id="154" presetID="10" presetClass="entr" presetSubtype="0" fill="hold" grpId="0" nodeType="afterEffect">
                      <p:stCondLst>
                        <p:cond delay="2160"/>
                      </p:stCondLst>
                      <p:childTnLst>
                        <p:set>
                          <p:cBhvr>
                            <p:cTn id="155" dur="1" fill="hold">
                              <p:stCondLst>
                                <p:cond delay="0"/>
                              </p:stCondLst>
                            </p:cTn>
                            <p:tgtEl>
                              <p:spTgt spid="20"/>
                            </p:tgtEl>
                            <p:attrNameLst>
                              <p:attrName>style.visibility</p:attrName>
                            </p:attrNameLst>
                          </p:cBhvr>
                          <p:to>
                            <p:strVal val="visible"/>
                          </p:to>
                        </p:set>
                        <p:animEffect transition="in" filter="fade">
                          <p:cBhvr>
                            <p:cTn id="156" dur="450"/>
                            <p:tgtEl>
                              <p:spTgt spid="20"/>
                            </p:tgtEl>
                          </p:cBhvr>
                        </p:animEffect>
                      </p:childTnLst>
                    </p:cTn>
                  </p:par>
                  <p:par>
                    <p:cTn id="157" presetID="10" presetClass="entr" presetSubtype="0" fill="hold" grpId="0" nodeType="afterEffect">
                      <p:stCondLst>
                        <p:cond delay="2280"/>
                      </p:stCondLst>
                      <p:childTnLst>
                        <p:set>
                          <p:cBhvr>
                            <p:cTn id="158" dur="1" fill="hold">
                              <p:stCondLst>
                                <p:cond delay="0"/>
                              </p:stCondLst>
                            </p:cTn>
                            <p:tgtEl>
                              <p:spTgt spid="21"/>
                            </p:tgtEl>
                            <p:attrNameLst>
                              <p:attrName>style.visibility</p:attrName>
                            </p:attrNameLst>
                          </p:cBhvr>
                          <p:to>
                            <p:strVal val="visible"/>
                          </p:to>
                        </p:set>
                        <p:animEffect transition="in" filter="fade">
                          <p:cBhvr>
                            <p:cTn id="159" dur="450"/>
                            <p:tgtEl>
                              <p:spTgt spid="21"/>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THE DIFFERENTIATOR</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Two memories, not one.</a:t>
            </a:r>
            <a:endParaRPr lang="en-US" sz="3300" dirty="0"/>
          </a:p>
        </p:txBody>
      </p:sp>
      <p:sp>
        <p:nvSpPr>
          <p:cNvPr id="4" name="Shape 2"/>
          <p:cNvSpPr/>
          <p:nvPr/>
        </p:nvSpPr>
        <p:spPr>
          <a:xfrm>
            <a:off x="566928" y="2103120"/>
            <a:ext cx="5120640" cy="3017520"/>
          </a:xfrm>
          <a:prstGeom prst="roundRect">
            <a:avLst>
              <a:gd name="adj" fmla="val 3636"/>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Text 3"/>
          <p:cNvSpPr/>
          <p:nvPr/>
        </p:nvSpPr>
        <p:spPr>
          <a:xfrm>
            <a:off x="932688" y="2331720"/>
            <a:ext cx="4572000" cy="457200"/>
          </a:xfrm>
          <a:prstGeom prst="rect">
            <a:avLst/>
          </a:prstGeom>
          <a:noFill/>
          <a:ln/>
        </p:spPr>
        <p:txBody>
          <a:bodyPr wrap="square" rtlCol="0" anchor="ctr"/>
          <a:lstStyle/>
          <a:p>
            <a:pPr indent="0" marL="0">
              <a:buNone/>
            </a:pPr>
            <a:r>
              <a:rPr lang="en-US" sz="2100" b="1" dirty="0">
                <a:solidFill>
                  <a:srgbClr val="0E7C86"/>
                </a:solidFill>
                <a:latin typeface="Segoe UI" pitchFamily="34" charset="0"/>
                <a:ea typeface="Segoe UI" pitchFamily="34" charset="-122"/>
                <a:cs typeface="Segoe UI" pitchFamily="34" charset="-120"/>
              </a:rPr>
              <a:t>Vector memory</a:t>
            </a:r>
            <a:endParaRPr lang="en-US" sz="2100" dirty="0"/>
          </a:p>
        </p:txBody>
      </p:sp>
      <p:sp>
        <p:nvSpPr>
          <p:cNvPr id="6" name="Text 4"/>
          <p:cNvSpPr/>
          <p:nvPr/>
        </p:nvSpPr>
        <p:spPr>
          <a:xfrm>
            <a:off x="932688" y="2880360"/>
            <a:ext cx="4572000" cy="914400"/>
          </a:xfrm>
          <a:prstGeom prst="rect">
            <a:avLst/>
          </a:prstGeom>
          <a:noFill/>
          <a:ln/>
        </p:spPr>
        <p:txBody>
          <a:bodyPr wrap="square" rtlCol="0" anchor="ctr"/>
          <a:lstStyle/>
          <a:p>
            <a:pPr indent="0" marL="0">
              <a:lnSpc>
                <a:spcPct val="115000"/>
              </a:lnSpc>
              <a:buNone/>
            </a:pPr>
            <a:r>
              <a:rPr lang="en-US" sz="1600" dirty="0">
                <a:solidFill>
                  <a:srgbClr val="3A3A3A"/>
                </a:solidFill>
                <a:latin typeface="Segoe UI" pitchFamily="34" charset="0"/>
                <a:ea typeface="Segoe UI" pitchFamily="34" charset="-122"/>
                <a:cs typeface="Segoe UI" pitchFamily="34" charset="-120"/>
              </a:rPr>
              <a:t>Finds semantically similar past moments — fuzzy recall.</a:t>
            </a:r>
            <a:endParaRPr lang="en-US" sz="1600" dirty="0"/>
          </a:p>
        </p:txBody>
      </p:sp>
      <p:sp>
        <p:nvSpPr>
          <p:cNvPr id="7" name="Shape 5"/>
          <p:cNvSpPr/>
          <p:nvPr/>
        </p:nvSpPr>
        <p:spPr>
          <a:xfrm>
            <a:off x="932688" y="4023360"/>
            <a:ext cx="4389120" cy="731520"/>
          </a:xfrm>
          <a:prstGeom prst="roundRect">
            <a:avLst>
              <a:gd name="adj" fmla="val 12500"/>
            </a:avLst>
          </a:prstGeom>
          <a:solidFill>
            <a:srgbClr val="F0EBE1"/>
          </a:solidFill>
          <a:ln/>
        </p:spPr>
      </p:sp>
      <p:sp>
        <p:nvSpPr>
          <p:cNvPr id="8" name="Text 6"/>
          <p:cNvSpPr/>
          <p:nvPr/>
        </p:nvSpPr>
        <p:spPr>
          <a:xfrm>
            <a:off x="932688" y="4023360"/>
            <a:ext cx="4389120" cy="731520"/>
          </a:xfrm>
          <a:prstGeom prst="rect">
            <a:avLst/>
          </a:prstGeom>
          <a:noFill/>
          <a:ln/>
        </p:spPr>
        <p:txBody>
          <a:bodyPr wrap="square" rtlCol="0" anchor="ctr"/>
          <a:lstStyle/>
          <a:p>
            <a:pPr algn="ctr" indent="0" marL="0">
              <a:buNone/>
            </a:pPr>
            <a:r>
              <a:rPr lang="en-US" sz="1600" b="1" i="1" dirty="0">
                <a:solidFill>
                  <a:srgbClr val="1A1A1A"/>
                </a:solidFill>
                <a:latin typeface="Segoe UI" pitchFamily="34" charset="0"/>
                <a:ea typeface="Segoe UI" pitchFamily="34" charset="-122"/>
                <a:cs typeface="Segoe UI" pitchFamily="34" charset="-120"/>
              </a:rPr>
              <a:t>“sounds related”</a:t>
            </a:r>
            <a:endParaRPr lang="en-US" sz="1600" dirty="0"/>
          </a:p>
        </p:txBody>
      </p:sp>
      <p:sp>
        <p:nvSpPr>
          <p:cNvPr id="9" name="Shape 7"/>
          <p:cNvSpPr/>
          <p:nvPr/>
        </p:nvSpPr>
        <p:spPr>
          <a:xfrm>
            <a:off x="6144768" y="2103120"/>
            <a:ext cx="5120640" cy="3017520"/>
          </a:xfrm>
          <a:prstGeom prst="roundRect">
            <a:avLst>
              <a:gd name="adj" fmla="val 3636"/>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0" name="Text 8"/>
          <p:cNvSpPr/>
          <p:nvPr/>
        </p:nvSpPr>
        <p:spPr>
          <a:xfrm>
            <a:off x="6510528" y="2331720"/>
            <a:ext cx="4572000" cy="457200"/>
          </a:xfrm>
          <a:prstGeom prst="rect">
            <a:avLst/>
          </a:prstGeom>
          <a:noFill/>
          <a:ln/>
        </p:spPr>
        <p:txBody>
          <a:bodyPr wrap="square" rtlCol="0" anchor="ctr"/>
          <a:lstStyle/>
          <a:p>
            <a:pPr indent="0" marL="0">
              <a:buNone/>
            </a:pPr>
            <a:r>
              <a:rPr lang="en-US" sz="2100" b="1" dirty="0">
                <a:solidFill>
                  <a:srgbClr val="E08A2B"/>
                </a:solidFill>
                <a:latin typeface="Segoe UI" pitchFamily="34" charset="0"/>
                <a:ea typeface="Segoe UI" pitchFamily="34" charset="-122"/>
                <a:cs typeface="Segoe UI" pitchFamily="34" charset="-120"/>
              </a:rPr>
              <a:t>Knowledge graph</a:t>
            </a:r>
            <a:endParaRPr lang="en-US" sz="2100" dirty="0"/>
          </a:p>
        </p:txBody>
      </p:sp>
      <p:sp>
        <p:nvSpPr>
          <p:cNvPr id="11" name="Text 9"/>
          <p:cNvSpPr/>
          <p:nvPr/>
        </p:nvSpPr>
        <p:spPr>
          <a:xfrm>
            <a:off x="6510528" y="2880360"/>
            <a:ext cx="4572000" cy="914400"/>
          </a:xfrm>
          <a:prstGeom prst="rect">
            <a:avLst/>
          </a:prstGeom>
          <a:noFill/>
          <a:ln/>
        </p:spPr>
        <p:txBody>
          <a:bodyPr wrap="square" rtlCol="0" anchor="ctr"/>
          <a:lstStyle/>
          <a:p>
            <a:pPr indent="0" marL="0">
              <a:lnSpc>
                <a:spcPct val="115000"/>
              </a:lnSpc>
              <a:buNone/>
            </a:pPr>
            <a:r>
              <a:rPr lang="en-US" sz="1600" dirty="0">
                <a:solidFill>
                  <a:srgbClr val="3A3A3A"/>
                </a:solidFill>
                <a:latin typeface="Segoe UI" pitchFamily="34" charset="0"/>
                <a:ea typeface="Segoe UI" pitchFamily="34" charset="-122"/>
                <a:cs typeface="Segoe UI" pitchFamily="34" charset="-120"/>
              </a:rPr>
              <a:t>Stores factual relationships between people &amp; topics.</a:t>
            </a:r>
            <a:endParaRPr lang="en-US" sz="1600" dirty="0"/>
          </a:p>
        </p:txBody>
      </p:sp>
      <p:sp>
        <p:nvSpPr>
          <p:cNvPr id="12" name="Shape 10"/>
          <p:cNvSpPr/>
          <p:nvPr/>
        </p:nvSpPr>
        <p:spPr>
          <a:xfrm>
            <a:off x="6510528" y="4023360"/>
            <a:ext cx="4389120" cy="731520"/>
          </a:xfrm>
          <a:prstGeom prst="roundRect">
            <a:avLst>
              <a:gd name="adj" fmla="val 12500"/>
            </a:avLst>
          </a:prstGeom>
          <a:solidFill>
            <a:srgbClr val="F0EBE1"/>
          </a:solidFill>
          <a:ln/>
        </p:spPr>
      </p:sp>
      <p:sp>
        <p:nvSpPr>
          <p:cNvPr id="13" name="Text 11"/>
          <p:cNvSpPr/>
          <p:nvPr/>
        </p:nvSpPr>
        <p:spPr>
          <a:xfrm>
            <a:off x="6510528" y="4023360"/>
            <a:ext cx="4389120" cy="731520"/>
          </a:xfrm>
          <a:prstGeom prst="rect">
            <a:avLst/>
          </a:prstGeom>
          <a:noFill/>
          <a:ln/>
        </p:spPr>
        <p:txBody>
          <a:bodyPr wrap="square" rtlCol="0" anchor="ctr"/>
          <a:lstStyle/>
          <a:p>
            <a:pPr algn="ctr" indent="0" marL="0">
              <a:buNone/>
            </a:pPr>
            <a:r>
              <a:rPr lang="en-US" sz="1600" b="1" i="1" dirty="0">
                <a:solidFill>
                  <a:srgbClr val="1A1A1A"/>
                </a:solidFill>
                <a:latin typeface="Segoe UI" pitchFamily="34" charset="0"/>
                <a:ea typeface="Segoe UI" pitchFamily="34" charset="-122"/>
                <a:cs typeface="Segoe UI" pitchFamily="34" charset="-120"/>
              </a:rPr>
              <a:t>User → knows → Asma</a:t>
            </a:r>
            <a:endParaRPr lang="en-US" sz="1600" dirty="0"/>
          </a:p>
        </p:txBody>
      </p:sp>
      <p:sp>
        <p:nvSpPr>
          <p:cNvPr id="14" name="Text 12"/>
          <p:cNvSpPr/>
          <p:nvPr/>
        </p:nvSpPr>
        <p:spPr>
          <a:xfrm>
            <a:off x="566928" y="5440680"/>
            <a:ext cx="10424160" cy="365760"/>
          </a:xfrm>
          <a:prstGeom prst="rect">
            <a:avLst/>
          </a:prstGeom>
          <a:noFill/>
          <a:ln/>
        </p:spPr>
        <p:txBody>
          <a:bodyPr wrap="square" rtlCol="0" anchor="ctr"/>
          <a:lstStyle/>
          <a:p>
            <a:pPr algn="ctr" indent="0" marL="0">
              <a:buNone/>
            </a:pPr>
            <a:r>
              <a:rPr lang="en-US" sz="1400" i="1" dirty="0">
                <a:solidFill>
                  <a:srgbClr val="9A9285"/>
                </a:solidFill>
                <a:latin typeface="Segoe UI" pitchFamily="34" charset="0"/>
                <a:ea typeface="Segoe UI" pitchFamily="34" charset="-122"/>
                <a:cs typeface="Segoe UI" pitchFamily="34" charset="-120"/>
              </a:rPr>
              <a:t>Fused before every answer</a:t>
            </a:r>
            <a:endParaRPr lang="en-US" sz="1400" dirty="0"/>
          </a:p>
        </p:txBody>
      </p:sp>
      <p:sp>
        <p:nvSpPr>
          <p:cNvPr id="15" name="Text 13"/>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6" name="Text 14"/>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14</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par>
                    <p:cTn id="142" presetID="10" presetClass="entr" presetSubtype="0" fill="hold" grpId="0" nodeType="afterEffect">
                      <p:stCondLst>
                        <p:cond delay="1680"/>
                      </p:stCondLst>
                      <p:childTnLst>
                        <p:set>
                          <p:cBhvr>
                            <p:cTn id="143" dur="1" fill="hold">
                              <p:stCondLst>
                                <p:cond delay="0"/>
                              </p:stCondLst>
                            </p:cTn>
                            <p:tgtEl>
                              <p:spTgt spid="16"/>
                            </p:tgtEl>
                            <p:attrNameLst>
                              <p:attrName>style.visibility</p:attrName>
                            </p:attrNameLst>
                          </p:cBhvr>
                          <p:to>
                            <p:strVal val="visible"/>
                          </p:to>
                        </p:set>
                        <p:animEffect transition="in" filter="fade">
                          <p:cBhvr>
                            <p:cTn id="144" dur="450"/>
                            <p:tgtEl>
                              <p:spTgt spid="16"/>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WHY GRAPHRAG, NOT PLAIN RAG</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Plain RAG sounds right. GraphRAG is right.</a:t>
            </a:r>
            <a:endParaRPr lang="en-US" sz="3300" dirty="0"/>
          </a:p>
        </p:txBody>
      </p:sp>
      <p:sp>
        <p:nvSpPr>
          <p:cNvPr id="4" name="Shape 2"/>
          <p:cNvSpPr/>
          <p:nvPr/>
        </p:nvSpPr>
        <p:spPr>
          <a:xfrm>
            <a:off x="566928" y="2148840"/>
            <a:ext cx="5120640" cy="2834640"/>
          </a:xfrm>
          <a:prstGeom prst="roundRect">
            <a:avLst>
              <a:gd name="adj" fmla="val 3871"/>
            </a:avLst>
          </a:prstGeom>
          <a:solidFill>
            <a:srgbClr val="F8ECE8"/>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Text 3"/>
          <p:cNvSpPr/>
          <p:nvPr/>
        </p:nvSpPr>
        <p:spPr>
          <a:xfrm>
            <a:off x="932688" y="2377440"/>
            <a:ext cx="4572000" cy="457200"/>
          </a:xfrm>
          <a:prstGeom prst="rect">
            <a:avLst/>
          </a:prstGeom>
          <a:noFill/>
          <a:ln/>
        </p:spPr>
        <p:txBody>
          <a:bodyPr wrap="square" rtlCol="0" anchor="ctr"/>
          <a:lstStyle/>
          <a:p>
            <a:pPr indent="0" marL="0">
              <a:buNone/>
            </a:pPr>
            <a:r>
              <a:rPr lang="en-US" sz="2000" b="1" dirty="0">
                <a:solidFill>
                  <a:srgbClr val="C0492F"/>
                </a:solidFill>
                <a:latin typeface="Segoe UI" pitchFamily="34" charset="0"/>
                <a:ea typeface="Segoe UI" pitchFamily="34" charset="-122"/>
                <a:cs typeface="Segoe UI" pitchFamily="34" charset="-120"/>
              </a:rPr>
              <a:t>✕  Plain vector RAG</a:t>
            </a:r>
            <a:endParaRPr lang="en-US" sz="2000" dirty="0"/>
          </a:p>
        </p:txBody>
      </p:sp>
      <p:sp>
        <p:nvSpPr>
          <p:cNvPr id="6" name="Text 4"/>
          <p:cNvSpPr/>
          <p:nvPr/>
        </p:nvSpPr>
        <p:spPr>
          <a:xfrm>
            <a:off x="932688" y="2971800"/>
            <a:ext cx="4572000" cy="1737360"/>
          </a:xfrm>
          <a:prstGeom prst="rect">
            <a:avLst/>
          </a:prstGeom>
          <a:noFill/>
          <a:ln/>
        </p:spPr>
        <p:txBody>
          <a:bodyPr wrap="square" rtlCol="0" anchor="ctr"/>
          <a:lstStyle/>
          <a:p>
            <a:pPr indent="0" marL="0">
              <a:lnSpc>
                <a:spcPct val="120000"/>
              </a:lnSpc>
              <a:buNone/>
            </a:pPr>
            <a:r>
              <a:rPr lang="en-US" sz="1650" dirty="0">
                <a:solidFill>
                  <a:srgbClr val="3A3A3A"/>
                </a:solidFill>
                <a:latin typeface="Segoe UI" pitchFamily="34" charset="0"/>
                <a:ea typeface="Segoe UI" pitchFamily="34" charset="-122"/>
                <a:cs typeface="Segoe UI" pitchFamily="34" charset="-120"/>
              </a:rPr>
              <a:t>Retrieves text that reads similar — can confuse two similar events and invent facts.</a:t>
            </a:r>
            <a:endParaRPr lang="en-US" sz="1650" dirty="0"/>
          </a:p>
        </p:txBody>
      </p:sp>
      <p:sp>
        <p:nvSpPr>
          <p:cNvPr id="7" name="Shape 5"/>
          <p:cNvSpPr/>
          <p:nvPr/>
        </p:nvSpPr>
        <p:spPr>
          <a:xfrm>
            <a:off x="6144768" y="2148840"/>
            <a:ext cx="5120640" cy="2834640"/>
          </a:xfrm>
          <a:prstGeom prst="roundRect">
            <a:avLst>
              <a:gd name="adj" fmla="val 3871"/>
            </a:avLst>
          </a:prstGeom>
          <a:solidFill>
            <a:srgbClr val="E9F3EC"/>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8" name="Text 6"/>
          <p:cNvSpPr/>
          <p:nvPr/>
        </p:nvSpPr>
        <p:spPr>
          <a:xfrm>
            <a:off x="6510528" y="2377440"/>
            <a:ext cx="4572000" cy="457200"/>
          </a:xfrm>
          <a:prstGeom prst="rect">
            <a:avLst/>
          </a:prstGeom>
          <a:noFill/>
          <a:ln/>
        </p:spPr>
        <p:txBody>
          <a:bodyPr wrap="square" rtlCol="0" anchor="ctr"/>
          <a:lstStyle/>
          <a:p>
            <a:pPr indent="0" marL="0">
              <a:buNone/>
            </a:pPr>
            <a:r>
              <a:rPr lang="en-US" sz="2000" b="1" dirty="0">
                <a:solidFill>
                  <a:srgbClr val="2F8F5B"/>
                </a:solidFill>
                <a:latin typeface="Segoe UI" pitchFamily="34" charset="0"/>
                <a:ea typeface="Segoe UI" pitchFamily="34" charset="-122"/>
                <a:cs typeface="Segoe UI" pitchFamily="34" charset="-120"/>
              </a:rPr>
              <a:t>✓  Graph-augmented RAG</a:t>
            </a:r>
            <a:endParaRPr lang="en-US" sz="2000" dirty="0"/>
          </a:p>
        </p:txBody>
      </p:sp>
      <p:sp>
        <p:nvSpPr>
          <p:cNvPr id="9" name="Text 7"/>
          <p:cNvSpPr/>
          <p:nvPr/>
        </p:nvSpPr>
        <p:spPr>
          <a:xfrm>
            <a:off x="6510528" y="2971800"/>
            <a:ext cx="4572000" cy="1737360"/>
          </a:xfrm>
          <a:prstGeom prst="rect">
            <a:avLst/>
          </a:prstGeom>
          <a:noFill/>
          <a:ln/>
        </p:spPr>
        <p:txBody>
          <a:bodyPr wrap="square" rtlCol="0" anchor="ctr"/>
          <a:lstStyle/>
          <a:p>
            <a:pPr indent="0" marL="0">
              <a:lnSpc>
                <a:spcPct val="120000"/>
              </a:lnSpc>
              <a:buNone/>
            </a:pPr>
            <a:r>
              <a:rPr lang="en-US" sz="1650" dirty="0">
                <a:solidFill>
                  <a:srgbClr val="3A3A3A"/>
                </a:solidFill>
                <a:latin typeface="Segoe UI" pitchFamily="34" charset="0"/>
                <a:ea typeface="Segoe UI" pitchFamily="34" charset="-122"/>
                <a:cs typeface="Segoe UI" pitchFamily="34" charset="-120"/>
              </a:rPr>
              <a:t>Looks up hard relationships first (ego-graph around your entities) — anchors the answer.</a:t>
            </a:r>
            <a:endParaRPr lang="en-US" sz="1650" dirty="0"/>
          </a:p>
        </p:txBody>
      </p:sp>
      <p:sp>
        <p:nvSpPr>
          <p:cNvPr id="10" name="Text 8"/>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1" name="Text 9"/>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15</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A DELIBERATE TRADE-OFF</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Thin client. Heavy brain.</a:t>
            </a:r>
            <a:endParaRPr lang="en-US" sz="3300" dirty="0"/>
          </a:p>
        </p:txBody>
      </p:sp>
      <p:sp>
        <p:nvSpPr>
          <p:cNvPr id="4" name="Shape 2"/>
          <p:cNvSpPr/>
          <p:nvPr/>
        </p:nvSpPr>
        <p:spPr>
          <a:xfrm>
            <a:off x="566928" y="2148840"/>
            <a:ext cx="3840480" cy="3200400"/>
          </a:xfrm>
          <a:prstGeom prst="roundRect">
            <a:avLst>
              <a:gd name="adj" fmla="val 3429"/>
            </a:avLst>
          </a:prstGeom>
          <a:solidFill>
            <a:srgbClr val="F0EBE1"/>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Text 3"/>
          <p:cNvSpPr/>
          <p:nvPr/>
        </p:nvSpPr>
        <p:spPr>
          <a:xfrm>
            <a:off x="932688" y="2423160"/>
            <a:ext cx="3200400" cy="457200"/>
          </a:xfrm>
          <a:prstGeom prst="rect">
            <a:avLst/>
          </a:prstGeom>
          <a:noFill/>
          <a:ln/>
        </p:spPr>
        <p:txBody>
          <a:bodyPr wrap="square" rtlCol="0" anchor="ctr"/>
          <a:lstStyle/>
          <a:p>
            <a:pPr indent="0" marL="0">
              <a:buNone/>
            </a:pPr>
            <a:r>
              <a:rPr lang="en-US" sz="1800" b="1" dirty="0">
                <a:solidFill>
                  <a:srgbClr val="1A1A1A"/>
                </a:solidFill>
                <a:latin typeface="Segoe UI" pitchFamily="34" charset="0"/>
                <a:ea typeface="Segoe UI" pitchFamily="34" charset="-122"/>
                <a:cs typeface="Segoe UI" pitchFamily="34" charset="-120"/>
              </a:rPr>
              <a:t>📱  The phone</a:t>
            </a:r>
            <a:endParaRPr lang="en-US" sz="1800" dirty="0"/>
          </a:p>
        </p:txBody>
      </p:sp>
      <p:sp>
        <p:nvSpPr>
          <p:cNvPr id="6" name="Text 4"/>
          <p:cNvSpPr/>
          <p:nvPr/>
        </p:nvSpPr>
        <p:spPr>
          <a:xfrm>
            <a:off x="932688" y="3063240"/>
            <a:ext cx="3108960" cy="2103120"/>
          </a:xfrm>
          <a:prstGeom prst="rect">
            <a:avLst/>
          </a:prstGeom>
          <a:noFill/>
          <a:ln/>
        </p:spPr>
        <p:txBody>
          <a:bodyPr wrap="square" rtlCol="0" anchor="ctr"/>
          <a:lstStyle/>
          <a:p>
            <a:pPr marL="342900" indent="-342900">
              <a:lnSpc>
                <a:spcPct val="135000"/>
              </a:lnSpc>
              <a:spcAft>
                <a:spcPts val="600"/>
              </a:spcAft>
              <a:buSzPct val="100000"/>
              <a:buChar char="•"/>
            </a:pPr>
            <a:r>
              <a:rPr lang="en-US" sz="1600" dirty="0">
                <a:solidFill>
                  <a:srgbClr val="3A3A3A"/>
                </a:solidFill>
                <a:latin typeface="Segoe UI" pitchFamily="34" charset="0"/>
                <a:ea typeface="Segoe UI" pitchFamily="34" charset="-122"/>
                <a:cs typeface="Segoe UI" pitchFamily="34" charset="-120"/>
              </a:rPr>
              <a:t>Microphone</a:t>
            </a:r>
            <a:endParaRPr lang="en-US" sz="1600" dirty="0"/>
          </a:p>
          <a:p>
            <a:pPr marL="342900" indent="-342900">
              <a:lnSpc>
                <a:spcPct val="135000"/>
              </a:lnSpc>
              <a:spcAft>
                <a:spcPts val="600"/>
              </a:spcAft>
              <a:buSzPct val="100000"/>
              <a:buChar char="•"/>
            </a:pPr>
            <a:r>
              <a:rPr lang="en-US" sz="1600" dirty="0">
                <a:solidFill>
                  <a:srgbClr val="3A3A3A"/>
                </a:solidFill>
                <a:latin typeface="Segoe UI" pitchFamily="34" charset="0"/>
                <a:ea typeface="Segoe UI" pitchFamily="34" charset="-122"/>
                <a:cs typeface="Segoe UI" pitchFamily="34" charset="-120"/>
              </a:rPr>
              <a:t>Screen</a:t>
            </a:r>
            <a:endParaRPr lang="en-US" sz="1600" dirty="0"/>
          </a:p>
          <a:p>
            <a:pPr marL="342900" indent="-342900">
              <a:lnSpc>
                <a:spcPct val="135000"/>
              </a:lnSpc>
              <a:spcAft>
                <a:spcPts val="600"/>
              </a:spcAft>
              <a:buSzPct val="100000"/>
              <a:buChar char="•"/>
            </a:pPr>
            <a:r>
              <a:rPr lang="en-US" sz="1600" dirty="0">
                <a:solidFill>
                  <a:srgbClr val="3A3A3A"/>
                </a:solidFill>
                <a:latin typeface="Segoe UI" pitchFamily="34" charset="0"/>
                <a:ea typeface="Segoe UI" pitchFamily="34" charset="-122"/>
                <a:cs typeface="Segoe UI" pitchFamily="34" charset="-120"/>
              </a:rPr>
              <a:t>Battery-light</a:t>
            </a:r>
            <a:endParaRPr lang="en-US" sz="1600" dirty="0"/>
          </a:p>
        </p:txBody>
      </p:sp>
      <p:sp>
        <p:nvSpPr>
          <p:cNvPr id="7" name="Text 5"/>
          <p:cNvSpPr/>
          <p:nvPr/>
        </p:nvSpPr>
        <p:spPr>
          <a:xfrm>
            <a:off x="4572000" y="3383280"/>
            <a:ext cx="914400" cy="731520"/>
          </a:xfrm>
          <a:prstGeom prst="rect">
            <a:avLst/>
          </a:prstGeom>
          <a:noFill/>
          <a:ln/>
        </p:spPr>
        <p:txBody>
          <a:bodyPr wrap="square" rtlCol="0" anchor="ctr"/>
          <a:lstStyle/>
          <a:p>
            <a:pPr algn="ctr" indent="0" marL="0">
              <a:buNone/>
            </a:pPr>
            <a:r>
              <a:rPr lang="en-US" sz="3600" b="1" dirty="0">
                <a:solidFill>
                  <a:srgbClr val="0E7C86"/>
                </a:solidFill>
                <a:latin typeface="Segoe UI" pitchFamily="34" charset="0"/>
                <a:ea typeface="Segoe UI" pitchFamily="34" charset="-122"/>
                <a:cs typeface="Segoe UI" pitchFamily="34" charset="-120"/>
              </a:rPr>
              <a:t>→</a:t>
            </a:r>
            <a:endParaRPr lang="en-US" sz="3600" dirty="0"/>
          </a:p>
        </p:txBody>
      </p:sp>
      <p:sp>
        <p:nvSpPr>
          <p:cNvPr id="8" name="Shape 6"/>
          <p:cNvSpPr/>
          <p:nvPr/>
        </p:nvSpPr>
        <p:spPr>
          <a:xfrm>
            <a:off x="5577840" y="2148840"/>
            <a:ext cx="5943600" cy="3200400"/>
          </a:xfrm>
          <a:prstGeom prst="roundRect">
            <a:avLst>
              <a:gd name="adj" fmla="val 3429"/>
            </a:avLst>
          </a:prstGeom>
          <a:solidFill>
            <a:srgbClr val="E4EFEF"/>
          </a:solidFill>
          <a:ln w="12700">
            <a:solidFill>
              <a:srgbClr val="0E7C86"/>
            </a:solidFill>
            <a:prstDash val="solid"/>
          </a:ln>
          <a:effectLst>
            <a:outerShdw sx="100000" sy="100000" kx="0" ky="0" algn="bl" rotWithShape="0" blurRad="88900" dist="25400" dir="5400000">
              <a:srgbClr val="BBB2A2">
                <a:alpha val="22000"/>
              </a:srgbClr>
            </a:outerShdw>
          </a:effectLst>
        </p:spPr>
      </p:sp>
      <p:sp>
        <p:nvSpPr>
          <p:cNvPr id="9" name="Text 7"/>
          <p:cNvSpPr/>
          <p:nvPr/>
        </p:nvSpPr>
        <p:spPr>
          <a:xfrm>
            <a:off x="5943600" y="2423160"/>
            <a:ext cx="5029200" cy="457200"/>
          </a:xfrm>
          <a:prstGeom prst="rect">
            <a:avLst/>
          </a:prstGeom>
          <a:noFill/>
          <a:ln/>
        </p:spPr>
        <p:txBody>
          <a:bodyPr wrap="square" rtlCol="0" anchor="ctr"/>
          <a:lstStyle/>
          <a:p>
            <a:pPr indent="0" marL="0">
              <a:buNone/>
            </a:pPr>
            <a:r>
              <a:rPr lang="en-US" sz="1800" b="1" dirty="0">
                <a:solidFill>
                  <a:srgbClr val="0E7C86"/>
                </a:solidFill>
                <a:latin typeface="Segoe UI" pitchFamily="34" charset="0"/>
                <a:ea typeface="Segoe UI" pitchFamily="34" charset="-122"/>
                <a:cs typeface="Segoe UI" pitchFamily="34" charset="-120"/>
              </a:rPr>
              <a:t>☁  The cloud brain</a:t>
            </a:r>
            <a:endParaRPr lang="en-US" sz="1800" dirty="0"/>
          </a:p>
        </p:txBody>
      </p:sp>
      <p:sp>
        <p:nvSpPr>
          <p:cNvPr id="10" name="Text 8"/>
          <p:cNvSpPr/>
          <p:nvPr/>
        </p:nvSpPr>
        <p:spPr>
          <a:xfrm>
            <a:off x="5943600" y="3063240"/>
            <a:ext cx="5303520" cy="2103120"/>
          </a:xfrm>
          <a:prstGeom prst="rect">
            <a:avLst/>
          </a:prstGeom>
          <a:noFill/>
          <a:ln/>
        </p:spPr>
        <p:txBody>
          <a:bodyPr wrap="square" rtlCol="0" anchor="ctr"/>
          <a:lstStyle/>
          <a:p>
            <a:pPr marL="342900" indent="-342900">
              <a:lnSpc>
                <a:spcPct val="135000"/>
              </a:lnSpc>
              <a:spcAft>
                <a:spcPts val="600"/>
              </a:spcAft>
              <a:buSzPct val="100000"/>
              <a:buChar char="•"/>
            </a:pPr>
            <a:r>
              <a:rPr lang="en-US" sz="1650" dirty="0">
                <a:solidFill>
                  <a:srgbClr val="3A3A3A"/>
                </a:solidFill>
                <a:latin typeface="Segoe UI" pitchFamily="34" charset="0"/>
                <a:ea typeface="Segoe UI" pitchFamily="34" charset="-122"/>
                <a:cs typeface="Segoe UI" pitchFamily="34" charset="-120"/>
              </a:rPr>
              <a:t>All AI: STT, LLM router, memory, graph</a:t>
            </a:r>
            <a:endParaRPr lang="en-US" sz="1650" dirty="0"/>
          </a:p>
          <a:p>
            <a:pPr marL="342900" indent="-342900">
              <a:lnSpc>
                <a:spcPct val="135000"/>
              </a:lnSpc>
              <a:spcAft>
                <a:spcPts val="600"/>
              </a:spcAft>
              <a:buSzPct val="100000"/>
              <a:buChar char="•"/>
            </a:pPr>
            <a:r>
              <a:rPr lang="en-US" sz="1650" dirty="0">
                <a:solidFill>
                  <a:srgbClr val="3A3A3A"/>
                </a:solidFill>
                <a:latin typeface="Segoe UI" pitchFamily="34" charset="0"/>
                <a:ea typeface="Segoe UI" pitchFamily="34" charset="-122"/>
                <a:cs typeface="Segoe UI" pitchFamily="34" charset="-120"/>
              </a:rPr>
              <a:t>Models stay swappable, not baked into the app</a:t>
            </a:r>
            <a:endParaRPr lang="en-US" sz="1650" dirty="0"/>
          </a:p>
          <a:p>
            <a:pPr marL="342900" indent="-342900">
              <a:lnSpc>
                <a:spcPct val="135000"/>
              </a:lnSpc>
              <a:spcAft>
                <a:spcPts val="600"/>
              </a:spcAft>
              <a:buSzPct val="100000"/>
              <a:buChar char="•"/>
            </a:pPr>
            <a:r>
              <a:rPr lang="en-US" sz="1650" dirty="0">
                <a:solidFill>
                  <a:srgbClr val="3A3A3A"/>
                </a:solidFill>
                <a:latin typeface="Segoe UI" pitchFamily="34" charset="0"/>
                <a:ea typeface="Segoe UI" pitchFamily="34" charset="-122"/>
                <a:cs typeface="Segoe UI" pitchFamily="34" charset="-120"/>
              </a:rPr>
              <a:t>Same experience on a cheap phone</a:t>
            </a:r>
            <a:endParaRPr lang="en-US" sz="1650" dirty="0"/>
          </a:p>
        </p:txBody>
      </p:sp>
      <p:sp>
        <p:nvSpPr>
          <p:cNvPr id="11" name="Text 9"/>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2" name="Text 10"/>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16</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5159"/>
        </a:solidFill>
      </p:bgPr>
    </p:bg>
    <p:spTree>
      <p:nvGrpSpPr>
        <p:cNvPr id="1" name=""/>
        <p:cNvGrpSpPr/>
        <p:nvPr/>
      </p:nvGrpSpPr>
      <p:grpSpPr>
        <a:xfrm>
          <a:off x="0" y="0"/>
          <a:ext cx="0" cy="0"/>
          <a:chOff x="0" y="0"/>
          <a:chExt cx="0" cy="0"/>
        </a:xfrm>
      </p:grpSpPr>
      <p:sp>
        <p:nvSpPr>
          <p:cNvPr id="2" name="Shape 0"/>
          <p:cNvSpPr/>
          <p:nvPr/>
        </p:nvSpPr>
        <p:spPr>
          <a:xfrm>
            <a:off x="9509760" y="-1280160"/>
            <a:ext cx="4206240" cy="4206240"/>
          </a:xfrm>
          <a:prstGeom prst="ellipse">
            <a:avLst/>
          </a:prstGeom>
          <a:solidFill>
            <a:srgbClr val="FFFFFF">
              <a:alpha val="8000"/>
            </a:srgbClr>
          </a:solidFill>
          <a:ln/>
        </p:spPr>
      </p:sp>
      <p:sp>
        <p:nvSpPr>
          <p:cNvPr id="3" name="Shape 1"/>
          <p:cNvSpPr/>
          <p:nvPr/>
        </p:nvSpPr>
        <p:spPr>
          <a:xfrm>
            <a:off x="-914400" y="4572000"/>
            <a:ext cx="3108960" cy="3108960"/>
          </a:xfrm>
          <a:prstGeom prst="ellipse">
            <a:avLst/>
          </a:prstGeom>
          <a:solidFill>
            <a:srgbClr val="E08A2B">
              <a:alpha val="20000"/>
            </a:srgbClr>
          </a:solidFill>
          <a:ln/>
        </p:spPr>
      </p:sp>
      <p:sp>
        <p:nvSpPr>
          <p:cNvPr id="4" name="Text 2"/>
          <p:cNvSpPr/>
          <p:nvPr/>
        </p:nvSpPr>
        <p:spPr>
          <a:xfrm>
            <a:off x="566928" y="2468880"/>
            <a:ext cx="5486400" cy="457200"/>
          </a:xfrm>
          <a:prstGeom prst="rect">
            <a:avLst/>
          </a:prstGeom>
          <a:noFill/>
          <a:ln/>
        </p:spPr>
        <p:txBody>
          <a:bodyPr wrap="square" rtlCol="0" anchor="ctr"/>
          <a:lstStyle/>
          <a:p>
            <a:pPr indent="0" marL="0">
              <a:buNone/>
            </a:pPr>
            <a:r>
              <a:rPr lang="en-US" sz="1600" b="1" spc="300" kern="0" dirty="0">
                <a:solidFill>
                  <a:srgbClr val="9FD0D4"/>
                </a:solidFill>
                <a:latin typeface="Segoe UI" pitchFamily="34" charset="0"/>
                <a:ea typeface="Segoe UI" pitchFamily="34" charset="-122"/>
                <a:cs typeface="Segoe UI" pitchFamily="34" charset="-120"/>
              </a:rPr>
              <a:t>PART 04</a:t>
            </a:r>
            <a:endParaRPr lang="en-US" sz="1600" dirty="0"/>
          </a:p>
        </p:txBody>
      </p:sp>
      <p:sp>
        <p:nvSpPr>
          <p:cNvPr id="5" name="Text 3"/>
          <p:cNvSpPr/>
          <p:nvPr/>
        </p:nvSpPr>
        <p:spPr>
          <a:xfrm>
            <a:off x="566928" y="2926080"/>
            <a:ext cx="10515600" cy="1463040"/>
          </a:xfrm>
          <a:prstGeom prst="rect">
            <a:avLst/>
          </a:prstGeom>
          <a:noFill/>
          <a:ln/>
        </p:spPr>
        <p:txBody>
          <a:bodyPr wrap="square" rtlCol="0" anchor="ctr"/>
          <a:lstStyle/>
          <a:p>
            <a:pPr indent="0" marL="0">
              <a:lnSpc>
                <a:spcPct val="100000"/>
              </a:lnSpc>
              <a:buNone/>
            </a:pPr>
            <a:r>
              <a:rPr lang="en-US" sz="4600" b="1" dirty="0">
                <a:solidFill>
                  <a:srgbClr val="FFFFFF"/>
                </a:solidFill>
                <a:latin typeface="Segoe UI" pitchFamily="34" charset="0"/>
                <a:ea typeface="Segoe UI" pitchFamily="34" charset="-122"/>
                <a:cs typeface="Segoe UI" pitchFamily="34" charset="-120"/>
              </a:rPr>
              <a:t>How it actually works.</a:t>
            </a:r>
            <a:endParaRPr lang="en-US" sz="4600" dirty="0"/>
          </a:p>
        </p:txBody>
      </p:sp>
      <p:sp>
        <p:nvSpPr>
          <p:cNvPr id="6" name="Text 4"/>
          <p:cNvSpPr/>
          <p:nvPr/>
        </p:nvSpPr>
        <p:spPr>
          <a:xfrm>
            <a:off x="566928" y="4389120"/>
            <a:ext cx="9601200" cy="548640"/>
          </a:xfrm>
          <a:prstGeom prst="rect">
            <a:avLst/>
          </a:prstGeom>
          <a:noFill/>
          <a:ln/>
        </p:spPr>
        <p:txBody>
          <a:bodyPr wrap="square" rtlCol="0" anchor="ctr"/>
          <a:lstStyle/>
          <a:p>
            <a:pPr indent="0" marL="0">
              <a:buNone/>
            </a:pPr>
            <a:r>
              <a:rPr lang="en-US" sz="1800" b="1" dirty="0">
                <a:solidFill>
                  <a:srgbClr val="EAF6F7"/>
                </a:solidFill>
                <a:latin typeface="Segoe UI" pitchFamily="34" charset="0"/>
                <a:ea typeface="Segoe UI" pitchFamily="34" charset="-122"/>
                <a:cs typeface="Segoe UI" pitchFamily="34" charset="-120"/>
              </a:rPr>
              <a:t>Three tiers, one clean data path.</a:t>
            </a:r>
            <a:endParaRPr lang="en-US" sz="1800" dirty="0"/>
          </a:p>
        </p:txBody>
      </p:sp>
      <p:sp>
        <p:nvSpPr>
          <p:cNvPr id="7" name="Text 5"/>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BFD8DB"/>
                </a:solidFill>
                <a:latin typeface="Segoe UI" pitchFamily="34" charset="0"/>
                <a:ea typeface="Segoe UI" pitchFamily="34" charset="-122"/>
                <a:cs typeface="Segoe UI" pitchFamily="34" charset="-120"/>
              </a:rPr>
              <a:t>Bubbles  ·  FYP 2022–2026  ·  COMSATS Lahore</a:t>
            </a:r>
            <a:endParaRPr lang="en-US" sz="900" dirty="0"/>
          </a:p>
        </p:txBody>
      </p:sp>
      <p:sp>
        <p:nvSpPr>
          <p:cNvPr id="8" name="Text 6"/>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BFD8DB"/>
                </a:solidFill>
                <a:latin typeface="Segoe UI" pitchFamily="34" charset="0"/>
                <a:ea typeface="Segoe UI" pitchFamily="34" charset="-122"/>
                <a:cs typeface="Segoe UI" pitchFamily="34" charset="-120"/>
              </a:rPr>
              <a:t>17</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ARCHITECTURE AT A GLANCE</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Three tiers, top to bottom.</a:t>
            </a:r>
            <a:endParaRPr lang="en-US" sz="3300" dirty="0"/>
          </a:p>
        </p:txBody>
      </p:sp>
      <p:sp>
        <p:nvSpPr>
          <p:cNvPr id="4" name="Shape 2"/>
          <p:cNvSpPr/>
          <p:nvPr/>
        </p:nvSpPr>
        <p:spPr>
          <a:xfrm>
            <a:off x="566928" y="2148840"/>
            <a:ext cx="10424160" cy="1097280"/>
          </a:xfrm>
          <a:prstGeom prst="roundRect">
            <a:avLst>
              <a:gd name="adj" fmla="val 10000"/>
            </a:avLst>
          </a:prstGeom>
          <a:solidFill>
            <a:srgbClr val="E4EFEF"/>
          </a:solidFill>
          <a:ln w="17780">
            <a:solidFill>
              <a:srgbClr val="0E7C86"/>
            </a:solidFill>
            <a:prstDash val="solid"/>
          </a:ln>
        </p:spPr>
      </p:sp>
      <p:sp>
        <p:nvSpPr>
          <p:cNvPr id="5" name="Shape 3"/>
          <p:cNvSpPr/>
          <p:nvPr/>
        </p:nvSpPr>
        <p:spPr>
          <a:xfrm>
            <a:off x="566928" y="2148840"/>
            <a:ext cx="146304" cy="1097280"/>
          </a:xfrm>
          <a:prstGeom prst="rect">
            <a:avLst/>
          </a:prstGeom>
          <a:solidFill>
            <a:srgbClr val="0E7C86"/>
          </a:solidFill>
          <a:ln/>
        </p:spPr>
      </p:sp>
      <p:sp>
        <p:nvSpPr>
          <p:cNvPr id="6" name="Text 4"/>
          <p:cNvSpPr/>
          <p:nvPr/>
        </p:nvSpPr>
        <p:spPr>
          <a:xfrm>
            <a:off x="978408" y="2313432"/>
            <a:ext cx="10058400" cy="457200"/>
          </a:xfrm>
          <a:prstGeom prst="rect">
            <a:avLst/>
          </a:prstGeom>
          <a:noFill/>
          <a:ln/>
        </p:spPr>
        <p:txBody>
          <a:bodyPr wrap="square" rtlCol="0" anchor="ctr"/>
          <a:lstStyle/>
          <a:p>
            <a:pPr indent="0" marL="0">
              <a:buNone/>
            </a:pPr>
            <a:r>
              <a:rPr lang="en-US" sz="1900" b="1" dirty="0">
                <a:solidFill>
                  <a:srgbClr val="1A1A1A"/>
                </a:solidFill>
                <a:latin typeface="Segoe UI" pitchFamily="34" charset="0"/>
                <a:ea typeface="Segoe UI" pitchFamily="34" charset="-122"/>
                <a:cs typeface="Segoe UI" pitchFamily="34" charset="-120"/>
              </a:rPr>
              <a:t>Client — Flutter</a:t>
            </a:r>
            <a:endParaRPr lang="en-US" sz="1900" dirty="0"/>
          </a:p>
        </p:txBody>
      </p:sp>
      <p:sp>
        <p:nvSpPr>
          <p:cNvPr id="7" name="Text 5"/>
          <p:cNvSpPr/>
          <p:nvPr/>
        </p:nvSpPr>
        <p:spPr>
          <a:xfrm>
            <a:off x="978408" y="2752344"/>
            <a:ext cx="10058400" cy="365760"/>
          </a:xfrm>
          <a:prstGeom prst="rect">
            <a:avLst/>
          </a:prstGeom>
          <a:noFill/>
          <a:ln/>
        </p:spPr>
        <p:txBody>
          <a:bodyPr wrap="square" rtlCol="0" anchor="ctr"/>
          <a:lstStyle/>
          <a:p>
            <a:pPr indent="0" marL="0">
              <a:buNone/>
            </a:pPr>
            <a:r>
              <a:rPr lang="en-US" sz="1500" dirty="0">
                <a:solidFill>
                  <a:srgbClr val="3A3A3A"/>
                </a:solidFill>
                <a:latin typeface="Segoe UI" pitchFamily="34" charset="0"/>
                <a:ea typeface="Segoe UI" pitchFamily="34" charset="-122"/>
                <a:cs typeface="Segoe UI" pitchFamily="34" charset="-120"/>
              </a:rPr>
              <a:t>Screens · State · Repositories · Cache · Services</a:t>
            </a:r>
            <a:endParaRPr lang="en-US" sz="1500" dirty="0"/>
          </a:p>
        </p:txBody>
      </p:sp>
      <p:sp>
        <p:nvSpPr>
          <p:cNvPr id="8" name="Text 6"/>
          <p:cNvSpPr/>
          <p:nvPr/>
        </p:nvSpPr>
        <p:spPr>
          <a:xfrm>
            <a:off x="5943600" y="3227832"/>
            <a:ext cx="457200" cy="274320"/>
          </a:xfrm>
          <a:prstGeom prst="rect">
            <a:avLst/>
          </a:prstGeom>
          <a:noFill/>
          <a:ln/>
        </p:spPr>
        <p:txBody>
          <a:bodyPr wrap="square" rtlCol="0" anchor="ctr"/>
          <a:lstStyle/>
          <a:p>
            <a:pPr algn="ctr" indent="0" marL="0">
              <a:buNone/>
            </a:pPr>
            <a:r>
              <a:rPr lang="en-US" sz="1300" dirty="0">
                <a:solidFill>
                  <a:srgbClr val="9A9285"/>
                </a:solidFill>
                <a:latin typeface="Segoe UI" pitchFamily="34" charset="0"/>
                <a:ea typeface="Segoe UI" pitchFamily="34" charset="-122"/>
                <a:cs typeface="Segoe UI" pitchFamily="34" charset="-120"/>
              </a:rPr>
              <a:t>▼</a:t>
            </a:r>
            <a:endParaRPr lang="en-US" sz="1300" dirty="0"/>
          </a:p>
        </p:txBody>
      </p:sp>
      <p:sp>
        <p:nvSpPr>
          <p:cNvPr id="9" name="Shape 7"/>
          <p:cNvSpPr/>
          <p:nvPr/>
        </p:nvSpPr>
        <p:spPr>
          <a:xfrm>
            <a:off x="566928" y="3474720"/>
            <a:ext cx="10424160" cy="1097280"/>
          </a:xfrm>
          <a:prstGeom prst="roundRect">
            <a:avLst>
              <a:gd name="adj" fmla="val 10000"/>
            </a:avLst>
          </a:prstGeom>
          <a:solidFill>
            <a:srgbClr val="F0EBE1"/>
          </a:solidFill>
          <a:ln w="17780">
            <a:solidFill>
              <a:srgbClr val="E08A2B"/>
            </a:solidFill>
            <a:prstDash val="solid"/>
          </a:ln>
        </p:spPr>
      </p:sp>
      <p:sp>
        <p:nvSpPr>
          <p:cNvPr id="10" name="Shape 8"/>
          <p:cNvSpPr/>
          <p:nvPr/>
        </p:nvSpPr>
        <p:spPr>
          <a:xfrm>
            <a:off x="566928" y="3474720"/>
            <a:ext cx="146304" cy="1097280"/>
          </a:xfrm>
          <a:prstGeom prst="rect">
            <a:avLst/>
          </a:prstGeom>
          <a:solidFill>
            <a:srgbClr val="E08A2B"/>
          </a:solidFill>
          <a:ln/>
        </p:spPr>
      </p:sp>
      <p:sp>
        <p:nvSpPr>
          <p:cNvPr id="11" name="Text 9"/>
          <p:cNvSpPr/>
          <p:nvPr/>
        </p:nvSpPr>
        <p:spPr>
          <a:xfrm>
            <a:off x="978408" y="3639312"/>
            <a:ext cx="10058400" cy="457200"/>
          </a:xfrm>
          <a:prstGeom prst="rect">
            <a:avLst/>
          </a:prstGeom>
          <a:noFill/>
          <a:ln/>
        </p:spPr>
        <p:txBody>
          <a:bodyPr wrap="square" rtlCol="0" anchor="ctr"/>
          <a:lstStyle/>
          <a:p>
            <a:pPr indent="0" marL="0">
              <a:buNone/>
            </a:pPr>
            <a:r>
              <a:rPr lang="en-US" sz="1900" b="1" dirty="0">
                <a:solidFill>
                  <a:srgbClr val="1A1A1A"/>
                </a:solidFill>
                <a:latin typeface="Segoe UI" pitchFamily="34" charset="0"/>
                <a:ea typeface="Segoe UI" pitchFamily="34" charset="-122"/>
                <a:cs typeface="Segoe UI" pitchFamily="34" charset="-120"/>
              </a:rPr>
              <a:t>Backend — Brain API (FastAPI)</a:t>
            </a:r>
            <a:endParaRPr lang="en-US" sz="1900" dirty="0"/>
          </a:p>
        </p:txBody>
      </p:sp>
      <p:sp>
        <p:nvSpPr>
          <p:cNvPr id="12" name="Text 10"/>
          <p:cNvSpPr/>
          <p:nvPr/>
        </p:nvSpPr>
        <p:spPr>
          <a:xfrm>
            <a:off x="978408" y="4078224"/>
            <a:ext cx="10058400" cy="365760"/>
          </a:xfrm>
          <a:prstGeom prst="rect">
            <a:avLst/>
          </a:prstGeom>
          <a:noFill/>
          <a:ln/>
        </p:spPr>
        <p:txBody>
          <a:bodyPr wrap="square" rtlCol="0" anchor="ctr"/>
          <a:lstStyle/>
          <a:p>
            <a:pPr indent="0" marL="0">
              <a:buNone/>
            </a:pPr>
            <a:r>
              <a:rPr lang="en-US" sz="1500" dirty="0">
                <a:solidFill>
                  <a:srgbClr val="3A3A3A"/>
                </a:solidFill>
                <a:latin typeface="Segoe UI" pitchFamily="34" charset="0"/>
                <a:ea typeface="Segoe UI" pitchFamily="34" charset="-122"/>
                <a:cs typeface="Segoe UI" pitchFamily="34" charset="-120"/>
              </a:rPr>
              <a:t>Auth · LLM Router · Endpoints · ARQ Workers</a:t>
            </a:r>
            <a:endParaRPr lang="en-US" sz="1500" dirty="0"/>
          </a:p>
        </p:txBody>
      </p:sp>
      <p:sp>
        <p:nvSpPr>
          <p:cNvPr id="13" name="Text 11"/>
          <p:cNvSpPr/>
          <p:nvPr/>
        </p:nvSpPr>
        <p:spPr>
          <a:xfrm>
            <a:off x="5943600" y="4553712"/>
            <a:ext cx="457200" cy="274320"/>
          </a:xfrm>
          <a:prstGeom prst="rect">
            <a:avLst/>
          </a:prstGeom>
          <a:noFill/>
          <a:ln/>
        </p:spPr>
        <p:txBody>
          <a:bodyPr wrap="square" rtlCol="0" anchor="ctr"/>
          <a:lstStyle/>
          <a:p>
            <a:pPr algn="ctr" indent="0" marL="0">
              <a:buNone/>
            </a:pPr>
            <a:r>
              <a:rPr lang="en-US" sz="1300" dirty="0">
                <a:solidFill>
                  <a:srgbClr val="9A9285"/>
                </a:solidFill>
                <a:latin typeface="Segoe UI" pitchFamily="34" charset="0"/>
                <a:ea typeface="Segoe UI" pitchFamily="34" charset="-122"/>
                <a:cs typeface="Segoe UI" pitchFamily="34" charset="-120"/>
              </a:rPr>
              <a:t>▼</a:t>
            </a:r>
            <a:endParaRPr lang="en-US" sz="1300" dirty="0"/>
          </a:p>
        </p:txBody>
      </p:sp>
      <p:sp>
        <p:nvSpPr>
          <p:cNvPr id="14" name="Shape 12"/>
          <p:cNvSpPr/>
          <p:nvPr/>
        </p:nvSpPr>
        <p:spPr>
          <a:xfrm>
            <a:off x="566928" y="4800600"/>
            <a:ext cx="10424160" cy="1097280"/>
          </a:xfrm>
          <a:prstGeom prst="roundRect">
            <a:avLst>
              <a:gd name="adj" fmla="val 10000"/>
            </a:avLst>
          </a:prstGeom>
          <a:solidFill>
            <a:srgbClr val="E9EEEC"/>
          </a:solidFill>
          <a:ln w="17780">
            <a:solidFill>
              <a:srgbClr val="0A5159"/>
            </a:solidFill>
            <a:prstDash val="solid"/>
          </a:ln>
        </p:spPr>
      </p:sp>
      <p:sp>
        <p:nvSpPr>
          <p:cNvPr id="15" name="Shape 13"/>
          <p:cNvSpPr/>
          <p:nvPr/>
        </p:nvSpPr>
        <p:spPr>
          <a:xfrm>
            <a:off x="566928" y="4800600"/>
            <a:ext cx="146304" cy="1097280"/>
          </a:xfrm>
          <a:prstGeom prst="rect">
            <a:avLst/>
          </a:prstGeom>
          <a:solidFill>
            <a:srgbClr val="0A5159"/>
          </a:solidFill>
          <a:ln/>
        </p:spPr>
      </p:sp>
      <p:sp>
        <p:nvSpPr>
          <p:cNvPr id="16" name="Text 14"/>
          <p:cNvSpPr/>
          <p:nvPr/>
        </p:nvSpPr>
        <p:spPr>
          <a:xfrm>
            <a:off x="978408" y="4965192"/>
            <a:ext cx="10058400" cy="457200"/>
          </a:xfrm>
          <a:prstGeom prst="rect">
            <a:avLst/>
          </a:prstGeom>
          <a:noFill/>
          <a:ln/>
        </p:spPr>
        <p:txBody>
          <a:bodyPr wrap="square" rtlCol="0" anchor="ctr"/>
          <a:lstStyle/>
          <a:p>
            <a:pPr indent="0" marL="0">
              <a:buNone/>
            </a:pPr>
            <a:r>
              <a:rPr lang="en-US" sz="1900" b="1" dirty="0">
                <a:solidFill>
                  <a:srgbClr val="1A1A1A"/>
                </a:solidFill>
                <a:latin typeface="Segoe UI" pitchFamily="34" charset="0"/>
                <a:ea typeface="Segoe UI" pitchFamily="34" charset="-122"/>
                <a:cs typeface="Segoe UI" pitchFamily="34" charset="-120"/>
              </a:rPr>
              <a:t>Data &amp; AI</a:t>
            </a:r>
            <a:endParaRPr lang="en-US" sz="1900" dirty="0"/>
          </a:p>
        </p:txBody>
      </p:sp>
      <p:sp>
        <p:nvSpPr>
          <p:cNvPr id="17" name="Text 15"/>
          <p:cNvSpPr/>
          <p:nvPr/>
        </p:nvSpPr>
        <p:spPr>
          <a:xfrm>
            <a:off x="978408" y="5404104"/>
            <a:ext cx="10058400" cy="365760"/>
          </a:xfrm>
          <a:prstGeom prst="rect">
            <a:avLst/>
          </a:prstGeom>
          <a:noFill/>
          <a:ln/>
        </p:spPr>
        <p:txBody>
          <a:bodyPr wrap="square" rtlCol="0" anchor="ctr"/>
          <a:lstStyle/>
          <a:p>
            <a:pPr indent="0" marL="0">
              <a:buNone/>
            </a:pPr>
            <a:r>
              <a:rPr lang="en-US" sz="1500" dirty="0">
                <a:solidFill>
                  <a:srgbClr val="3A3A3A"/>
                </a:solidFill>
                <a:latin typeface="Segoe UI" pitchFamily="34" charset="0"/>
                <a:ea typeface="Segoe UI" pitchFamily="34" charset="-122"/>
                <a:cs typeface="Segoe UI" pitchFamily="34" charset="-120"/>
              </a:rPr>
              <a:t>Postgres + pgvector · Redis · Gemini/Cerebras/Groq · LiveKit</a:t>
            </a:r>
            <a:endParaRPr lang="en-US" sz="1500" dirty="0"/>
          </a:p>
        </p:txBody>
      </p:sp>
      <p:sp>
        <p:nvSpPr>
          <p:cNvPr id="18" name="Text 16"/>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9" name="Text 17"/>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18</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par>
                    <p:cTn id="142" presetID="10" presetClass="entr" presetSubtype="0" fill="hold" grpId="0" nodeType="afterEffect">
                      <p:stCondLst>
                        <p:cond delay="1680"/>
                      </p:stCondLst>
                      <p:childTnLst>
                        <p:set>
                          <p:cBhvr>
                            <p:cTn id="143" dur="1" fill="hold">
                              <p:stCondLst>
                                <p:cond delay="0"/>
                              </p:stCondLst>
                            </p:cTn>
                            <p:tgtEl>
                              <p:spTgt spid="16"/>
                            </p:tgtEl>
                            <p:attrNameLst>
                              <p:attrName>style.visibility</p:attrName>
                            </p:attrNameLst>
                          </p:cBhvr>
                          <p:to>
                            <p:strVal val="visible"/>
                          </p:to>
                        </p:set>
                        <p:animEffect transition="in" filter="fade">
                          <p:cBhvr>
                            <p:cTn id="144" dur="450"/>
                            <p:tgtEl>
                              <p:spTgt spid="16"/>
                            </p:tgtEl>
                          </p:cBhvr>
                        </p:animEffect>
                      </p:childTnLst>
                    </p:cTn>
                  </p:par>
                  <p:par>
                    <p:cTn id="145" presetID="10" presetClass="entr" presetSubtype="0" fill="hold" grpId="0" nodeType="afterEffect">
                      <p:stCondLst>
                        <p:cond delay="1800"/>
                      </p:stCondLst>
                      <p:childTnLst>
                        <p:set>
                          <p:cBhvr>
                            <p:cTn id="146" dur="1" fill="hold">
                              <p:stCondLst>
                                <p:cond delay="0"/>
                              </p:stCondLst>
                            </p:cTn>
                            <p:tgtEl>
                              <p:spTgt spid="17"/>
                            </p:tgtEl>
                            <p:attrNameLst>
                              <p:attrName>style.visibility</p:attrName>
                            </p:attrNameLst>
                          </p:cBhvr>
                          <p:to>
                            <p:strVal val="visible"/>
                          </p:to>
                        </p:set>
                        <p:animEffect transition="in" filter="fade">
                          <p:cBhvr>
                            <p:cTn id="147" dur="450"/>
                            <p:tgtEl>
                              <p:spTgt spid="17"/>
                            </p:tgtEl>
                          </p:cBhvr>
                        </p:animEffect>
                      </p:childTnLst>
                    </p:cTn>
                  </p:par>
                  <p:par>
                    <p:cTn id="148" presetID="10" presetClass="entr" presetSubtype="0" fill="hold" grpId="0" nodeType="afterEffect">
                      <p:stCondLst>
                        <p:cond delay="1920"/>
                      </p:stCondLst>
                      <p:childTnLst>
                        <p:set>
                          <p:cBhvr>
                            <p:cTn id="149" dur="1" fill="hold">
                              <p:stCondLst>
                                <p:cond delay="0"/>
                              </p:stCondLst>
                            </p:cTn>
                            <p:tgtEl>
                              <p:spTgt spid="18"/>
                            </p:tgtEl>
                            <p:attrNameLst>
                              <p:attrName>style.visibility</p:attrName>
                            </p:attrNameLst>
                          </p:cBhvr>
                          <p:to>
                            <p:strVal val="visible"/>
                          </p:to>
                        </p:set>
                        <p:animEffect transition="in" filter="fade">
                          <p:cBhvr>
                            <p:cTn id="150" dur="450"/>
                            <p:tgtEl>
                              <p:spTgt spid="18"/>
                            </p:tgtEl>
                          </p:cBhvr>
                        </p:animEffect>
                      </p:childTnLst>
                    </p:cTn>
                  </p:par>
                  <p:par>
                    <p:cTn id="151" presetID="10" presetClass="entr" presetSubtype="0" fill="hold" grpId="0" nodeType="afterEffect">
                      <p:stCondLst>
                        <p:cond delay="2040"/>
                      </p:stCondLst>
                      <p:childTnLst>
                        <p:set>
                          <p:cBhvr>
                            <p:cTn id="152" dur="1" fill="hold">
                              <p:stCondLst>
                                <p:cond delay="0"/>
                              </p:stCondLst>
                            </p:cTn>
                            <p:tgtEl>
                              <p:spTgt spid="19"/>
                            </p:tgtEl>
                            <p:attrNameLst>
                              <p:attrName>style.visibility</p:attrName>
                            </p:attrNameLst>
                          </p:cBhvr>
                          <p:to>
                            <p:strVal val="visible"/>
                          </p:to>
                        </p:set>
                        <p:animEffect transition="in" filter="fade">
                          <p:cBhvr>
                            <p:cTn id="153" dur="450"/>
                            <p:tgtEl>
                              <p:spTgt spid="19"/>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THE CLIENT</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One codebase → six platforms.</a:t>
            </a:r>
            <a:endParaRPr lang="en-US" sz="3300" dirty="0"/>
          </a:p>
        </p:txBody>
      </p:sp>
      <p:sp>
        <p:nvSpPr>
          <p:cNvPr id="4" name="Shape 2"/>
          <p:cNvSpPr/>
          <p:nvPr/>
        </p:nvSpPr>
        <p:spPr>
          <a:xfrm>
            <a:off x="566928" y="2468880"/>
            <a:ext cx="2377440" cy="1280160"/>
          </a:xfrm>
          <a:prstGeom prst="roundRect">
            <a:avLst>
              <a:gd name="adj" fmla="val 8571"/>
            </a:avLst>
          </a:prstGeom>
          <a:solidFill>
            <a:srgbClr val="0E7C86"/>
          </a:solidFill>
          <a:ln/>
        </p:spPr>
      </p:sp>
      <p:sp>
        <p:nvSpPr>
          <p:cNvPr id="5" name="Text 3"/>
          <p:cNvSpPr/>
          <p:nvPr/>
        </p:nvSpPr>
        <p:spPr>
          <a:xfrm>
            <a:off x="566928" y="2468880"/>
            <a:ext cx="2377440" cy="1280160"/>
          </a:xfrm>
          <a:prstGeom prst="rect">
            <a:avLst/>
          </a:prstGeom>
          <a:noFill/>
          <a:ln/>
        </p:spPr>
        <p:txBody>
          <a:bodyPr wrap="square"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Flutter</a:t>
            </a:r>
            <a:endParaRPr lang="en-US" sz="2000" dirty="0"/>
          </a:p>
          <a:p>
            <a:pPr algn="ctr" indent="0" marL="0">
              <a:buNone/>
            </a:pPr>
            <a:r>
              <a:rPr lang="en-US" sz="2000" b="1" dirty="0">
                <a:solidFill>
                  <a:srgbClr val="FFFFFF"/>
                </a:solidFill>
                <a:latin typeface="Segoe UI" pitchFamily="34" charset="0"/>
                <a:ea typeface="Segoe UI" pitchFamily="34" charset="-122"/>
                <a:cs typeface="Segoe UI" pitchFamily="34" charset="-120"/>
              </a:rPr>
              <a:t>· Dart ·</a:t>
            </a:r>
            <a:endParaRPr lang="en-US" sz="2000" dirty="0"/>
          </a:p>
        </p:txBody>
      </p:sp>
      <p:sp>
        <p:nvSpPr>
          <p:cNvPr id="6" name="Shape 4"/>
          <p:cNvSpPr/>
          <p:nvPr/>
        </p:nvSpPr>
        <p:spPr>
          <a:xfrm>
            <a:off x="3840480" y="2240280"/>
            <a:ext cx="2468880" cy="1188720"/>
          </a:xfrm>
          <a:prstGeom prst="roundRect">
            <a:avLst>
              <a:gd name="adj" fmla="val 7692"/>
            </a:avLst>
          </a:prstGeom>
          <a:solidFill>
            <a:srgbClr val="FFFFFF"/>
          </a:solidFill>
          <a:ln w="12700">
            <a:solidFill>
              <a:srgbClr val="E3DCCF"/>
            </a:solidFill>
            <a:prstDash val="solid"/>
          </a:ln>
        </p:spPr>
      </p:sp>
      <p:sp>
        <p:nvSpPr>
          <p:cNvPr id="7" name="Text 5"/>
          <p:cNvSpPr/>
          <p:nvPr/>
        </p:nvSpPr>
        <p:spPr>
          <a:xfrm>
            <a:off x="3840480" y="2240280"/>
            <a:ext cx="2468880" cy="1188720"/>
          </a:xfrm>
          <a:prstGeom prst="rect">
            <a:avLst/>
          </a:prstGeom>
          <a:noFill/>
          <a:ln/>
        </p:spPr>
        <p:txBody>
          <a:bodyPr wrap="square" rtlCol="0" anchor="ctr"/>
          <a:lstStyle/>
          <a:p>
            <a:pPr algn="ctr" indent="0" marL="0">
              <a:buNone/>
            </a:pPr>
            <a:r>
              <a:rPr lang="en-US" sz="1800" b="1" dirty="0">
                <a:solidFill>
                  <a:srgbClr val="1A1A1A"/>
                </a:solidFill>
                <a:latin typeface="Segoe UI" pitchFamily="34" charset="0"/>
                <a:ea typeface="Segoe UI" pitchFamily="34" charset="-122"/>
                <a:cs typeface="Segoe UI" pitchFamily="34" charset="-120"/>
              </a:rPr>
              <a:t>Android</a:t>
            </a:r>
            <a:endParaRPr lang="en-US" sz="1800" dirty="0"/>
          </a:p>
        </p:txBody>
      </p:sp>
      <p:sp>
        <p:nvSpPr>
          <p:cNvPr id="8" name="Shape 6"/>
          <p:cNvSpPr/>
          <p:nvPr/>
        </p:nvSpPr>
        <p:spPr>
          <a:xfrm>
            <a:off x="6583680" y="2240280"/>
            <a:ext cx="2468880" cy="1188720"/>
          </a:xfrm>
          <a:prstGeom prst="roundRect">
            <a:avLst>
              <a:gd name="adj" fmla="val 7692"/>
            </a:avLst>
          </a:prstGeom>
          <a:solidFill>
            <a:srgbClr val="FFFFFF"/>
          </a:solidFill>
          <a:ln w="12700">
            <a:solidFill>
              <a:srgbClr val="E3DCCF"/>
            </a:solidFill>
            <a:prstDash val="solid"/>
          </a:ln>
        </p:spPr>
      </p:sp>
      <p:sp>
        <p:nvSpPr>
          <p:cNvPr id="9" name="Text 7"/>
          <p:cNvSpPr/>
          <p:nvPr/>
        </p:nvSpPr>
        <p:spPr>
          <a:xfrm>
            <a:off x="6583680" y="2240280"/>
            <a:ext cx="2468880" cy="1188720"/>
          </a:xfrm>
          <a:prstGeom prst="rect">
            <a:avLst/>
          </a:prstGeom>
          <a:noFill/>
          <a:ln/>
        </p:spPr>
        <p:txBody>
          <a:bodyPr wrap="square" rtlCol="0" anchor="ctr"/>
          <a:lstStyle/>
          <a:p>
            <a:pPr algn="ctr" indent="0" marL="0">
              <a:buNone/>
            </a:pPr>
            <a:r>
              <a:rPr lang="en-US" sz="1800" b="1" dirty="0">
                <a:solidFill>
                  <a:srgbClr val="1A1A1A"/>
                </a:solidFill>
                <a:latin typeface="Segoe UI" pitchFamily="34" charset="0"/>
                <a:ea typeface="Segoe UI" pitchFamily="34" charset="-122"/>
                <a:cs typeface="Segoe UI" pitchFamily="34" charset="-120"/>
              </a:rPr>
              <a:t>iOS</a:t>
            </a:r>
            <a:endParaRPr lang="en-US" sz="1800" dirty="0"/>
          </a:p>
        </p:txBody>
      </p:sp>
      <p:sp>
        <p:nvSpPr>
          <p:cNvPr id="10" name="Shape 8"/>
          <p:cNvSpPr/>
          <p:nvPr/>
        </p:nvSpPr>
        <p:spPr>
          <a:xfrm>
            <a:off x="9326880" y="2240280"/>
            <a:ext cx="2468880" cy="1188720"/>
          </a:xfrm>
          <a:prstGeom prst="roundRect">
            <a:avLst>
              <a:gd name="adj" fmla="val 7692"/>
            </a:avLst>
          </a:prstGeom>
          <a:solidFill>
            <a:srgbClr val="FFFFFF"/>
          </a:solidFill>
          <a:ln w="12700">
            <a:solidFill>
              <a:srgbClr val="E3DCCF"/>
            </a:solidFill>
            <a:prstDash val="solid"/>
          </a:ln>
        </p:spPr>
      </p:sp>
      <p:sp>
        <p:nvSpPr>
          <p:cNvPr id="11" name="Text 9"/>
          <p:cNvSpPr/>
          <p:nvPr/>
        </p:nvSpPr>
        <p:spPr>
          <a:xfrm>
            <a:off x="9326880" y="2240280"/>
            <a:ext cx="2468880" cy="1188720"/>
          </a:xfrm>
          <a:prstGeom prst="rect">
            <a:avLst/>
          </a:prstGeom>
          <a:noFill/>
          <a:ln/>
        </p:spPr>
        <p:txBody>
          <a:bodyPr wrap="square" rtlCol="0" anchor="ctr"/>
          <a:lstStyle/>
          <a:p>
            <a:pPr algn="ctr" indent="0" marL="0">
              <a:buNone/>
            </a:pPr>
            <a:r>
              <a:rPr lang="en-US" sz="1800" b="1" dirty="0">
                <a:solidFill>
                  <a:srgbClr val="1A1A1A"/>
                </a:solidFill>
                <a:latin typeface="Segoe UI" pitchFamily="34" charset="0"/>
                <a:ea typeface="Segoe UI" pitchFamily="34" charset="-122"/>
                <a:cs typeface="Segoe UI" pitchFamily="34" charset="-120"/>
              </a:rPr>
              <a:t>Web</a:t>
            </a:r>
            <a:endParaRPr lang="en-US" sz="1800" dirty="0"/>
          </a:p>
        </p:txBody>
      </p:sp>
      <p:sp>
        <p:nvSpPr>
          <p:cNvPr id="12" name="Shape 10"/>
          <p:cNvSpPr/>
          <p:nvPr/>
        </p:nvSpPr>
        <p:spPr>
          <a:xfrm>
            <a:off x="3840480" y="3703320"/>
            <a:ext cx="2468880" cy="1188720"/>
          </a:xfrm>
          <a:prstGeom prst="roundRect">
            <a:avLst>
              <a:gd name="adj" fmla="val 7692"/>
            </a:avLst>
          </a:prstGeom>
          <a:solidFill>
            <a:srgbClr val="FFFFFF"/>
          </a:solidFill>
          <a:ln w="12700">
            <a:solidFill>
              <a:srgbClr val="E3DCCF"/>
            </a:solidFill>
            <a:prstDash val="solid"/>
          </a:ln>
        </p:spPr>
      </p:sp>
      <p:sp>
        <p:nvSpPr>
          <p:cNvPr id="13" name="Text 11"/>
          <p:cNvSpPr/>
          <p:nvPr/>
        </p:nvSpPr>
        <p:spPr>
          <a:xfrm>
            <a:off x="3840480" y="3703320"/>
            <a:ext cx="2468880" cy="1188720"/>
          </a:xfrm>
          <a:prstGeom prst="rect">
            <a:avLst/>
          </a:prstGeom>
          <a:noFill/>
          <a:ln/>
        </p:spPr>
        <p:txBody>
          <a:bodyPr wrap="square" rtlCol="0" anchor="ctr"/>
          <a:lstStyle/>
          <a:p>
            <a:pPr algn="ctr" indent="0" marL="0">
              <a:buNone/>
            </a:pPr>
            <a:r>
              <a:rPr lang="en-US" sz="1800" b="1" dirty="0">
                <a:solidFill>
                  <a:srgbClr val="1A1A1A"/>
                </a:solidFill>
                <a:latin typeface="Segoe UI" pitchFamily="34" charset="0"/>
                <a:ea typeface="Segoe UI" pitchFamily="34" charset="-122"/>
                <a:cs typeface="Segoe UI" pitchFamily="34" charset="-120"/>
              </a:rPr>
              <a:t>Windows</a:t>
            </a:r>
            <a:endParaRPr lang="en-US" sz="1800" dirty="0"/>
          </a:p>
        </p:txBody>
      </p:sp>
      <p:sp>
        <p:nvSpPr>
          <p:cNvPr id="14" name="Shape 12"/>
          <p:cNvSpPr/>
          <p:nvPr/>
        </p:nvSpPr>
        <p:spPr>
          <a:xfrm>
            <a:off x="6583680" y="3703320"/>
            <a:ext cx="2468880" cy="1188720"/>
          </a:xfrm>
          <a:prstGeom prst="roundRect">
            <a:avLst>
              <a:gd name="adj" fmla="val 7692"/>
            </a:avLst>
          </a:prstGeom>
          <a:solidFill>
            <a:srgbClr val="FFFFFF"/>
          </a:solidFill>
          <a:ln w="12700">
            <a:solidFill>
              <a:srgbClr val="E3DCCF"/>
            </a:solidFill>
            <a:prstDash val="solid"/>
          </a:ln>
        </p:spPr>
      </p:sp>
      <p:sp>
        <p:nvSpPr>
          <p:cNvPr id="15" name="Text 13"/>
          <p:cNvSpPr/>
          <p:nvPr/>
        </p:nvSpPr>
        <p:spPr>
          <a:xfrm>
            <a:off x="6583680" y="3703320"/>
            <a:ext cx="2468880" cy="1188720"/>
          </a:xfrm>
          <a:prstGeom prst="rect">
            <a:avLst/>
          </a:prstGeom>
          <a:noFill/>
          <a:ln/>
        </p:spPr>
        <p:txBody>
          <a:bodyPr wrap="square" rtlCol="0" anchor="ctr"/>
          <a:lstStyle/>
          <a:p>
            <a:pPr algn="ctr" indent="0" marL="0">
              <a:buNone/>
            </a:pPr>
            <a:r>
              <a:rPr lang="en-US" sz="1800" b="1" dirty="0">
                <a:solidFill>
                  <a:srgbClr val="1A1A1A"/>
                </a:solidFill>
                <a:latin typeface="Segoe UI" pitchFamily="34" charset="0"/>
                <a:ea typeface="Segoe UI" pitchFamily="34" charset="-122"/>
                <a:cs typeface="Segoe UI" pitchFamily="34" charset="-120"/>
              </a:rPr>
              <a:t>macOS</a:t>
            </a:r>
            <a:endParaRPr lang="en-US" sz="1800" dirty="0"/>
          </a:p>
        </p:txBody>
      </p:sp>
      <p:sp>
        <p:nvSpPr>
          <p:cNvPr id="16" name="Shape 14"/>
          <p:cNvSpPr/>
          <p:nvPr/>
        </p:nvSpPr>
        <p:spPr>
          <a:xfrm>
            <a:off x="9326880" y="3703320"/>
            <a:ext cx="2468880" cy="1188720"/>
          </a:xfrm>
          <a:prstGeom prst="roundRect">
            <a:avLst>
              <a:gd name="adj" fmla="val 7692"/>
            </a:avLst>
          </a:prstGeom>
          <a:solidFill>
            <a:srgbClr val="FFFFFF"/>
          </a:solidFill>
          <a:ln w="12700">
            <a:solidFill>
              <a:srgbClr val="E3DCCF"/>
            </a:solidFill>
            <a:prstDash val="solid"/>
          </a:ln>
        </p:spPr>
      </p:sp>
      <p:sp>
        <p:nvSpPr>
          <p:cNvPr id="17" name="Text 15"/>
          <p:cNvSpPr/>
          <p:nvPr/>
        </p:nvSpPr>
        <p:spPr>
          <a:xfrm>
            <a:off x="9326880" y="3703320"/>
            <a:ext cx="2468880" cy="1188720"/>
          </a:xfrm>
          <a:prstGeom prst="rect">
            <a:avLst/>
          </a:prstGeom>
          <a:noFill/>
          <a:ln/>
        </p:spPr>
        <p:txBody>
          <a:bodyPr wrap="square" rtlCol="0" anchor="ctr"/>
          <a:lstStyle/>
          <a:p>
            <a:pPr algn="ctr" indent="0" marL="0">
              <a:buNone/>
            </a:pPr>
            <a:r>
              <a:rPr lang="en-US" sz="1800" b="1" dirty="0">
                <a:solidFill>
                  <a:srgbClr val="1A1A1A"/>
                </a:solidFill>
                <a:latin typeface="Segoe UI" pitchFamily="34" charset="0"/>
                <a:ea typeface="Segoe UI" pitchFamily="34" charset="-122"/>
                <a:cs typeface="Segoe UI" pitchFamily="34" charset="-120"/>
              </a:rPr>
              <a:t>Linux</a:t>
            </a:r>
            <a:endParaRPr lang="en-US" sz="1800" dirty="0"/>
          </a:p>
        </p:txBody>
      </p:sp>
      <p:sp>
        <p:nvSpPr>
          <p:cNvPr id="18" name="Text 16"/>
          <p:cNvSpPr/>
          <p:nvPr/>
        </p:nvSpPr>
        <p:spPr>
          <a:xfrm>
            <a:off x="566928" y="5486400"/>
            <a:ext cx="10972800" cy="457200"/>
          </a:xfrm>
          <a:prstGeom prst="rect">
            <a:avLst/>
          </a:prstGeom>
          <a:noFill/>
          <a:ln/>
        </p:spPr>
        <p:txBody>
          <a:bodyPr wrap="square" rtlCol="0" anchor="ctr"/>
          <a:lstStyle/>
          <a:p>
            <a:pPr indent="0" marL="0">
              <a:buNone/>
            </a:pPr>
            <a:r>
              <a:rPr lang="en-US" sz="1400" i="1" dirty="0">
                <a:solidFill>
                  <a:srgbClr val="9A9285"/>
                </a:solidFill>
                <a:latin typeface="Segoe UI" pitchFamily="34" charset="0"/>
                <a:ea typeface="Segoe UI" pitchFamily="34" charset="-122"/>
                <a:cs typeface="Segoe UI" pitchFamily="34" charset="-120"/>
              </a:rPr>
              <a:t>25+ screens · 11 repositories · 25 services · offline-first stale-while-revalidate cache over SQLite</a:t>
            </a:r>
            <a:endParaRPr lang="en-US" sz="1400" dirty="0"/>
          </a:p>
        </p:txBody>
      </p:sp>
      <p:sp>
        <p:nvSpPr>
          <p:cNvPr id="19" name="Text 17"/>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0" name="Text 18"/>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19</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par>
                    <p:cTn id="142" presetID="10" presetClass="entr" presetSubtype="0" fill="hold" grpId="0" nodeType="afterEffect">
                      <p:stCondLst>
                        <p:cond delay="1680"/>
                      </p:stCondLst>
                      <p:childTnLst>
                        <p:set>
                          <p:cBhvr>
                            <p:cTn id="143" dur="1" fill="hold">
                              <p:stCondLst>
                                <p:cond delay="0"/>
                              </p:stCondLst>
                            </p:cTn>
                            <p:tgtEl>
                              <p:spTgt spid="16"/>
                            </p:tgtEl>
                            <p:attrNameLst>
                              <p:attrName>style.visibility</p:attrName>
                            </p:attrNameLst>
                          </p:cBhvr>
                          <p:to>
                            <p:strVal val="visible"/>
                          </p:to>
                        </p:set>
                        <p:animEffect transition="in" filter="fade">
                          <p:cBhvr>
                            <p:cTn id="144" dur="450"/>
                            <p:tgtEl>
                              <p:spTgt spid="16"/>
                            </p:tgtEl>
                          </p:cBhvr>
                        </p:animEffect>
                      </p:childTnLst>
                    </p:cTn>
                  </p:par>
                  <p:par>
                    <p:cTn id="145" presetID="10" presetClass="entr" presetSubtype="0" fill="hold" grpId="0" nodeType="afterEffect">
                      <p:stCondLst>
                        <p:cond delay="1800"/>
                      </p:stCondLst>
                      <p:childTnLst>
                        <p:set>
                          <p:cBhvr>
                            <p:cTn id="146" dur="1" fill="hold">
                              <p:stCondLst>
                                <p:cond delay="0"/>
                              </p:stCondLst>
                            </p:cTn>
                            <p:tgtEl>
                              <p:spTgt spid="17"/>
                            </p:tgtEl>
                            <p:attrNameLst>
                              <p:attrName>style.visibility</p:attrName>
                            </p:attrNameLst>
                          </p:cBhvr>
                          <p:to>
                            <p:strVal val="visible"/>
                          </p:to>
                        </p:set>
                        <p:animEffect transition="in" filter="fade">
                          <p:cBhvr>
                            <p:cTn id="147" dur="450"/>
                            <p:tgtEl>
                              <p:spTgt spid="17"/>
                            </p:tgtEl>
                          </p:cBhvr>
                        </p:animEffect>
                      </p:childTnLst>
                    </p:cTn>
                  </p:par>
                  <p:par>
                    <p:cTn id="148" presetID="10" presetClass="entr" presetSubtype="0" fill="hold" grpId="0" nodeType="afterEffect">
                      <p:stCondLst>
                        <p:cond delay="1920"/>
                      </p:stCondLst>
                      <p:childTnLst>
                        <p:set>
                          <p:cBhvr>
                            <p:cTn id="149" dur="1" fill="hold">
                              <p:stCondLst>
                                <p:cond delay="0"/>
                              </p:stCondLst>
                            </p:cTn>
                            <p:tgtEl>
                              <p:spTgt spid="18"/>
                            </p:tgtEl>
                            <p:attrNameLst>
                              <p:attrName>style.visibility</p:attrName>
                            </p:attrNameLst>
                          </p:cBhvr>
                          <p:to>
                            <p:strVal val="visible"/>
                          </p:to>
                        </p:set>
                        <p:animEffect transition="in" filter="fade">
                          <p:cBhvr>
                            <p:cTn id="150" dur="450"/>
                            <p:tgtEl>
                              <p:spTgt spid="18"/>
                            </p:tgtEl>
                          </p:cBhvr>
                        </p:animEffect>
                      </p:childTnLst>
                    </p:cTn>
                  </p:par>
                  <p:par>
                    <p:cTn id="151" presetID="10" presetClass="entr" presetSubtype="0" fill="hold" grpId="0" nodeType="afterEffect">
                      <p:stCondLst>
                        <p:cond delay="2040"/>
                      </p:stCondLst>
                      <p:childTnLst>
                        <p:set>
                          <p:cBhvr>
                            <p:cTn id="152" dur="1" fill="hold">
                              <p:stCondLst>
                                <p:cond delay="0"/>
                              </p:stCondLst>
                            </p:cTn>
                            <p:tgtEl>
                              <p:spTgt spid="19"/>
                            </p:tgtEl>
                            <p:attrNameLst>
                              <p:attrName>style.visibility</p:attrName>
                            </p:attrNameLst>
                          </p:cBhvr>
                          <p:to>
                            <p:strVal val="visible"/>
                          </p:to>
                        </p:set>
                        <p:animEffect transition="in" filter="fade">
                          <p:cBhvr>
                            <p:cTn id="153" dur="450"/>
                            <p:tgtEl>
                              <p:spTgt spid="19"/>
                            </p:tgtEl>
                          </p:cBhvr>
                        </p:animEffect>
                      </p:childTnLst>
                    </p:cTn>
                  </p:par>
                  <p:par>
                    <p:cTn id="154" presetID="10" presetClass="entr" presetSubtype="0" fill="hold" grpId="0" nodeType="afterEffect">
                      <p:stCondLst>
                        <p:cond delay="2160"/>
                      </p:stCondLst>
                      <p:childTnLst>
                        <p:set>
                          <p:cBhvr>
                            <p:cTn id="155" dur="1" fill="hold">
                              <p:stCondLst>
                                <p:cond delay="0"/>
                              </p:stCondLst>
                            </p:cTn>
                            <p:tgtEl>
                              <p:spTgt spid="20"/>
                            </p:tgtEl>
                            <p:attrNameLst>
                              <p:attrName>style.visibility</p:attrName>
                            </p:attrNameLst>
                          </p:cBhvr>
                          <p:to>
                            <p:strVal val="visible"/>
                          </p:to>
                        </p:set>
                        <p:animEffect transition="in" filter="fade">
                          <p:cBhvr>
                            <p:cTn id="156" dur="450"/>
                            <p:tgtEl>
                              <p:spTgt spid="20"/>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WHY FLUTTER</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Why not native or React Native?</a:t>
            </a:r>
            <a:endParaRPr lang="en-US" sz="3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2286000"/>
          <a:ext cx="11064240" cy="914400"/>
        </p:xfrm>
        <a:graphic>
          <a:graphicData uri="http://schemas.openxmlformats.org/drawingml/2006/table">
            <a:tbl>
              <a:tblPr/>
              <a:tblGrid>
                <a:gridCol w="2743200"/>
                <a:gridCol w="1828800"/>
                <a:gridCol w="6492240"/>
              </a:tblGrid>
              <a:tr h="548640">
                <a:tc>
                  <a:txBody>
                    <a:bodyPr/>
                    <a:lstStyle/>
                    <a:p>
                      <a:pPr indent="0" marL="0">
                        <a:buNone/>
                      </a:pPr>
                      <a:r>
                        <a:rPr lang="en-US" sz="1500" b="1" dirty="0">
                          <a:solidFill>
                            <a:srgbClr val="FFFFFF"/>
                          </a:solidFill>
                          <a:latin typeface="Segoe UI" pitchFamily="34" charset="0"/>
                          <a:ea typeface="Segoe UI" pitchFamily="34" charset="-122"/>
                          <a:cs typeface="Segoe UI" pitchFamily="34" charset="-120"/>
                        </a:rPr>
                        <a:t>Approach</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0E7C86"/>
                    </a:solidFill>
                  </a:tcPr>
                </a:tc>
                <a:tc>
                  <a:txBody>
                    <a:bodyPr/>
                    <a:lstStyle/>
                    <a:p>
                      <a:pPr indent="0" marL="0">
                        <a:buNone/>
                      </a:pPr>
                      <a:r>
                        <a:rPr lang="en-US" sz="1500" b="1" dirty="0">
                          <a:solidFill>
                            <a:srgbClr val="FFFFFF"/>
                          </a:solidFill>
                          <a:latin typeface="Segoe UI" pitchFamily="34" charset="0"/>
                          <a:ea typeface="Segoe UI" pitchFamily="34" charset="-122"/>
                          <a:cs typeface="Segoe UI" pitchFamily="34" charset="-120"/>
                        </a:rPr>
                        <a:t>Verdict</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0E7C86"/>
                    </a:solidFill>
                  </a:tcPr>
                </a:tc>
                <a:tc>
                  <a:txBody>
                    <a:bodyPr/>
                    <a:lstStyle/>
                    <a:p>
                      <a:pPr indent="0" marL="0">
                        <a:buNone/>
                      </a:pPr>
                      <a:r>
                        <a:rPr lang="en-US" sz="1500" b="1" dirty="0">
                          <a:solidFill>
                            <a:srgbClr val="FFFFFF"/>
                          </a:solidFill>
                          <a:latin typeface="Segoe UI" pitchFamily="34" charset="0"/>
                          <a:ea typeface="Segoe UI" pitchFamily="34" charset="-122"/>
                          <a:cs typeface="Segoe UI" pitchFamily="34" charset="-120"/>
                        </a:rPr>
                        <a:t>Why</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0E7C86"/>
                    </a:solidFill>
                  </a:tcPr>
                </a:tc>
              </a:tr>
              <a:tr h="777240">
                <a:tc>
                  <a:txBody>
                    <a:bodyPr/>
                    <a:lstStyle/>
                    <a:p>
                      <a:pPr algn="l" indent="0" marL="0">
                        <a:buNone/>
                      </a:pPr>
                      <a:r>
                        <a:rPr lang="en-US" sz="1550" b="1" dirty="0">
                          <a:solidFill>
                            <a:srgbClr val="1A1A1A"/>
                          </a:solidFill>
                          <a:latin typeface="Segoe UI" pitchFamily="34" charset="0"/>
                          <a:ea typeface="Segoe UI" pitchFamily="34" charset="-122"/>
                          <a:cs typeface="Segoe UI" pitchFamily="34" charset="-120"/>
                        </a:rPr>
                        <a:t>Flutter</a:t>
                      </a:r>
                      <a:endParaRPr lang="en-US" sz="155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0EBE1"/>
                    </a:solidFill>
                  </a:tcPr>
                </a:tc>
                <a:tc>
                  <a:txBody>
                    <a:bodyPr/>
                    <a:lstStyle/>
                    <a:p>
                      <a:pPr algn="ctr" indent="0" marL="0">
                        <a:buNone/>
                      </a:pPr>
                      <a:r>
                        <a:rPr lang="en-US" sz="1550" dirty="0">
                          <a:solidFill>
                            <a:srgbClr val="2F8F5B"/>
                          </a:solidFill>
                          <a:latin typeface="Segoe UI" pitchFamily="34" charset="0"/>
                          <a:ea typeface="Segoe UI" pitchFamily="34" charset="-122"/>
                          <a:cs typeface="Segoe UI" pitchFamily="34" charset="-120"/>
                        </a:rPr>
                        <a:t>✓ Chosen</a:t>
                      </a:r>
                      <a:endParaRPr lang="en-US" sz="155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0EBE1"/>
                    </a:solidFill>
                  </a:tcPr>
                </a:tc>
                <a:tc>
                  <a:txBody>
                    <a:bodyPr/>
                    <a:lstStyle/>
                    <a:p>
                      <a:pPr algn="l" indent="0" marL="0">
                        <a:buNone/>
                      </a:pPr>
                      <a:r>
                        <a:rPr lang="en-US" sz="1550" dirty="0">
                          <a:solidFill>
                            <a:srgbClr val="1A1A1A"/>
                          </a:solidFill>
                          <a:latin typeface="Segoe UI" pitchFamily="34" charset="0"/>
                          <a:ea typeface="Segoe UI" pitchFamily="34" charset="-122"/>
                          <a:cs typeface="Segoe UI" pitchFamily="34" charset="-120"/>
                        </a:rPr>
                        <a:t>One Dart codebase, true desktop, 60fps custom UI</a:t>
                      </a:r>
                      <a:endParaRPr lang="en-US" sz="155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0EBE1"/>
                    </a:solidFill>
                  </a:tcPr>
                </a:tc>
              </a:tr>
              <a:tr h="777240">
                <a:tc>
                  <a:txBody>
                    <a:bodyPr/>
                    <a:lstStyle/>
                    <a:p>
                      <a:pPr algn="l" indent="0" marL="0">
                        <a:buNone/>
                      </a:pPr>
                      <a:r>
                        <a:rPr lang="en-US" sz="1550" b="1" dirty="0">
                          <a:solidFill>
                            <a:srgbClr val="1A1A1A"/>
                          </a:solidFill>
                          <a:latin typeface="Segoe UI" pitchFamily="34" charset="0"/>
                          <a:ea typeface="Segoe UI" pitchFamily="34" charset="-122"/>
                          <a:cs typeface="Segoe UI" pitchFamily="34" charset="-120"/>
                        </a:rPr>
                        <a:t>Native (×2)</a:t>
                      </a:r>
                      <a:endParaRPr lang="en-US" sz="155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FFFFF"/>
                    </a:solidFill>
                  </a:tcPr>
                </a:tc>
                <a:tc>
                  <a:txBody>
                    <a:bodyPr/>
                    <a:lstStyle/>
                    <a:p>
                      <a:pPr algn="ctr" indent="0" marL="0">
                        <a:buNone/>
                      </a:pPr>
                      <a:r>
                        <a:rPr lang="en-US" sz="1550" dirty="0">
                          <a:solidFill>
                            <a:srgbClr val="C0492F"/>
                          </a:solidFill>
                          <a:latin typeface="Segoe UI" pitchFamily="34" charset="0"/>
                          <a:ea typeface="Segoe UI" pitchFamily="34" charset="-122"/>
                          <a:cs typeface="Segoe UI" pitchFamily="34" charset="-120"/>
                        </a:rPr>
                        <a:t>✕</a:t>
                      </a:r>
                      <a:endParaRPr lang="en-US" sz="155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FFFFF"/>
                    </a:solidFill>
                  </a:tcPr>
                </a:tc>
                <a:tc>
                  <a:txBody>
                    <a:bodyPr/>
                    <a:lstStyle/>
                    <a:p>
                      <a:pPr algn="l" indent="0" marL="0">
                        <a:buNone/>
                      </a:pPr>
                      <a:r>
                        <a:rPr lang="en-US" sz="1550" dirty="0">
                          <a:solidFill>
                            <a:srgbClr val="1A1A1A"/>
                          </a:solidFill>
                          <a:latin typeface="Segoe UI" pitchFamily="34" charset="0"/>
                          <a:ea typeface="Segoe UI" pitchFamily="34" charset="-122"/>
                          <a:cs typeface="Segoe UI" pitchFamily="34" charset="-120"/>
                        </a:rPr>
                        <a:t>Two-person team can't build &amp; maintain 6 native apps</a:t>
                      </a:r>
                      <a:endParaRPr lang="en-US" sz="155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FFFFF"/>
                    </a:solidFill>
                  </a:tcPr>
                </a:tc>
              </a:tr>
              <a:tr h="777240">
                <a:tc>
                  <a:txBody>
                    <a:bodyPr/>
                    <a:lstStyle/>
                    <a:p>
                      <a:pPr algn="l" indent="0" marL="0">
                        <a:buNone/>
                      </a:pPr>
                      <a:r>
                        <a:rPr lang="en-US" sz="1550" b="1" dirty="0">
                          <a:solidFill>
                            <a:srgbClr val="1A1A1A"/>
                          </a:solidFill>
                          <a:latin typeface="Segoe UI" pitchFamily="34" charset="0"/>
                          <a:ea typeface="Segoe UI" pitchFamily="34" charset="-122"/>
                          <a:cs typeface="Segoe UI" pitchFamily="34" charset="-120"/>
                        </a:rPr>
                        <a:t>React Native</a:t>
                      </a:r>
                      <a:endParaRPr lang="en-US" sz="155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0EBE1"/>
                    </a:solidFill>
                  </a:tcPr>
                </a:tc>
                <a:tc>
                  <a:txBody>
                    <a:bodyPr/>
                    <a:lstStyle/>
                    <a:p>
                      <a:pPr algn="ctr" indent="0" marL="0">
                        <a:buNone/>
                      </a:pPr>
                      <a:r>
                        <a:rPr lang="en-US" sz="1550" dirty="0">
                          <a:solidFill>
                            <a:srgbClr val="C0492F"/>
                          </a:solidFill>
                          <a:latin typeface="Segoe UI" pitchFamily="34" charset="0"/>
                          <a:ea typeface="Segoe UI" pitchFamily="34" charset="-122"/>
                          <a:cs typeface="Segoe UI" pitchFamily="34" charset="-120"/>
                        </a:rPr>
                        <a:t>✕</a:t>
                      </a:r>
                      <a:endParaRPr lang="en-US" sz="155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0EBE1"/>
                    </a:solidFill>
                  </a:tcPr>
                </a:tc>
                <a:tc>
                  <a:txBody>
                    <a:bodyPr/>
                    <a:lstStyle/>
                    <a:p>
                      <a:pPr algn="l" indent="0" marL="0">
                        <a:buNone/>
                      </a:pPr>
                      <a:r>
                        <a:rPr lang="en-US" sz="1550" dirty="0">
                          <a:solidFill>
                            <a:srgbClr val="1A1A1A"/>
                          </a:solidFill>
                          <a:latin typeface="Segoe UI" pitchFamily="34" charset="0"/>
                          <a:ea typeface="Segoe UI" pitchFamily="34" charset="-122"/>
                          <a:cs typeface="Segoe UI" pitchFamily="34" charset="-120"/>
                        </a:rPr>
                        <a:t>JS-bridge overhead, weak desktop story</a:t>
                      </a:r>
                      <a:endParaRPr lang="en-US" sz="155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0EBE1"/>
                    </a:solidFill>
                  </a:tcPr>
                </a:tc>
              </a:tr>
            </a:tbl>
          </a:graphicData>
        </a:graphic>
      </p:graphicFrame>
      <p:sp>
        <p:nvSpPr>
          <p:cNvPr id="5" name="Text 2"/>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6" name="Text 3"/>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20</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22"/>
                            </p:tgtEl>
                            <p:attrNameLst>
                              <p:attrName>style.visibility</p:attrName>
                            </p:attrNameLst>
                          </p:cBhvr>
                          <p:to>
                            <p:strVal val="visible"/>
                          </p:to>
                        </p:set>
                        <p:animEffect transition="in" filter="fade">
                          <p:cBhvr>
                            <p:cTn id="108" dur="450"/>
                            <p:tgtEl>
                              <p:spTgt spid="22"/>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THE BACKEND BRAIN</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Async, top to bottom — 40+ endpoints under /v1.</a:t>
            </a:r>
            <a:endParaRPr lang="en-US" sz="3300" dirty="0"/>
          </a:p>
        </p:txBody>
      </p:sp>
      <p:sp>
        <p:nvSpPr>
          <p:cNvPr id="4" name="Shape 2"/>
          <p:cNvSpPr/>
          <p:nvPr/>
        </p:nvSpPr>
        <p:spPr>
          <a:xfrm>
            <a:off x="566928" y="2286000"/>
            <a:ext cx="2560320" cy="594360"/>
          </a:xfrm>
          <a:prstGeom prst="roundRect">
            <a:avLst>
              <a:gd name="adj" fmla="val 49231"/>
            </a:avLst>
          </a:prstGeom>
          <a:solidFill>
            <a:srgbClr val="FFFFFF"/>
          </a:solidFill>
          <a:ln w="12700">
            <a:solidFill>
              <a:srgbClr val="0E7C86"/>
            </a:solidFill>
            <a:prstDash val="solid"/>
          </a:ln>
        </p:spPr>
      </p:sp>
      <p:sp>
        <p:nvSpPr>
          <p:cNvPr id="5" name="Text 3"/>
          <p:cNvSpPr/>
          <p:nvPr/>
        </p:nvSpPr>
        <p:spPr>
          <a:xfrm>
            <a:off x="566928" y="2286000"/>
            <a:ext cx="2560320" cy="594360"/>
          </a:xfrm>
          <a:prstGeom prst="rect">
            <a:avLst/>
          </a:prstGeom>
          <a:noFill/>
          <a:ln/>
        </p:spPr>
        <p:txBody>
          <a:bodyPr wrap="square" rtlCol="0" anchor="ctr"/>
          <a:lstStyle/>
          <a:p>
            <a:pPr algn="ctr" indent="0" marL="0">
              <a:buNone/>
            </a:pPr>
            <a:r>
              <a:rPr lang="en-US" sz="1450" b="1" dirty="0">
                <a:solidFill>
                  <a:srgbClr val="0A5159"/>
                </a:solidFill>
                <a:latin typeface="Segoe UI" pitchFamily="34" charset="0"/>
                <a:ea typeface="Segoe UI" pitchFamily="34" charset="-122"/>
                <a:cs typeface="Segoe UI" pitchFamily="34" charset="-120"/>
              </a:rPr>
              <a:t>Sessions</a:t>
            </a:r>
            <a:endParaRPr lang="en-US" sz="1450" dirty="0"/>
          </a:p>
        </p:txBody>
      </p:sp>
      <p:sp>
        <p:nvSpPr>
          <p:cNvPr id="6" name="Shape 4"/>
          <p:cNvSpPr/>
          <p:nvPr/>
        </p:nvSpPr>
        <p:spPr>
          <a:xfrm>
            <a:off x="3310128" y="2286000"/>
            <a:ext cx="2560320" cy="594360"/>
          </a:xfrm>
          <a:prstGeom prst="roundRect">
            <a:avLst>
              <a:gd name="adj" fmla="val 49231"/>
            </a:avLst>
          </a:prstGeom>
          <a:solidFill>
            <a:srgbClr val="E4EFEF"/>
          </a:solidFill>
          <a:ln w="12700">
            <a:solidFill>
              <a:srgbClr val="0E7C86"/>
            </a:solidFill>
            <a:prstDash val="solid"/>
          </a:ln>
        </p:spPr>
      </p:sp>
      <p:sp>
        <p:nvSpPr>
          <p:cNvPr id="7" name="Text 5"/>
          <p:cNvSpPr/>
          <p:nvPr/>
        </p:nvSpPr>
        <p:spPr>
          <a:xfrm>
            <a:off x="3310128" y="2286000"/>
            <a:ext cx="2560320" cy="594360"/>
          </a:xfrm>
          <a:prstGeom prst="rect">
            <a:avLst/>
          </a:prstGeom>
          <a:noFill/>
          <a:ln/>
        </p:spPr>
        <p:txBody>
          <a:bodyPr wrap="square" rtlCol="0" anchor="ctr"/>
          <a:lstStyle/>
          <a:p>
            <a:pPr algn="ctr" indent="0" marL="0">
              <a:buNone/>
            </a:pPr>
            <a:r>
              <a:rPr lang="en-US" sz="1450" b="1" dirty="0">
                <a:solidFill>
                  <a:srgbClr val="0A5159"/>
                </a:solidFill>
                <a:latin typeface="Segoe UI" pitchFamily="34" charset="0"/>
                <a:ea typeface="Segoe UI" pitchFamily="34" charset="-122"/>
                <a:cs typeface="Segoe UI" pitchFamily="34" charset="-120"/>
              </a:rPr>
              <a:t>Wingman</a:t>
            </a:r>
            <a:endParaRPr lang="en-US" sz="1450" dirty="0"/>
          </a:p>
        </p:txBody>
      </p:sp>
      <p:sp>
        <p:nvSpPr>
          <p:cNvPr id="8" name="Shape 6"/>
          <p:cNvSpPr/>
          <p:nvPr/>
        </p:nvSpPr>
        <p:spPr>
          <a:xfrm>
            <a:off x="6053328" y="2286000"/>
            <a:ext cx="2560320" cy="594360"/>
          </a:xfrm>
          <a:prstGeom prst="roundRect">
            <a:avLst>
              <a:gd name="adj" fmla="val 49231"/>
            </a:avLst>
          </a:prstGeom>
          <a:solidFill>
            <a:srgbClr val="FFFFFF"/>
          </a:solidFill>
          <a:ln w="12700">
            <a:solidFill>
              <a:srgbClr val="0E7C86"/>
            </a:solidFill>
            <a:prstDash val="solid"/>
          </a:ln>
        </p:spPr>
      </p:sp>
      <p:sp>
        <p:nvSpPr>
          <p:cNvPr id="9" name="Text 7"/>
          <p:cNvSpPr/>
          <p:nvPr/>
        </p:nvSpPr>
        <p:spPr>
          <a:xfrm>
            <a:off x="6053328" y="2286000"/>
            <a:ext cx="2560320" cy="594360"/>
          </a:xfrm>
          <a:prstGeom prst="rect">
            <a:avLst/>
          </a:prstGeom>
          <a:noFill/>
          <a:ln/>
        </p:spPr>
        <p:txBody>
          <a:bodyPr wrap="square" rtlCol="0" anchor="ctr"/>
          <a:lstStyle/>
          <a:p>
            <a:pPr algn="ctr" indent="0" marL="0">
              <a:buNone/>
            </a:pPr>
            <a:r>
              <a:rPr lang="en-US" sz="1450" b="1" dirty="0">
                <a:solidFill>
                  <a:srgbClr val="0A5159"/>
                </a:solidFill>
                <a:latin typeface="Segoe UI" pitchFamily="34" charset="0"/>
                <a:ea typeface="Segoe UI" pitchFamily="34" charset="-122"/>
                <a:cs typeface="Segoe UI" pitchFamily="34" charset="-120"/>
              </a:rPr>
              <a:t>Consultant</a:t>
            </a:r>
            <a:endParaRPr lang="en-US" sz="1450" dirty="0"/>
          </a:p>
        </p:txBody>
      </p:sp>
      <p:sp>
        <p:nvSpPr>
          <p:cNvPr id="10" name="Shape 8"/>
          <p:cNvSpPr/>
          <p:nvPr/>
        </p:nvSpPr>
        <p:spPr>
          <a:xfrm>
            <a:off x="8796528" y="2286000"/>
            <a:ext cx="2560320" cy="594360"/>
          </a:xfrm>
          <a:prstGeom prst="roundRect">
            <a:avLst>
              <a:gd name="adj" fmla="val 49231"/>
            </a:avLst>
          </a:prstGeom>
          <a:solidFill>
            <a:srgbClr val="E4EFEF"/>
          </a:solidFill>
          <a:ln w="12700">
            <a:solidFill>
              <a:srgbClr val="0E7C86"/>
            </a:solidFill>
            <a:prstDash val="solid"/>
          </a:ln>
        </p:spPr>
      </p:sp>
      <p:sp>
        <p:nvSpPr>
          <p:cNvPr id="11" name="Text 9"/>
          <p:cNvSpPr/>
          <p:nvPr/>
        </p:nvSpPr>
        <p:spPr>
          <a:xfrm>
            <a:off x="8796528" y="2286000"/>
            <a:ext cx="2560320" cy="594360"/>
          </a:xfrm>
          <a:prstGeom prst="rect">
            <a:avLst/>
          </a:prstGeom>
          <a:noFill/>
          <a:ln/>
        </p:spPr>
        <p:txBody>
          <a:bodyPr wrap="square" rtlCol="0" anchor="ctr"/>
          <a:lstStyle/>
          <a:p>
            <a:pPr algn="ctr" indent="0" marL="0">
              <a:buNone/>
            </a:pPr>
            <a:r>
              <a:rPr lang="en-US" sz="1450" b="1" dirty="0">
                <a:solidFill>
                  <a:srgbClr val="0A5159"/>
                </a:solidFill>
                <a:latin typeface="Segoe UI" pitchFamily="34" charset="0"/>
                <a:ea typeface="Segoe UI" pitchFamily="34" charset="-122"/>
                <a:cs typeface="Segoe UI" pitchFamily="34" charset="-120"/>
              </a:rPr>
              <a:t>Voice</a:t>
            </a:r>
            <a:endParaRPr lang="en-US" sz="1450" dirty="0"/>
          </a:p>
        </p:txBody>
      </p:sp>
      <p:sp>
        <p:nvSpPr>
          <p:cNvPr id="12" name="Shape 10"/>
          <p:cNvSpPr/>
          <p:nvPr/>
        </p:nvSpPr>
        <p:spPr>
          <a:xfrm>
            <a:off x="566928" y="3063240"/>
            <a:ext cx="2560320" cy="594360"/>
          </a:xfrm>
          <a:prstGeom prst="roundRect">
            <a:avLst>
              <a:gd name="adj" fmla="val 49231"/>
            </a:avLst>
          </a:prstGeom>
          <a:solidFill>
            <a:srgbClr val="FFFFFF"/>
          </a:solidFill>
          <a:ln w="12700">
            <a:solidFill>
              <a:srgbClr val="0E7C86"/>
            </a:solidFill>
            <a:prstDash val="solid"/>
          </a:ln>
        </p:spPr>
      </p:sp>
      <p:sp>
        <p:nvSpPr>
          <p:cNvPr id="13" name="Text 11"/>
          <p:cNvSpPr/>
          <p:nvPr/>
        </p:nvSpPr>
        <p:spPr>
          <a:xfrm>
            <a:off x="566928" y="3063240"/>
            <a:ext cx="2560320" cy="594360"/>
          </a:xfrm>
          <a:prstGeom prst="rect">
            <a:avLst/>
          </a:prstGeom>
          <a:noFill/>
          <a:ln/>
        </p:spPr>
        <p:txBody>
          <a:bodyPr wrap="square" rtlCol="0" anchor="ctr"/>
          <a:lstStyle/>
          <a:p>
            <a:pPr algn="ctr" indent="0" marL="0">
              <a:buNone/>
            </a:pPr>
            <a:r>
              <a:rPr lang="en-US" sz="1450" b="1" dirty="0">
                <a:solidFill>
                  <a:srgbClr val="0A5159"/>
                </a:solidFill>
                <a:latin typeface="Segoe UI" pitchFamily="34" charset="0"/>
                <a:ea typeface="Segoe UI" pitchFamily="34" charset="-122"/>
                <a:cs typeface="Segoe UI" pitchFamily="34" charset="-120"/>
              </a:rPr>
              <a:t>Speaker ID</a:t>
            </a:r>
            <a:endParaRPr lang="en-US" sz="1450" dirty="0"/>
          </a:p>
        </p:txBody>
      </p:sp>
      <p:sp>
        <p:nvSpPr>
          <p:cNvPr id="14" name="Shape 12"/>
          <p:cNvSpPr/>
          <p:nvPr/>
        </p:nvSpPr>
        <p:spPr>
          <a:xfrm>
            <a:off x="3310128" y="3063240"/>
            <a:ext cx="2560320" cy="594360"/>
          </a:xfrm>
          <a:prstGeom prst="roundRect">
            <a:avLst>
              <a:gd name="adj" fmla="val 49231"/>
            </a:avLst>
          </a:prstGeom>
          <a:solidFill>
            <a:srgbClr val="E4EFEF"/>
          </a:solidFill>
          <a:ln w="12700">
            <a:solidFill>
              <a:srgbClr val="0E7C86"/>
            </a:solidFill>
            <a:prstDash val="solid"/>
          </a:ln>
        </p:spPr>
      </p:sp>
      <p:sp>
        <p:nvSpPr>
          <p:cNvPr id="15" name="Text 13"/>
          <p:cNvSpPr/>
          <p:nvPr/>
        </p:nvSpPr>
        <p:spPr>
          <a:xfrm>
            <a:off x="3310128" y="3063240"/>
            <a:ext cx="2560320" cy="594360"/>
          </a:xfrm>
          <a:prstGeom prst="rect">
            <a:avLst/>
          </a:prstGeom>
          <a:noFill/>
          <a:ln/>
        </p:spPr>
        <p:txBody>
          <a:bodyPr wrap="square" rtlCol="0" anchor="ctr"/>
          <a:lstStyle/>
          <a:p>
            <a:pPr algn="ctr" indent="0" marL="0">
              <a:buNone/>
            </a:pPr>
            <a:r>
              <a:rPr lang="en-US" sz="1450" b="1" dirty="0">
                <a:solidFill>
                  <a:srgbClr val="0A5159"/>
                </a:solidFill>
                <a:latin typeface="Segoe UI" pitchFamily="34" charset="0"/>
                <a:ea typeface="Segoe UI" pitchFamily="34" charset="-122"/>
                <a:cs typeface="Segoe UI" pitchFamily="34" charset="-120"/>
              </a:rPr>
              <a:t>Grammar</a:t>
            </a:r>
            <a:endParaRPr lang="en-US" sz="1450" dirty="0"/>
          </a:p>
        </p:txBody>
      </p:sp>
      <p:sp>
        <p:nvSpPr>
          <p:cNvPr id="16" name="Shape 14"/>
          <p:cNvSpPr/>
          <p:nvPr/>
        </p:nvSpPr>
        <p:spPr>
          <a:xfrm>
            <a:off x="6053328" y="3063240"/>
            <a:ext cx="2560320" cy="594360"/>
          </a:xfrm>
          <a:prstGeom prst="roundRect">
            <a:avLst>
              <a:gd name="adj" fmla="val 49231"/>
            </a:avLst>
          </a:prstGeom>
          <a:solidFill>
            <a:srgbClr val="FFFFFF"/>
          </a:solidFill>
          <a:ln w="12700">
            <a:solidFill>
              <a:srgbClr val="0E7C86"/>
            </a:solidFill>
            <a:prstDash val="solid"/>
          </a:ln>
        </p:spPr>
      </p:sp>
      <p:sp>
        <p:nvSpPr>
          <p:cNvPr id="17" name="Text 15"/>
          <p:cNvSpPr/>
          <p:nvPr/>
        </p:nvSpPr>
        <p:spPr>
          <a:xfrm>
            <a:off x="6053328" y="3063240"/>
            <a:ext cx="2560320" cy="594360"/>
          </a:xfrm>
          <a:prstGeom prst="rect">
            <a:avLst/>
          </a:prstGeom>
          <a:noFill/>
          <a:ln/>
        </p:spPr>
        <p:txBody>
          <a:bodyPr wrap="square" rtlCol="0" anchor="ctr"/>
          <a:lstStyle/>
          <a:p>
            <a:pPr algn="ctr" indent="0" marL="0">
              <a:buNone/>
            </a:pPr>
            <a:r>
              <a:rPr lang="en-US" sz="1450" b="1" dirty="0">
                <a:solidFill>
                  <a:srgbClr val="0A5159"/>
                </a:solidFill>
                <a:latin typeface="Segoe UI" pitchFamily="34" charset="0"/>
                <a:ea typeface="Segoe UI" pitchFamily="34" charset="-122"/>
                <a:cs typeface="Segoe UI" pitchFamily="34" charset="-120"/>
              </a:rPr>
              <a:t>Drills</a:t>
            </a:r>
            <a:endParaRPr lang="en-US" sz="1450" dirty="0"/>
          </a:p>
        </p:txBody>
      </p:sp>
      <p:sp>
        <p:nvSpPr>
          <p:cNvPr id="18" name="Shape 16"/>
          <p:cNvSpPr/>
          <p:nvPr/>
        </p:nvSpPr>
        <p:spPr>
          <a:xfrm>
            <a:off x="8796528" y="3063240"/>
            <a:ext cx="2560320" cy="594360"/>
          </a:xfrm>
          <a:prstGeom prst="roundRect">
            <a:avLst>
              <a:gd name="adj" fmla="val 49231"/>
            </a:avLst>
          </a:prstGeom>
          <a:solidFill>
            <a:srgbClr val="E4EFEF"/>
          </a:solidFill>
          <a:ln w="12700">
            <a:solidFill>
              <a:srgbClr val="0E7C86"/>
            </a:solidFill>
            <a:prstDash val="solid"/>
          </a:ln>
        </p:spPr>
      </p:sp>
      <p:sp>
        <p:nvSpPr>
          <p:cNvPr id="19" name="Text 17"/>
          <p:cNvSpPr/>
          <p:nvPr/>
        </p:nvSpPr>
        <p:spPr>
          <a:xfrm>
            <a:off x="8796528" y="3063240"/>
            <a:ext cx="2560320" cy="594360"/>
          </a:xfrm>
          <a:prstGeom prst="rect">
            <a:avLst/>
          </a:prstGeom>
          <a:noFill/>
          <a:ln/>
        </p:spPr>
        <p:txBody>
          <a:bodyPr wrap="square" rtlCol="0" anchor="ctr"/>
          <a:lstStyle/>
          <a:p>
            <a:pPr algn="ctr" indent="0" marL="0">
              <a:buNone/>
            </a:pPr>
            <a:r>
              <a:rPr lang="en-US" sz="1450" b="1" dirty="0">
                <a:solidFill>
                  <a:srgbClr val="0A5159"/>
                </a:solidFill>
                <a:latin typeface="Segoe UI" pitchFamily="34" charset="0"/>
                <a:ea typeface="Segoe UI" pitchFamily="34" charset="-122"/>
                <a:cs typeface="Segoe UI" pitchFamily="34" charset="-120"/>
              </a:rPr>
              <a:t>Scenarios</a:t>
            </a:r>
            <a:endParaRPr lang="en-US" sz="1450" dirty="0"/>
          </a:p>
        </p:txBody>
      </p:sp>
      <p:sp>
        <p:nvSpPr>
          <p:cNvPr id="20" name="Shape 18"/>
          <p:cNvSpPr/>
          <p:nvPr/>
        </p:nvSpPr>
        <p:spPr>
          <a:xfrm>
            <a:off x="566928" y="3840480"/>
            <a:ext cx="2560320" cy="594360"/>
          </a:xfrm>
          <a:prstGeom prst="roundRect">
            <a:avLst>
              <a:gd name="adj" fmla="val 49231"/>
            </a:avLst>
          </a:prstGeom>
          <a:solidFill>
            <a:srgbClr val="FFFFFF"/>
          </a:solidFill>
          <a:ln w="12700">
            <a:solidFill>
              <a:srgbClr val="0E7C86"/>
            </a:solidFill>
            <a:prstDash val="solid"/>
          </a:ln>
        </p:spPr>
      </p:sp>
      <p:sp>
        <p:nvSpPr>
          <p:cNvPr id="21" name="Text 19"/>
          <p:cNvSpPr/>
          <p:nvPr/>
        </p:nvSpPr>
        <p:spPr>
          <a:xfrm>
            <a:off x="566928" y="3840480"/>
            <a:ext cx="2560320" cy="594360"/>
          </a:xfrm>
          <a:prstGeom prst="rect">
            <a:avLst/>
          </a:prstGeom>
          <a:noFill/>
          <a:ln/>
        </p:spPr>
        <p:txBody>
          <a:bodyPr wrap="square" rtlCol="0" anchor="ctr"/>
          <a:lstStyle/>
          <a:p>
            <a:pPr algn="ctr" indent="0" marL="0">
              <a:buNone/>
            </a:pPr>
            <a:r>
              <a:rPr lang="en-US" sz="1450" b="1" dirty="0">
                <a:solidFill>
                  <a:srgbClr val="0A5159"/>
                </a:solidFill>
                <a:latin typeface="Segoe UI" pitchFamily="34" charset="0"/>
                <a:ea typeface="Segoe UI" pitchFamily="34" charset="-122"/>
                <a:cs typeface="Segoe UI" pitchFamily="34" charset="-120"/>
              </a:rPr>
              <a:t>Gamification</a:t>
            </a:r>
            <a:endParaRPr lang="en-US" sz="1450" dirty="0"/>
          </a:p>
        </p:txBody>
      </p:sp>
      <p:sp>
        <p:nvSpPr>
          <p:cNvPr id="22" name="Shape 20"/>
          <p:cNvSpPr/>
          <p:nvPr/>
        </p:nvSpPr>
        <p:spPr>
          <a:xfrm>
            <a:off x="3310128" y="3840480"/>
            <a:ext cx="2560320" cy="594360"/>
          </a:xfrm>
          <a:prstGeom prst="roundRect">
            <a:avLst>
              <a:gd name="adj" fmla="val 49231"/>
            </a:avLst>
          </a:prstGeom>
          <a:solidFill>
            <a:srgbClr val="E4EFEF"/>
          </a:solidFill>
          <a:ln w="12700">
            <a:solidFill>
              <a:srgbClr val="0E7C86"/>
            </a:solidFill>
            <a:prstDash val="solid"/>
          </a:ln>
        </p:spPr>
      </p:sp>
      <p:sp>
        <p:nvSpPr>
          <p:cNvPr id="23" name="Text 21"/>
          <p:cNvSpPr/>
          <p:nvPr/>
        </p:nvSpPr>
        <p:spPr>
          <a:xfrm>
            <a:off x="3310128" y="3840480"/>
            <a:ext cx="2560320" cy="594360"/>
          </a:xfrm>
          <a:prstGeom prst="rect">
            <a:avLst/>
          </a:prstGeom>
          <a:noFill/>
          <a:ln/>
        </p:spPr>
        <p:txBody>
          <a:bodyPr wrap="square" rtlCol="0" anchor="ctr"/>
          <a:lstStyle/>
          <a:p>
            <a:pPr algn="ctr" indent="0" marL="0">
              <a:buNone/>
            </a:pPr>
            <a:r>
              <a:rPr lang="en-US" sz="1450" b="1" dirty="0">
                <a:solidFill>
                  <a:srgbClr val="0A5159"/>
                </a:solidFill>
                <a:latin typeface="Segoe UI" pitchFamily="34" charset="0"/>
                <a:ea typeface="Segoe UI" pitchFamily="34" charset="-122"/>
                <a:cs typeface="Segoe UI" pitchFamily="34" charset="-120"/>
              </a:rPr>
              <a:t>Dashboard</a:t>
            </a:r>
            <a:endParaRPr lang="en-US" sz="1450" dirty="0"/>
          </a:p>
        </p:txBody>
      </p:sp>
      <p:sp>
        <p:nvSpPr>
          <p:cNvPr id="24" name="Shape 22"/>
          <p:cNvSpPr/>
          <p:nvPr/>
        </p:nvSpPr>
        <p:spPr>
          <a:xfrm>
            <a:off x="6053328" y="3840480"/>
            <a:ext cx="2560320" cy="594360"/>
          </a:xfrm>
          <a:prstGeom prst="roundRect">
            <a:avLst>
              <a:gd name="adj" fmla="val 49231"/>
            </a:avLst>
          </a:prstGeom>
          <a:solidFill>
            <a:srgbClr val="FFFFFF"/>
          </a:solidFill>
          <a:ln w="12700">
            <a:solidFill>
              <a:srgbClr val="0E7C86"/>
            </a:solidFill>
            <a:prstDash val="solid"/>
          </a:ln>
        </p:spPr>
      </p:sp>
      <p:sp>
        <p:nvSpPr>
          <p:cNvPr id="25" name="Text 23"/>
          <p:cNvSpPr/>
          <p:nvPr/>
        </p:nvSpPr>
        <p:spPr>
          <a:xfrm>
            <a:off x="6053328" y="3840480"/>
            <a:ext cx="2560320" cy="594360"/>
          </a:xfrm>
          <a:prstGeom prst="rect">
            <a:avLst/>
          </a:prstGeom>
          <a:noFill/>
          <a:ln/>
        </p:spPr>
        <p:txBody>
          <a:bodyPr wrap="square" rtlCol="0" anchor="ctr"/>
          <a:lstStyle/>
          <a:p>
            <a:pPr algn="ctr" indent="0" marL="0">
              <a:buNone/>
            </a:pPr>
            <a:r>
              <a:rPr lang="en-US" sz="1450" b="1" dirty="0">
                <a:solidFill>
                  <a:srgbClr val="0A5159"/>
                </a:solidFill>
                <a:latin typeface="Segoe UI" pitchFamily="34" charset="0"/>
                <a:ea typeface="Segoe UI" pitchFamily="34" charset="-122"/>
                <a:cs typeface="Segoe UI" pitchFamily="34" charset="-120"/>
              </a:rPr>
              <a:t>Entities</a:t>
            </a:r>
            <a:endParaRPr lang="en-US" sz="1450" dirty="0"/>
          </a:p>
        </p:txBody>
      </p:sp>
      <p:sp>
        <p:nvSpPr>
          <p:cNvPr id="26" name="Shape 24"/>
          <p:cNvSpPr/>
          <p:nvPr/>
        </p:nvSpPr>
        <p:spPr>
          <a:xfrm>
            <a:off x="8796528" y="3840480"/>
            <a:ext cx="2560320" cy="594360"/>
          </a:xfrm>
          <a:prstGeom prst="roundRect">
            <a:avLst>
              <a:gd name="adj" fmla="val 49231"/>
            </a:avLst>
          </a:prstGeom>
          <a:solidFill>
            <a:srgbClr val="E4EFEF"/>
          </a:solidFill>
          <a:ln w="12700">
            <a:solidFill>
              <a:srgbClr val="0E7C86"/>
            </a:solidFill>
            <a:prstDash val="solid"/>
          </a:ln>
        </p:spPr>
      </p:sp>
      <p:sp>
        <p:nvSpPr>
          <p:cNvPr id="27" name="Text 25"/>
          <p:cNvSpPr/>
          <p:nvPr/>
        </p:nvSpPr>
        <p:spPr>
          <a:xfrm>
            <a:off x="8796528" y="3840480"/>
            <a:ext cx="2560320" cy="594360"/>
          </a:xfrm>
          <a:prstGeom prst="rect">
            <a:avLst/>
          </a:prstGeom>
          <a:noFill/>
          <a:ln/>
        </p:spPr>
        <p:txBody>
          <a:bodyPr wrap="square" rtlCol="0" anchor="ctr"/>
          <a:lstStyle/>
          <a:p>
            <a:pPr algn="ctr" indent="0" marL="0">
              <a:buNone/>
            </a:pPr>
            <a:r>
              <a:rPr lang="en-US" sz="1450" b="1" dirty="0">
                <a:solidFill>
                  <a:srgbClr val="0A5159"/>
                </a:solidFill>
                <a:latin typeface="Segoe UI" pitchFamily="34" charset="0"/>
                <a:ea typeface="Segoe UI" pitchFamily="34" charset="-122"/>
                <a:cs typeface="Segoe UI" pitchFamily="34" charset="-120"/>
              </a:rPr>
              <a:t>Memory</a:t>
            </a:r>
            <a:endParaRPr lang="en-US" sz="1450" dirty="0"/>
          </a:p>
        </p:txBody>
      </p:sp>
      <p:sp>
        <p:nvSpPr>
          <p:cNvPr id="28" name="Shape 26"/>
          <p:cNvSpPr/>
          <p:nvPr/>
        </p:nvSpPr>
        <p:spPr>
          <a:xfrm>
            <a:off x="566928" y="4617720"/>
            <a:ext cx="2560320" cy="594360"/>
          </a:xfrm>
          <a:prstGeom prst="roundRect">
            <a:avLst>
              <a:gd name="adj" fmla="val 49231"/>
            </a:avLst>
          </a:prstGeom>
          <a:solidFill>
            <a:srgbClr val="FFFFFF"/>
          </a:solidFill>
          <a:ln w="12700">
            <a:solidFill>
              <a:srgbClr val="0E7C86"/>
            </a:solidFill>
            <a:prstDash val="solid"/>
          </a:ln>
        </p:spPr>
      </p:sp>
      <p:sp>
        <p:nvSpPr>
          <p:cNvPr id="29" name="Text 27"/>
          <p:cNvSpPr/>
          <p:nvPr/>
        </p:nvSpPr>
        <p:spPr>
          <a:xfrm>
            <a:off x="566928" y="4617720"/>
            <a:ext cx="2560320" cy="594360"/>
          </a:xfrm>
          <a:prstGeom prst="rect">
            <a:avLst/>
          </a:prstGeom>
          <a:noFill/>
          <a:ln/>
        </p:spPr>
        <p:txBody>
          <a:bodyPr wrap="square" rtlCol="0" anchor="ctr"/>
          <a:lstStyle/>
          <a:p>
            <a:pPr algn="ctr" indent="0" marL="0">
              <a:buNone/>
            </a:pPr>
            <a:r>
              <a:rPr lang="en-US" sz="1450" b="1" dirty="0">
                <a:solidFill>
                  <a:srgbClr val="0A5159"/>
                </a:solidFill>
                <a:latin typeface="Segoe UI" pitchFamily="34" charset="0"/>
                <a:ea typeface="Segoe UI" pitchFamily="34" charset="-122"/>
                <a:cs typeface="Segoe UI" pitchFamily="34" charset="-120"/>
              </a:rPr>
              <a:t>Persona</a:t>
            </a:r>
            <a:endParaRPr lang="en-US" sz="1450" dirty="0"/>
          </a:p>
        </p:txBody>
      </p:sp>
      <p:sp>
        <p:nvSpPr>
          <p:cNvPr id="30" name="Text 28"/>
          <p:cNvSpPr/>
          <p:nvPr/>
        </p:nvSpPr>
        <p:spPr>
          <a:xfrm>
            <a:off x="566928" y="5577840"/>
            <a:ext cx="10972800" cy="457200"/>
          </a:xfrm>
          <a:prstGeom prst="rect">
            <a:avLst/>
          </a:prstGeom>
          <a:noFill/>
          <a:ln/>
        </p:spPr>
        <p:txBody>
          <a:bodyPr wrap="square" rtlCol="0" anchor="ctr"/>
          <a:lstStyle/>
          <a:p>
            <a:pPr indent="0" marL="0">
              <a:buNone/>
            </a:pPr>
            <a:r>
              <a:rPr lang="en-US" sz="1400" i="1" dirty="0">
                <a:solidFill>
                  <a:srgbClr val="9A9285"/>
                </a:solidFill>
                <a:latin typeface="Segoe UI" pitchFamily="34" charset="0"/>
                <a:ea typeface="Segoe UI" pitchFamily="34" charset="-122"/>
                <a:cs typeface="Segoe UI" pitchFamily="34" charset="-120"/>
              </a:rPr>
              <a:t>Python 3.12 · FastAPI on Uvicorn/Gunicorn · Pydantic v2 validates every request &amp; response</a:t>
            </a:r>
            <a:endParaRPr lang="en-US" sz="1400" dirty="0"/>
          </a:p>
        </p:txBody>
      </p:sp>
      <p:sp>
        <p:nvSpPr>
          <p:cNvPr id="31" name="Text 29"/>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32" name="Text 30"/>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21</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par>
                    <p:cTn id="142" presetID="10" presetClass="entr" presetSubtype="0" fill="hold" grpId="0" nodeType="afterEffect">
                      <p:stCondLst>
                        <p:cond delay="1680"/>
                      </p:stCondLst>
                      <p:childTnLst>
                        <p:set>
                          <p:cBhvr>
                            <p:cTn id="143" dur="1" fill="hold">
                              <p:stCondLst>
                                <p:cond delay="0"/>
                              </p:stCondLst>
                            </p:cTn>
                            <p:tgtEl>
                              <p:spTgt spid="16"/>
                            </p:tgtEl>
                            <p:attrNameLst>
                              <p:attrName>style.visibility</p:attrName>
                            </p:attrNameLst>
                          </p:cBhvr>
                          <p:to>
                            <p:strVal val="visible"/>
                          </p:to>
                        </p:set>
                        <p:animEffect transition="in" filter="fade">
                          <p:cBhvr>
                            <p:cTn id="144" dur="450"/>
                            <p:tgtEl>
                              <p:spTgt spid="16"/>
                            </p:tgtEl>
                          </p:cBhvr>
                        </p:animEffect>
                      </p:childTnLst>
                    </p:cTn>
                  </p:par>
                  <p:par>
                    <p:cTn id="145" presetID="10" presetClass="entr" presetSubtype="0" fill="hold" grpId="0" nodeType="afterEffect">
                      <p:stCondLst>
                        <p:cond delay="1800"/>
                      </p:stCondLst>
                      <p:childTnLst>
                        <p:set>
                          <p:cBhvr>
                            <p:cTn id="146" dur="1" fill="hold">
                              <p:stCondLst>
                                <p:cond delay="0"/>
                              </p:stCondLst>
                            </p:cTn>
                            <p:tgtEl>
                              <p:spTgt spid="17"/>
                            </p:tgtEl>
                            <p:attrNameLst>
                              <p:attrName>style.visibility</p:attrName>
                            </p:attrNameLst>
                          </p:cBhvr>
                          <p:to>
                            <p:strVal val="visible"/>
                          </p:to>
                        </p:set>
                        <p:animEffect transition="in" filter="fade">
                          <p:cBhvr>
                            <p:cTn id="147" dur="450"/>
                            <p:tgtEl>
                              <p:spTgt spid="17"/>
                            </p:tgtEl>
                          </p:cBhvr>
                        </p:animEffect>
                      </p:childTnLst>
                    </p:cTn>
                  </p:par>
                  <p:par>
                    <p:cTn id="148" presetID="10" presetClass="entr" presetSubtype="0" fill="hold" grpId="0" nodeType="afterEffect">
                      <p:stCondLst>
                        <p:cond delay="1920"/>
                      </p:stCondLst>
                      <p:childTnLst>
                        <p:set>
                          <p:cBhvr>
                            <p:cTn id="149" dur="1" fill="hold">
                              <p:stCondLst>
                                <p:cond delay="0"/>
                              </p:stCondLst>
                            </p:cTn>
                            <p:tgtEl>
                              <p:spTgt spid="18"/>
                            </p:tgtEl>
                            <p:attrNameLst>
                              <p:attrName>style.visibility</p:attrName>
                            </p:attrNameLst>
                          </p:cBhvr>
                          <p:to>
                            <p:strVal val="visible"/>
                          </p:to>
                        </p:set>
                        <p:animEffect transition="in" filter="fade">
                          <p:cBhvr>
                            <p:cTn id="150" dur="450"/>
                            <p:tgtEl>
                              <p:spTgt spid="18"/>
                            </p:tgtEl>
                          </p:cBhvr>
                        </p:animEffect>
                      </p:childTnLst>
                    </p:cTn>
                  </p:par>
                  <p:par>
                    <p:cTn id="151" presetID="10" presetClass="entr" presetSubtype="0" fill="hold" grpId="0" nodeType="afterEffect">
                      <p:stCondLst>
                        <p:cond delay="2040"/>
                      </p:stCondLst>
                      <p:childTnLst>
                        <p:set>
                          <p:cBhvr>
                            <p:cTn id="152" dur="1" fill="hold">
                              <p:stCondLst>
                                <p:cond delay="0"/>
                              </p:stCondLst>
                            </p:cTn>
                            <p:tgtEl>
                              <p:spTgt spid="19"/>
                            </p:tgtEl>
                            <p:attrNameLst>
                              <p:attrName>style.visibility</p:attrName>
                            </p:attrNameLst>
                          </p:cBhvr>
                          <p:to>
                            <p:strVal val="visible"/>
                          </p:to>
                        </p:set>
                        <p:animEffect transition="in" filter="fade">
                          <p:cBhvr>
                            <p:cTn id="153" dur="450"/>
                            <p:tgtEl>
                              <p:spTgt spid="19"/>
                            </p:tgtEl>
                          </p:cBhvr>
                        </p:animEffect>
                      </p:childTnLst>
                    </p:cTn>
                  </p:par>
                  <p:par>
                    <p:cTn id="154" presetID="10" presetClass="entr" presetSubtype="0" fill="hold" grpId="0" nodeType="afterEffect">
                      <p:stCondLst>
                        <p:cond delay="2160"/>
                      </p:stCondLst>
                      <p:childTnLst>
                        <p:set>
                          <p:cBhvr>
                            <p:cTn id="155" dur="1" fill="hold">
                              <p:stCondLst>
                                <p:cond delay="0"/>
                              </p:stCondLst>
                            </p:cTn>
                            <p:tgtEl>
                              <p:spTgt spid="20"/>
                            </p:tgtEl>
                            <p:attrNameLst>
                              <p:attrName>style.visibility</p:attrName>
                            </p:attrNameLst>
                          </p:cBhvr>
                          <p:to>
                            <p:strVal val="visible"/>
                          </p:to>
                        </p:set>
                        <p:animEffect transition="in" filter="fade">
                          <p:cBhvr>
                            <p:cTn id="156" dur="450"/>
                            <p:tgtEl>
                              <p:spTgt spid="20"/>
                            </p:tgtEl>
                          </p:cBhvr>
                        </p:animEffect>
                      </p:childTnLst>
                    </p:cTn>
                  </p:par>
                  <p:par>
                    <p:cTn id="157" presetID="10" presetClass="entr" presetSubtype="0" fill="hold" grpId="0" nodeType="afterEffect">
                      <p:stCondLst>
                        <p:cond delay="2280"/>
                      </p:stCondLst>
                      <p:childTnLst>
                        <p:set>
                          <p:cBhvr>
                            <p:cTn id="158" dur="1" fill="hold">
                              <p:stCondLst>
                                <p:cond delay="0"/>
                              </p:stCondLst>
                            </p:cTn>
                            <p:tgtEl>
                              <p:spTgt spid="21"/>
                            </p:tgtEl>
                            <p:attrNameLst>
                              <p:attrName>style.visibility</p:attrName>
                            </p:attrNameLst>
                          </p:cBhvr>
                          <p:to>
                            <p:strVal val="visible"/>
                          </p:to>
                        </p:set>
                        <p:animEffect transition="in" filter="fade">
                          <p:cBhvr>
                            <p:cTn id="159" dur="450"/>
                            <p:tgtEl>
                              <p:spTgt spid="21"/>
                            </p:tgtEl>
                          </p:cBhvr>
                        </p:animEffect>
                      </p:childTnLst>
                    </p:cTn>
                  </p:par>
                  <p:par>
                    <p:cTn id="160" presetID="10" presetClass="entr" presetSubtype="0" fill="hold" grpId="0" nodeType="afterEffect">
                      <p:stCondLst>
                        <p:cond delay="2400"/>
                      </p:stCondLst>
                      <p:childTnLst>
                        <p:set>
                          <p:cBhvr>
                            <p:cTn id="161" dur="1" fill="hold">
                              <p:stCondLst>
                                <p:cond delay="0"/>
                              </p:stCondLst>
                            </p:cTn>
                            <p:tgtEl>
                              <p:spTgt spid="22"/>
                            </p:tgtEl>
                            <p:attrNameLst>
                              <p:attrName>style.visibility</p:attrName>
                            </p:attrNameLst>
                          </p:cBhvr>
                          <p:to>
                            <p:strVal val="visible"/>
                          </p:to>
                        </p:set>
                        <p:animEffect transition="in" filter="fade">
                          <p:cBhvr>
                            <p:cTn id="162" dur="450"/>
                            <p:tgtEl>
                              <p:spTgt spid="22"/>
                            </p:tgtEl>
                          </p:cBhvr>
                        </p:animEffect>
                      </p:childTnLst>
                    </p:cTn>
                  </p:par>
                  <p:par>
                    <p:cTn id="163" presetID="10" presetClass="entr" presetSubtype="0" fill="hold" grpId="0" nodeType="afterEffect">
                      <p:stCondLst>
                        <p:cond delay="2520"/>
                      </p:stCondLst>
                      <p:childTnLst>
                        <p:set>
                          <p:cBhvr>
                            <p:cTn id="164" dur="1" fill="hold">
                              <p:stCondLst>
                                <p:cond delay="0"/>
                              </p:stCondLst>
                            </p:cTn>
                            <p:tgtEl>
                              <p:spTgt spid="23"/>
                            </p:tgtEl>
                            <p:attrNameLst>
                              <p:attrName>style.visibility</p:attrName>
                            </p:attrNameLst>
                          </p:cBhvr>
                          <p:to>
                            <p:strVal val="visible"/>
                          </p:to>
                        </p:set>
                        <p:animEffect transition="in" filter="fade">
                          <p:cBhvr>
                            <p:cTn id="165" dur="450"/>
                            <p:tgtEl>
                              <p:spTgt spid="23"/>
                            </p:tgtEl>
                          </p:cBhvr>
                        </p:animEffect>
                      </p:childTnLst>
                    </p:cTn>
                  </p:par>
                  <p:par>
                    <p:cTn id="166" presetID="10" presetClass="entr" presetSubtype="0" fill="hold" grpId="0" nodeType="afterEffect">
                      <p:stCondLst>
                        <p:cond delay="2640"/>
                      </p:stCondLst>
                      <p:childTnLst>
                        <p:set>
                          <p:cBhvr>
                            <p:cTn id="167" dur="1" fill="hold">
                              <p:stCondLst>
                                <p:cond delay="0"/>
                              </p:stCondLst>
                            </p:cTn>
                            <p:tgtEl>
                              <p:spTgt spid="24"/>
                            </p:tgtEl>
                            <p:attrNameLst>
                              <p:attrName>style.visibility</p:attrName>
                            </p:attrNameLst>
                          </p:cBhvr>
                          <p:to>
                            <p:strVal val="visible"/>
                          </p:to>
                        </p:set>
                        <p:animEffect transition="in" filter="fade">
                          <p:cBhvr>
                            <p:cTn id="168" dur="450"/>
                            <p:tgtEl>
                              <p:spTgt spid="24"/>
                            </p:tgtEl>
                          </p:cBhvr>
                        </p:animEffect>
                      </p:childTnLst>
                    </p:cTn>
                  </p:par>
                  <p:par>
                    <p:cTn id="169" presetID="10" presetClass="entr" presetSubtype="0" fill="hold" grpId="0" nodeType="afterEffect">
                      <p:stCondLst>
                        <p:cond delay="2760"/>
                      </p:stCondLst>
                      <p:childTnLst>
                        <p:set>
                          <p:cBhvr>
                            <p:cTn id="170" dur="1" fill="hold">
                              <p:stCondLst>
                                <p:cond delay="0"/>
                              </p:stCondLst>
                            </p:cTn>
                            <p:tgtEl>
                              <p:spTgt spid="25"/>
                            </p:tgtEl>
                            <p:attrNameLst>
                              <p:attrName>style.visibility</p:attrName>
                            </p:attrNameLst>
                          </p:cBhvr>
                          <p:to>
                            <p:strVal val="visible"/>
                          </p:to>
                        </p:set>
                        <p:animEffect transition="in" filter="fade">
                          <p:cBhvr>
                            <p:cTn id="171" dur="450"/>
                            <p:tgtEl>
                              <p:spTgt spid="25"/>
                            </p:tgtEl>
                          </p:cBhvr>
                        </p:animEffect>
                      </p:childTnLst>
                    </p:cTn>
                  </p:par>
                  <p:par>
                    <p:cTn id="172" presetID="10" presetClass="entr" presetSubtype="0" fill="hold" grpId="0" nodeType="afterEffect">
                      <p:stCondLst>
                        <p:cond delay="2880"/>
                      </p:stCondLst>
                      <p:childTnLst>
                        <p:set>
                          <p:cBhvr>
                            <p:cTn id="173" dur="1" fill="hold">
                              <p:stCondLst>
                                <p:cond delay="0"/>
                              </p:stCondLst>
                            </p:cTn>
                            <p:tgtEl>
                              <p:spTgt spid="26"/>
                            </p:tgtEl>
                            <p:attrNameLst>
                              <p:attrName>style.visibility</p:attrName>
                            </p:attrNameLst>
                          </p:cBhvr>
                          <p:to>
                            <p:strVal val="visible"/>
                          </p:to>
                        </p:set>
                        <p:animEffect transition="in" filter="fade">
                          <p:cBhvr>
                            <p:cTn id="174" dur="450"/>
                            <p:tgtEl>
                              <p:spTgt spid="26"/>
                            </p:tgtEl>
                          </p:cBhvr>
                        </p:animEffect>
                      </p:childTnLst>
                    </p:cTn>
                  </p:par>
                  <p:par>
                    <p:cTn id="175" presetID="10" presetClass="entr" presetSubtype="0" fill="hold" grpId="0" nodeType="afterEffect">
                      <p:stCondLst>
                        <p:cond delay="3000"/>
                      </p:stCondLst>
                      <p:childTnLst>
                        <p:set>
                          <p:cBhvr>
                            <p:cTn id="176" dur="1" fill="hold">
                              <p:stCondLst>
                                <p:cond delay="0"/>
                              </p:stCondLst>
                            </p:cTn>
                            <p:tgtEl>
                              <p:spTgt spid="27"/>
                            </p:tgtEl>
                            <p:attrNameLst>
                              <p:attrName>style.visibility</p:attrName>
                            </p:attrNameLst>
                          </p:cBhvr>
                          <p:to>
                            <p:strVal val="visible"/>
                          </p:to>
                        </p:set>
                        <p:animEffect transition="in" filter="fade">
                          <p:cBhvr>
                            <p:cTn id="177" dur="450"/>
                            <p:tgtEl>
                              <p:spTgt spid="27"/>
                            </p:tgtEl>
                          </p:cBhvr>
                        </p:animEffect>
                      </p:childTnLst>
                    </p:cTn>
                  </p:par>
                  <p:par>
                    <p:cTn id="178" presetID="10" presetClass="entr" presetSubtype="0" fill="hold" grpId="0" nodeType="afterEffect">
                      <p:stCondLst>
                        <p:cond delay="3120"/>
                      </p:stCondLst>
                      <p:childTnLst>
                        <p:set>
                          <p:cBhvr>
                            <p:cTn id="179" dur="1" fill="hold">
                              <p:stCondLst>
                                <p:cond delay="0"/>
                              </p:stCondLst>
                            </p:cTn>
                            <p:tgtEl>
                              <p:spTgt spid="28"/>
                            </p:tgtEl>
                            <p:attrNameLst>
                              <p:attrName>style.visibility</p:attrName>
                            </p:attrNameLst>
                          </p:cBhvr>
                          <p:to>
                            <p:strVal val="visible"/>
                          </p:to>
                        </p:set>
                        <p:animEffect transition="in" filter="fade">
                          <p:cBhvr>
                            <p:cTn id="180" dur="450"/>
                            <p:tgtEl>
                              <p:spTgt spid="28"/>
                            </p:tgtEl>
                          </p:cBhvr>
                        </p:animEffect>
                      </p:childTnLst>
                    </p:cTn>
                  </p:par>
                  <p:par>
                    <p:cTn id="181" presetID="10" presetClass="entr" presetSubtype="0" fill="hold" grpId="0" nodeType="afterEffect">
                      <p:stCondLst>
                        <p:cond delay="3240"/>
                      </p:stCondLst>
                      <p:childTnLst>
                        <p:set>
                          <p:cBhvr>
                            <p:cTn id="182" dur="1" fill="hold">
                              <p:stCondLst>
                                <p:cond delay="0"/>
                              </p:stCondLst>
                            </p:cTn>
                            <p:tgtEl>
                              <p:spTgt spid="29"/>
                            </p:tgtEl>
                            <p:attrNameLst>
                              <p:attrName>style.visibility</p:attrName>
                            </p:attrNameLst>
                          </p:cBhvr>
                          <p:to>
                            <p:strVal val="visible"/>
                          </p:to>
                        </p:set>
                        <p:animEffect transition="in" filter="fade">
                          <p:cBhvr>
                            <p:cTn id="183" dur="450"/>
                            <p:tgtEl>
                              <p:spTgt spid="29"/>
                            </p:tgtEl>
                          </p:cBhvr>
                        </p:animEffect>
                      </p:childTnLst>
                    </p:cTn>
                  </p:par>
                  <p:par>
                    <p:cTn id="184" presetID="10" presetClass="entr" presetSubtype="0" fill="hold" grpId="0" nodeType="afterEffect">
                      <p:stCondLst>
                        <p:cond delay="3360"/>
                      </p:stCondLst>
                      <p:childTnLst>
                        <p:set>
                          <p:cBhvr>
                            <p:cTn id="185" dur="1" fill="hold">
                              <p:stCondLst>
                                <p:cond delay="0"/>
                              </p:stCondLst>
                            </p:cTn>
                            <p:tgtEl>
                              <p:spTgt spid="30"/>
                            </p:tgtEl>
                            <p:attrNameLst>
                              <p:attrName>style.visibility</p:attrName>
                            </p:attrNameLst>
                          </p:cBhvr>
                          <p:to>
                            <p:strVal val="visible"/>
                          </p:to>
                        </p:set>
                        <p:animEffect transition="in" filter="fade">
                          <p:cBhvr>
                            <p:cTn id="186" dur="450"/>
                            <p:tgtEl>
                              <p:spTgt spid="30"/>
                            </p:tgtEl>
                          </p:cBhvr>
                        </p:animEffect>
                      </p:childTnLst>
                    </p:cTn>
                  </p:par>
                  <p:par>
                    <p:cTn id="187" presetID="10" presetClass="entr" presetSubtype="0" fill="hold" grpId="0" nodeType="afterEffect">
                      <p:stCondLst>
                        <p:cond delay="3480"/>
                      </p:stCondLst>
                      <p:childTnLst>
                        <p:set>
                          <p:cBhvr>
                            <p:cTn id="188" dur="1" fill="hold">
                              <p:stCondLst>
                                <p:cond delay="0"/>
                              </p:stCondLst>
                            </p:cTn>
                            <p:tgtEl>
                              <p:spTgt spid="31"/>
                            </p:tgtEl>
                            <p:attrNameLst>
                              <p:attrName>style.visibility</p:attrName>
                            </p:attrNameLst>
                          </p:cBhvr>
                          <p:to>
                            <p:strVal val="visible"/>
                          </p:to>
                        </p:set>
                        <p:animEffect transition="in" filter="fade">
                          <p:cBhvr>
                            <p:cTn id="189" dur="450"/>
                            <p:tgtEl>
                              <p:spTgt spid="31"/>
                            </p:tgtEl>
                          </p:cBhvr>
                        </p:animEffect>
                      </p:childTnLst>
                    </p:cTn>
                  </p:par>
                  <p:par>
                    <p:cTn id="190" presetID="10" presetClass="entr" presetSubtype="0" fill="hold" grpId="0" nodeType="afterEffect">
                      <p:stCondLst>
                        <p:cond delay="3600"/>
                      </p:stCondLst>
                      <p:childTnLst>
                        <p:set>
                          <p:cBhvr>
                            <p:cTn id="191" dur="1" fill="hold">
                              <p:stCondLst>
                                <p:cond delay="0"/>
                              </p:stCondLst>
                            </p:cTn>
                            <p:tgtEl>
                              <p:spTgt spid="32"/>
                            </p:tgtEl>
                            <p:attrNameLst>
                              <p:attrName>style.visibility</p:attrName>
                            </p:attrNameLst>
                          </p:cBhvr>
                          <p:to>
                            <p:strVal val="visible"/>
                          </p:to>
                        </p:set>
                        <p:animEffect transition="in" filter="fade">
                          <p:cBhvr>
                            <p:cTn id="192" dur="450"/>
                            <p:tgtEl>
                              <p:spTgt spid="32"/>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WHY FASTAPI ASYNC</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Real-time audio needs non-blocking I/O.</a:t>
            </a:r>
            <a:endParaRPr lang="en-US" sz="3300" dirty="0"/>
          </a:p>
        </p:txBody>
      </p:sp>
      <p:sp>
        <p:nvSpPr>
          <p:cNvPr id="4" name="Shape 2"/>
          <p:cNvSpPr/>
          <p:nvPr/>
        </p:nvSpPr>
        <p:spPr>
          <a:xfrm>
            <a:off x="566928" y="2194560"/>
            <a:ext cx="5120640" cy="2743200"/>
          </a:xfrm>
          <a:prstGeom prst="roundRect">
            <a:avLst>
              <a:gd name="adj" fmla="val 4000"/>
            </a:avLst>
          </a:prstGeom>
          <a:solidFill>
            <a:srgbClr val="F8ECE8"/>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Text 3"/>
          <p:cNvSpPr/>
          <p:nvPr/>
        </p:nvSpPr>
        <p:spPr>
          <a:xfrm>
            <a:off x="932688" y="2423160"/>
            <a:ext cx="4572000" cy="457200"/>
          </a:xfrm>
          <a:prstGeom prst="rect">
            <a:avLst/>
          </a:prstGeom>
          <a:noFill/>
          <a:ln/>
        </p:spPr>
        <p:txBody>
          <a:bodyPr wrap="square" rtlCol="0" anchor="ctr"/>
          <a:lstStyle/>
          <a:p>
            <a:pPr indent="0" marL="0">
              <a:buNone/>
            </a:pPr>
            <a:r>
              <a:rPr lang="en-US" sz="1900" b="1" dirty="0">
                <a:solidFill>
                  <a:srgbClr val="C0492F"/>
                </a:solidFill>
                <a:latin typeface="Segoe UI" pitchFamily="34" charset="0"/>
                <a:ea typeface="Segoe UI" pitchFamily="34" charset="-122"/>
                <a:cs typeface="Segoe UI" pitchFamily="34" charset="-120"/>
              </a:rPr>
              <a:t>✕  Sync (Flask/Django)</a:t>
            </a:r>
            <a:endParaRPr lang="en-US" sz="1900" dirty="0"/>
          </a:p>
        </p:txBody>
      </p:sp>
      <p:sp>
        <p:nvSpPr>
          <p:cNvPr id="6" name="Text 4"/>
          <p:cNvSpPr/>
          <p:nvPr/>
        </p:nvSpPr>
        <p:spPr>
          <a:xfrm>
            <a:off x="932688" y="3017520"/>
            <a:ext cx="4572000" cy="1737360"/>
          </a:xfrm>
          <a:prstGeom prst="rect">
            <a:avLst/>
          </a:prstGeom>
          <a:noFill/>
          <a:ln/>
        </p:spPr>
        <p:txBody>
          <a:bodyPr wrap="square" rtlCol="0" anchor="ctr"/>
          <a:lstStyle/>
          <a:p>
            <a:pPr indent="0" marL="0">
              <a:lnSpc>
                <a:spcPct val="120000"/>
              </a:lnSpc>
              <a:buNone/>
            </a:pPr>
            <a:r>
              <a:rPr lang="en-US" sz="1650" dirty="0">
                <a:solidFill>
                  <a:srgbClr val="3A3A3A"/>
                </a:solidFill>
                <a:latin typeface="Segoe UI" pitchFamily="34" charset="0"/>
                <a:ea typeface="Segoe UI" pitchFamily="34" charset="-122"/>
                <a:cs typeface="Segoe UI" pitchFamily="34" charset="-120"/>
              </a:rPr>
              <a:t>One worker blocks per audio stream → doesn't scale.</a:t>
            </a:r>
            <a:endParaRPr lang="en-US" sz="1650" dirty="0"/>
          </a:p>
        </p:txBody>
      </p:sp>
      <p:sp>
        <p:nvSpPr>
          <p:cNvPr id="7" name="Shape 5"/>
          <p:cNvSpPr/>
          <p:nvPr/>
        </p:nvSpPr>
        <p:spPr>
          <a:xfrm>
            <a:off x="6144768" y="2194560"/>
            <a:ext cx="5120640" cy="2743200"/>
          </a:xfrm>
          <a:prstGeom prst="roundRect">
            <a:avLst>
              <a:gd name="adj" fmla="val 4000"/>
            </a:avLst>
          </a:prstGeom>
          <a:solidFill>
            <a:srgbClr val="E9F3EC"/>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8" name="Text 6"/>
          <p:cNvSpPr/>
          <p:nvPr/>
        </p:nvSpPr>
        <p:spPr>
          <a:xfrm>
            <a:off x="6510528" y="2423160"/>
            <a:ext cx="4572000" cy="457200"/>
          </a:xfrm>
          <a:prstGeom prst="rect">
            <a:avLst/>
          </a:prstGeom>
          <a:noFill/>
          <a:ln/>
        </p:spPr>
        <p:txBody>
          <a:bodyPr wrap="square" rtlCol="0" anchor="ctr"/>
          <a:lstStyle/>
          <a:p>
            <a:pPr indent="0" marL="0">
              <a:buNone/>
            </a:pPr>
            <a:r>
              <a:rPr lang="en-US" sz="1900" b="1" dirty="0">
                <a:solidFill>
                  <a:srgbClr val="2F8F5B"/>
                </a:solidFill>
                <a:latin typeface="Segoe UI" pitchFamily="34" charset="0"/>
                <a:ea typeface="Segoe UI" pitchFamily="34" charset="-122"/>
                <a:cs typeface="Segoe UI" pitchFamily="34" charset="-120"/>
              </a:rPr>
              <a:t>✓  Async (FastAPI)</a:t>
            </a:r>
            <a:endParaRPr lang="en-US" sz="1900" dirty="0"/>
          </a:p>
        </p:txBody>
      </p:sp>
      <p:sp>
        <p:nvSpPr>
          <p:cNvPr id="9" name="Text 7"/>
          <p:cNvSpPr/>
          <p:nvPr/>
        </p:nvSpPr>
        <p:spPr>
          <a:xfrm>
            <a:off x="6510528" y="3017520"/>
            <a:ext cx="4572000" cy="1737360"/>
          </a:xfrm>
          <a:prstGeom prst="rect">
            <a:avLst/>
          </a:prstGeom>
          <a:noFill/>
          <a:ln/>
        </p:spPr>
        <p:txBody>
          <a:bodyPr wrap="square" rtlCol="0" anchor="ctr"/>
          <a:lstStyle/>
          <a:p>
            <a:pPr indent="0" marL="0">
              <a:lnSpc>
                <a:spcPct val="120000"/>
              </a:lnSpc>
              <a:buNone/>
            </a:pPr>
            <a:r>
              <a:rPr lang="en-US" sz="1650" dirty="0">
                <a:solidFill>
                  <a:srgbClr val="3A3A3A"/>
                </a:solidFill>
                <a:latin typeface="Segoe UI" pitchFamily="34" charset="0"/>
                <a:ea typeface="Segoe UI" pitchFamily="34" charset="-122"/>
                <a:cs typeface="Segoe UI" pitchFamily="34" charset="-120"/>
              </a:rPr>
              <a:t>Await network/LLM calls without freezing the server. Typed schemas + auto OpenAPI for free.</a:t>
            </a:r>
            <a:endParaRPr lang="en-US" sz="1650" dirty="0"/>
          </a:p>
        </p:txBody>
      </p:sp>
      <p:sp>
        <p:nvSpPr>
          <p:cNvPr id="10" name="Text 8"/>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1" name="Text 9"/>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22</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THE LLM ROUTER</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Each task → the model that fits it.</a:t>
            </a:r>
            <a:endParaRPr lang="en-US" sz="3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2286000"/>
          <a:ext cx="11064240" cy="914400"/>
        </p:xfrm>
        <a:graphic>
          <a:graphicData uri="http://schemas.openxmlformats.org/drawingml/2006/table">
            <a:tbl>
              <a:tblPr/>
              <a:tblGrid>
                <a:gridCol w="3200400"/>
                <a:gridCol w="3291840"/>
                <a:gridCol w="4572000"/>
              </a:tblGrid>
              <a:tr h="548640">
                <a:tc>
                  <a:txBody>
                    <a:bodyPr/>
                    <a:lstStyle/>
                    <a:p>
                      <a:pPr indent="0" marL="0">
                        <a:buNone/>
                      </a:pPr>
                      <a:r>
                        <a:rPr lang="en-US" sz="1500" b="1" dirty="0">
                          <a:solidFill>
                            <a:srgbClr val="FFFFFF"/>
                          </a:solidFill>
                          <a:latin typeface="Segoe UI" pitchFamily="34" charset="0"/>
                          <a:ea typeface="Segoe UI" pitchFamily="34" charset="-122"/>
                          <a:cs typeface="Segoe UI" pitchFamily="34" charset="-120"/>
                        </a:rPr>
                        <a:t>Task</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0E7C86"/>
                    </a:solidFill>
                  </a:tcPr>
                </a:tc>
                <a:tc>
                  <a:txBody>
                    <a:bodyPr/>
                    <a:lstStyle/>
                    <a:p>
                      <a:pPr indent="0" marL="0">
                        <a:buNone/>
                      </a:pPr>
                      <a:r>
                        <a:rPr lang="en-US" sz="1500" b="1" dirty="0">
                          <a:solidFill>
                            <a:srgbClr val="FFFFFF"/>
                          </a:solidFill>
                          <a:latin typeface="Segoe UI" pitchFamily="34" charset="0"/>
                          <a:ea typeface="Segoe UI" pitchFamily="34" charset="-122"/>
                          <a:cs typeface="Segoe UI" pitchFamily="34" charset="-120"/>
                        </a:rPr>
                        <a:t>Model</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0E7C86"/>
                    </a:solidFill>
                  </a:tcPr>
                </a:tc>
                <a:tc>
                  <a:txBody>
                    <a:bodyPr/>
                    <a:lstStyle/>
                    <a:p>
                      <a:pPr indent="0" marL="0">
                        <a:buNone/>
                      </a:pPr>
                      <a:r>
                        <a:rPr lang="en-US" sz="1500" b="1" dirty="0">
                          <a:solidFill>
                            <a:srgbClr val="FFFFFF"/>
                          </a:solidFill>
                          <a:latin typeface="Segoe UI" pitchFamily="34" charset="0"/>
                          <a:ea typeface="Segoe UI" pitchFamily="34" charset="-122"/>
                          <a:cs typeface="Segoe UI" pitchFamily="34" charset="-120"/>
                        </a:rPr>
                        <a:t>Provider chain</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0E7C86"/>
                    </a:solidFill>
                  </a:tcPr>
                </a:tc>
              </a:tr>
              <a:tr h="685800">
                <a:tc>
                  <a:txBody>
                    <a:bodyPr/>
                    <a:lstStyle/>
                    <a:p>
                      <a:pPr indent="0" marL="0">
                        <a:buNone/>
                      </a:pPr>
                      <a:r>
                        <a:rPr lang="en-US" sz="1500" b="1" dirty="0">
                          <a:solidFill>
                            <a:srgbClr val="1A1A1A"/>
                          </a:solidFill>
                          <a:latin typeface="Segoe UI" pitchFamily="34" charset="0"/>
                          <a:ea typeface="Segoe UI" pitchFamily="34" charset="-122"/>
                          <a:cs typeface="Segoe UI" pitchFamily="34" charset="-120"/>
                        </a:rPr>
                        <a:t>Consultant Q&amp;A</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0EBE1"/>
                    </a:solidFill>
                  </a:tcPr>
                </a:tc>
                <a:tc>
                  <a:txBody>
                    <a:bodyPr/>
                    <a:lstStyle/>
                    <a:p>
                      <a:pPr indent="0" marL="0">
                        <a:buNone/>
                      </a:pPr>
                      <a:r>
                        <a:rPr lang="en-US" sz="1500" dirty="0">
                          <a:solidFill>
                            <a:srgbClr val="1A1A1A"/>
                          </a:solidFill>
                          <a:latin typeface="Segoe UI" pitchFamily="34" charset="0"/>
                          <a:ea typeface="Segoe UI" pitchFamily="34" charset="-122"/>
                          <a:cs typeface="Segoe UI" pitchFamily="34" charset="-120"/>
                        </a:rPr>
                        <a:t>gemini-2.5-flash</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0EBE1"/>
                    </a:solidFill>
                  </a:tcPr>
                </a:tc>
                <a:tc>
                  <a:txBody>
                    <a:bodyPr/>
                    <a:lstStyle/>
                    <a:p>
                      <a:pPr indent="0" marL="0">
                        <a:buNone/>
                      </a:pPr>
                      <a:r>
                        <a:rPr lang="en-US" sz="1500" dirty="0">
                          <a:solidFill>
                            <a:srgbClr val="1A1A1A"/>
                          </a:solidFill>
                          <a:latin typeface="Segoe UI" pitchFamily="34" charset="0"/>
                          <a:ea typeface="Segoe UI" pitchFamily="34" charset="-122"/>
                          <a:cs typeface="Segoe UI" pitchFamily="34" charset="-120"/>
                        </a:rPr>
                        <a:t>Gemini → Cerebras → Groq</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0EBE1"/>
                    </a:solidFill>
                  </a:tcPr>
                </a:tc>
              </a:tr>
              <a:tr h="685800">
                <a:tc>
                  <a:txBody>
                    <a:bodyPr/>
                    <a:lstStyle/>
                    <a:p>
                      <a:pPr indent="0" marL="0">
                        <a:buNone/>
                      </a:pPr>
                      <a:r>
                        <a:rPr lang="en-US" sz="1500" b="1" dirty="0">
                          <a:solidFill>
                            <a:srgbClr val="1A1A1A"/>
                          </a:solidFill>
                          <a:latin typeface="Segoe UI" pitchFamily="34" charset="0"/>
                          <a:ea typeface="Segoe UI" pitchFamily="34" charset="-122"/>
                          <a:cs typeface="Segoe UI" pitchFamily="34" charset="-120"/>
                        </a:rPr>
                        <a:t>Wingman (live advice)</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FFFFF"/>
                    </a:solidFill>
                  </a:tcPr>
                </a:tc>
                <a:tc>
                  <a:txBody>
                    <a:bodyPr/>
                    <a:lstStyle/>
                    <a:p>
                      <a:pPr indent="0" marL="0">
                        <a:buNone/>
                      </a:pPr>
                      <a:r>
                        <a:rPr lang="en-US" sz="1500" dirty="0">
                          <a:solidFill>
                            <a:srgbClr val="1A1A1A"/>
                          </a:solidFill>
                          <a:latin typeface="Segoe UI" pitchFamily="34" charset="0"/>
                          <a:ea typeface="Segoe UI" pitchFamily="34" charset="-122"/>
                          <a:cs typeface="Segoe UI" pitchFamily="34" charset="-120"/>
                        </a:rPr>
                        <a:t>llama-3.1-8b</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FFFFF"/>
                    </a:solidFill>
                  </a:tcPr>
                </a:tc>
                <a:tc>
                  <a:txBody>
                    <a:bodyPr/>
                    <a:lstStyle/>
                    <a:p>
                      <a:pPr indent="0" marL="0">
                        <a:buNone/>
                      </a:pPr>
                      <a:r>
                        <a:rPr lang="en-US" sz="1500" dirty="0">
                          <a:solidFill>
                            <a:srgbClr val="1A1A1A"/>
                          </a:solidFill>
                          <a:latin typeface="Segoe UI" pitchFamily="34" charset="0"/>
                          <a:ea typeface="Segoe UI" pitchFamily="34" charset="-122"/>
                          <a:cs typeface="Segoe UI" pitchFamily="34" charset="-120"/>
                        </a:rPr>
                        <a:t>Cerebras → Groq → Gemini</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rgbClr val="1A1A1A"/>
                          </a:solidFill>
                          <a:latin typeface="Segoe UI" pitchFamily="34" charset="0"/>
                          <a:ea typeface="Segoe UI" pitchFamily="34" charset="-122"/>
                          <a:cs typeface="Segoe UI" pitchFamily="34" charset="-120"/>
                        </a:rPr>
                        <a:t>Speech-to-text</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0EBE1"/>
                    </a:solidFill>
                  </a:tcPr>
                </a:tc>
                <a:tc>
                  <a:txBody>
                    <a:bodyPr/>
                    <a:lstStyle/>
                    <a:p>
                      <a:pPr indent="0" marL="0">
                        <a:buNone/>
                      </a:pPr>
                      <a:r>
                        <a:rPr lang="en-US" sz="1500" dirty="0">
                          <a:solidFill>
                            <a:srgbClr val="1A1A1A"/>
                          </a:solidFill>
                          <a:latin typeface="Segoe UI" pitchFamily="34" charset="0"/>
                          <a:ea typeface="Segoe UI" pitchFamily="34" charset="-122"/>
                          <a:cs typeface="Segoe UI" pitchFamily="34" charset="-120"/>
                        </a:rPr>
                        <a:t>whisper-large-v3-turbo</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0EBE1"/>
                    </a:solidFill>
                  </a:tcPr>
                </a:tc>
                <a:tc>
                  <a:txBody>
                    <a:bodyPr/>
                    <a:lstStyle/>
                    <a:p>
                      <a:pPr indent="0" marL="0">
                        <a:buNone/>
                      </a:pPr>
                      <a:r>
                        <a:rPr lang="en-US" sz="1500" dirty="0">
                          <a:solidFill>
                            <a:srgbClr val="1A1A1A"/>
                          </a:solidFill>
                          <a:latin typeface="Segoe UI" pitchFamily="34" charset="0"/>
                          <a:ea typeface="Segoe UI" pitchFamily="34" charset="-122"/>
                          <a:cs typeface="Segoe UI" pitchFamily="34" charset="-120"/>
                        </a:rPr>
                        <a:t>Groq</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0EBE1"/>
                    </a:solidFill>
                  </a:tcPr>
                </a:tc>
              </a:tr>
              <a:tr h="685800">
                <a:tc>
                  <a:txBody>
                    <a:bodyPr/>
                    <a:lstStyle/>
                    <a:p>
                      <a:pPr indent="0" marL="0">
                        <a:buNone/>
                      </a:pPr>
                      <a:r>
                        <a:rPr lang="en-US" sz="1500" b="1" dirty="0">
                          <a:solidFill>
                            <a:srgbClr val="1A1A1A"/>
                          </a:solidFill>
                          <a:latin typeface="Segoe UI" pitchFamily="34" charset="0"/>
                          <a:ea typeface="Segoe UI" pitchFamily="34" charset="-122"/>
                          <a:cs typeface="Segoe UI" pitchFamily="34" charset="-120"/>
                        </a:rPr>
                        <a:t>Embeddings</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FFFFF"/>
                    </a:solidFill>
                  </a:tcPr>
                </a:tc>
                <a:tc>
                  <a:txBody>
                    <a:bodyPr/>
                    <a:lstStyle/>
                    <a:p>
                      <a:pPr indent="0" marL="0">
                        <a:buNone/>
                      </a:pPr>
                      <a:r>
                        <a:rPr lang="en-US" sz="1500" dirty="0">
                          <a:solidFill>
                            <a:srgbClr val="1A1A1A"/>
                          </a:solidFill>
                          <a:latin typeface="Segoe UI" pitchFamily="34" charset="0"/>
                          <a:ea typeface="Segoe UI" pitchFamily="34" charset="-122"/>
                          <a:cs typeface="Segoe UI" pitchFamily="34" charset="-120"/>
                        </a:rPr>
                        <a:t>text-embedding-004</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FFFFF"/>
                    </a:solidFill>
                  </a:tcPr>
                </a:tc>
                <a:tc>
                  <a:txBody>
                    <a:bodyPr/>
                    <a:lstStyle/>
                    <a:p>
                      <a:pPr indent="0" marL="0">
                        <a:buNone/>
                      </a:pPr>
                      <a:r>
                        <a:rPr lang="en-US" sz="1500" dirty="0">
                          <a:solidFill>
                            <a:srgbClr val="1A1A1A"/>
                          </a:solidFill>
                          <a:latin typeface="Segoe UI" pitchFamily="34" charset="0"/>
                          <a:ea typeface="Segoe UI" pitchFamily="34" charset="-122"/>
                          <a:cs typeface="Segoe UI" pitchFamily="34" charset="-120"/>
                        </a:rPr>
                        <a:t>Gemini (ONNX fallback)</a:t>
                      </a:r>
                      <a:endParaRPr lang="en-US" sz="1500" dirty="0">
                        <a:latin typeface="Segoe UI" charset="0"/>
                        <a:ea typeface="Segoe UI" charset="0"/>
                        <a:cs typeface="Segoe UI" charset="0"/>
                      </a:endParaRPr>
                    </a:p>
                  </a:txBody>
                  <a:tcPr marL="91440" marR="91440" marT="45720" marB="45720" anchor="ctr">
                    <a:lnL w="12700" cap="flat" cmpd="sng" algn="ctr">
                      <a:solidFill>
                        <a:srgbClr val="E3DCCF"/>
                      </a:solidFill>
                      <a:prstDash val="solid"/>
                      <a:round/>
                      <a:headEnd type="none" w="med" len="med"/>
                      <a:tailEnd type="none" w="med" len="med"/>
                    </a:lnL>
                    <a:lnR w="12700" cap="flat" cmpd="sng" algn="ctr">
                      <a:solidFill>
                        <a:srgbClr val="E3DCCF"/>
                      </a:solidFill>
                      <a:prstDash val="solid"/>
                      <a:round/>
                      <a:headEnd type="none" w="med" len="med"/>
                      <a:tailEnd type="none" w="med" len="med"/>
                    </a:lnR>
                    <a:lnT w="12700" cap="flat" cmpd="sng" algn="ctr">
                      <a:solidFill>
                        <a:srgbClr val="E3DCCF"/>
                      </a:solidFill>
                      <a:prstDash val="solid"/>
                      <a:round/>
                      <a:headEnd type="none" w="med" len="med"/>
                      <a:tailEnd type="none" w="med" len="med"/>
                    </a:lnT>
                    <a:lnB w="12700" cap="flat" cmpd="sng" algn="ctr">
                      <a:solidFill>
                        <a:srgbClr val="E3DCCF"/>
                      </a:solidFill>
                      <a:prstDash val="solid"/>
                      <a:round/>
                      <a:headEnd type="none" w="med" len="med"/>
                      <a:tailEnd type="none" w="med" len="med"/>
                    </a:lnB>
                    <a:solidFill>
                      <a:srgbClr val="FFFFFF"/>
                    </a:solidFill>
                  </a:tcPr>
                </a:tc>
              </a:tr>
            </a:tbl>
          </a:graphicData>
        </a:graphic>
      </p:graphicFrame>
      <p:sp>
        <p:nvSpPr>
          <p:cNvPr id="5" name="Text 2"/>
          <p:cNvSpPr/>
          <p:nvPr/>
        </p:nvSpPr>
        <p:spPr>
          <a:xfrm>
            <a:off x="566928" y="5577840"/>
            <a:ext cx="10972800" cy="457200"/>
          </a:xfrm>
          <a:prstGeom prst="rect">
            <a:avLst/>
          </a:prstGeom>
          <a:noFill/>
          <a:ln/>
        </p:spPr>
        <p:txBody>
          <a:bodyPr wrap="square" rtlCol="0" anchor="ctr"/>
          <a:lstStyle/>
          <a:p>
            <a:pPr indent="0" marL="0">
              <a:buNone/>
            </a:pPr>
            <a:r>
              <a:rPr lang="en-US" sz="1400" i="1" dirty="0">
                <a:solidFill>
                  <a:srgbClr val="0A5159"/>
                </a:solidFill>
                <a:latin typeface="Segoe UI" pitchFamily="34" charset="0"/>
                <a:ea typeface="Segoe UI" pitchFamily="34" charset="-122"/>
                <a:cs typeface="Segoe UI" pitchFamily="34" charset="-120"/>
              </a:rPr>
              <a:t>Per-provider circuit breakers: a failing provider trips its breaker and we fail over instantly.</a:t>
            </a:r>
            <a:endParaRPr lang="en-US" sz="1400" dirty="0"/>
          </a:p>
        </p:txBody>
      </p:sp>
      <p:sp>
        <p:nvSpPr>
          <p:cNvPr id="6" name="Text 3"/>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7" name="Text 4"/>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23</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25"/>
                            </p:tgtEl>
                            <p:attrNameLst>
                              <p:attrName>style.visibility</p:attrName>
                            </p:attrNameLst>
                          </p:cBhvr>
                          <p:to>
                            <p:strVal val="visible"/>
                          </p:to>
                        </p:set>
                        <p:animEffect transition="in" filter="fade">
                          <p:cBhvr>
                            <p:cTn id="108" dur="450"/>
                            <p:tgtEl>
                              <p:spTgt spid="25"/>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WHY MULTI-PROVIDER</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No single point of failure.</a:t>
            </a:r>
            <a:endParaRPr lang="en-US" sz="3300" dirty="0"/>
          </a:p>
        </p:txBody>
      </p:sp>
      <p:sp>
        <p:nvSpPr>
          <p:cNvPr id="4" name="Shape 2"/>
          <p:cNvSpPr/>
          <p:nvPr/>
        </p:nvSpPr>
        <p:spPr>
          <a:xfrm>
            <a:off x="566928" y="2194560"/>
            <a:ext cx="5120640" cy="2743200"/>
          </a:xfrm>
          <a:prstGeom prst="roundRect">
            <a:avLst>
              <a:gd name="adj" fmla="val 4000"/>
            </a:avLst>
          </a:prstGeom>
          <a:solidFill>
            <a:srgbClr val="F8ECE8"/>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Text 3"/>
          <p:cNvSpPr/>
          <p:nvPr/>
        </p:nvSpPr>
        <p:spPr>
          <a:xfrm>
            <a:off x="932688" y="2423160"/>
            <a:ext cx="4572000" cy="457200"/>
          </a:xfrm>
          <a:prstGeom prst="rect">
            <a:avLst/>
          </a:prstGeom>
          <a:noFill/>
          <a:ln/>
        </p:spPr>
        <p:txBody>
          <a:bodyPr wrap="square" rtlCol="0" anchor="ctr"/>
          <a:lstStyle/>
          <a:p>
            <a:pPr indent="0" marL="0">
              <a:buNone/>
            </a:pPr>
            <a:r>
              <a:rPr lang="en-US" sz="1900" b="1" dirty="0">
                <a:solidFill>
                  <a:srgbClr val="C0492F"/>
                </a:solidFill>
                <a:latin typeface="Segoe UI" pitchFamily="34" charset="0"/>
                <a:ea typeface="Segoe UI" pitchFamily="34" charset="-122"/>
                <a:cs typeface="Segoe UI" pitchFamily="34" charset="-120"/>
              </a:rPr>
              <a:t>✕  One provider</a:t>
            </a:r>
            <a:endParaRPr lang="en-US" sz="1900" dirty="0"/>
          </a:p>
        </p:txBody>
      </p:sp>
      <p:sp>
        <p:nvSpPr>
          <p:cNvPr id="6" name="Text 4"/>
          <p:cNvSpPr/>
          <p:nvPr/>
        </p:nvSpPr>
        <p:spPr>
          <a:xfrm>
            <a:off x="932688" y="3017520"/>
            <a:ext cx="4572000" cy="1737360"/>
          </a:xfrm>
          <a:prstGeom prst="rect">
            <a:avLst/>
          </a:prstGeom>
          <a:noFill/>
          <a:ln/>
        </p:spPr>
        <p:txBody>
          <a:bodyPr wrap="square" rtlCol="0" anchor="ctr"/>
          <a:lstStyle/>
          <a:p>
            <a:pPr indent="0" marL="0">
              <a:lnSpc>
                <a:spcPct val="120000"/>
              </a:lnSpc>
              <a:buNone/>
            </a:pPr>
            <a:r>
              <a:rPr lang="en-US" sz="1650" dirty="0">
                <a:solidFill>
                  <a:srgbClr val="3A3A3A"/>
                </a:solidFill>
                <a:latin typeface="Segoe UI" pitchFamily="34" charset="0"/>
                <a:ea typeface="Segoe UI" pitchFamily="34" charset="-122"/>
                <a:cs typeface="Segoe UI" pitchFamily="34" charset="-120"/>
              </a:rPr>
              <a:t>One outage kills the app. One price hike traps you. One model is wrong for some tasks.</a:t>
            </a:r>
            <a:endParaRPr lang="en-US" sz="1650" dirty="0"/>
          </a:p>
        </p:txBody>
      </p:sp>
      <p:sp>
        <p:nvSpPr>
          <p:cNvPr id="7" name="Shape 5"/>
          <p:cNvSpPr/>
          <p:nvPr/>
        </p:nvSpPr>
        <p:spPr>
          <a:xfrm>
            <a:off x="6144768" y="2194560"/>
            <a:ext cx="5120640" cy="2743200"/>
          </a:xfrm>
          <a:prstGeom prst="roundRect">
            <a:avLst>
              <a:gd name="adj" fmla="val 4000"/>
            </a:avLst>
          </a:prstGeom>
          <a:solidFill>
            <a:srgbClr val="E9F3EC"/>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8" name="Text 6"/>
          <p:cNvSpPr/>
          <p:nvPr/>
        </p:nvSpPr>
        <p:spPr>
          <a:xfrm>
            <a:off x="6510528" y="2423160"/>
            <a:ext cx="4572000" cy="457200"/>
          </a:xfrm>
          <a:prstGeom prst="rect">
            <a:avLst/>
          </a:prstGeom>
          <a:noFill/>
          <a:ln/>
        </p:spPr>
        <p:txBody>
          <a:bodyPr wrap="square" rtlCol="0" anchor="ctr"/>
          <a:lstStyle/>
          <a:p>
            <a:pPr indent="0" marL="0">
              <a:buNone/>
            </a:pPr>
            <a:r>
              <a:rPr lang="en-US" sz="1900" b="1" dirty="0">
                <a:solidFill>
                  <a:srgbClr val="2F8F5B"/>
                </a:solidFill>
                <a:latin typeface="Segoe UI" pitchFamily="34" charset="0"/>
                <a:ea typeface="Segoe UI" pitchFamily="34" charset="-122"/>
                <a:cs typeface="Segoe UI" pitchFamily="34" charset="-120"/>
              </a:rPr>
              <a:t>✓  Three providers, routed</a:t>
            </a:r>
            <a:endParaRPr lang="en-US" sz="1900" dirty="0"/>
          </a:p>
        </p:txBody>
      </p:sp>
      <p:sp>
        <p:nvSpPr>
          <p:cNvPr id="9" name="Text 7"/>
          <p:cNvSpPr/>
          <p:nvPr/>
        </p:nvSpPr>
        <p:spPr>
          <a:xfrm>
            <a:off x="6510528" y="3017520"/>
            <a:ext cx="4572000" cy="1737360"/>
          </a:xfrm>
          <a:prstGeom prst="rect">
            <a:avLst/>
          </a:prstGeom>
          <a:noFill/>
          <a:ln/>
        </p:spPr>
        <p:txBody>
          <a:bodyPr wrap="square" rtlCol="0" anchor="ctr"/>
          <a:lstStyle/>
          <a:p>
            <a:pPr indent="0" marL="0">
              <a:lnSpc>
                <a:spcPct val="120000"/>
              </a:lnSpc>
              <a:buNone/>
            </a:pPr>
            <a:r>
              <a:rPr lang="en-US" sz="1650" dirty="0">
                <a:solidFill>
                  <a:srgbClr val="3A3A3A"/>
                </a:solidFill>
                <a:latin typeface="Segoe UI" pitchFamily="34" charset="0"/>
                <a:ea typeface="Segoe UI" pitchFamily="34" charset="-122"/>
                <a:cs typeface="Segoe UI" pitchFamily="34" charset="-120"/>
              </a:rPr>
              <a:t>Right model per job, automatic failover, no vendor lock-in.</a:t>
            </a:r>
            <a:endParaRPr lang="en-US" sz="1650" dirty="0"/>
          </a:p>
        </p:txBody>
      </p:sp>
      <p:sp>
        <p:nvSpPr>
          <p:cNvPr id="10" name="Text 8"/>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1" name="Text 9"/>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24</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VOICE PIPELINE</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Wake-word → speech → advice → voice.</a:t>
            </a:r>
            <a:endParaRPr lang="en-US" sz="3300" dirty="0"/>
          </a:p>
        </p:txBody>
      </p:sp>
      <p:sp>
        <p:nvSpPr>
          <p:cNvPr id="4" name="Shape 2"/>
          <p:cNvSpPr/>
          <p:nvPr/>
        </p:nvSpPr>
        <p:spPr>
          <a:xfrm>
            <a:off x="566928" y="2743200"/>
            <a:ext cx="1883664" cy="1828800"/>
          </a:xfrm>
          <a:prstGeom prst="roundRect">
            <a:avLst>
              <a:gd name="adj" fmla="val 6000"/>
            </a:avLst>
          </a:prstGeom>
          <a:solidFill>
            <a:srgbClr val="E4EFE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Text 3"/>
          <p:cNvSpPr/>
          <p:nvPr/>
        </p:nvSpPr>
        <p:spPr>
          <a:xfrm>
            <a:off x="704088" y="2880360"/>
            <a:ext cx="1609344" cy="457200"/>
          </a:xfrm>
          <a:prstGeom prst="rect">
            <a:avLst/>
          </a:prstGeom>
          <a:noFill/>
          <a:ln/>
        </p:spPr>
        <p:txBody>
          <a:bodyPr wrap="square" rtlCol="0" anchor="ctr"/>
          <a:lstStyle/>
          <a:p>
            <a:pPr indent="0" marL="0">
              <a:buNone/>
            </a:pPr>
            <a:r>
              <a:rPr lang="en-US" sz="2200" b="1" dirty="0">
                <a:solidFill>
                  <a:srgbClr val="0E7C86"/>
                </a:solidFill>
                <a:latin typeface="Segoe UI" pitchFamily="34" charset="0"/>
                <a:ea typeface="Segoe UI" pitchFamily="34" charset="-122"/>
                <a:cs typeface="Segoe UI" pitchFamily="34" charset="-120"/>
              </a:rPr>
              <a:t>1</a:t>
            </a:r>
            <a:endParaRPr lang="en-US" sz="2200" dirty="0"/>
          </a:p>
        </p:txBody>
      </p:sp>
      <p:sp>
        <p:nvSpPr>
          <p:cNvPr id="6" name="Text 4"/>
          <p:cNvSpPr/>
          <p:nvPr/>
        </p:nvSpPr>
        <p:spPr>
          <a:xfrm>
            <a:off x="704088" y="3383280"/>
            <a:ext cx="1609344" cy="457200"/>
          </a:xfrm>
          <a:prstGeom prst="rect">
            <a:avLst/>
          </a:prstGeom>
          <a:noFill/>
          <a:ln/>
        </p:spPr>
        <p:txBody>
          <a:bodyPr wrap="square" rtlCol="0" anchor="ctr"/>
          <a:lstStyle/>
          <a:p>
            <a:pPr indent="0" marL="0">
              <a:buNone/>
            </a:pPr>
            <a:r>
              <a:rPr lang="en-US" sz="1550" b="1" dirty="0">
                <a:solidFill>
                  <a:srgbClr val="1A1A1A"/>
                </a:solidFill>
                <a:latin typeface="Segoe UI" pitchFamily="34" charset="0"/>
                <a:ea typeface="Segoe UI" pitchFamily="34" charset="-122"/>
                <a:cs typeface="Segoe UI" pitchFamily="34" charset="-120"/>
              </a:rPr>
              <a:t>Wake-word</a:t>
            </a:r>
            <a:endParaRPr lang="en-US" sz="1550" dirty="0"/>
          </a:p>
        </p:txBody>
      </p:sp>
      <p:sp>
        <p:nvSpPr>
          <p:cNvPr id="7" name="Text 5"/>
          <p:cNvSpPr/>
          <p:nvPr/>
        </p:nvSpPr>
        <p:spPr>
          <a:xfrm>
            <a:off x="704088" y="3822192"/>
            <a:ext cx="1609344" cy="640080"/>
          </a:xfrm>
          <a:prstGeom prst="rect">
            <a:avLst/>
          </a:prstGeom>
          <a:noFill/>
          <a:ln/>
        </p:spPr>
        <p:txBody>
          <a:bodyPr wrap="square" rtlCol="0" anchor="ctr"/>
          <a:lstStyle/>
          <a:p>
            <a:pPr indent="0" marL="0">
              <a:lnSpc>
                <a:spcPct val="105000"/>
              </a:lnSpc>
              <a:buNone/>
            </a:pPr>
            <a:r>
              <a:rPr lang="en-US" sz="1200" dirty="0">
                <a:solidFill>
                  <a:srgbClr val="3A3A3A"/>
                </a:solidFill>
                <a:latin typeface="Segoe UI" pitchFamily="34" charset="0"/>
                <a:ea typeface="Segoe UI" pitchFamily="34" charset="-122"/>
                <a:cs typeface="Segoe UI" pitchFamily="34" charset="-120"/>
              </a:rPr>
              <a:t>Porcupine, on-device</a:t>
            </a:r>
            <a:endParaRPr lang="en-US" sz="1200" dirty="0"/>
          </a:p>
        </p:txBody>
      </p:sp>
      <p:sp>
        <p:nvSpPr>
          <p:cNvPr id="8" name="Text 6"/>
          <p:cNvSpPr/>
          <p:nvPr/>
        </p:nvSpPr>
        <p:spPr>
          <a:xfrm>
            <a:off x="2450592" y="2743200"/>
            <a:ext cx="411480" cy="1828800"/>
          </a:xfrm>
          <a:prstGeom prst="rect">
            <a:avLst/>
          </a:prstGeom>
          <a:noFill/>
          <a:ln/>
        </p:spPr>
        <p:txBody>
          <a:bodyPr wrap="square" rtlCol="0" anchor="ctr"/>
          <a:lstStyle/>
          <a:p>
            <a:pPr algn="ctr" indent="0" marL="0">
              <a:buNone/>
            </a:pPr>
            <a:r>
              <a:rPr lang="en-US" sz="2400" b="1" dirty="0">
                <a:solidFill>
                  <a:srgbClr val="0E7C86"/>
                </a:solidFill>
                <a:latin typeface="Segoe UI" pitchFamily="34" charset="0"/>
                <a:ea typeface="Segoe UI" pitchFamily="34" charset="-122"/>
                <a:cs typeface="Segoe UI" pitchFamily="34" charset="-120"/>
              </a:rPr>
              <a:t>›</a:t>
            </a:r>
            <a:endParaRPr lang="en-US" sz="2400" dirty="0"/>
          </a:p>
        </p:txBody>
      </p:sp>
      <p:sp>
        <p:nvSpPr>
          <p:cNvPr id="9" name="Shape 7"/>
          <p:cNvSpPr/>
          <p:nvPr/>
        </p:nvSpPr>
        <p:spPr>
          <a:xfrm>
            <a:off x="2862072" y="2743200"/>
            <a:ext cx="1883664" cy="1828800"/>
          </a:xfrm>
          <a:prstGeom prst="roundRect">
            <a:avLst>
              <a:gd name="adj" fmla="val 6000"/>
            </a:avLst>
          </a:prstGeom>
          <a:solidFill>
            <a:srgbClr val="F0EBE1"/>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0" name="Text 8"/>
          <p:cNvSpPr/>
          <p:nvPr/>
        </p:nvSpPr>
        <p:spPr>
          <a:xfrm>
            <a:off x="2999232" y="2880360"/>
            <a:ext cx="1609344" cy="457200"/>
          </a:xfrm>
          <a:prstGeom prst="rect">
            <a:avLst/>
          </a:prstGeom>
          <a:noFill/>
          <a:ln/>
        </p:spPr>
        <p:txBody>
          <a:bodyPr wrap="square" rtlCol="0" anchor="ctr"/>
          <a:lstStyle/>
          <a:p>
            <a:pPr indent="0" marL="0">
              <a:buNone/>
            </a:pPr>
            <a:r>
              <a:rPr lang="en-US" sz="2200" b="1" dirty="0">
                <a:solidFill>
                  <a:srgbClr val="0E7C86"/>
                </a:solidFill>
                <a:latin typeface="Segoe UI" pitchFamily="34" charset="0"/>
                <a:ea typeface="Segoe UI" pitchFamily="34" charset="-122"/>
                <a:cs typeface="Segoe UI" pitchFamily="34" charset="-120"/>
              </a:rPr>
              <a:t>2</a:t>
            </a:r>
            <a:endParaRPr lang="en-US" sz="2200" dirty="0"/>
          </a:p>
        </p:txBody>
      </p:sp>
      <p:sp>
        <p:nvSpPr>
          <p:cNvPr id="11" name="Text 9"/>
          <p:cNvSpPr/>
          <p:nvPr/>
        </p:nvSpPr>
        <p:spPr>
          <a:xfrm>
            <a:off x="2999232" y="3383280"/>
            <a:ext cx="1609344" cy="457200"/>
          </a:xfrm>
          <a:prstGeom prst="rect">
            <a:avLst/>
          </a:prstGeom>
          <a:noFill/>
          <a:ln/>
        </p:spPr>
        <p:txBody>
          <a:bodyPr wrap="square" rtlCol="0" anchor="ctr"/>
          <a:lstStyle/>
          <a:p>
            <a:pPr indent="0" marL="0">
              <a:buNone/>
            </a:pPr>
            <a:r>
              <a:rPr lang="en-US" sz="1550" b="1" dirty="0">
                <a:solidFill>
                  <a:srgbClr val="1A1A1A"/>
                </a:solidFill>
                <a:latin typeface="Segoe UI" pitchFamily="34" charset="0"/>
                <a:ea typeface="Segoe UI" pitchFamily="34" charset="-122"/>
                <a:cs typeface="Segoe UI" pitchFamily="34" charset="-120"/>
              </a:rPr>
              <a:t>Transport</a:t>
            </a:r>
            <a:endParaRPr lang="en-US" sz="1550" dirty="0"/>
          </a:p>
        </p:txBody>
      </p:sp>
      <p:sp>
        <p:nvSpPr>
          <p:cNvPr id="12" name="Text 10"/>
          <p:cNvSpPr/>
          <p:nvPr/>
        </p:nvSpPr>
        <p:spPr>
          <a:xfrm>
            <a:off x="2999232" y="3822192"/>
            <a:ext cx="1609344" cy="640080"/>
          </a:xfrm>
          <a:prstGeom prst="rect">
            <a:avLst/>
          </a:prstGeom>
          <a:noFill/>
          <a:ln/>
        </p:spPr>
        <p:txBody>
          <a:bodyPr wrap="square" rtlCol="0" anchor="ctr"/>
          <a:lstStyle/>
          <a:p>
            <a:pPr indent="0" marL="0">
              <a:lnSpc>
                <a:spcPct val="105000"/>
              </a:lnSpc>
              <a:buNone/>
            </a:pPr>
            <a:r>
              <a:rPr lang="en-US" sz="1200" dirty="0">
                <a:solidFill>
                  <a:srgbClr val="3A3A3A"/>
                </a:solidFill>
                <a:latin typeface="Segoe UI" pitchFamily="34" charset="0"/>
                <a:ea typeface="Segoe UI" pitchFamily="34" charset="-122"/>
                <a:cs typeface="Segoe UI" pitchFamily="34" charset="-120"/>
              </a:rPr>
              <a:t>LiveKit low-latency audio</a:t>
            </a:r>
            <a:endParaRPr lang="en-US" sz="1200" dirty="0"/>
          </a:p>
        </p:txBody>
      </p:sp>
      <p:sp>
        <p:nvSpPr>
          <p:cNvPr id="13" name="Text 11"/>
          <p:cNvSpPr/>
          <p:nvPr/>
        </p:nvSpPr>
        <p:spPr>
          <a:xfrm>
            <a:off x="4745736" y="2743200"/>
            <a:ext cx="411480" cy="1828800"/>
          </a:xfrm>
          <a:prstGeom prst="rect">
            <a:avLst/>
          </a:prstGeom>
          <a:noFill/>
          <a:ln/>
        </p:spPr>
        <p:txBody>
          <a:bodyPr wrap="square" rtlCol="0" anchor="ctr"/>
          <a:lstStyle/>
          <a:p>
            <a:pPr algn="ctr" indent="0" marL="0">
              <a:buNone/>
            </a:pPr>
            <a:r>
              <a:rPr lang="en-US" sz="2400" b="1" dirty="0">
                <a:solidFill>
                  <a:srgbClr val="0E7C86"/>
                </a:solidFill>
                <a:latin typeface="Segoe UI" pitchFamily="34" charset="0"/>
                <a:ea typeface="Segoe UI" pitchFamily="34" charset="-122"/>
                <a:cs typeface="Segoe UI" pitchFamily="34" charset="-120"/>
              </a:rPr>
              <a:t>›</a:t>
            </a:r>
            <a:endParaRPr lang="en-US" sz="2400" dirty="0"/>
          </a:p>
        </p:txBody>
      </p:sp>
      <p:sp>
        <p:nvSpPr>
          <p:cNvPr id="14" name="Shape 12"/>
          <p:cNvSpPr/>
          <p:nvPr/>
        </p:nvSpPr>
        <p:spPr>
          <a:xfrm>
            <a:off x="5157216" y="2743200"/>
            <a:ext cx="1883664" cy="1828800"/>
          </a:xfrm>
          <a:prstGeom prst="roundRect">
            <a:avLst>
              <a:gd name="adj" fmla="val 6000"/>
            </a:avLst>
          </a:prstGeom>
          <a:solidFill>
            <a:srgbClr val="E4EFE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5" name="Text 13"/>
          <p:cNvSpPr/>
          <p:nvPr/>
        </p:nvSpPr>
        <p:spPr>
          <a:xfrm>
            <a:off x="5294376" y="2880360"/>
            <a:ext cx="1609344" cy="457200"/>
          </a:xfrm>
          <a:prstGeom prst="rect">
            <a:avLst/>
          </a:prstGeom>
          <a:noFill/>
          <a:ln/>
        </p:spPr>
        <p:txBody>
          <a:bodyPr wrap="square" rtlCol="0" anchor="ctr"/>
          <a:lstStyle/>
          <a:p>
            <a:pPr indent="0" marL="0">
              <a:buNone/>
            </a:pPr>
            <a:r>
              <a:rPr lang="en-US" sz="2200" b="1" dirty="0">
                <a:solidFill>
                  <a:srgbClr val="0E7C86"/>
                </a:solidFill>
                <a:latin typeface="Segoe UI" pitchFamily="34" charset="0"/>
                <a:ea typeface="Segoe UI" pitchFamily="34" charset="-122"/>
                <a:cs typeface="Segoe UI" pitchFamily="34" charset="-120"/>
              </a:rPr>
              <a:t>3</a:t>
            </a:r>
            <a:endParaRPr lang="en-US" sz="2200" dirty="0"/>
          </a:p>
        </p:txBody>
      </p:sp>
      <p:sp>
        <p:nvSpPr>
          <p:cNvPr id="16" name="Text 14"/>
          <p:cNvSpPr/>
          <p:nvPr/>
        </p:nvSpPr>
        <p:spPr>
          <a:xfrm>
            <a:off x="5294376" y="3383280"/>
            <a:ext cx="1609344" cy="457200"/>
          </a:xfrm>
          <a:prstGeom prst="rect">
            <a:avLst/>
          </a:prstGeom>
          <a:noFill/>
          <a:ln/>
        </p:spPr>
        <p:txBody>
          <a:bodyPr wrap="square" rtlCol="0" anchor="ctr"/>
          <a:lstStyle/>
          <a:p>
            <a:pPr indent="0" marL="0">
              <a:buNone/>
            </a:pPr>
            <a:r>
              <a:rPr lang="en-US" sz="1550" b="1" dirty="0">
                <a:solidFill>
                  <a:srgbClr val="1A1A1A"/>
                </a:solidFill>
                <a:latin typeface="Segoe UI" pitchFamily="34" charset="0"/>
                <a:ea typeface="Segoe UI" pitchFamily="34" charset="-122"/>
                <a:cs typeface="Segoe UI" pitchFamily="34" charset="-120"/>
              </a:rPr>
              <a:t>STT</a:t>
            </a:r>
            <a:endParaRPr lang="en-US" sz="1550" dirty="0"/>
          </a:p>
        </p:txBody>
      </p:sp>
      <p:sp>
        <p:nvSpPr>
          <p:cNvPr id="17" name="Text 15"/>
          <p:cNvSpPr/>
          <p:nvPr/>
        </p:nvSpPr>
        <p:spPr>
          <a:xfrm>
            <a:off x="5294376" y="3822192"/>
            <a:ext cx="1609344" cy="640080"/>
          </a:xfrm>
          <a:prstGeom prst="rect">
            <a:avLst/>
          </a:prstGeom>
          <a:noFill/>
          <a:ln/>
        </p:spPr>
        <p:txBody>
          <a:bodyPr wrap="square" rtlCol="0" anchor="ctr"/>
          <a:lstStyle/>
          <a:p>
            <a:pPr indent="0" marL="0">
              <a:lnSpc>
                <a:spcPct val="105000"/>
              </a:lnSpc>
              <a:buNone/>
            </a:pPr>
            <a:r>
              <a:rPr lang="en-US" sz="1200" dirty="0">
                <a:solidFill>
                  <a:srgbClr val="3A3A3A"/>
                </a:solidFill>
                <a:latin typeface="Segoe UI" pitchFamily="34" charset="0"/>
                <a:ea typeface="Segoe UI" pitchFamily="34" charset="-122"/>
                <a:cs typeface="Segoe UI" pitchFamily="34" charset="-120"/>
              </a:rPr>
              <a:t>Groq Whisper turbo</a:t>
            </a:r>
            <a:endParaRPr lang="en-US" sz="1200" dirty="0"/>
          </a:p>
        </p:txBody>
      </p:sp>
      <p:sp>
        <p:nvSpPr>
          <p:cNvPr id="18" name="Text 16"/>
          <p:cNvSpPr/>
          <p:nvPr/>
        </p:nvSpPr>
        <p:spPr>
          <a:xfrm>
            <a:off x="7040880" y="2743200"/>
            <a:ext cx="411480" cy="1828800"/>
          </a:xfrm>
          <a:prstGeom prst="rect">
            <a:avLst/>
          </a:prstGeom>
          <a:noFill/>
          <a:ln/>
        </p:spPr>
        <p:txBody>
          <a:bodyPr wrap="square" rtlCol="0" anchor="ctr"/>
          <a:lstStyle/>
          <a:p>
            <a:pPr algn="ctr" indent="0" marL="0">
              <a:buNone/>
            </a:pPr>
            <a:r>
              <a:rPr lang="en-US" sz="2400" b="1" dirty="0">
                <a:solidFill>
                  <a:srgbClr val="0E7C86"/>
                </a:solidFill>
                <a:latin typeface="Segoe UI" pitchFamily="34" charset="0"/>
                <a:ea typeface="Segoe UI" pitchFamily="34" charset="-122"/>
                <a:cs typeface="Segoe UI" pitchFamily="34" charset="-120"/>
              </a:rPr>
              <a:t>›</a:t>
            </a:r>
            <a:endParaRPr lang="en-US" sz="2400" dirty="0"/>
          </a:p>
        </p:txBody>
      </p:sp>
      <p:sp>
        <p:nvSpPr>
          <p:cNvPr id="19" name="Shape 17"/>
          <p:cNvSpPr/>
          <p:nvPr/>
        </p:nvSpPr>
        <p:spPr>
          <a:xfrm>
            <a:off x="7452360" y="2743200"/>
            <a:ext cx="1883664" cy="1828800"/>
          </a:xfrm>
          <a:prstGeom prst="roundRect">
            <a:avLst>
              <a:gd name="adj" fmla="val 6000"/>
            </a:avLst>
          </a:prstGeom>
          <a:solidFill>
            <a:srgbClr val="F0EBE1"/>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20" name="Text 18"/>
          <p:cNvSpPr/>
          <p:nvPr/>
        </p:nvSpPr>
        <p:spPr>
          <a:xfrm>
            <a:off x="7589520" y="2880360"/>
            <a:ext cx="1609344" cy="457200"/>
          </a:xfrm>
          <a:prstGeom prst="rect">
            <a:avLst/>
          </a:prstGeom>
          <a:noFill/>
          <a:ln/>
        </p:spPr>
        <p:txBody>
          <a:bodyPr wrap="square" rtlCol="0" anchor="ctr"/>
          <a:lstStyle/>
          <a:p>
            <a:pPr indent="0" marL="0">
              <a:buNone/>
            </a:pPr>
            <a:r>
              <a:rPr lang="en-US" sz="2200" b="1" dirty="0">
                <a:solidFill>
                  <a:srgbClr val="0E7C86"/>
                </a:solidFill>
                <a:latin typeface="Segoe UI" pitchFamily="34" charset="0"/>
                <a:ea typeface="Segoe UI" pitchFamily="34" charset="-122"/>
                <a:cs typeface="Segoe UI" pitchFamily="34" charset="-120"/>
              </a:rPr>
              <a:t>4</a:t>
            </a:r>
            <a:endParaRPr lang="en-US" sz="2200" dirty="0"/>
          </a:p>
        </p:txBody>
      </p:sp>
      <p:sp>
        <p:nvSpPr>
          <p:cNvPr id="21" name="Text 19"/>
          <p:cNvSpPr/>
          <p:nvPr/>
        </p:nvSpPr>
        <p:spPr>
          <a:xfrm>
            <a:off x="7589520" y="3383280"/>
            <a:ext cx="1609344" cy="457200"/>
          </a:xfrm>
          <a:prstGeom prst="rect">
            <a:avLst/>
          </a:prstGeom>
          <a:noFill/>
          <a:ln/>
        </p:spPr>
        <p:txBody>
          <a:bodyPr wrap="square" rtlCol="0" anchor="ctr"/>
          <a:lstStyle/>
          <a:p>
            <a:pPr indent="0" marL="0">
              <a:buNone/>
            </a:pPr>
            <a:r>
              <a:rPr lang="en-US" sz="1550" b="1" dirty="0">
                <a:solidFill>
                  <a:srgbClr val="1A1A1A"/>
                </a:solidFill>
                <a:latin typeface="Segoe UI" pitchFamily="34" charset="0"/>
                <a:ea typeface="Segoe UI" pitchFamily="34" charset="-122"/>
                <a:cs typeface="Segoe UI" pitchFamily="34" charset="-120"/>
              </a:rPr>
              <a:t>Speaker ID</a:t>
            </a:r>
            <a:endParaRPr lang="en-US" sz="1550" dirty="0"/>
          </a:p>
        </p:txBody>
      </p:sp>
      <p:sp>
        <p:nvSpPr>
          <p:cNvPr id="22" name="Text 20"/>
          <p:cNvSpPr/>
          <p:nvPr/>
        </p:nvSpPr>
        <p:spPr>
          <a:xfrm>
            <a:off x="7589520" y="3822192"/>
            <a:ext cx="1609344" cy="640080"/>
          </a:xfrm>
          <a:prstGeom prst="rect">
            <a:avLst/>
          </a:prstGeom>
          <a:noFill/>
          <a:ln/>
        </p:spPr>
        <p:txBody>
          <a:bodyPr wrap="square" rtlCol="0" anchor="ctr"/>
          <a:lstStyle/>
          <a:p>
            <a:pPr indent="0" marL="0">
              <a:lnSpc>
                <a:spcPct val="105000"/>
              </a:lnSpc>
              <a:buNone/>
            </a:pPr>
            <a:r>
              <a:rPr lang="en-US" sz="1200" dirty="0">
                <a:solidFill>
                  <a:srgbClr val="3A3A3A"/>
                </a:solidFill>
                <a:latin typeface="Segoe UI" pitchFamily="34" charset="0"/>
                <a:ea typeface="Segoe UI" pitchFamily="34" charset="-122"/>
                <a:cs typeface="Segoe UI" pitchFamily="34" charset="-120"/>
              </a:rPr>
              <a:t>you vs. them</a:t>
            </a:r>
            <a:endParaRPr lang="en-US" sz="1200" dirty="0"/>
          </a:p>
        </p:txBody>
      </p:sp>
      <p:sp>
        <p:nvSpPr>
          <p:cNvPr id="23" name="Text 21"/>
          <p:cNvSpPr/>
          <p:nvPr/>
        </p:nvSpPr>
        <p:spPr>
          <a:xfrm>
            <a:off x="9336024" y="2743200"/>
            <a:ext cx="411480" cy="1828800"/>
          </a:xfrm>
          <a:prstGeom prst="rect">
            <a:avLst/>
          </a:prstGeom>
          <a:noFill/>
          <a:ln/>
        </p:spPr>
        <p:txBody>
          <a:bodyPr wrap="square" rtlCol="0" anchor="ctr"/>
          <a:lstStyle/>
          <a:p>
            <a:pPr algn="ctr" indent="0" marL="0">
              <a:buNone/>
            </a:pPr>
            <a:r>
              <a:rPr lang="en-US" sz="2400" b="1" dirty="0">
                <a:solidFill>
                  <a:srgbClr val="0E7C86"/>
                </a:solidFill>
                <a:latin typeface="Segoe UI" pitchFamily="34" charset="0"/>
                <a:ea typeface="Segoe UI" pitchFamily="34" charset="-122"/>
                <a:cs typeface="Segoe UI" pitchFamily="34" charset="-120"/>
              </a:rPr>
              <a:t>›</a:t>
            </a:r>
            <a:endParaRPr lang="en-US" sz="2400" dirty="0"/>
          </a:p>
        </p:txBody>
      </p:sp>
      <p:sp>
        <p:nvSpPr>
          <p:cNvPr id="24" name="Shape 22"/>
          <p:cNvSpPr/>
          <p:nvPr/>
        </p:nvSpPr>
        <p:spPr>
          <a:xfrm>
            <a:off x="9747504" y="2743200"/>
            <a:ext cx="1883664" cy="1828800"/>
          </a:xfrm>
          <a:prstGeom prst="roundRect">
            <a:avLst>
              <a:gd name="adj" fmla="val 6000"/>
            </a:avLst>
          </a:prstGeom>
          <a:solidFill>
            <a:srgbClr val="E4EFE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25" name="Text 23"/>
          <p:cNvSpPr/>
          <p:nvPr/>
        </p:nvSpPr>
        <p:spPr>
          <a:xfrm>
            <a:off x="9884664" y="2880360"/>
            <a:ext cx="1609344" cy="457200"/>
          </a:xfrm>
          <a:prstGeom prst="rect">
            <a:avLst/>
          </a:prstGeom>
          <a:noFill/>
          <a:ln/>
        </p:spPr>
        <p:txBody>
          <a:bodyPr wrap="square" rtlCol="0" anchor="ctr"/>
          <a:lstStyle/>
          <a:p>
            <a:pPr indent="0" marL="0">
              <a:buNone/>
            </a:pPr>
            <a:r>
              <a:rPr lang="en-US" sz="2200" b="1" dirty="0">
                <a:solidFill>
                  <a:srgbClr val="0E7C86"/>
                </a:solidFill>
                <a:latin typeface="Segoe UI" pitchFamily="34" charset="0"/>
                <a:ea typeface="Segoe UI" pitchFamily="34" charset="-122"/>
                <a:cs typeface="Segoe UI" pitchFamily="34" charset="-120"/>
              </a:rPr>
              <a:t>5</a:t>
            </a:r>
            <a:endParaRPr lang="en-US" sz="2200" dirty="0"/>
          </a:p>
        </p:txBody>
      </p:sp>
      <p:sp>
        <p:nvSpPr>
          <p:cNvPr id="26" name="Text 24"/>
          <p:cNvSpPr/>
          <p:nvPr/>
        </p:nvSpPr>
        <p:spPr>
          <a:xfrm>
            <a:off x="9884664" y="3383280"/>
            <a:ext cx="1609344" cy="457200"/>
          </a:xfrm>
          <a:prstGeom prst="rect">
            <a:avLst/>
          </a:prstGeom>
          <a:noFill/>
          <a:ln/>
        </p:spPr>
        <p:txBody>
          <a:bodyPr wrap="square" rtlCol="0" anchor="ctr"/>
          <a:lstStyle/>
          <a:p>
            <a:pPr indent="0" marL="0">
              <a:buNone/>
            </a:pPr>
            <a:r>
              <a:rPr lang="en-US" sz="1550" b="1" dirty="0">
                <a:solidFill>
                  <a:srgbClr val="1A1A1A"/>
                </a:solidFill>
                <a:latin typeface="Segoe UI" pitchFamily="34" charset="0"/>
                <a:ea typeface="Segoe UI" pitchFamily="34" charset="-122"/>
                <a:cs typeface="Segoe UI" pitchFamily="34" charset="-120"/>
              </a:rPr>
              <a:t>TTS</a:t>
            </a:r>
            <a:endParaRPr lang="en-US" sz="1550" dirty="0"/>
          </a:p>
        </p:txBody>
      </p:sp>
      <p:sp>
        <p:nvSpPr>
          <p:cNvPr id="27" name="Text 25"/>
          <p:cNvSpPr/>
          <p:nvPr/>
        </p:nvSpPr>
        <p:spPr>
          <a:xfrm>
            <a:off x="9884664" y="3822192"/>
            <a:ext cx="1609344" cy="640080"/>
          </a:xfrm>
          <a:prstGeom prst="rect">
            <a:avLst/>
          </a:prstGeom>
          <a:noFill/>
          <a:ln/>
        </p:spPr>
        <p:txBody>
          <a:bodyPr wrap="square" rtlCol="0" anchor="ctr"/>
          <a:lstStyle/>
          <a:p>
            <a:pPr indent="0" marL="0">
              <a:lnSpc>
                <a:spcPct val="105000"/>
              </a:lnSpc>
              <a:buNone/>
            </a:pPr>
            <a:r>
              <a:rPr lang="en-US" sz="1200" dirty="0">
                <a:solidFill>
                  <a:srgbClr val="3A3A3A"/>
                </a:solidFill>
                <a:latin typeface="Segoe UI" pitchFamily="34" charset="0"/>
                <a:ea typeface="Segoe UI" pitchFamily="34" charset="-122"/>
                <a:cs typeface="Segoe UI" pitchFamily="34" charset="-120"/>
              </a:rPr>
              <a:t>Edge-TTS speaks back</a:t>
            </a:r>
            <a:endParaRPr lang="en-US" sz="1200" dirty="0"/>
          </a:p>
        </p:txBody>
      </p:sp>
      <p:sp>
        <p:nvSpPr>
          <p:cNvPr id="28" name="Text 26"/>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9" name="Text 27"/>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25</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par>
                    <p:cTn id="142" presetID="10" presetClass="entr" presetSubtype="0" fill="hold" grpId="0" nodeType="afterEffect">
                      <p:stCondLst>
                        <p:cond delay="1680"/>
                      </p:stCondLst>
                      <p:childTnLst>
                        <p:set>
                          <p:cBhvr>
                            <p:cTn id="143" dur="1" fill="hold">
                              <p:stCondLst>
                                <p:cond delay="0"/>
                              </p:stCondLst>
                            </p:cTn>
                            <p:tgtEl>
                              <p:spTgt spid="16"/>
                            </p:tgtEl>
                            <p:attrNameLst>
                              <p:attrName>style.visibility</p:attrName>
                            </p:attrNameLst>
                          </p:cBhvr>
                          <p:to>
                            <p:strVal val="visible"/>
                          </p:to>
                        </p:set>
                        <p:animEffect transition="in" filter="fade">
                          <p:cBhvr>
                            <p:cTn id="144" dur="450"/>
                            <p:tgtEl>
                              <p:spTgt spid="16"/>
                            </p:tgtEl>
                          </p:cBhvr>
                        </p:animEffect>
                      </p:childTnLst>
                    </p:cTn>
                  </p:par>
                  <p:par>
                    <p:cTn id="145" presetID="10" presetClass="entr" presetSubtype="0" fill="hold" grpId="0" nodeType="afterEffect">
                      <p:stCondLst>
                        <p:cond delay="1800"/>
                      </p:stCondLst>
                      <p:childTnLst>
                        <p:set>
                          <p:cBhvr>
                            <p:cTn id="146" dur="1" fill="hold">
                              <p:stCondLst>
                                <p:cond delay="0"/>
                              </p:stCondLst>
                            </p:cTn>
                            <p:tgtEl>
                              <p:spTgt spid="17"/>
                            </p:tgtEl>
                            <p:attrNameLst>
                              <p:attrName>style.visibility</p:attrName>
                            </p:attrNameLst>
                          </p:cBhvr>
                          <p:to>
                            <p:strVal val="visible"/>
                          </p:to>
                        </p:set>
                        <p:animEffect transition="in" filter="fade">
                          <p:cBhvr>
                            <p:cTn id="147" dur="450"/>
                            <p:tgtEl>
                              <p:spTgt spid="17"/>
                            </p:tgtEl>
                          </p:cBhvr>
                        </p:animEffect>
                      </p:childTnLst>
                    </p:cTn>
                  </p:par>
                  <p:par>
                    <p:cTn id="148" presetID="10" presetClass="entr" presetSubtype="0" fill="hold" grpId="0" nodeType="afterEffect">
                      <p:stCondLst>
                        <p:cond delay="1920"/>
                      </p:stCondLst>
                      <p:childTnLst>
                        <p:set>
                          <p:cBhvr>
                            <p:cTn id="149" dur="1" fill="hold">
                              <p:stCondLst>
                                <p:cond delay="0"/>
                              </p:stCondLst>
                            </p:cTn>
                            <p:tgtEl>
                              <p:spTgt spid="18"/>
                            </p:tgtEl>
                            <p:attrNameLst>
                              <p:attrName>style.visibility</p:attrName>
                            </p:attrNameLst>
                          </p:cBhvr>
                          <p:to>
                            <p:strVal val="visible"/>
                          </p:to>
                        </p:set>
                        <p:animEffect transition="in" filter="fade">
                          <p:cBhvr>
                            <p:cTn id="150" dur="450"/>
                            <p:tgtEl>
                              <p:spTgt spid="18"/>
                            </p:tgtEl>
                          </p:cBhvr>
                        </p:animEffect>
                      </p:childTnLst>
                    </p:cTn>
                  </p:par>
                  <p:par>
                    <p:cTn id="151" presetID="10" presetClass="entr" presetSubtype="0" fill="hold" grpId="0" nodeType="afterEffect">
                      <p:stCondLst>
                        <p:cond delay="2040"/>
                      </p:stCondLst>
                      <p:childTnLst>
                        <p:set>
                          <p:cBhvr>
                            <p:cTn id="152" dur="1" fill="hold">
                              <p:stCondLst>
                                <p:cond delay="0"/>
                              </p:stCondLst>
                            </p:cTn>
                            <p:tgtEl>
                              <p:spTgt spid="19"/>
                            </p:tgtEl>
                            <p:attrNameLst>
                              <p:attrName>style.visibility</p:attrName>
                            </p:attrNameLst>
                          </p:cBhvr>
                          <p:to>
                            <p:strVal val="visible"/>
                          </p:to>
                        </p:set>
                        <p:animEffect transition="in" filter="fade">
                          <p:cBhvr>
                            <p:cTn id="153" dur="450"/>
                            <p:tgtEl>
                              <p:spTgt spid="19"/>
                            </p:tgtEl>
                          </p:cBhvr>
                        </p:animEffect>
                      </p:childTnLst>
                    </p:cTn>
                  </p:par>
                  <p:par>
                    <p:cTn id="154" presetID="10" presetClass="entr" presetSubtype="0" fill="hold" grpId="0" nodeType="afterEffect">
                      <p:stCondLst>
                        <p:cond delay="2160"/>
                      </p:stCondLst>
                      <p:childTnLst>
                        <p:set>
                          <p:cBhvr>
                            <p:cTn id="155" dur="1" fill="hold">
                              <p:stCondLst>
                                <p:cond delay="0"/>
                              </p:stCondLst>
                            </p:cTn>
                            <p:tgtEl>
                              <p:spTgt spid="20"/>
                            </p:tgtEl>
                            <p:attrNameLst>
                              <p:attrName>style.visibility</p:attrName>
                            </p:attrNameLst>
                          </p:cBhvr>
                          <p:to>
                            <p:strVal val="visible"/>
                          </p:to>
                        </p:set>
                        <p:animEffect transition="in" filter="fade">
                          <p:cBhvr>
                            <p:cTn id="156" dur="450"/>
                            <p:tgtEl>
                              <p:spTgt spid="20"/>
                            </p:tgtEl>
                          </p:cBhvr>
                        </p:animEffect>
                      </p:childTnLst>
                    </p:cTn>
                  </p:par>
                  <p:par>
                    <p:cTn id="157" presetID="10" presetClass="entr" presetSubtype="0" fill="hold" grpId="0" nodeType="afterEffect">
                      <p:stCondLst>
                        <p:cond delay="2280"/>
                      </p:stCondLst>
                      <p:childTnLst>
                        <p:set>
                          <p:cBhvr>
                            <p:cTn id="158" dur="1" fill="hold">
                              <p:stCondLst>
                                <p:cond delay="0"/>
                              </p:stCondLst>
                            </p:cTn>
                            <p:tgtEl>
                              <p:spTgt spid="21"/>
                            </p:tgtEl>
                            <p:attrNameLst>
                              <p:attrName>style.visibility</p:attrName>
                            </p:attrNameLst>
                          </p:cBhvr>
                          <p:to>
                            <p:strVal val="visible"/>
                          </p:to>
                        </p:set>
                        <p:animEffect transition="in" filter="fade">
                          <p:cBhvr>
                            <p:cTn id="159" dur="450"/>
                            <p:tgtEl>
                              <p:spTgt spid="21"/>
                            </p:tgtEl>
                          </p:cBhvr>
                        </p:animEffect>
                      </p:childTnLst>
                    </p:cTn>
                  </p:par>
                  <p:par>
                    <p:cTn id="160" presetID="10" presetClass="entr" presetSubtype="0" fill="hold" grpId="0" nodeType="afterEffect">
                      <p:stCondLst>
                        <p:cond delay="2400"/>
                      </p:stCondLst>
                      <p:childTnLst>
                        <p:set>
                          <p:cBhvr>
                            <p:cTn id="161" dur="1" fill="hold">
                              <p:stCondLst>
                                <p:cond delay="0"/>
                              </p:stCondLst>
                            </p:cTn>
                            <p:tgtEl>
                              <p:spTgt spid="22"/>
                            </p:tgtEl>
                            <p:attrNameLst>
                              <p:attrName>style.visibility</p:attrName>
                            </p:attrNameLst>
                          </p:cBhvr>
                          <p:to>
                            <p:strVal val="visible"/>
                          </p:to>
                        </p:set>
                        <p:animEffect transition="in" filter="fade">
                          <p:cBhvr>
                            <p:cTn id="162" dur="450"/>
                            <p:tgtEl>
                              <p:spTgt spid="22"/>
                            </p:tgtEl>
                          </p:cBhvr>
                        </p:animEffect>
                      </p:childTnLst>
                    </p:cTn>
                  </p:par>
                  <p:par>
                    <p:cTn id="163" presetID="10" presetClass="entr" presetSubtype="0" fill="hold" grpId="0" nodeType="afterEffect">
                      <p:stCondLst>
                        <p:cond delay="2520"/>
                      </p:stCondLst>
                      <p:childTnLst>
                        <p:set>
                          <p:cBhvr>
                            <p:cTn id="164" dur="1" fill="hold">
                              <p:stCondLst>
                                <p:cond delay="0"/>
                              </p:stCondLst>
                            </p:cTn>
                            <p:tgtEl>
                              <p:spTgt spid="23"/>
                            </p:tgtEl>
                            <p:attrNameLst>
                              <p:attrName>style.visibility</p:attrName>
                            </p:attrNameLst>
                          </p:cBhvr>
                          <p:to>
                            <p:strVal val="visible"/>
                          </p:to>
                        </p:set>
                        <p:animEffect transition="in" filter="fade">
                          <p:cBhvr>
                            <p:cTn id="165" dur="450"/>
                            <p:tgtEl>
                              <p:spTgt spid="23"/>
                            </p:tgtEl>
                          </p:cBhvr>
                        </p:animEffect>
                      </p:childTnLst>
                    </p:cTn>
                  </p:par>
                  <p:par>
                    <p:cTn id="166" presetID="10" presetClass="entr" presetSubtype="0" fill="hold" grpId="0" nodeType="afterEffect">
                      <p:stCondLst>
                        <p:cond delay="2640"/>
                      </p:stCondLst>
                      <p:childTnLst>
                        <p:set>
                          <p:cBhvr>
                            <p:cTn id="167" dur="1" fill="hold">
                              <p:stCondLst>
                                <p:cond delay="0"/>
                              </p:stCondLst>
                            </p:cTn>
                            <p:tgtEl>
                              <p:spTgt spid="24"/>
                            </p:tgtEl>
                            <p:attrNameLst>
                              <p:attrName>style.visibility</p:attrName>
                            </p:attrNameLst>
                          </p:cBhvr>
                          <p:to>
                            <p:strVal val="visible"/>
                          </p:to>
                        </p:set>
                        <p:animEffect transition="in" filter="fade">
                          <p:cBhvr>
                            <p:cTn id="168" dur="450"/>
                            <p:tgtEl>
                              <p:spTgt spid="24"/>
                            </p:tgtEl>
                          </p:cBhvr>
                        </p:animEffect>
                      </p:childTnLst>
                    </p:cTn>
                  </p:par>
                  <p:par>
                    <p:cTn id="169" presetID="10" presetClass="entr" presetSubtype="0" fill="hold" grpId="0" nodeType="afterEffect">
                      <p:stCondLst>
                        <p:cond delay="2760"/>
                      </p:stCondLst>
                      <p:childTnLst>
                        <p:set>
                          <p:cBhvr>
                            <p:cTn id="170" dur="1" fill="hold">
                              <p:stCondLst>
                                <p:cond delay="0"/>
                              </p:stCondLst>
                            </p:cTn>
                            <p:tgtEl>
                              <p:spTgt spid="25"/>
                            </p:tgtEl>
                            <p:attrNameLst>
                              <p:attrName>style.visibility</p:attrName>
                            </p:attrNameLst>
                          </p:cBhvr>
                          <p:to>
                            <p:strVal val="visible"/>
                          </p:to>
                        </p:set>
                        <p:animEffect transition="in" filter="fade">
                          <p:cBhvr>
                            <p:cTn id="171" dur="450"/>
                            <p:tgtEl>
                              <p:spTgt spid="25"/>
                            </p:tgtEl>
                          </p:cBhvr>
                        </p:animEffect>
                      </p:childTnLst>
                    </p:cTn>
                  </p:par>
                  <p:par>
                    <p:cTn id="172" presetID="10" presetClass="entr" presetSubtype="0" fill="hold" grpId="0" nodeType="afterEffect">
                      <p:stCondLst>
                        <p:cond delay="2880"/>
                      </p:stCondLst>
                      <p:childTnLst>
                        <p:set>
                          <p:cBhvr>
                            <p:cTn id="173" dur="1" fill="hold">
                              <p:stCondLst>
                                <p:cond delay="0"/>
                              </p:stCondLst>
                            </p:cTn>
                            <p:tgtEl>
                              <p:spTgt spid="26"/>
                            </p:tgtEl>
                            <p:attrNameLst>
                              <p:attrName>style.visibility</p:attrName>
                            </p:attrNameLst>
                          </p:cBhvr>
                          <p:to>
                            <p:strVal val="visible"/>
                          </p:to>
                        </p:set>
                        <p:animEffect transition="in" filter="fade">
                          <p:cBhvr>
                            <p:cTn id="174" dur="450"/>
                            <p:tgtEl>
                              <p:spTgt spid="26"/>
                            </p:tgtEl>
                          </p:cBhvr>
                        </p:animEffect>
                      </p:childTnLst>
                    </p:cTn>
                  </p:par>
                  <p:par>
                    <p:cTn id="175" presetID="10" presetClass="entr" presetSubtype="0" fill="hold" grpId="0" nodeType="afterEffect">
                      <p:stCondLst>
                        <p:cond delay="3000"/>
                      </p:stCondLst>
                      <p:childTnLst>
                        <p:set>
                          <p:cBhvr>
                            <p:cTn id="176" dur="1" fill="hold">
                              <p:stCondLst>
                                <p:cond delay="0"/>
                              </p:stCondLst>
                            </p:cTn>
                            <p:tgtEl>
                              <p:spTgt spid="27"/>
                            </p:tgtEl>
                            <p:attrNameLst>
                              <p:attrName>style.visibility</p:attrName>
                            </p:attrNameLst>
                          </p:cBhvr>
                          <p:to>
                            <p:strVal val="visible"/>
                          </p:to>
                        </p:set>
                        <p:animEffect transition="in" filter="fade">
                          <p:cBhvr>
                            <p:cTn id="177" dur="450"/>
                            <p:tgtEl>
                              <p:spTgt spid="27"/>
                            </p:tgtEl>
                          </p:cBhvr>
                        </p:animEffect>
                      </p:childTnLst>
                    </p:cTn>
                  </p:par>
                  <p:par>
                    <p:cTn id="178" presetID="10" presetClass="entr" presetSubtype="0" fill="hold" grpId="0" nodeType="afterEffect">
                      <p:stCondLst>
                        <p:cond delay="3120"/>
                      </p:stCondLst>
                      <p:childTnLst>
                        <p:set>
                          <p:cBhvr>
                            <p:cTn id="179" dur="1" fill="hold">
                              <p:stCondLst>
                                <p:cond delay="0"/>
                              </p:stCondLst>
                            </p:cTn>
                            <p:tgtEl>
                              <p:spTgt spid="28"/>
                            </p:tgtEl>
                            <p:attrNameLst>
                              <p:attrName>style.visibility</p:attrName>
                            </p:attrNameLst>
                          </p:cBhvr>
                          <p:to>
                            <p:strVal val="visible"/>
                          </p:to>
                        </p:set>
                        <p:animEffect transition="in" filter="fade">
                          <p:cBhvr>
                            <p:cTn id="180" dur="450"/>
                            <p:tgtEl>
                              <p:spTgt spid="28"/>
                            </p:tgtEl>
                          </p:cBhvr>
                        </p:animEffect>
                      </p:childTnLst>
                    </p:cTn>
                  </p:par>
                  <p:par>
                    <p:cTn id="181" presetID="10" presetClass="entr" presetSubtype="0" fill="hold" grpId="0" nodeType="afterEffect">
                      <p:stCondLst>
                        <p:cond delay="3240"/>
                      </p:stCondLst>
                      <p:childTnLst>
                        <p:set>
                          <p:cBhvr>
                            <p:cTn id="182" dur="1" fill="hold">
                              <p:stCondLst>
                                <p:cond delay="0"/>
                              </p:stCondLst>
                            </p:cTn>
                            <p:tgtEl>
                              <p:spTgt spid="29"/>
                            </p:tgtEl>
                            <p:attrNameLst>
                              <p:attrName>style.visibility</p:attrName>
                            </p:attrNameLst>
                          </p:cBhvr>
                          <p:to>
                            <p:strVal val="visible"/>
                          </p:to>
                        </p:set>
                        <p:animEffect transition="in" filter="fade">
                          <p:cBhvr>
                            <p:cTn id="183" dur="450"/>
                            <p:tgtEl>
                              <p:spTgt spid="29"/>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KNOWLEDGE GRAPH</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Transcript → entities → relationships → graph.</a:t>
            </a:r>
            <a:endParaRPr lang="en-US" sz="3300" dirty="0"/>
          </a:p>
        </p:txBody>
      </p:sp>
      <p:sp>
        <p:nvSpPr>
          <p:cNvPr id="4" name="Shape 2"/>
          <p:cNvSpPr/>
          <p:nvPr/>
        </p:nvSpPr>
        <p:spPr>
          <a:xfrm>
            <a:off x="566928" y="2743200"/>
            <a:ext cx="1883664" cy="1828800"/>
          </a:xfrm>
          <a:prstGeom prst="roundRect">
            <a:avLst>
              <a:gd name="adj" fmla="val 6000"/>
            </a:avLst>
          </a:prstGeom>
          <a:solidFill>
            <a:srgbClr val="E4EFE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Text 3"/>
          <p:cNvSpPr/>
          <p:nvPr/>
        </p:nvSpPr>
        <p:spPr>
          <a:xfrm>
            <a:off x="704088" y="2880360"/>
            <a:ext cx="1609344" cy="457200"/>
          </a:xfrm>
          <a:prstGeom prst="rect">
            <a:avLst/>
          </a:prstGeom>
          <a:noFill/>
          <a:ln/>
        </p:spPr>
        <p:txBody>
          <a:bodyPr wrap="square" rtlCol="0" anchor="ctr"/>
          <a:lstStyle/>
          <a:p>
            <a:pPr indent="0" marL="0">
              <a:buNone/>
            </a:pPr>
            <a:r>
              <a:rPr lang="en-US" sz="2200" b="1" dirty="0">
                <a:solidFill>
                  <a:srgbClr val="0E7C86"/>
                </a:solidFill>
                <a:latin typeface="Segoe UI" pitchFamily="34" charset="0"/>
                <a:ea typeface="Segoe UI" pitchFamily="34" charset="-122"/>
                <a:cs typeface="Segoe UI" pitchFamily="34" charset="-120"/>
              </a:rPr>
              <a:t>1</a:t>
            </a:r>
            <a:endParaRPr lang="en-US" sz="2200" dirty="0"/>
          </a:p>
        </p:txBody>
      </p:sp>
      <p:sp>
        <p:nvSpPr>
          <p:cNvPr id="6" name="Text 4"/>
          <p:cNvSpPr/>
          <p:nvPr/>
        </p:nvSpPr>
        <p:spPr>
          <a:xfrm>
            <a:off x="704088" y="3383280"/>
            <a:ext cx="1609344" cy="457200"/>
          </a:xfrm>
          <a:prstGeom prst="rect">
            <a:avLst/>
          </a:prstGeom>
          <a:noFill/>
          <a:ln/>
        </p:spPr>
        <p:txBody>
          <a:bodyPr wrap="square" rtlCol="0" anchor="ctr"/>
          <a:lstStyle/>
          <a:p>
            <a:pPr indent="0" marL="0">
              <a:buNone/>
            </a:pPr>
            <a:r>
              <a:rPr lang="en-US" sz="1550" b="1" dirty="0">
                <a:solidFill>
                  <a:srgbClr val="1A1A1A"/>
                </a:solidFill>
                <a:latin typeface="Segoe UI" pitchFamily="34" charset="0"/>
                <a:ea typeface="Segoe UI" pitchFamily="34" charset="-122"/>
                <a:cs typeface="Segoe UI" pitchFamily="34" charset="-120"/>
              </a:rPr>
              <a:t>Transcript</a:t>
            </a:r>
            <a:endParaRPr lang="en-US" sz="1550" dirty="0"/>
          </a:p>
        </p:txBody>
      </p:sp>
      <p:sp>
        <p:nvSpPr>
          <p:cNvPr id="7" name="Text 5"/>
          <p:cNvSpPr/>
          <p:nvPr/>
        </p:nvSpPr>
        <p:spPr>
          <a:xfrm>
            <a:off x="704088" y="3822192"/>
            <a:ext cx="1609344" cy="640080"/>
          </a:xfrm>
          <a:prstGeom prst="rect">
            <a:avLst/>
          </a:prstGeom>
          <a:noFill/>
          <a:ln/>
        </p:spPr>
        <p:txBody>
          <a:bodyPr wrap="square" rtlCol="0" anchor="ctr"/>
          <a:lstStyle/>
          <a:p>
            <a:pPr indent="0" marL="0">
              <a:lnSpc>
                <a:spcPct val="105000"/>
              </a:lnSpc>
              <a:buNone/>
            </a:pPr>
            <a:r>
              <a:rPr lang="en-US" sz="1200" dirty="0">
                <a:solidFill>
                  <a:srgbClr val="3A3A3A"/>
                </a:solidFill>
                <a:latin typeface="Segoe UI" pitchFamily="34" charset="0"/>
                <a:ea typeface="Segoe UI" pitchFamily="34" charset="-122"/>
                <a:cs typeface="Segoe UI" pitchFamily="34" charset="-120"/>
              </a:rPr>
              <a:t>live text</a:t>
            </a:r>
            <a:endParaRPr lang="en-US" sz="1200" dirty="0"/>
          </a:p>
        </p:txBody>
      </p:sp>
      <p:sp>
        <p:nvSpPr>
          <p:cNvPr id="8" name="Text 6"/>
          <p:cNvSpPr/>
          <p:nvPr/>
        </p:nvSpPr>
        <p:spPr>
          <a:xfrm>
            <a:off x="2450592" y="2743200"/>
            <a:ext cx="411480" cy="1828800"/>
          </a:xfrm>
          <a:prstGeom prst="rect">
            <a:avLst/>
          </a:prstGeom>
          <a:noFill/>
          <a:ln/>
        </p:spPr>
        <p:txBody>
          <a:bodyPr wrap="square" rtlCol="0" anchor="ctr"/>
          <a:lstStyle/>
          <a:p>
            <a:pPr algn="ctr" indent="0" marL="0">
              <a:buNone/>
            </a:pPr>
            <a:r>
              <a:rPr lang="en-US" sz="2400" b="1" dirty="0">
                <a:solidFill>
                  <a:srgbClr val="0E7C86"/>
                </a:solidFill>
                <a:latin typeface="Segoe UI" pitchFamily="34" charset="0"/>
                <a:ea typeface="Segoe UI" pitchFamily="34" charset="-122"/>
                <a:cs typeface="Segoe UI" pitchFamily="34" charset="-120"/>
              </a:rPr>
              <a:t>›</a:t>
            </a:r>
            <a:endParaRPr lang="en-US" sz="2400" dirty="0"/>
          </a:p>
        </p:txBody>
      </p:sp>
      <p:sp>
        <p:nvSpPr>
          <p:cNvPr id="9" name="Shape 7"/>
          <p:cNvSpPr/>
          <p:nvPr/>
        </p:nvSpPr>
        <p:spPr>
          <a:xfrm>
            <a:off x="2862072" y="2743200"/>
            <a:ext cx="1883664" cy="1828800"/>
          </a:xfrm>
          <a:prstGeom prst="roundRect">
            <a:avLst>
              <a:gd name="adj" fmla="val 6000"/>
            </a:avLst>
          </a:prstGeom>
          <a:solidFill>
            <a:srgbClr val="F0EBE1"/>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0" name="Text 8"/>
          <p:cNvSpPr/>
          <p:nvPr/>
        </p:nvSpPr>
        <p:spPr>
          <a:xfrm>
            <a:off x="2999232" y="2880360"/>
            <a:ext cx="1609344" cy="457200"/>
          </a:xfrm>
          <a:prstGeom prst="rect">
            <a:avLst/>
          </a:prstGeom>
          <a:noFill/>
          <a:ln/>
        </p:spPr>
        <p:txBody>
          <a:bodyPr wrap="square" rtlCol="0" anchor="ctr"/>
          <a:lstStyle/>
          <a:p>
            <a:pPr indent="0" marL="0">
              <a:buNone/>
            </a:pPr>
            <a:r>
              <a:rPr lang="en-US" sz="2200" b="1" dirty="0">
                <a:solidFill>
                  <a:srgbClr val="0E7C86"/>
                </a:solidFill>
                <a:latin typeface="Segoe UI" pitchFamily="34" charset="0"/>
                <a:ea typeface="Segoe UI" pitchFamily="34" charset="-122"/>
                <a:cs typeface="Segoe UI" pitchFamily="34" charset="-120"/>
              </a:rPr>
              <a:t>2</a:t>
            </a:r>
            <a:endParaRPr lang="en-US" sz="2200" dirty="0"/>
          </a:p>
        </p:txBody>
      </p:sp>
      <p:sp>
        <p:nvSpPr>
          <p:cNvPr id="11" name="Text 9"/>
          <p:cNvSpPr/>
          <p:nvPr/>
        </p:nvSpPr>
        <p:spPr>
          <a:xfrm>
            <a:off x="2999232" y="3383280"/>
            <a:ext cx="1609344" cy="457200"/>
          </a:xfrm>
          <a:prstGeom prst="rect">
            <a:avLst/>
          </a:prstGeom>
          <a:noFill/>
          <a:ln/>
        </p:spPr>
        <p:txBody>
          <a:bodyPr wrap="square" rtlCol="0" anchor="ctr"/>
          <a:lstStyle/>
          <a:p>
            <a:pPr indent="0" marL="0">
              <a:buNone/>
            </a:pPr>
            <a:r>
              <a:rPr lang="en-US" sz="1550" b="1" dirty="0">
                <a:solidFill>
                  <a:srgbClr val="1A1A1A"/>
                </a:solidFill>
                <a:latin typeface="Segoe UI" pitchFamily="34" charset="0"/>
                <a:ea typeface="Segoe UI" pitchFamily="34" charset="-122"/>
                <a:cs typeface="Segoe UI" pitchFamily="34" charset="-120"/>
              </a:rPr>
              <a:t>Extract</a:t>
            </a:r>
            <a:endParaRPr lang="en-US" sz="1550" dirty="0"/>
          </a:p>
        </p:txBody>
      </p:sp>
      <p:sp>
        <p:nvSpPr>
          <p:cNvPr id="12" name="Text 10"/>
          <p:cNvSpPr/>
          <p:nvPr/>
        </p:nvSpPr>
        <p:spPr>
          <a:xfrm>
            <a:off x="2999232" y="3822192"/>
            <a:ext cx="1609344" cy="640080"/>
          </a:xfrm>
          <a:prstGeom prst="rect">
            <a:avLst/>
          </a:prstGeom>
          <a:noFill/>
          <a:ln/>
        </p:spPr>
        <p:txBody>
          <a:bodyPr wrap="square" rtlCol="0" anchor="ctr"/>
          <a:lstStyle/>
          <a:p>
            <a:pPr indent="0" marL="0">
              <a:lnSpc>
                <a:spcPct val="105000"/>
              </a:lnSpc>
              <a:buNone/>
            </a:pPr>
            <a:r>
              <a:rPr lang="en-US" sz="1200" dirty="0">
                <a:solidFill>
                  <a:srgbClr val="3A3A3A"/>
                </a:solidFill>
                <a:latin typeface="Segoe UI" pitchFamily="34" charset="0"/>
                <a:ea typeface="Segoe UI" pitchFamily="34" charset="-122"/>
                <a:cs typeface="Segoe UI" pitchFamily="34" charset="-120"/>
              </a:rPr>
              <a:t>fast LLM finds people/topics</a:t>
            </a:r>
            <a:endParaRPr lang="en-US" sz="1200" dirty="0"/>
          </a:p>
        </p:txBody>
      </p:sp>
      <p:sp>
        <p:nvSpPr>
          <p:cNvPr id="13" name="Text 11"/>
          <p:cNvSpPr/>
          <p:nvPr/>
        </p:nvSpPr>
        <p:spPr>
          <a:xfrm>
            <a:off x="4745736" y="2743200"/>
            <a:ext cx="411480" cy="1828800"/>
          </a:xfrm>
          <a:prstGeom prst="rect">
            <a:avLst/>
          </a:prstGeom>
          <a:noFill/>
          <a:ln/>
        </p:spPr>
        <p:txBody>
          <a:bodyPr wrap="square" rtlCol="0" anchor="ctr"/>
          <a:lstStyle/>
          <a:p>
            <a:pPr algn="ctr" indent="0" marL="0">
              <a:buNone/>
            </a:pPr>
            <a:r>
              <a:rPr lang="en-US" sz="2400" b="1" dirty="0">
                <a:solidFill>
                  <a:srgbClr val="0E7C86"/>
                </a:solidFill>
                <a:latin typeface="Segoe UI" pitchFamily="34" charset="0"/>
                <a:ea typeface="Segoe UI" pitchFamily="34" charset="-122"/>
                <a:cs typeface="Segoe UI" pitchFamily="34" charset="-120"/>
              </a:rPr>
              <a:t>›</a:t>
            </a:r>
            <a:endParaRPr lang="en-US" sz="2400" dirty="0"/>
          </a:p>
        </p:txBody>
      </p:sp>
      <p:sp>
        <p:nvSpPr>
          <p:cNvPr id="14" name="Shape 12"/>
          <p:cNvSpPr/>
          <p:nvPr/>
        </p:nvSpPr>
        <p:spPr>
          <a:xfrm>
            <a:off x="5157216" y="2743200"/>
            <a:ext cx="1883664" cy="1828800"/>
          </a:xfrm>
          <a:prstGeom prst="roundRect">
            <a:avLst>
              <a:gd name="adj" fmla="val 6000"/>
            </a:avLst>
          </a:prstGeom>
          <a:solidFill>
            <a:srgbClr val="E4EFE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5" name="Text 13"/>
          <p:cNvSpPr/>
          <p:nvPr/>
        </p:nvSpPr>
        <p:spPr>
          <a:xfrm>
            <a:off x="5294376" y="2880360"/>
            <a:ext cx="1609344" cy="457200"/>
          </a:xfrm>
          <a:prstGeom prst="rect">
            <a:avLst/>
          </a:prstGeom>
          <a:noFill/>
          <a:ln/>
        </p:spPr>
        <p:txBody>
          <a:bodyPr wrap="square" rtlCol="0" anchor="ctr"/>
          <a:lstStyle/>
          <a:p>
            <a:pPr indent="0" marL="0">
              <a:buNone/>
            </a:pPr>
            <a:r>
              <a:rPr lang="en-US" sz="2200" b="1" dirty="0">
                <a:solidFill>
                  <a:srgbClr val="0E7C86"/>
                </a:solidFill>
                <a:latin typeface="Segoe UI" pitchFamily="34" charset="0"/>
                <a:ea typeface="Segoe UI" pitchFamily="34" charset="-122"/>
                <a:cs typeface="Segoe UI" pitchFamily="34" charset="-120"/>
              </a:rPr>
              <a:t>3</a:t>
            </a:r>
            <a:endParaRPr lang="en-US" sz="2200" dirty="0"/>
          </a:p>
        </p:txBody>
      </p:sp>
      <p:sp>
        <p:nvSpPr>
          <p:cNvPr id="16" name="Text 14"/>
          <p:cNvSpPr/>
          <p:nvPr/>
        </p:nvSpPr>
        <p:spPr>
          <a:xfrm>
            <a:off x="5294376" y="3383280"/>
            <a:ext cx="1609344" cy="457200"/>
          </a:xfrm>
          <a:prstGeom prst="rect">
            <a:avLst/>
          </a:prstGeom>
          <a:noFill/>
          <a:ln/>
        </p:spPr>
        <p:txBody>
          <a:bodyPr wrap="square" rtlCol="0" anchor="ctr"/>
          <a:lstStyle/>
          <a:p>
            <a:pPr indent="0" marL="0">
              <a:buNone/>
            </a:pPr>
            <a:r>
              <a:rPr lang="en-US" sz="1550" b="1" dirty="0">
                <a:solidFill>
                  <a:srgbClr val="1A1A1A"/>
                </a:solidFill>
                <a:latin typeface="Segoe UI" pitchFamily="34" charset="0"/>
                <a:ea typeface="Segoe UI" pitchFamily="34" charset="-122"/>
                <a:cs typeface="Segoe UI" pitchFamily="34" charset="-120"/>
              </a:rPr>
              <a:t>Model</a:t>
            </a:r>
            <a:endParaRPr lang="en-US" sz="1550" dirty="0"/>
          </a:p>
        </p:txBody>
      </p:sp>
      <p:sp>
        <p:nvSpPr>
          <p:cNvPr id="17" name="Text 15"/>
          <p:cNvSpPr/>
          <p:nvPr/>
        </p:nvSpPr>
        <p:spPr>
          <a:xfrm>
            <a:off x="5294376" y="3822192"/>
            <a:ext cx="1609344" cy="640080"/>
          </a:xfrm>
          <a:prstGeom prst="rect">
            <a:avLst/>
          </a:prstGeom>
          <a:noFill/>
          <a:ln/>
        </p:spPr>
        <p:txBody>
          <a:bodyPr wrap="square" rtlCol="0" anchor="ctr"/>
          <a:lstStyle/>
          <a:p>
            <a:pPr indent="0" marL="0">
              <a:lnSpc>
                <a:spcPct val="105000"/>
              </a:lnSpc>
              <a:buNone/>
            </a:pPr>
            <a:r>
              <a:rPr lang="en-US" sz="1200" dirty="0">
                <a:solidFill>
                  <a:srgbClr val="3A3A3A"/>
                </a:solidFill>
                <a:latin typeface="Segoe UI" pitchFamily="34" charset="0"/>
                <a:ea typeface="Segoe UI" pitchFamily="34" charset="-122"/>
                <a:cs typeface="Segoe UI" pitchFamily="34" charset="-120"/>
              </a:rPr>
              <a:t>NetworkX nodes + edges</a:t>
            </a:r>
            <a:endParaRPr lang="en-US" sz="1200" dirty="0"/>
          </a:p>
        </p:txBody>
      </p:sp>
      <p:sp>
        <p:nvSpPr>
          <p:cNvPr id="18" name="Text 16"/>
          <p:cNvSpPr/>
          <p:nvPr/>
        </p:nvSpPr>
        <p:spPr>
          <a:xfrm>
            <a:off x="7040880" y="2743200"/>
            <a:ext cx="411480" cy="1828800"/>
          </a:xfrm>
          <a:prstGeom prst="rect">
            <a:avLst/>
          </a:prstGeom>
          <a:noFill/>
          <a:ln/>
        </p:spPr>
        <p:txBody>
          <a:bodyPr wrap="square" rtlCol="0" anchor="ctr"/>
          <a:lstStyle/>
          <a:p>
            <a:pPr algn="ctr" indent="0" marL="0">
              <a:buNone/>
            </a:pPr>
            <a:r>
              <a:rPr lang="en-US" sz="2400" b="1" dirty="0">
                <a:solidFill>
                  <a:srgbClr val="0E7C86"/>
                </a:solidFill>
                <a:latin typeface="Segoe UI" pitchFamily="34" charset="0"/>
                <a:ea typeface="Segoe UI" pitchFamily="34" charset="-122"/>
                <a:cs typeface="Segoe UI" pitchFamily="34" charset="-120"/>
              </a:rPr>
              <a:t>›</a:t>
            </a:r>
            <a:endParaRPr lang="en-US" sz="2400" dirty="0"/>
          </a:p>
        </p:txBody>
      </p:sp>
      <p:sp>
        <p:nvSpPr>
          <p:cNvPr id="19" name="Shape 17"/>
          <p:cNvSpPr/>
          <p:nvPr/>
        </p:nvSpPr>
        <p:spPr>
          <a:xfrm>
            <a:off x="7452360" y="2743200"/>
            <a:ext cx="1883664" cy="1828800"/>
          </a:xfrm>
          <a:prstGeom prst="roundRect">
            <a:avLst>
              <a:gd name="adj" fmla="val 6000"/>
            </a:avLst>
          </a:prstGeom>
          <a:solidFill>
            <a:srgbClr val="F0EBE1"/>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20" name="Text 18"/>
          <p:cNvSpPr/>
          <p:nvPr/>
        </p:nvSpPr>
        <p:spPr>
          <a:xfrm>
            <a:off x="7589520" y="2880360"/>
            <a:ext cx="1609344" cy="457200"/>
          </a:xfrm>
          <a:prstGeom prst="rect">
            <a:avLst/>
          </a:prstGeom>
          <a:noFill/>
          <a:ln/>
        </p:spPr>
        <p:txBody>
          <a:bodyPr wrap="square" rtlCol="0" anchor="ctr"/>
          <a:lstStyle/>
          <a:p>
            <a:pPr indent="0" marL="0">
              <a:buNone/>
            </a:pPr>
            <a:r>
              <a:rPr lang="en-US" sz="2200" b="1" dirty="0">
                <a:solidFill>
                  <a:srgbClr val="0E7C86"/>
                </a:solidFill>
                <a:latin typeface="Segoe UI" pitchFamily="34" charset="0"/>
                <a:ea typeface="Segoe UI" pitchFamily="34" charset="-122"/>
                <a:cs typeface="Segoe UI" pitchFamily="34" charset="-120"/>
              </a:rPr>
              <a:t>4</a:t>
            </a:r>
            <a:endParaRPr lang="en-US" sz="2200" dirty="0"/>
          </a:p>
        </p:txBody>
      </p:sp>
      <p:sp>
        <p:nvSpPr>
          <p:cNvPr id="21" name="Text 19"/>
          <p:cNvSpPr/>
          <p:nvPr/>
        </p:nvSpPr>
        <p:spPr>
          <a:xfrm>
            <a:off x="7589520" y="3383280"/>
            <a:ext cx="1609344" cy="457200"/>
          </a:xfrm>
          <a:prstGeom prst="rect">
            <a:avLst/>
          </a:prstGeom>
          <a:noFill/>
          <a:ln/>
        </p:spPr>
        <p:txBody>
          <a:bodyPr wrap="square" rtlCol="0" anchor="ctr"/>
          <a:lstStyle/>
          <a:p>
            <a:pPr indent="0" marL="0">
              <a:buNone/>
            </a:pPr>
            <a:r>
              <a:rPr lang="en-US" sz="1550" b="1" dirty="0">
                <a:solidFill>
                  <a:srgbClr val="1A1A1A"/>
                </a:solidFill>
                <a:latin typeface="Segoe UI" pitchFamily="34" charset="0"/>
                <a:ea typeface="Segoe UI" pitchFamily="34" charset="-122"/>
                <a:cs typeface="Segoe UI" pitchFamily="34" charset="-120"/>
              </a:rPr>
              <a:t>Persist</a:t>
            </a:r>
            <a:endParaRPr lang="en-US" sz="1550" dirty="0"/>
          </a:p>
        </p:txBody>
      </p:sp>
      <p:sp>
        <p:nvSpPr>
          <p:cNvPr id="22" name="Text 20"/>
          <p:cNvSpPr/>
          <p:nvPr/>
        </p:nvSpPr>
        <p:spPr>
          <a:xfrm>
            <a:off x="7589520" y="3822192"/>
            <a:ext cx="1609344" cy="640080"/>
          </a:xfrm>
          <a:prstGeom prst="rect">
            <a:avLst/>
          </a:prstGeom>
          <a:noFill/>
          <a:ln/>
        </p:spPr>
        <p:txBody>
          <a:bodyPr wrap="square" rtlCol="0" anchor="ctr"/>
          <a:lstStyle/>
          <a:p>
            <a:pPr indent="0" marL="0">
              <a:lnSpc>
                <a:spcPct val="105000"/>
              </a:lnSpc>
              <a:buNone/>
            </a:pPr>
            <a:r>
              <a:rPr lang="en-US" sz="1200" dirty="0">
                <a:solidFill>
                  <a:srgbClr val="3A3A3A"/>
                </a:solidFill>
                <a:latin typeface="Segoe UI" pitchFamily="34" charset="0"/>
                <a:ea typeface="Segoe UI" pitchFamily="34" charset="-122"/>
                <a:cs typeface="Segoe UI" pitchFamily="34" charset="-120"/>
              </a:rPr>
              <a:t>Postgres link tables</a:t>
            </a:r>
            <a:endParaRPr lang="en-US" sz="1200" dirty="0"/>
          </a:p>
        </p:txBody>
      </p:sp>
      <p:sp>
        <p:nvSpPr>
          <p:cNvPr id="23" name="Text 21"/>
          <p:cNvSpPr/>
          <p:nvPr/>
        </p:nvSpPr>
        <p:spPr>
          <a:xfrm>
            <a:off x="9336024" y="2743200"/>
            <a:ext cx="411480" cy="1828800"/>
          </a:xfrm>
          <a:prstGeom prst="rect">
            <a:avLst/>
          </a:prstGeom>
          <a:noFill/>
          <a:ln/>
        </p:spPr>
        <p:txBody>
          <a:bodyPr wrap="square" rtlCol="0" anchor="ctr"/>
          <a:lstStyle/>
          <a:p>
            <a:pPr algn="ctr" indent="0" marL="0">
              <a:buNone/>
            </a:pPr>
            <a:r>
              <a:rPr lang="en-US" sz="2400" b="1" dirty="0">
                <a:solidFill>
                  <a:srgbClr val="0E7C86"/>
                </a:solidFill>
                <a:latin typeface="Segoe UI" pitchFamily="34" charset="0"/>
                <a:ea typeface="Segoe UI" pitchFamily="34" charset="-122"/>
                <a:cs typeface="Segoe UI" pitchFamily="34" charset="-120"/>
              </a:rPr>
              <a:t>›</a:t>
            </a:r>
            <a:endParaRPr lang="en-US" sz="2400" dirty="0"/>
          </a:p>
        </p:txBody>
      </p:sp>
      <p:sp>
        <p:nvSpPr>
          <p:cNvPr id="24" name="Shape 22"/>
          <p:cNvSpPr/>
          <p:nvPr/>
        </p:nvSpPr>
        <p:spPr>
          <a:xfrm>
            <a:off x="9747504" y="2743200"/>
            <a:ext cx="1883664" cy="1828800"/>
          </a:xfrm>
          <a:prstGeom prst="roundRect">
            <a:avLst>
              <a:gd name="adj" fmla="val 6000"/>
            </a:avLst>
          </a:prstGeom>
          <a:solidFill>
            <a:srgbClr val="E4EFE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25" name="Text 23"/>
          <p:cNvSpPr/>
          <p:nvPr/>
        </p:nvSpPr>
        <p:spPr>
          <a:xfrm>
            <a:off x="9884664" y="2880360"/>
            <a:ext cx="1609344" cy="457200"/>
          </a:xfrm>
          <a:prstGeom prst="rect">
            <a:avLst/>
          </a:prstGeom>
          <a:noFill/>
          <a:ln/>
        </p:spPr>
        <p:txBody>
          <a:bodyPr wrap="square" rtlCol="0" anchor="ctr"/>
          <a:lstStyle/>
          <a:p>
            <a:pPr indent="0" marL="0">
              <a:buNone/>
            </a:pPr>
            <a:r>
              <a:rPr lang="en-US" sz="2200" b="1" dirty="0">
                <a:solidFill>
                  <a:srgbClr val="0E7C86"/>
                </a:solidFill>
                <a:latin typeface="Segoe UI" pitchFamily="34" charset="0"/>
                <a:ea typeface="Segoe UI" pitchFamily="34" charset="-122"/>
                <a:cs typeface="Segoe UI" pitchFamily="34" charset="-120"/>
              </a:rPr>
              <a:t>5</a:t>
            </a:r>
            <a:endParaRPr lang="en-US" sz="2200" dirty="0"/>
          </a:p>
        </p:txBody>
      </p:sp>
      <p:sp>
        <p:nvSpPr>
          <p:cNvPr id="26" name="Text 24"/>
          <p:cNvSpPr/>
          <p:nvPr/>
        </p:nvSpPr>
        <p:spPr>
          <a:xfrm>
            <a:off x="9884664" y="3383280"/>
            <a:ext cx="1609344" cy="457200"/>
          </a:xfrm>
          <a:prstGeom prst="rect">
            <a:avLst/>
          </a:prstGeom>
          <a:noFill/>
          <a:ln/>
        </p:spPr>
        <p:txBody>
          <a:bodyPr wrap="square" rtlCol="0" anchor="ctr"/>
          <a:lstStyle/>
          <a:p>
            <a:pPr indent="0" marL="0">
              <a:buNone/>
            </a:pPr>
            <a:r>
              <a:rPr lang="en-US" sz="1550" b="1" dirty="0">
                <a:solidFill>
                  <a:srgbClr val="1A1A1A"/>
                </a:solidFill>
                <a:latin typeface="Segoe UI" pitchFamily="34" charset="0"/>
                <a:ea typeface="Segoe UI" pitchFamily="34" charset="-122"/>
                <a:cs typeface="Segoe UI" pitchFamily="34" charset="-120"/>
              </a:rPr>
              <a:t>Explore</a:t>
            </a:r>
            <a:endParaRPr lang="en-US" sz="1550" dirty="0"/>
          </a:p>
        </p:txBody>
      </p:sp>
      <p:sp>
        <p:nvSpPr>
          <p:cNvPr id="27" name="Text 25"/>
          <p:cNvSpPr/>
          <p:nvPr/>
        </p:nvSpPr>
        <p:spPr>
          <a:xfrm>
            <a:off x="9884664" y="3822192"/>
            <a:ext cx="1609344" cy="640080"/>
          </a:xfrm>
          <a:prstGeom prst="rect">
            <a:avLst/>
          </a:prstGeom>
          <a:noFill/>
          <a:ln/>
        </p:spPr>
        <p:txBody>
          <a:bodyPr wrap="square" rtlCol="0" anchor="ctr"/>
          <a:lstStyle/>
          <a:p>
            <a:pPr indent="0" marL="0">
              <a:lnSpc>
                <a:spcPct val="105000"/>
              </a:lnSpc>
              <a:buNone/>
            </a:pPr>
            <a:r>
              <a:rPr lang="en-US" sz="1200" dirty="0">
                <a:solidFill>
                  <a:srgbClr val="3A3A3A"/>
                </a:solidFill>
                <a:latin typeface="Segoe UI" pitchFamily="34" charset="0"/>
                <a:ea typeface="Segoe UI" pitchFamily="34" charset="-122"/>
                <a:cs typeface="Segoe UI" pitchFamily="34" charset="-120"/>
              </a:rPr>
              <a:t>interactive timeline</a:t>
            </a:r>
            <a:endParaRPr lang="en-US" sz="1200" dirty="0"/>
          </a:p>
        </p:txBody>
      </p:sp>
      <p:sp>
        <p:nvSpPr>
          <p:cNvPr id="28" name="Text 26"/>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9" name="Text 27"/>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26</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par>
                    <p:cTn id="142" presetID="10" presetClass="entr" presetSubtype="0" fill="hold" grpId="0" nodeType="afterEffect">
                      <p:stCondLst>
                        <p:cond delay="1680"/>
                      </p:stCondLst>
                      <p:childTnLst>
                        <p:set>
                          <p:cBhvr>
                            <p:cTn id="143" dur="1" fill="hold">
                              <p:stCondLst>
                                <p:cond delay="0"/>
                              </p:stCondLst>
                            </p:cTn>
                            <p:tgtEl>
                              <p:spTgt spid="16"/>
                            </p:tgtEl>
                            <p:attrNameLst>
                              <p:attrName>style.visibility</p:attrName>
                            </p:attrNameLst>
                          </p:cBhvr>
                          <p:to>
                            <p:strVal val="visible"/>
                          </p:to>
                        </p:set>
                        <p:animEffect transition="in" filter="fade">
                          <p:cBhvr>
                            <p:cTn id="144" dur="450"/>
                            <p:tgtEl>
                              <p:spTgt spid="16"/>
                            </p:tgtEl>
                          </p:cBhvr>
                        </p:animEffect>
                      </p:childTnLst>
                    </p:cTn>
                  </p:par>
                  <p:par>
                    <p:cTn id="145" presetID="10" presetClass="entr" presetSubtype="0" fill="hold" grpId="0" nodeType="afterEffect">
                      <p:stCondLst>
                        <p:cond delay="1800"/>
                      </p:stCondLst>
                      <p:childTnLst>
                        <p:set>
                          <p:cBhvr>
                            <p:cTn id="146" dur="1" fill="hold">
                              <p:stCondLst>
                                <p:cond delay="0"/>
                              </p:stCondLst>
                            </p:cTn>
                            <p:tgtEl>
                              <p:spTgt spid="17"/>
                            </p:tgtEl>
                            <p:attrNameLst>
                              <p:attrName>style.visibility</p:attrName>
                            </p:attrNameLst>
                          </p:cBhvr>
                          <p:to>
                            <p:strVal val="visible"/>
                          </p:to>
                        </p:set>
                        <p:animEffect transition="in" filter="fade">
                          <p:cBhvr>
                            <p:cTn id="147" dur="450"/>
                            <p:tgtEl>
                              <p:spTgt spid="17"/>
                            </p:tgtEl>
                          </p:cBhvr>
                        </p:animEffect>
                      </p:childTnLst>
                    </p:cTn>
                  </p:par>
                  <p:par>
                    <p:cTn id="148" presetID="10" presetClass="entr" presetSubtype="0" fill="hold" grpId="0" nodeType="afterEffect">
                      <p:stCondLst>
                        <p:cond delay="1920"/>
                      </p:stCondLst>
                      <p:childTnLst>
                        <p:set>
                          <p:cBhvr>
                            <p:cTn id="149" dur="1" fill="hold">
                              <p:stCondLst>
                                <p:cond delay="0"/>
                              </p:stCondLst>
                            </p:cTn>
                            <p:tgtEl>
                              <p:spTgt spid="18"/>
                            </p:tgtEl>
                            <p:attrNameLst>
                              <p:attrName>style.visibility</p:attrName>
                            </p:attrNameLst>
                          </p:cBhvr>
                          <p:to>
                            <p:strVal val="visible"/>
                          </p:to>
                        </p:set>
                        <p:animEffect transition="in" filter="fade">
                          <p:cBhvr>
                            <p:cTn id="150" dur="450"/>
                            <p:tgtEl>
                              <p:spTgt spid="18"/>
                            </p:tgtEl>
                          </p:cBhvr>
                        </p:animEffect>
                      </p:childTnLst>
                    </p:cTn>
                  </p:par>
                  <p:par>
                    <p:cTn id="151" presetID="10" presetClass="entr" presetSubtype="0" fill="hold" grpId="0" nodeType="afterEffect">
                      <p:stCondLst>
                        <p:cond delay="2040"/>
                      </p:stCondLst>
                      <p:childTnLst>
                        <p:set>
                          <p:cBhvr>
                            <p:cTn id="152" dur="1" fill="hold">
                              <p:stCondLst>
                                <p:cond delay="0"/>
                              </p:stCondLst>
                            </p:cTn>
                            <p:tgtEl>
                              <p:spTgt spid="19"/>
                            </p:tgtEl>
                            <p:attrNameLst>
                              <p:attrName>style.visibility</p:attrName>
                            </p:attrNameLst>
                          </p:cBhvr>
                          <p:to>
                            <p:strVal val="visible"/>
                          </p:to>
                        </p:set>
                        <p:animEffect transition="in" filter="fade">
                          <p:cBhvr>
                            <p:cTn id="153" dur="450"/>
                            <p:tgtEl>
                              <p:spTgt spid="19"/>
                            </p:tgtEl>
                          </p:cBhvr>
                        </p:animEffect>
                      </p:childTnLst>
                    </p:cTn>
                  </p:par>
                  <p:par>
                    <p:cTn id="154" presetID="10" presetClass="entr" presetSubtype="0" fill="hold" grpId="0" nodeType="afterEffect">
                      <p:stCondLst>
                        <p:cond delay="2160"/>
                      </p:stCondLst>
                      <p:childTnLst>
                        <p:set>
                          <p:cBhvr>
                            <p:cTn id="155" dur="1" fill="hold">
                              <p:stCondLst>
                                <p:cond delay="0"/>
                              </p:stCondLst>
                            </p:cTn>
                            <p:tgtEl>
                              <p:spTgt spid="20"/>
                            </p:tgtEl>
                            <p:attrNameLst>
                              <p:attrName>style.visibility</p:attrName>
                            </p:attrNameLst>
                          </p:cBhvr>
                          <p:to>
                            <p:strVal val="visible"/>
                          </p:to>
                        </p:set>
                        <p:animEffect transition="in" filter="fade">
                          <p:cBhvr>
                            <p:cTn id="156" dur="450"/>
                            <p:tgtEl>
                              <p:spTgt spid="20"/>
                            </p:tgtEl>
                          </p:cBhvr>
                        </p:animEffect>
                      </p:childTnLst>
                    </p:cTn>
                  </p:par>
                  <p:par>
                    <p:cTn id="157" presetID="10" presetClass="entr" presetSubtype="0" fill="hold" grpId="0" nodeType="afterEffect">
                      <p:stCondLst>
                        <p:cond delay="2280"/>
                      </p:stCondLst>
                      <p:childTnLst>
                        <p:set>
                          <p:cBhvr>
                            <p:cTn id="158" dur="1" fill="hold">
                              <p:stCondLst>
                                <p:cond delay="0"/>
                              </p:stCondLst>
                            </p:cTn>
                            <p:tgtEl>
                              <p:spTgt spid="21"/>
                            </p:tgtEl>
                            <p:attrNameLst>
                              <p:attrName>style.visibility</p:attrName>
                            </p:attrNameLst>
                          </p:cBhvr>
                          <p:to>
                            <p:strVal val="visible"/>
                          </p:to>
                        </p:set>
                        <p:animEffect transition="in" filter="fade">
                          <p:cBhvr>
                            <p:cTn id="159" dur="450"/>
                            <p:tgtEl>
                              <p:spTgt spid="21"/>
                            </p:tgtEl>
                          </p:cBhvr>
                        </p:animEffect>
                      </p:childTnLst>
                    </p:cTn>
                  </p:par>
                  <p:par>
                    <p:cTn id="160" presetID="10" presetClass="entr" presetSubtype="0" fill="hold" grpId="0" nodeType="afterEffect">
                      <p:stCondLst>
                        <p:cond delay="2400"/>
                      </p:stCondLst>
                      <p:childTnLst>
                        <p:set>
                          <p:cBhvr>
                            <p:cTn id="161" dur="1" fill="hold">
                              <p:stCondLst>
                                <p:cond delay="0"/>
                              </p:stCondLst>
                            </p:cTn>
                            <p:tgtEl>
                              <p:spTgt spid="22"/>
                            </p:tgtEl>
                            <p:attrNameLst>
                              <p:attrName>style.visibility</p:attrName>
                            </p:attrNameLst>
                          </p:cBhvr>
                          <p:to>
                            <p:strVal val="visible"/>
                          </p:to>
                        </p:set>
                        <p:animEffect transition="in" filter="fade">
                          <p:cBhvr>
                            <p:cTn id="162" dur="450"/>
                            <p:tgtEl>
                              <p:spTgt spid="22"/>
                            </p:tgtEl>
                          </p:cBhvr>
                        </p:animEffect>
                      </p:childTnLst>
                    </p:cTn>
                  </p:par>
                  <p:par>
                    <p:cTn id="163" presetID="10" presetClass="entr" presetSubtype="0" fill="hold" grpId="0" nodeType="afterEffect">
                      <p:stCondLst>
                        <p:cond delay="2520"/>
                      </p:stCondLst>
                      <p:childTnLst>
                        <p:set>
                          <p:cBhvr>
                            <p:cTn id="164" dur="1" fill="hold">
                              <p:stCondLst>
                                <p:cond delay="0"/>
                              </p:stCondLst>
                            </p:cTn>
                            <p:tgtEl>
                              <p:spTgt spid="23"/>
                            </p:tgtEl>
                            <p:attrNameLst>
                              <p:attrName>style.visibility</p:attrName>
                            </p:attrNameLst>
                          </p:cBhvr>
                          <p:to>
                            <p:strVal val="visible"/>
                          </p:to>
                        </p:set>
                        <p:animEffect transition="in" filter="fade">
                          <p:cBhvr>
                            <p:cTn id="165" dur="450"/>
                            <p:tgtEl>
                              <p:spTgt spid="23"/>
                            </p:tgtEl>
                          </p:cBhvr>
                        </p:animEffect>
                      </p:childTnLst>
                    </p:cTn>
                  </p:par>
                  <p:par>
                    <p:cTn id="166" presetID="10" presetClass="entr" presetSubtype="0" fill="hold" grpId="0" nodeType="afterEffect">
                      <p:stCondLst>
                        <p:cond delay="2640"/>
                      </p:stCondLst>
                      <p:childTnLst>
                        <p:set>
                          <p:cBhvr>
                            <p:cTn id="167" dur="1" fill="hold">
                              <p:stCondLst>
                                <p:cond delay="0"/>
                              </p:stCondLst>
                            </p:cTn>
                            <p:tgtEl>
                              <p:spTgt spid="24"/>
                            </p:tgtEl>
                            <p:attrNameLst>
                              <p:attrName>style.visibility</p:attrName>
                            </p:attrNameLst>
                          </p:cBhvr>
                          <p:to>
                            <p:strVal val="visible"/>
                          </p:to>
                        </p:set>
                        <p:animEffect transition="in" filter="fade">
                          <p:cBhvr>
                            <p:cTn id="168" dur="450"/>
                            <p:tgtEl>
                              <p:spTgt spid="24"/>
                            </p:tgtEl>
                          </p:cBhvr>
                        </p:animEffect>
                      </p:childTnLst>
                    </p:cTn>
                  </p:par>
                  <p:par>
                    <p:cTn id="169" presetID="10" presetClass="entr" presetSubtype="0" fill="hold" grpId="0" nodeType="afterEffect">
                      <p:stCondLst>
                        <p:cond delay="2760"/>
                      </p:stCondLst>
                      <p:childTnLst>
                        <p:set>
                          <p:cBhvr>
                            <p:cTn id="170" dur="1" fill="hold">
                              <p:stCondLst>
                                <p:cond delay="0"/>
                              </p:stCondLst>
                            </p:cTn>
                            <p:tgtEl>
                              <p:spTgt spid="25"/>
                            </p:tgtEl>
                            <p:attrNameLst>
                              <p:attrName>style.visibility</p:attrName>
                            </p:attrNameLst>
                          </p:cBhvr>
                          <p:to>
                            <p:strVal val="visible"/>
                          </p:to>
                        </p:set>
                        <p:animEffect transition="in" filter="fade">
                          <p:cBhvr>
                            <p:cTn id="171" dur="450"/>
                            <p:tgtEl>
                              <p:spTgt spid="25"/>
                            </p:tgtEl>
                          </p:cBhvr>
                        </p:animEffect>
                      </p:childTnLst>
                    </p:cTn>
                  </p:par>
                  <p:par>
                    <p:cTn id="172" presetID="10" presetClass="entr" presetSubtype="0" fill="hold" grpId="0" nodeType="afterEffect">
                      <p:stCondLst>
                        <p:cond delay="2880"/>
                      </p:stCondLst>
                      <p:childTnLst>
                        <p:set>
                          <p:cBhvr>
                            <p:cTn id="173" dur="1" fill="hold">
                              <p:stCondLst>
                                <p:cond delay="0"/>
                              </p:stCondLst>
                            </p:cTn>
                            <p:tgtEl>
                              <p:spTgt spid="26"/>
                            </p:tgtEl>
                            <p:attrNameLst>
                              <p:attrName>style.visibility</p:attrName>
                            </p:attrNameLst>
                          </p:cBhvr>
                          <p:to>
                            <p:strVal val="visible"/>
                          </p:to>
                        </p:set>
                        <p:animEffect transition="in" filter="fade">
                          <p:cBhvr>
                            <p:cTn id="174" dur="450"/>
                            <p:tgtEl>
                              <p:spTgt spid="26"/>
                            </p:tgtEl>
                          </p:cBhvr>
                        </p:animEffect>
                      </p:childTnLst>
                    </p:cTn>
                  </p:par>
                  <p:par>
                    <p:cTn id="175" presetID="10" presetClass="entr" presetSubtype="0" fill="hold" grpId="0" nodeType="afterEffect">
                      <p:stCondLst>
                        <p:cond delay="3000"/>
                      </p:stCondLst>
                      <p:childTnLst>
                        <p:set>
                          <p:cBhvr>
                            <p:cTn id="176" dur="1" fill="hold">
                              <p:stCondLst>
                                <p:cond delay="0"/>
                              </p:stCondLst>
                            </p:cTn>
                            <p:tgtEl>
                              <p:spTgt spid="27"/>
                            </p:tgtEl>
                            <p:attrNameLst>
                              <p:attrName>style.visibility</p:attrName>
                            </p:attrNameLst>
                          </p:cBhvr>
                          <p:to>
                            <p:strVal val="visible"/>
                          </p:to>
                        </p:set>
                        <p:animEffect transition="in" filter="fade">
                          <p:cBhvr>
                            <p:cTn id="177" dur="450"/>
                            <p:tgtEl>
                              <p:spTgt spid="27"/>
                            </p:tgtEl>
                          </p:cBhvr>
                        </p:animEffect>
                      </p:childTnLst>
                    </p:cTn>
                  </p:par>
                  <p:par>
                    <p:cTn id="178" presetID="10" presetClass="entr" presetSubtype="0" fill="hold" grpId="0" nodeType="afterEffect">
                      <p:stCondLst>
                        <p:cond delay="3120"/>
                      </p:stCondLst>
                      <p:childTnLst>
                        <p:set>
                          <p:cBhvr>
                            <p:cTn id="179" dur="1" fill="hold">
                              <p:stCondLst>
                                <p:cond delay="0"/>
                              </p:stCondLst>
                            </p:cTn>
                            <p:tgtEl>
                              <p:spTgt spid="28"/>
                            </p:tgtEl>
                            <p:attrNameLst>
                              <p:attrName>style.visibility</p:attrName>
                            </p:attrNameLst>
                          </p:cBhvr>
                          <p:to>
                            <p:strVal val="visible"/>
                          </p:to>
                        </p:set>
                        <p:animEffect transition="in" filter="fade">
                          <p:cBhvr>
                            <p:cTn id="180" dur="450"/>
                            <p:tgtEl>
                              <p:spTgt spid="28"/>
                            </p:tgtEl>
                          </p:cBhvr>
                        </p:animEffect>
                      </p:childTnLst>
                    </p:cTn>
                  </p:par>
                  <p:par>
                    <p:cTn id="181" presetID="10" presetClass="entr" presetSubtype="0" fill="hold" grpId="0" nodeType="afterEffect">
                      <p:stCondLst>
                        <p:cond delay="3240"/>
                      </p:stCondLst>
                      <p:childTnLst>
                        <p:set>
                          <p:cBhvr>
                            <p:cTn id="182" dur="1" fill="hold">
                              <p:stCondLst>
                                <p:cond delay="0"/>
                              </p:stCondLst>
                            </p:cTn>
                            <p:tgtEl>
                              <p:spTgt spid="29"/>
                            </p:tgtEl>
                            <p:attrNameLst>
                              <p:attrName>style.visibility</p:attrName>
                            </p:attrNameLst>
                          </p:cBhvr>
                          <p:to>
                            <p:strVal val="visible"/>
                          </p:to>
                        </p:set>
                        <p:animEffect transition="in" filter="fade">
                          <p:cBhvr>
                            <p:cTn id="183" dur="450"/>
                            <p:tgtEl>
                              <p:spTgt spid="29"/>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BACKGROUND WORKERS (ARQ)</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Heavy work happens off the critical path.</a:t>
            </a:r>
            <a:endParaRPr lang="en-US" sz="3300" dirty="0"/>
          </a:p>
        </p:txBody>
      </p:sp>
      <p:sp>
        <p:nvSpPr>
          <p:cNvPr id="4" name="Shape 2"/>
          <p:cNvSpPr/>
          <p:nvPr/>
        </p:nvSpPr>
        <p:spPr>
          <a:xfrm>
            <a:off x="566928" y="2240280"/>
            <a:ext cx="10424160" cy="1143000"/>
          </a:xfrm>
          <a:prstGeom prst="roundRect">
            <a:avLst>
              <a:gd name="adj" fmla="val 9600"/>
            </a:avLst>
          </a:prstGeom>
          <a:solidFill>
            <a:srgbClr val="E9F3EC"/>
          </a:solidFill>
          <a:ln w="12700">
            <a:solidFill>
              <a:srgbClr val="2F8F5B"/>
            </a:solidFill>
            <a:prstDash val="solid"/>
          </a:ln>
          <a:effectLst>
            <a:outerShdw sx="100000" sy="100000" kx="0" ky="0" algn="bl" rotWithShape="0" blurRad="88900" dist="25400" dir="5400000">
              <a:srgbClr val="BBB2A2">
                <a:alpha val="22000"/>
              </a:srgbClr>
            </a:outerShdw>
          </a:effectLst>
        </p:spPr>
      </p:sp>
      <p:sp>
        <p:nvSpPr>
          <p:cNvPr id="5" name="Text 3"/>
          <p:cNvSpPr/>
          <p:nvPr/>
        </p:nvSpPr>
        <p:spPr>
          <a:xfrm>
            <a:off x="932688" y="2377440"/>
            <a:ext cx="5486400" cy="365760"/>
          </a:xfrm>
          <a:prstGeom prst="rect">
            <a:avLst/>
          </a:prstGeom>
          <a:noFill/>
          <a:ln/>
        </p:spPr>
        <p:txBody>
          <a:bodyPr wrap="square" rtlCol="0" anchor="ctr"/>
          <a:lstStyle/>
          <a:p>
            <a:pPr indent="0" marL="0">
              <a:buNone/>
            </a:pPr>
            <a:r>
              <a:rPr lang="en-US" sz="1400" b="1" dirty="0">
                <a:solidFill>
                  <a:srgbClr val="2F8F5B"/>
                </a:solidFill>
                <a:latin typeface="Segoe UI" pitchFamily="34" charset="0"/>
                <a:ea typeface="Segoe UI" pitchFamily="34" charset="-122"/>
                <a:cs typeface="Segoe UI" pitchFamily="34" charset="-120"/>
              </a:rPr>
              <a:t>HOT PATH  ·  stays fast</a:t>
            </a:r>
            <a:endParaRPr lang="en-US" sz="1400" dirty="0"/>
          </a:p>
        </p:txBody>
      </p:sp>
      <p:sp>
        <p:nvSpPr>
          <p:cNvPr id="6" name="Text 4"/>
          <p:cNvSpPr/>
          <p:nvPr/>
        </p:nvSpPr>
        <p:spPr>
          <a:xfrm>
            <a:off x="932688" y="2788920"/>
            <a:ext cx="9144000" cy="457200"/>
          </a:xfrm>
          <a:prstGeom prst="rect">
            <a:avLst/>
          </a:prstGeom>
          <a:noFill/>
          <a:ln/>
        </p:spPr>
        <p:txBody>
          <a:bodyPr wrap="square" rtlCol="0" anchor="ctr"/>
          <a:lstStyle/>
          <a:p>
            <a:pPr indent="0" marL="0">
              <a:buNone/>
            </a:pPr>
            <a:r>
              <a:rPr lang="en-US" sz="1600" dirty="0">
                <a:solidFill>
                  <a:srgbClr val="3A3A3A"/>
                </a:solidFill>
                <a:latin typeface="Segoe UI" pitchFamily="34" charset="0"/>
                <a:ea typeface="Segoe UI" pitchFamily="34" charset="-122"/>
                <a:cs typeface="Segoe UI" pitchFamily="34" charset="-120"/>
              </a:rPr>
              <a:t>Live advice generation — the only thing on the main thread.</a:t>
            </a:r>
            <a:endParaRPr lang="en-US" sz="1600" dirty="0"/>
          </a:p>
        </p:txBody>
      </p:sp>
      <p:sp>
        <p:nvSpPr>
          <p:cNvPr id="7" name="Shape 5"/>
          <p:cNvSpPr/>
          <p:nvPr/>
        </p:nvSpPr>
        <p:spPr>
          <a:xfrm>
            <a:off x="566928" y="3703320"/>
            <a:ext cx="10424160" cy="1783080"/>
          </a:xfrm>
          <a:prstGeom prst="roundRect">
            <a:avLst>
              <a:gd name="adj" fmla="val 6154"/>
            </a:avLst>
          </a:prstGeom>
          <a:solidFill>
            <a:srgbClr val="F0EBE1"/>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8" name="Text 6"/>
          <p:cNvSpPr/>
          <p:nvPr/>
        </p:nvSpPr>
        <p:spPr>
          <a:xfrm>
            <a:off x="932688" y="3858768"/>
            <a:ext cx="7315200" cy="365760"/>
          </a:xfrm>
          <a:prstGeom prst="rect">
            <a:avLst/>
          </a:prstGeom>
          <a:noFill/>
          <a:ln/>
        </p:spPr>
        <p:txBody>
          <a:bodyPr wrap="square" rtlCol="0" anchor="ctr"/>
          <a:lstStyle/>
          <a:p>
            <a:pPr indent="0" marL="0">
              <a:buNone/>
            </a:pPr>
            <a:r>
              <a:rPr lang="en-US" sz="1400" b="1" dirty="0">
                <a:solidFill>
                  <a:srgbClr val="E08A2B"/>
                </a:solidFill>
                <a:latin typeface="Segoe UI" pitchFamily="34" charset="0"/>
                <a:ea typeface="Segoe UI" pitchFamily="34" charset="-122"/>
                <a:cs typeface="Segoe UI" pitchFamily="34" charset="-120"/>
              </a:rPr>
              <a:t>BACKGROUND  ·  12 idempotent jobs</a:t>
            </a:r>
            <a:endParaRPr lang="en-US" sz="1400" dirty="0"/>
          </a:p>
        </p:txBody>
      </p:sp>
      <p:sp>
        <p:nvSpPr>
          <p:cNvPr id="9" name="Text 7"/>
          <p:cNvSpPr/>
          <p:nvPr/>
        </p:nvSpPr>
        <p:spPr>
          <a:xfrm>
            <a:off x="932688" y="4279392"/>
            <a:ext cx="9784080" cy="1097280"/>
          </a:xfrm>
          <a:prstGeom prst="rect">
            <a:avLst/>
          </a:prstGeom>
          <a:noFill/>
          <a:ln/>
        </p:spPr>
        <p:txBody>
          <a:bodyPr wrap="square" rtlCol="0" anchor="ctr"/>
          <a:lstStyle/>
          <a:p>
            <a:pPr indent="0" marL="0">
              <a:lnSpc>
                <a:spcPct val="120000"/>
              </a:lnSpc>
              <a:buNone/>
            </a:pPr>
            <a:r>
              <a:rPr lang="en-US" sz="1550" dirty="0">
                <a:solidFill>
                  <a:srgbClr val="3A3A3A"/>
                </a:solidFill>
                <a:latin typeface="Segoe UI" pitchFamily="34" charset="0"/>
                <a:ea typeface="Segoe UI" pitchFamily="34" charset="-122"/>
                <a:cs typeface="Segoe UI" pitchFamily="34" charset="-120"/>
              </a:rPr>
              <a:t>Embeddings · grammar scan · sentiment · knowledge extraction · rolling summaries · session analytics · drill cards · scenarios · achievements · reminders</a:t>
            </a:r>
            <a:endParaRPr lang="en-US" sz="1550" dirty="0"/>
          </a:p>
        </p:txBody>
      </p:sp>
      <p:sp>
        <p:nvSpPr>
          <p:cNvPr id="10" name="Text 8"/>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1" name="Text 9"/>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27</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THE REAL-TIME CHALLENGE</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Chained, it took 3–5 seconds.</a:t>
            </a:r>
            <a:endParaRPr lang="en-US" sz="3300" dirty="0"/>
          </a:p>
        </p:txBody>
      </p:sp>
      <p:sp>
        <p:nvSpPr>
          <p:cNvPr id="4" name="Shape 2"/>
          <p:cNvSpPr/>
          <p:nvPr/>
        </p:nvSpPr>
        <p:spPr>
          <a:xfrm>
            <a:off x="566928" y="2926080"/>
            <a:ext cx="2377440" cy="914400"/>
          </a:xfrm>
          <a:prstGeom prst="roundRect">
            <a:avLst>
              <a:gd name="adj" fmla="val 10000"/>
            </a:avLst>
          </a:prstGeom>
          <a:solidFill>
            <a:srgbClr val="F8ECE8"/>
          </a:solidFill>
          <a:ln w="15240">
            <a:solidFill>
              <a:srgbClr val="C0492F"/>
            </a:solidFill>
            <a:prstDash val="solid"/>
          </a:ln>
        </p:spPr>
      </p:sp>
      <p:sp>
        <p:nvSpPr>
          <p:cNvPr id="5" name="Text 3"/>
          <p:cNvSpPr/>
          <p:nvPr/>
        </p:nvSpPr>
        <p:spPr>
          <a:xfrm>
            <a:off x="566928" y="2926080"/>
            <a:ext cx="2377440" cy="914400"/>
          </a:xfrm>
          <a:prstGeom prst="rect">
            <a:avLst/>
          </a:prstGeom>
          <a:noFill/>
          <a:ln/>
        </p:spPr>
        <p:txBody>
          <a:bodyPr wrap="square" rtlCol="0" anchor="ctr"/>
          <a:lstStyle/>
          <a:p>
            <a:pPr algn="ctr" indent="0" marL="0">
              <a:buNone/>
            </a:pPr>
            <a:r>
              <a:rPr lang="en-US" sz="1600" b="1" dirty="0">
                <a:solidFill>
                  <a:srgbClr val="1A1A1A"/>
                </a:solidFill>
                <a:latin typeface="Segoe UI" pitchFamily="34" charset="0"/>
                <a:ea typeface="Segoe UI" pitchFamily="34" charset="-122"/>
                <a:cs typeface="Segoe UI" pitchFamily="34" charset="-120"/>
              </a:rPr>
              <a:t>STT</a:t>
            </a:r>
            <a:endParaRPr lang="en-US" sz="1600" dirty="0"/>
          </a:p>
        </p:txBody>
      </p:sp>
      <p:sp>
        <p:nvSpPr>
          <p:cNvPr id="6" name="Text 4"/>
          <p:cNvSpPr/>
          <p:nvPr/>
        </p:nvSpPr>
        <p:spPr>
          <a:xfrm>
            <a:off x="2898648" y="2926080"/>
            <a:ext cx="457200" cy="914400"/>
          </a:xfrm>
          <a:prstGeom prst="rect">
            <a:avLst/>
          </a:prstGeom>
          <a:noFill/>
          <a:ln/>
        </p:spPr>
        <p:txBody>
          <a:bodyPr wrap="square" rtlCol="0" anchor="ctr"/>
          <a:lstStyle/>
          <a:p>
            <a:pPr algn="ctr" indent="0" marL="0">
              <a:buNone/>
            </a:pPr>
            <a:r>
              <a:rPr lang="en-US" sz="2200" b="1" dirty="0">
                <a:solidFill>
                  <a:srgbClr val="C0492F"/>
                </a:solidFill>
                <a:latin typeface="Segoe UI" pitchFamily="34" charset="0"/>
                <a:ea typeface="Segoe UI" pitchFamily="34" charset="-122"/>
                <a:cs typeface="Segoe UI" pitchFamily="34" charset="-120"/>
              </a:rPr>
              <a:t>→</a:t>
            </a:r>
            <a:endParaRPr lang="en-US" sz="2200" dirty="0"/>
          </a:p>
        </p:txBody>
      </p:sp>
      <p:sp>
        <p:nvSpPr>
          <p:cNvPr id="7" name="Shape 5"/>
          <p:cNvSpPr/>
          <p:nvPr/>
        </p:nvSpPr>
        <p:spPr>
          <a:xfrm>
            <a:off x="3310128" y="2926080"/>
            <a:ext cx="2377440" cy="914400"/>
          </a:xfrm>
          <a:prstGeom prst="roundRect">
            <a:avLst>
              <a:gd name="adj" fmla="val 10000"/>
            </a:avLst>
          </a:prstGeom>
          <a:solidFill>
            <a:srgbClr val="F8ECE8"/>
          </a:solidFill>
          <a:ln w="15240">
            <a:solidFill>
              <a:srgbClr val="C0492F"/>
            </a:solidFill>
            <a:prstDash val="solid"/>
          </a:ln>
        </p:spPr>
      </p:sp>
      <p:sp>
        <p:nvSpPr>
          <p:cNvPr id="8" name="Text 6"/>
          <p:cNvSpPr/>
          <p:nvPr/>
        </p:nvSpPr>
        <p:spPr>
          <a:xfrm>
            <a:off x="3310128" y="2926080"/>
            <a:ext cx="2377440" cy="914400"/>
          </a:xfrm>
          <a:prstGeom prst="rect">
            <a:avLst/>
          </a:prstGeom>
          <a:noFill/>
          <a:ln/>
        </p:spPr>
        <p:txBody>
          <a:bodyPr wrap="square" rtlCol="0" anchor="ctr"/>
          <a:lstStyle/>
          <a:p>
            <a:pPr algn="ctr" indent="0" marL="0">
              <a:buNone/>
            </a:pPr>
            <a:r>
              <a:rPr lang="en-US" sz="1600" b="1" dirty="0">
                <a:solidFill>
                  <a:srgbClr val="1A1A1A"/>
                </a:solidFill>
                <a:latin typeface="Segoe UI" pitchFamily="34" charset="0"/>
                <a:ea typeface="Segoe UI" pitchFamily="34" charset="-122"/>
                <a:cs typeface="Segoe UI" pitchFamily="34" charset="-120"/>
              </a:rPr>
              <a:t>Vector search</a:t>
            </a:r>
            <a:endParaRPr lang="en-US" sz="1600" dirty="0"/>
          </a:p>
        </p:txBody>
      </p:sp>
      <p:sp>
        <p:nvSpPr>
          <p:cNvPr id="9" name="Text 7"/>
          <p:cNvSpPr/>
          <p:nvPr/>
        </p:nvSpPr>
        <p:spPr>
          <a:xfrm>
            <a:off x="5641848" y="2926080"/>
            <a:ext cx="457200" cy="914400"/>
          </a:xfrm>
          <a:prstGeom prst="rect">
            <a:avLst/>
          </a:prstGeom>
          <a:noFill/>
          <a:ln/>
        </p:spPr>
        <p:txBody>
          <a:bodyPr wrap="square" rtlCol="0" anchor="ctr"/>
          <a:lstStyle/>
          <a:p>
            <a:pPr algn="ctr" indent="0" marL="0">
              <a:buNone/>
            </a:pPr>
            <a:r>
              <a:rPr lang="en-US" sz="2200" b="1" dirty="0">
                <a:solidFill>
                  <a:srgbClr val="C0492F"/>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6053328" y="2926080"/>
            <a:ext cx="2377440" cy="914400"/>
          </a:xfrm>
          <a:prstGeom prst="roundRect">
            <a:avLst>
              <a:gd name="adj" fmla="val 10000"/>
            </a:avLst>
          </a:prstGeom>
          <a:solidFill>
            <a:srgbClr val="F8ECE8"/>
          </a:solidFill>
          <a:ln w="15240">
            <a:solidFill>
              <a:srgbClr val="C0492F"/>
            </a:solidFill>
            <a:prstDash val="solid"/>
          </a:ln>
        </p:spPr>
      </p:sp>
      <p:sp>
        <p:nvSpPr>
          <p:cNvPr id="11" name="Text 9"/>
          <p:cNvSpPr/>
          <p:nvPr/>
        </p:nvSpPr>
        <p:spPr>
          <a:xfrm>
            <a:off x="6053328" y="2926080"/>
            <a:ext cx="2377440" cy="914400"/>
          </a:xfrm>
          <a:prstGeom prst="rect">
            <a:avLst/>
          </a:prstGeom>
          <a:noFill/>
          <a:ln/>
        </p:spPr>
        <p:txBody>
          <a:bodyPr wrap="square" rtlCol="0" anchor="ctr"/>
          <a:lstStyle/>
          <a:p>
            <a:pPr algn="ctr" indent="0" marL="0">
              <a:buNone/>
            </a:pPr>
            <a:r>
              <a:rPr lang="en-US" sz="1600" b="1" dirty="0">
                <a:solidFill>
                  <a:srgbClr val="1A1A1A"/>
                </a:solidFill>
                <a:latin typeface="Segoe UI" pitchFamily="34" charset="0"/>
                <a:ea typeface="Segoe UI" pitchFamily="34" charset="-122"/>
                <a:cs typeface="Segoe UI" pitchFamily="34" charset="-120"/>
              </a:rPr>
              <a:t>LLM</a:t>
            </a:r>
            <a:endParaRPr lang="en-US" sz="1600" dirty="0"/>
          </a:p>
        </p:txBody>
      </p:sp>
      <p:sp>
        <p:nvSpPr>
          <p:cNvPr id="12" name="Text 10"/>
          <p:cNvSpPr/>
          <p:nvPr/>
        </p:nvSpPr>
        <p:spPr>
          <a:xfrm>
            <a:off x="8385048" y="2926080"/>
            <a:ext cx="457200" cy="914400"/>
          </a:xfrm>
          <a:prstGeom prst="rect">
            <a:avLst/>
          </a:prstGeom>
          <a:noFill/>
          <a:ln/>
        </p:spPr>
        <p:txBody>
          <a:bodyPr wrap="square" rtlCol="0" anchor="ctr"/>
          <a:lstStyle/>
          <a:p>
            <a:pPr algn="ctr" indent="0" marL="0">
              <a:buNone/>
            </a:pPr>
            <a:r>
              <a:rPr lang="en-US" sz="2200" b="1" dirty="0">
                <a:solidFill>
                  <a:srgbClr val="C0492F"/>
                </a:solidFill>
                <a:latin typeface="Segoe UI" pitchFamily="34" charset="0"/>
                <a:ea typeface="Segoe UI" pitchFamily="34" charset="-122"/>
                <a:cs typeface="Segoe UI" pitchFamily="34" charset="-120"/>
              </a:rPr>
              <a:t>→</a:t>
            </a:r>
            <a:endParaRPr lang="en-US" sz="2200" dirty="0"/>
          </a:p>
        </p:txBody>
      </p:sp>
      <p:sp>
        <p:nvSpPr>
          <p:cNvPr id="13" name="Shape 11"/>
          <p:cNvSpPr/>
          <p:nvPr/>
        </p:nvSpPr>
        <p:spPr>
          <a:xfrm>
            <a:off x="8796528" y="2926080"/>
            <a:ext cx="2377440" cy="914400"/>
          </a:xfrm>
          <a:prstGeom prst="roundRect">
            <a:avLst>
              <a:gd name="adj" fmla="val 10000"/>
            </a:avLst>
          </a:prstGeom>
          <a:solidFill>
            <a:srgbClr val="F8ECE8"/>
          </a:solidFill>
          <a:ln w="15240">
            <a:solidFill>
              <a:srgbClr val="C0492F"/>
            </a:solidFill>
            <a:prstDash val="solid"/>
          </a:ln>
        </p:spPr>
      </p:sp>
      <p:sp>
        <p:nvSpPr>
          <p:cNvPr id="14" name="Text 12"/>
          <p:cNvSpPr/>
          <p:nvPr/>
        </p:nvSpPr>
        <p:spPr>
          <a:xfrm>
            <a:off x="8796528" y="2926080"/>
            <a:ext cx="2377440" cy="914400"/>
          </a:xfrm>
          <a:prstGeom prst="rect">
            <a:avLst/>
          </a:prstGeom>
          <a:noFill/>
          <a:ln/>
        </p:spPr>
        <p:txBody>
          <a:bodyPr wrap="square" rtlCol="0" anchor="ctr"/>
          <a:lstStyle/>
          <a:p>
            <a:pPr algn="ctr" indent="0" marL="0">
              <a:buNone/>
            </a:pPr>
            <a:r>
              <a:rPr lang="en-US" sz="1600" b="1" dirty="0">
                <a:solidFill>
                  <a:srgbClr val="1A1A1A"/>
                </a:solidFill>
                <a:latin typeface="Segoe UI" pitchFamily="34" charset="0"/>
                <a:ea typeface="Segoe UI" pitchFamily="34" charset="-122"/>
                <a:cs typeface="Segoe UI" pitchFamily="34" charset="-120"/>
              </a:rPr>
              <a:t>Response</a:t>
            </a:r>
            <a:endParaRPr lang="en-US" sz="1600" dirty="0"/>
          </a:p>
        </p:txBody>
      </p:sp>
      <p:sp>
        <p:nvSpPr>
          <p:cNvPr id="15" name="Text 13"/>
          <p:cNvSpPr/>
          <p:nvPr/>
        </p:nvSpPr>
        <p:spPr>
          <a:xfrm>
            <a:off x="566928" y="4480560"/>
            <a:ext cx="4114800" cy="548640"/>
          </a:xfrm>
          <a:prstGeom prst="rect">
            <a:avLst/>
          </a:prstGeom>
          <a:noFill/>
          <a:ln/>
        </p:spPr>
        <p:txBody>
          <a:bodyPr wrap="square" rtlCol="0" anchor="ctr"/>
          <a:lstStyle/>
          <a:p>
            <a:pPr indent="0" marL="0">
              <a:buNone/>
            </a:pPr>
            <a:r>
              <a:rPr lang="en-US" sz="2000" dirty="0">
                <a:solidFill>
                  <a:srgbClr val="3A3A3A"/>
                </a:solidFill>
                <a:latin typeface="Segoe UI" pitchFamily="34" charset="0"/>
                <a:ea typeface="Segoe UI" pitchFamily="34" charset="-122"/>
                <a:cs typeface="Segoe UI" pitchFamily="34" charset="-120"/>
              </a:rPr>
              <a:t>Conversation needs </a:t>
            </a:r>
            <a:endParaRPr lang="en-US" sz="2000" dirty="0"/>
          </a:p>
        </p:txBody>
      </p:sp>
      <p:sp>
        <p:nvSpPr>
          <p:cNvPr id="16" name="Text 14"/>
          <p:cNvSpPr/>
          <p:nvPr/>
        </p:nvSpPr>
        <p:spPr>
          <a:xfrm>
            <a:off x="4023360" y="4434840"/>
            <a:ext cx="2743200" cy="640080"/>
          </a:xfrm>
          <a:prstGeom prst="rect">
            <a:avLst/>
          </a:prstGeom>
          <a:noFill/>
          <a:ln/>
        </p:spPr>
        <p:txBody>
          <a:bodyPr wrap="square" rtlCol="0" anchor="ctr"/>
          <a:lstStyle/>
          <a:p>
            <a:pPr indent="0" marL="0">
              <a:buNone/>
            </a:pPr>
            <a:r>
              <a:rPr lang="en-US" sz="2600" b="1" dirty="0">
                <a:solidFill>
                  <a:srgbClr val="C0492F"/>
                </a:solidFill>
                <a:latin typeface="Segoe UI" pitchFamily="34" charset="0"/>
                <a:ea typeface="Segoe UI" pitchFamily="34" charset="-122"/>
                <a:cs typeface="Segoe UI" pitchFamily="34" charset="-120"/>
              </a:rPr>
              <a:t>&lt; 1 second.</a:t>
            </a:r>
            <a:endParaRPr lang="en-US" sz="2600" dirty="0"/>
          </a:p>
        </p:txBody>
      </p:sp>
      <p:sp>
        <p:nvSpPr>
          <p:cNvPr id="17" name="Text 15"/>
          <p:cNvSpPr/>
          <p:nvPr/>
        </p:nvSpPr>
        <p:spPr>
          <a:xfrm>
            <a:off x="6035040" y="4480560"/>
            <a:ext cx="5486400" cy="548640"/>
          </a:xfrm>
          <a:prstGeom prst="rect">
            <a:avLst/>
          </a:prstGeom>
          <a:noFill/>
          <a:ln/>
        </p:spPr>
        <p:txBody>
          <a:bodyPr wrap="square" rtlCol="0" anchor="ctr"/>
          <a:lstStyle/>
          <a:p>
            <a:pPr indent="0" marL="0">
              <a:buNone/>
            </a:pPr>
            <a:r>
              <a:rPr lang="en-US" sz="1600" i="1" dirty="0">
                <a:solidFill>
                  <a:srgbClr val="9A9285"/>
                </a:solidFill>
                <a:latin typeface="Segoe UI" pitchFamily="34" charset="0"/>
                <a:ea typeface="Segoe UI" pitchFamily="34" charset="-122"/>
                <a:cs typeface="Segoe UI" pitchFamily="34" charset="-120"/>
              </a:rPr>
              <a:t>3–5 s of dead air is useless mid-talk.</a:t>
            </a:r>
            <a:endParaRPr lang="en-US" sz="1600" dirty="0"/>
          </a:p>
        </p:txBody>
      </p:sp>
      <p:sp>
        <p:nvSpPr>
          <p:cNvPr id="18" name="Text 16"/>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9" name="Text 17"/>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28</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par>
                    <p:cTn id="142" presetID="10" presetClass="entr" presetSubtype="0" fill="hold" grpId="0" nodeType="afterEffect">
                      <p:stCondLst>
                        <p:cond delay="1680"/>
                      </p:stCondLst>
                      <p:childTnLst>
                        <p:set>
                          <p:cBhvr>
                            <p:cTn id="143" dur="1" fill="hold">
                              <p:stCondLst>
                                <p:cond delay="0"/>
                              </p:stCondLst>
                            </p:cTn>
                            <p:tgtEl>
                              <p:spTgt spid="16"/>
                            </p:tgtEl>
                            <p:attrNameLst>
                              <p:attrName>style.visibility</p:attrName>
                            </p:attrNameLst>
                          </p:cBhvr>
                          <p:to>
                            <p:strVal val="visible"/>
                          </p:to>
                        </p:set>
                        <p:animEffect transition="in" filter="fade">
                          <p:cBhvr>
                            <p:cTn id="144" dur="450"/>
                            <p:tgtEl>
                              <p:spTgt spid="16"/>
                            </p:tgtEl>
                          </p:cBhvr>
                        </p:animEffect>
                      </p:childTnLst>
                    </p:cTn>
                  </p:par>
                  <p:par>
                    <p:cTn id="145" presetID="10" presetClass="entr" presetSubtype="0" fill="hold" grpId="0" nodeType="afterEffect">
                      <p:stCondLst>
                        <p:cond delay="1800"/>
                      </p:stCondLst>
                      <p:childTnLst>
                        <p:set>
                          <p:cBhvr>
                            <p:cTn id="146" dur="1" fill="hold">
                              <p:stCondLst>
                                <p:cond delay="0"/>
                              </p:stCondLst>
                            </p:cTn>
                            <p:tgtEl>
                              <p:spTgt spid="17"/>
                            </p:tgtEl>
                            <p:attrNameLst>
                              <p:attrName>style.visibility</p:attrName>
                            </p:attrNameLst>
                          </p:cBhvr>
                          <p:to>
                            <p:strVal val="visible"/>
                          </p:to>
                        </p:set>
                        <p:animEffect transition="in" filter="fade">
                          <p:cBhvr>
                            <p:cTn id="147" dur="450"/>
                            <p:tgtEl>
                              <p:spTgt spid="17"/>
                            </p:tgtEl>
                          </p:cBhvr>
                        </p:animEffect>
                      </p:childTnLst>
                    </p:cTn>
                  </p:par>
                  <p:par>
                    <p:cTn id="148" presetID="10" presetClass="entr" presetSubtype="0" fill="hold" grpId="0" nodeType="afterEffect">
                      <p:stCondLst>
                        <p:cond delay="1920"/>
                      </p:stCondLst>
                      <p:childTnLst>
                        <p:set>
                          <p:cBhvr>
                            <p:cTn id="149" dur="1" fill="hold">
                              <p:stCondLst>
                                <p:cond delay="0"/>
                              </p:stCondLst>
                            </p:cTn>
                            <p:tgtEl>
                              <p:spTgt spid="18"/>
                            </p:tgtEl>
                            <p:attrNameLst>
                              <p:attrName>style.visibility</p:attrName>
                            </p:attrNameLst>
                          </p:cBhvr>
                          <p:to>
                            <p:strVal val="visible"/>
                          </p:to>
                        </p:set>
                        <p:animEffect transition="in" filter="fade">
                          <p:cBhvr>
                            <p:cTn id="150" dur="450"/>
                            <p:tgtEl>
                              <p:spTgt spid="18"/>
                            </p:tgtEl>
                          </p:cBhvr>
                        </p:animEffect>
                      </p:childTnLst>
                    </p:cTn>
                  </p:par>
                  <p:par>
                    <p:cTn id="151" presetID="10" presetClass="entr" presetSubtype="0" fill="hold" grpId="0" nodeType="afterEffect">
                      <p:stCondLst>
                        <p:cond delay="2040"/>
                      </p:stCondLst>
                      <p:childTnLst>
                        <p:set>
                          <p:cBhvr>
                            <p:cTn id="152" dur="1" fill="hold">
                              <p:stCondLst>
                                <p:cond delay="0"/>
                              </p:stCondLst>
                            </p:cTn>
                            <p:tgtEl>
                              <p:spTgt spid="19"/>
                            </p:tgtEl>
                            <p:attrNameLst>
                              <p:attrName>style.visibility</p:attrName>
                            </p:attrNameLst>
                          </p:cBhvr>
                          <p:to>
                            <p:strVal val="visible"/>
                          </p:to>
                        </p:set>
                        <p:animEffect transition="in" filter="fade">
                          <p:cBhvr>
                            <p:cTn id="153" dur="450"/>
                            <p:tgtEl>
                              <p:spTgt spid="19"/>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HOW WE BEAT IT</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Parallel pipeline + Groq LPU.</a:t>
            </a:r>
            <a:endParaRPr lang="en-US" sz="3300" dirty="0"/>
          </a:p>
        </p:txBody>
      </p:sp>
      <p:sp>
        <p:nvSpPr>
          <p:cNvPr id="4" name="Shape 2"/>
          <p:cNvSpPr/>
          <p:nvPr/>
        </p:nvSpPr>
        <p:spPr>
          <a:xfrm>
            <a:off x="566928" y="2286000"/>
            <a:ext cx="5029200" cy="2194560"/>
          </a:xfrm>
          <a:prstGeom prst="roundRect">
            <a:avLst>
              <a:gd name="adj" fmla="val 5000"/>
            </a:avLst>
          </a:prstGeom>
          <a:solidFill>
            <a:srgbClr val="F0EBE1"/>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Text 3"/>
          <p:cNvSpPr/>
          <p:nvPr/>
        </p:nvSpPr>
        <p:spPr>
          <a:xfrm>
            <a:off x="932688" y="2468880"/>
            <a:ext cx="3657600" cy="365760"/>
          </a:xfrm>
          <a:prstGeom prst="rect">
            <a:avLst/>
          </a:prstGeom>
          <a:noFill/>
          <a:ln/>
        </p:spPr>
        <p:txBody>
          <a:bodyPr wrap="square" rtlCol="0" anchor="ctr"/>
          <a:lstStyle/>
          <a:p>
            <a:pPr indent="0" marL="0">
              <a:buNone/>
            </a:pPr>
            <a:r>
              <a:rPr lang="en-US" sz="1500" b="1" dirty="0">
                <a:solidFill>
                  <a:srgbClr val="9A9285"/>
                </a:solidFill>
                <a:latin typeface="Segoe UI" pitchFamily="34" charset="0"/>
                <a:ea typeface="Segoe UI" pitchFamily="34" charset="-122"/>
                <a:cs typeface="Segoe UI" pitchFamily="34" charset="-120"/>
              </a:rPr>
              <a:t>Before</a:t>
            </a:r>
            <a:endParaRPr lang="en-US" sz="1500" dirty="0"/>
          </a:p>
        </p:txBody>
      </p:sp>
      <p:sp>
        <p:nvSpPr>
          <p:cNvPr id="6" name="Text 4"/>
          <p:cNvSpPr/>
          <p:nvPr/>
        </p:nvSpPr>
        <p:spPr>
          <a:xfrm>
            <a:off x="932688" y="2834640"/>
            <a:ext cx="4297680" cy="1097280"/>
          </a:xfrm>
          <a:prstGeom prst="rect">
            <a:avLst/>
          </a:prstGeom>
          <a:noFill/>
          <a:ln/>
        </p:spPr>
        <p:txBody>
          <a:bodyPr wrap="square" rtlCol="0" anchor="ctr"/>
          <a:lstStyle/>
          <a:p>
            <a:pPr indent="0" marL="0">
              <a:buNone/>
            </a:pPr>
            <a:r>
              <a:rPr lang="en-US" sz="6000" b="1" dirty="0">
                <a:solidFill>
                  <a:srgbClr val="C0492F"/>
                </a:solidFill>
                <a:latin typeface="Segoe UI" pitchFamily="34" charset="0"/>
                <a:ea typeface="Segoe UI" pitchFamily="34" charset="-122"/>
                <a:cs typeface="Segoe UI" pitchFamily="34" charset="-120"/>
              </a:rPr>
              <a:t>~2 s</a:t>
            </a:r>
            <a:endParaRPr lang="en-US" sz="6000" dirty="0"/>
          </a:p>
        </p:txBody>
      </p:sp>
      <p:sp>
        <p:nvSpPr>
          <p:cNvPr id="7" name="Text 5"/>
          <p:cNvSpPr/>
          <p:nvPr/>
        </p:nvSpPr>
        <p:spPr>
          <a:xfrm>
            <a:off x="932688" y="3977640"/>
            <a:ext cx="4297680" cy="365760"/>
          </a:xfrm>
          <a:prstGeom prst="rect">
            <a:avLst/>
          </a:prstGeom>
          <a:noFill/>
          <a:ln/>
        </p:spPr>
        <p:txBody>
          <a:bodyPr wrap="square" rtlCol="0" anchor="ctr"/>
          <a:lstStyle/>
          <a:p>
            <a:pPr indent="0" marL="0">
              <a:buNone/>
            </a:pPr>
            <a:r>
              <a:rPr lang="en-US" sz="1300" dirty="0">
                <a:solidFill>
                  <a:srgbClr val="3A3A3A"/>
                </a:solidFill>
                <a:latin typeface="Segoe UI" pitchFamily="34" charset="0"/>
                <a:ea typeface="Segoe UI" pitchFamily="34" charset="-122"/>
                <a:cs typeface="Segoe UI" pitchFamily="34" charset="-120"/>
              </a:rPr>
              <a:t>serial chain, big model</a:t>
            </a:r>
            <a:endParaRPr lang="en-US" sz="1300" dirty="0"/>
          </a:p>
        </p:txBody>
      </p:sp>
      <p:sp>
        <p:nvSpPr>
          <p:cNvPr id="8" name="Text 6"/>
          <p:cNvSpPr/>
          <p:nvPr/>
        </p:nvSpPr>
        <p:spPr>
          <a:xfrm>
            <a:off x="5760720" y="2926080"/>
            <a:ext cx="822960" cy="914400"/>
          </a:xfrm>
          <a:prstGeom prst="rect">
            <a:avLst/>
          </a:prstGeom>
          <a:noFill/>
          <a:ln/>
        </p:spPr>
        <p:txBody>
          <a:bodyPr wrap="square" rtlCol="0" anchor="ctr"/>
          <a:lstStyle/>
          <a:p>
            <a:pPr algn="ctr" indent="0" marL="0">
              <a:buNone/>
            </a:pPr>
            <a:r>
              <a:rPr lang="en-US" sz="4000" b="1" dirty="0">
                <a:solidFill>
                  <a:srgbClr val="0E7C86"/>
                </a:solidFill>
                <a:latin typeface="Segoe UI" pitchFamily="34" charset="0"/>
                <a:ea typeface="Segoe UI" pitchFamily="34" charset="-122"/>
                <a:cs typeface="Segoe UI" pitchFamily="34" charset="-120"/>
              </a:rPr>
              <a:t>→</a:t>
            </a:r>
            <a:endParaRPr lang="en-US" sz="4000" dirty="0"/>
          </a:p>
        </p:txBody>
      </p:sp>
      <p:sp>
        <p:nvSpPr>
          <p:cNvPr id="9" name="Shape 7"/>
          <p:cNvSpPr/>
          <p:nvPr/>
        </p:nvSpPr>
        <p:spPr>
          <a:xfrm>
            <a:off x="6675120" y="2286000"/>
            <a:ext cx="4937760" cy="2194560"/>
          </a:xfrm>
          <a:prstGeom prst="roundRect">
            <a:avLst>
              <a:gd name="adj" fmla="val 5000"/>
            </a:avLst>
          </a:prstGeom>
          <a:solidFill>
            <a:srgbClr val="E9F3EC"/>
          </a:solidFill>
          <a:ln w="12700">
            <a:solidFill>
              <a:srgbClr val="2F8F5B"/>
            </a:solidFill>
            <a:prstDash val="solid"/>
          </a:ln>
          <a:effectLst>
            <a:outerShdw sx="100000" sy="100000" kx="0" ky="0" algn="bl" rotWithShape="0" blurRad="88900" dist="25400" dir="5400000">
              <a:srgbClr val="BBB2A2">
                <a:alpha val="22000"/>
              </a:srgbClr>
            </a:outerShdw>
          </a:effectLst>
        </p:spPr>
      </p:sp>
      <p:sp>
        <p:nvSpPr>
          <p:cNvPr id="10" name="Text 8"/>
          <p:cNvSpPr/>
          <p:nvPr/>
        </p:nvSpPr>
        <p:spPr>
          <a:xfrm>
            <a:off x="7040880" y="2468880"/>
            <a:ext cx="3657600" cy="365760"/>
          </a:xfrm>
          <a:prstGeom prst="rect">
            <a:avLst/>
          </a:prstGeom>
          <a:noFill/>
          <a:ln/>
        </p:spPr>
        <p:txBody>
          <a:bodyPr wrap="square" rtlCol="0" anchor="ctr"/>
          <a:lstStyle/>
          <a:p>
            <a:pPr indent="0" marL="0">
              <a:buNone/>
            </a:pPr>
            <a:r>
              <a:rPr lang="en-US" sz="1500" b="1" dirty="0">
                <a:solidFill>
                  <a:srgbClr val="2F8F5B"/>
                </a:solidFill>
                <a:latin typeface="Segoe UI" pitchFamily="34" charset="0"/>
                <a:ea typeface="Segoe UI" pitchFamily="34" charset="-122"/>
                <a:cs typeface="Segoe UI" pitchFamily="34" charset="-120"/>
              </a:rPr>
              <a:t>After</a:t>
            </a:r>
            <a:endParaRPr lang="en-US" sz="1500" dirty="0"/>
          </a:p>
        </p:txBody>
      </p:sp>
      <p:sp>
        <p:nvSpPr>
          <p:cNvPr id="11" name="Text 9"/>
          <p:cNvSpPr/>
          <p:nvPr/>
        </p:nvSpPr>
        <p:spPr>
          <a:xfrm>
            <a:off x="7040880" y="2834640"/>
            <a:ext cx="4297680" cy="1097280"/>
          </a:xfrm>
          <a:prstGeom prst="rect">
            <a:avLst/>
          </a:prstGeom>
          <a:noFill/>
          <a:ln/>
        </p:spPr>
        <p:txBody>
          <a:bodyPr wrap="square" rtlCol="0" anchor="ctr"/>
          <a:lstStyle/>
          <a:p>
            <a:pPr indent="0" marL="0">
              <a:buNone/>
            </a:pPr>
            <a:r>
              <a:rPr lang="en-US" sz="6000" b="1" dirty="0">
                <a:solidFill>
                  <a:srgbClr val="2F8F5B"/>
                </a:solidFill>
                <a:latin typeface="Segoe UI" pitchFamily="34" charset="0"/>
                <a:ea typeface="Segoe UI" pitchFamily="34" charset="-122"/>
                <a:cs typeface="Segoe UI" pitchFamily="34" charset="-120"/>
              </a:rPr>
              <a:t>~300 ms</a:t>
            </a:r>
            <a:endParaRPr lang="en-US" sz="6000" dirty="0"/>
          </a:p>
        </p:txBody>
      </p:sp>
      <p:sp>
        <p:nvSpPr>
          <p:cNvPr id="12" name="Text 10"/>
          <p:cNvSpPr/>
          <p:nvPr/>
        </p:nvSpPr>
        <p:spPr>
          <a:xfrm>
            <a:off x="7040880" y="3977640"/>
            <a:ext cx="4297680" cy="365760"/>
          </a:xfrm>
          <a:prstGeom prst="rect">
            <a:avLst/>
          </a:prstGeom>
          <a:noFill/>
          <a:ln/>
        </p:spPr>
        <p:txBody>
          <a:bodyPr wrap="square" rtlCol="0" anchor="ctr"/>
          <a:lstStyle/>
          <a:p>
            <a:pPr indent="0" marL="0">
              <a:buNone/>
            </a:pPr>
            <a:r>
              <a:rPr lang="en-US" sz="1300" dirty="0">
                <a:solidFill>
                  <a:srgbClr val="3A3A3A"/>
                </a:solidFill>
                <a:latin typeface="Segoe UI" pitchFamily="34" charset="0"/>
                <a:ea typeface="Segoe UI" pitchFamily="34" charset="-122"/>
                <a:cs typeface="Segoe UI" pitchFamily="34" charset="-120"/>
              </a:rPr>
              <a:t>hot path only + 8B on Groq LPU</a:t>
            </a:r>
            <a:endParaRPr lang="en-US" sz="1300" dirty="0"/>
          </a:p>
        </p:txBody>
      </p:sp>
      <p:sp>
        <p:nvSpPr>
          <p:cNvPr id="13" name="Text 11"/>
          <p:cNvSpPr/>
          <p:nvPr/>
        </p:nvSpPr>
        <p:spPr>
          <a:xfrm>
            <a:off x="566928" y="4846320"/>
            <a:ext cx="10972800" cy="548640"/>
          </a:xfrm>
          <a:prstGeom prst="rect">
            <a:avLst/>
          </a:prstGeom>
          <a:noFill/>
          <a:ln/>
        </p:spPr>
        <p:txBody>
          <a:bodyPr wrap="square" rtlCol="0" anchor="ctr"/>
          <a:lstStyle/>
          <a:p>
            <a:pPr indent="0" marL="0">
              <a:buNone/>
            </a:pPr>
            <a:r>
              <a:rPr lang="en-US" sz="1600" dirty="0">
                <a:solidFill>
                  <a:srgbClr val="3A3A3A"/>
                </a:solidFill>
                <a:latin typeface="Segoe UI" pitchFamily="34" charset="0"/>
                <a:ea typeface="Segoe UI" pitchFamily="34" charset="-122"/>
                <a:cs typeface="Segoe UI" pitchFamily="34" charset="-120"/>
              </a:rPr>
              <a:t>Only advice stays on the main thread; knowledge extraction &amp; memory-saving become fire-and-forget.</a:t>
            </a:r>
            <a:endParaRPr lang="en-US" sz="1600" dirty="0"/>
          </a:p>
        </p:txBody>
      </p:sp>
      <p:sp>
        <p:nvSpPr>
          <p:cNvPr id="14" name="Text 12"/>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5" name="Text 13"/>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29</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CHALLENGE: WHO SAID WHAT</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Advise on their words — not yours.</a:t>
            </a:r>
            <a:endParaRPr lang="en-US" sz="3300" dirty="0"/>
          </a:p>
        </p:txBody>
      </p:sp>
      <p:sp>
        <p:nvSpPr>
          <p:cNvPr id="4" name="Shape 2"/>
          <p:cNvSpPr/>
          <p:nvPr/>
        </p:nvSpPr>
        <p:spPr>
          <a:xfrm>
            <a:off x="566928" y="2377440"/>
            <a:ext cx="5212080" cy="685800"/>
          </a:xfrm>
          <a:prstGeom prst="roundRect">
            <a:avLst>
              <a:gd name="adj" fmla="val 16000"/>
            </a:avLst>
          </a:prstGeom>
          <a:solidFill>
            <a:srgbClr val="F0EBE1"/>
          </a:solidFill>
          <a:ln/>
        </p:spPr>
      </p:sp>
      <p:sp>
        <p:nvSpPr>
          <p:cNvPr id="5" name="Text 3"/>
          <p:cNvSpPr/>
          <p:nvPr/>
        </p:nvSpPr>
        <p:spPr>
          <a:xfrm>
            <a:off x="841248" y="2377440"/>
            <a:ext cx="4663440" cy="685800"/>
          </a:xfrm>
          <a:prstGeom prst="rect">
            <a:avLst/>
          </a:prstGeom>
          <a:noFill/>
          <a:ln/>
        </p:spPr>
        <p:txBody>
          <a:bodyPr wrap="square" rtlCol="0" anchor="ctr"/>
          <a:lstStyle/>
          <a:p>
            <a:pPr indent="0" marL="0">
              <a:buNone/>
            </a:pPr>
            <a:r>
              <a:rPr lang="en-US" sz="1600" b="1" dirty="0">
                <a:solidFill>
                  <a:srgbClr val="0E7C86"/>
                </a:solidFill>
                <a:latin typeface="Segoe UI" pitchFamily="34" charset="0"/>
                <a:ea typeface="Segoe UI" pitchFamily="34" charset="-122"/>
                <a:cs typeface="Segoe UI" pitchFamily="34" charset="-120"/>
              </a:rPr>
              <a:t>Other  </a:t>
            </a:r>
            <a:pPr indent="0" marL="0">
              <a:buNone/>
            </a:pPr>
            <a:r>
              <a:rPr lang="en-US" sz="1600" dirty="0">
                <a:solidFill>
                  <a:srgbClr val="1A1A1A"/>
                </a:solidFill>
                <a:latin typeface="Segoe UI" pitchFamily="34" charset="0"/>
                <a:ea typeface="Segoe UI" pitchFamily="34" charset="-122"/>
                <a:cs typeface="Segoe UI" pitchFamily="34" charset="-120"/>
              </a:rPr>
              <a:t>Can you explain your hobbies?</a:t>
            </a:r>
            <a:endParaRPr lang="en-US" sz="1600" dirty="0"/>
          </a:p>
        </p:txBody>
      </p:sp>
      <p:sp>
        <p:nvSpPr>
          <p:cNvPr id="6" name="Shape 4"/>
          <p:cNvSpPr/>
          <p:nvPr/>
        </p:nvSpPr>
        <p:spPr>
          <a:xfrm>
            <a:off x="6217920" y="3246120"/>
            <a:ext cx="5212080" cy="685800"/>
          </a:xfrm>
          <a:prstGeom prst="roundRect">
            <a:avLst>
              <a:gd name="adj" fmla="val 16000"/>
            </a:avLst>
          </a:prstGeom>
          <a:solidFill>
            <a:srgbClr val="0E7C86"/>
          </a:solidFill>
          <a:ln/>
        </p:spPr>
      </p:sp>
      <p:sp>
        <p:nvSpPr>
          <p:cNvPr id="7" name="Text 5"/>
          <p:cNvSpPr/>
          <p:nvPr/>
        </p:nvSpPr>
        <p:spPr>
          <a:xfrm>
            <a:off x="6492240" y="3246120"/>
            <a:ext cx="4663440" cy="685800"/>
          </a:xfrm>
          <a:prstGeom prst="rect">
            <a:avLst/>
          </a:prstGeom>
          <a:noFill/>
          <a:ln/>
        </p:spPr>
        <p:txBody>
          <a:bodyPr wrap="square" rtlCol="0" anchor="ctr"/>
          <a:lstStyle/>
          <a:p>
            <a:pPr indent="0" marL="0">
              <a:buNone/>
            </a:pPr>
            <a:r>
              <a:rPr lang="en-US" sz="1600" b="1" dirty="0">
                <a:solidFill>
                  <a:srgbClr val="CFE6E8"/>
                </a:solidFill>
                <a:latin typeface="Segoe UI" pitchFamily="34" charset="0"/>
                <a:ea typeface="Segoe UI" pitchFamily="34" charset="-122"/>
                <a:cs typeface="Segoe UI" pitchFamily="34" charset="-120"/>
              </a:rPr>
              <a:t>You  </a:t>
            </a:r>
            <a:pPr indent="0" marL="0">
              <a:buNone/>
            </a:pPr>
            <a:r>
              <a:rPr lang="en-US" sz="1600" dirty="0">
                <a:solidFill>
                  <a:srgbClr val="FFFFFF"/>
                </a:solidFill>
                <a:latin typeface="Segoe UI" pitchFamily="34" charset="0"/>
                <a:ea typeface="Segoe UI" pitchFamily="34" charset="-122"/>
                <a:cs typeface="Segoe UI" pitchFamily="34" charset="-120"/>
              </a:rPr>
              <a:t>I'm doing CS and… stuff.</a:t>
            </a:r>
            <a:endParaRPr lang="en-US" sz="1600" dirty="0"/>
          </a:p>
        </p:txBody>
      </p:sp>
      <p:sp>
        <p:nvSpPr>
          <p:cNvPr id="8" name="Shape 6"/>
          <p:cNvSpPr/>
          <p:nvPr/>
        </p:nvSpPr>
        <p:spPr>
          <a:xfrm>
            <a:off x="566928" y="4114800"/>
            <a:ext cx="5212080" cy="685800"/>
          </a:xfrm>
          <a:prstGeom prst="roundRect">
            <a:avLst>
              <a:gd name="adj" fmla="val 16000"/>
            </a:avLst>
          </a:prstGeom>
          <a:solidFill>
            <a:srgbClr val="F0EBE1"/>
          </a:solidFill>
          <a:ln/>
        </p:spPr>
      </p:sp>
      <p:sp>
        <p:nvSpPr>
          <p:cNvPr id="9" name="Text 7"/>
          <p:cNvSpPr/>
          <p:nvPr/>
        </p:nvSpPr>
        <p:spPr>
          <a:xfrm>
            <a:off x="841248" y="4114800"/>
            <a:ext cx="4663440" cy="685800"/>
          </a:xfrm>
          <a:prstGeom prst="rect">
            <a:avLst/>
          </a:prstGeom>
          <a:noFill/>
          <a:ln/>
        </p:spPr>
        <p:txBody>
          <a:bodyPr wrap="square" rtlCol="0" anchor="ctr"/>
          <a:lstStyle/>
          <a:p>
            <a:pPr indent="0" marL="0">
              <a:buNone/>
            </a:pPr>
            <a:r>
              <a:rPr lang="en-US" sz="1600" b="1" dirty="0">
                <a:solidFill>
                  <a:srgbClr val="0E7C86"/>
                </a:solidFill>
                <a:latin typeface="Segoe UI" pitchFamily="34" charset="0"/>
                <a:ea typeface="Segoe UI" pitchFamily="34" charset="-122"/>
                <a:cs typeface="Segoe UI" pitchFamily="34" charset="-120"/>
              </a:rPr>
              <a:t>Other  </a:t>
            </a:r>
            <a:pPr indent="0" marL="0">
              <a:buNone/>
            </a:pPr>
            <a:r>
              <a:rPr lang="en-US" sz="1600" dirty="0">
                <a:solidFill>
                  <a:srgbClr val="1A1A1A"/>
                </a:solidFill>
                <a:latin typeface="Segoe UI" pitchFamily="34" charset="0"/>
                <a:ea typeface="Segoe UI" pitchFamily="34" charset="-122"/>
                <a:cs typeface="Segoe UI" pitchFamily="34" charset="-120"/>
              </a:rPr>
              <a:t>What do you like in CS?</a:t>
            </a:r>
            <a:endParaRPr lang="en-US" sz="1600" dirty="0"/>
          </a:p>
        </p:txBody>
      </p:sp>
      <p:sp>
        <p:nvSpPr>
          <p:cNvPr id="10" name="Text 8"/>
          <p:cNvSpPr/>
          <p:nvPr/>
        </p:nvSpPr>
        <p:spPr>
          <a:xfrm>
            <a:off x="566928" y="5212080"/>
            <a:ext cx="10972800" cy="548640"/>
          </a:xfrm>
          <a:prstGeom prst="rect">
            <a:avLst/>
          </a:prstGeom>
          <a:noFill/>
          <a:ln/>
        </p:spPr>
        <p:txBody>
          <a:bodyPr wrap="square" rtlCol="0" anchor="ctr"/>
          <a:lstStyle/>
          <a:p>
            <a:pPr indent="0" marL="0">
              <a:buNone/>
            </a:pPr>
            <a:r>
              <a:rPr lang="en-US" sz="1600" i="1" dirty="0">
                <a:solidFill>
                  <a:srgbClr val="3A3A3A"/>
                </a:solidFill>
                <a:latin typeface="Segoe UI" pitchFamily="34" charset="0"/>
                <a:ea typeface="Segoe UI" pitchFamily="34" charset="-122"/>
                <a:cs typeface="Segoe UI" pitchFamily="34" charset="-120"/>
              </a:rPr>
              <a:t>We parse word-level timestamps to split User vs. Other — Wingman reacts to the other person only.</a:t>
            </a:r>
            <a:endParaRPr lang="en-US" sz="1600" dirty="0"/>
          </a:p>
        </p:txBody>
      </p:sp>
      <p:sp>
        <p:nvSpPr>
          <p:cNvPr id="11" name="Text 9"/>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2" name="Text 10"/>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30</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TWO MORE HARD PROBLEMS</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Hallucination &amp; lost state.</a:t>
            </a:r>
            <a:endParaRPr lang="en-US" sz="3300" dirty="0"/>
          </a:p>
        </p:txBody>
      </p:sp>
      <p:sp>
        <p:nvSpPr>
          <p:cNvPr id="4" name="Shape 2"/>
          <p:cNvSpPr/>
          <p:nvPr/>
        </p:nvSpPr>
        <p:spPr>
          <a:xfrm>
            <a:off x="566928" y="2286000"/>
            <a:ext cx="5120640" cy="2743200"/>
          </a:xfrm>
          <a:prstGeom prst="roundRect">
            <a:avLst>
              <a:gd name="adj" fmla="val 4000"/>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Shape 3"/>
          <p:cNvSpPr/>
          <p:nvPr/>
        </p:nvSpPr>
        <p:spPr>
          <a:xfrm>
            <a:off x="566928" y="2286000"/>
            <a:ext cx="5120640" cy="109728"/>
          </a:xfrm>
          <a:prstGeom prst="rect">
            <a:avLst/>
          </a:prstGeom>
          <a:solidFill>
            <a:srgbClr val="0E7C86"/>
          </a:solidFill>
          <a:ln/>
        </p:spPr>
      </p:sp>
      <p:sp>
        <p:nvSpPr>
          <p:cNvPr id="6" name="Text 4"/>
          <p:cNvSpPr/>
          <p:nvPr/>
        </p:nvSpPr>
        <p:spPr>
          <a:xfrm>
            <a:off x="932688" y="2560320"/>
            <a:ext cx="4572000" cy="457200"/>
          </a:xfrm>
          <a:prstGeom prst="rect">
            <a:avLst/>
          </a:prstGeom>
          <a:noFill/>
          <a:ln/>
        </p:spPr>
        <p:txBody>
          <a:bodyPr wrap="square" rtlCol="0" anchor="ctr"/>
          <a:lstStyle/>
          <a:p>
            <a:pPr indent="0" marL="0">
              <a:buNone/>
            </a:pPr>
            <a:r>
              <a:rPr lang="en-US" sz="2100" b="1" dirty="0">
                <a:solidFill>
                  <a:srgbClr val="1A1A1A"/>
                </a:solidFill>
                <a:latin typeface="Segoe UI" pitchFamily="34" charset="0"/>
                <a:ea typeface="Segoe UI" pitchFamily="34" charset="-122"/>
                <a:cs typeface="Segoe UI" pitchFamily="34" charset="-120"/>
              </a:rPr>
              <a:t>Hallucination</a:t>
            </a:r>
            <a:endParaRPr lang="en-US" sz="2100" dirty="0"/>
          </a:p>
        </p:txBody>
      </p:sp>
      <p:sp>
        <p:nvSpPr>
          <p:cNvPr id="7" name="Text 5"/>
          <p:cNvSpPr/>
          <p:nvPr/>
        </p:nvSpPr>
        <p:spPr>
          <a:xfrm>
            <a:off x="932688" y="3154680"/>
            <a:ext cx="4572000" cy="1737360"/>
          </a:xfrm>
          <a:prstGeom prst="rect">
            <a:avLst/>
          </a:prstGeom>
          <a:noFill/>
          <a:ln/>
        </p:spPr>
        <p:txBody>
          <a:bodyPr wrap="square" rtlCol="0" anchor="ctr"/>
          <a:lstStyle/>
          <a:p>
            <a:pPr indent="0" marL="0">
              <a:lnSpc>
                <a:spcPct val="120000"/>
              </a:lnSpc>
              <a:buNone/>
            </a:pPr>
            <a:r>
              <a:rPr lang="en-US" sz="1650" dirty="0">
                <a:solidFill>
                  <a:srgbClr val="3A3A3A"/>
                </a:solidFill>
                <a:latin typeface="Segoe UI" pitchFamily="34" charset="0"/>
                <a:ea typeface="Segoe UI" pitchFamily="34" charset="-122"/>
                <a:cs typeface="Segoe UI" pitchFamily="34" charset="-120"/>
              </a:rPr>
              <a:t>Force graph facts first, plus a strict prompt: “If it's not in the context, say you don't know.”</a:t>
            </a:r>
            <a:endParaRPr lang="en-US" sz="1650" dirty="0"/>
          </a:p>
        </p:txBody>
      </p:sp>
      <p:sp>
        <p:nvSpPr>
          <p:cNvPr id="8" name="Shape 6"/>
          <p:cNvSpPr/>
          <p:nvPr/>
        </p:nvSpPr>
        <p:spPr>
          <a:xfrm>
            <a:off x="6144768" y="2286000"/>
            <a:ext cx="5120640" cy="2743200"/>
          </a:xfrm>
          <a:prstGeom prst="roundRect">
            <a:avLst>
              <a:gd name="adj" fmla="val 4000"/>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9" name="Shape 7"/>
          <p:cNvSpPr/>
          <p:nvPr/>
        </p:nvSpPr>
        <p:spPr>
          <a:xfrm>
            <a:off x="6144768" y="2286000"/>
            <a:ext cx="5120640" cy="109728"/>
          </a:xfrm>
          <a:prstGeom prst="rect">
            <a:avLst/>
          </a:prstGeom>
          <a:solidFill>
            <a:srgbClr val="E08A2B"/>
          </a:solidFill>
          <a:ln/>
        </p:spPr>
      </p:sp>
      <p:sp>
        <p:nvSpPr>
          <p:cNvPr id="10" name="Text 8"/>
          <p:cNvSpPr/>
          <p:nvPr/>
        </p:nvSpPr>
        <p:spPr>
          <a:xfrm>
            <a:off x="6510528" y="2560320"/>
            <a:ext cx="4572000" cy="457200"/>
          </a:xfrm>
          <a:prstGeom prst="rect">
            <a:avLst/>
          </a:prstGeom>
          <a:noFill/>
          <a:ln/>
        </p:spPr>
        <p:txBody>
          <a:bodyPr wrap="square" rtlCol="0" anchor="ctr"/>
          <a:lstStyle/>
          <a:p>
            <a:pPr indent="0" marL="0">
              <a:buNone/>
            </a:pPr>
            <a:r>
              <a:rPr lang="en-US" sz="2100" b="1" dirty="0">
                <a:solidFill>
                  <a:srgbClr val="1A1A1A"/>
                </a:solidFill>
                <a:latin typeface="Segoe UI" pitchFamily="34" charset="0"/>
                <a:ea typeface="Segoe UI" pitchFamily="34" charset="-122"/>
                <a:cs typeface="Segoe UI" pitchFamily="34" charset="-120"/>
              </a:rPr>
              <a:t>Lost state</a:t>
            </a:r>
            <a:endParaRPr lang="en-US" sz="2100" dirty="0"/>
          </a:p>
        </p:txBody>
      </p:sp>
      <p:sp>
        <p:nvSpPr>
          <p:cNvPr id="11" name="Text 9"/>
          <p:cNvSpPr/>
          <p:nvPr/>
        </p:nvSpPr>
        <p:spPr>
          <a:xfrm>
            <a:off x="6510528" y="3154680"/>
            <a:ext cx="4572000" cy="1737360"/>
          </a:xfrm>
          <a:prstGeom prst="rect">
            <a:avLst/>
          </a:prstGeom>
          <a:noFill/>
          <a:ln/>
        </p:spPr>
        <p:txBody>
          <a:bodyPr wrap="square" rtlCol="0" anchor="ctr"/>
          <a:lstStyle/>
          <a:p>
            <a:pPr indent="0" marL="0">
              <a:lnSpc>
                <a:spcPct val="120000"/>
              </a:lnSpc>
              <a:buNone/>
            </a:pPr>
            <a:r>
              <a:rPr lang="en-US" sz="1650" dirty="0">
                <a:solidFill>
                  <a:srgbClr val="3A3A3A"/>
                </a:solidFill>
                <a:latin typeface="Segoe UI" pitchFamily="34" charset="0"/>
                <a:ea typeface="Segoe UI" pitchFamily="34" charset="-122"/>
                <a:cs typeface="Segoe UI" pitchFamily="34" charset="-120"/>
              </a:rPr>
              <a:t>Stateless HTTP forgets mid-talk. Hold live context in RAM (fast) and persist to Supabase (reliable).</a:t>
            </a:r>
            <a:endParaRPr lang="en-US" sz="1650" dirty="0"/>
          </a:p>
        </p:txBody>
      </p:sp>
      <p:sp>
        <p:nvSpPr>
          <p:cNvPr id="12" name="Text 10"/>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3" name="Text 11"/>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31</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BUILT FOR RELIABILITY</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Production guardrails, not a demo script.</a:t>
            </a:r>
            <a:endParaRPr lang="en-US" sz="3300" dirty="0"/>
          </a:p>
        </p:txBody>
      </p:sp>
      <p:sp>
        <p:nvSpPr>
          <p:cNvPr id="4" name="Shape 2"/>
          <p:cNvSpPr/>
          <p:nvPr/>
        </p:nvSpPr>
        <p:spPr>
          <a:xfrm>
            <a:off x="566928" y="2194560"/>
            <a:ext cx="548640" cy="548640"/>
          </a:xfrm>
          <a:prstGeom prst="ellipse">
            <a:avLst/>
          </a:prstGeom>
          <a:solidFill>
            <a:srgbClr val="E4EFEF"/>
          </a:solidFill>
          <a:ln w="16510">
            <a:solidFill>
              <a:srgbClr val="0E7C86"/>
            </a:solidFill>
            <a:prstDash val="solid"/>
          </a:ln>
        </p:spPr>
      </p:sp>
      <p:sp>
        <p:nvSpPr>
          <p:cNvPr id="5" name="Text 3"/>
          <p:cNvSpPr/>
          <p:nvPr/>
        </p:nvSpPr>
        <p:spPr>
          <a:xfrm>
            <a:off x="566928" y="2194560"/>
            <a:ext cx="548640" cy="548640"/>
          </a:xfrm>
          <a:prstGeom prst="rect">
            <a:avLst/>
          </a:prstGeom>
          <a:noFill/>
          <a:ln/>
        </p:spPr>
        <p:txBody>
          <a:bodyPr wrap="square" rtlCol="0" anchor="ctr"/>
          <a:lstStyle/>
          <a:p>
            <a:pPr algn="ctr" indent="0" marL="0">
              <a:buNone/>
            </a:pPr>
            <a:r>
              <a:rPr lang="en-US" sz="1600" b="1" dirty="0">
                <a:solidFill>
                  <a:srgbClr val="0E7C86"/>
                </a:solidFill>
                <a:latin typeface="Segoe UI" pitchFamily="34" charset="0"/>
                <a:ea typeface="Segoe UI" pitchFamily="34" charset="-122"/>
                <a:cs typeface="Segoe UI" pitchFamily="34" charset="-120"/>
              </a:rPr>
              <a:t>✓</a:t>
            </a:r>
            <a:endParaRPr lang="en-US" sz="1600" dirty="0"/>
          </a:p>
        </p:txBody>
      </p:sp>
      <p:sp>
        <p:nvSpPr>
          <p:cNvPr id="6" name="Text 4"/>
          <p:cNvSpPr/>
          <p:nvPr/>
        </p:nvSpPr>
        <p:spPr>
          <a:xfrm>
            <a:off x="1389888" y="2194560"/>
            <a:ext cx="10058400" cy="548640"/>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Circuit breakers  —  </a:t>
            </a:r>
            <a:pPr indent="0" marL="0">
              <a:buNone/>
            </a:pPr>
            <a:r>
              <a:rPr lang="en-US" sz="1700" dirty="0">
                <a:solidFill>
                  <a:srgbClr val="3A3A3A"/>
                </a:solidFill>
                <a:latin typeface="Segoe UI" pitchFamily="34" charset="0"/>
                <a:ea typeface="Segoe UI" pitchFamily="34" charset="-122"/>
                <a:cs typeface="Segoe UI" pitchFamily="34" charset="-120"/>
              </a:rPr>
              <a:t>isolate a failing provider</a:t>
            </a:r>
            <a:endParaRPr lang="en-US" sz="1700" dirty="0"/>
          </a:p>
        </p:txBody>
      </p:sp>
      <p:sp>
        <p:nvSpPr>
          <p:cNvPr id="7" name="Shape 5"/>
          <p:cNvSpPr/>
          <p:nvPr/>
        </p:nvSpPr>
        <p:spPr>
          <a:xfrm>
            <a:off x="566928" y="2944368"/>
            <a:ext cx="548640" cy="548640"/>
          </a:xfrm>
          <a:prstGeom prst="ellipse">
            <a:avLst/>
          </a:prstGeom>
          <a:solidFill>
            <a:srgbClr val="E4EFEF"/>
          </a:solidFill>
          <a:ln w="16510">
            <a:solidFill>
              <a:srgbClr val="0E7C86"/>
            </a:solidFill>
            <a:prstDash val="solid"/>
          </a:ln>
        </p:spPr>
      </p:sp>
      <p:sp>
        <p:nvSpPr>
          <p:cNvPr id="8" name="Text 6"/>
          <p:cNvSpPr/>
          <p:nvPr/>
        </p:nvSpPr>
        <p:spPr>
          <a:xfrm>
            <a:off x="566928" y="2944368"/>
            <a:ext cx="548640" cy="548640"/>
          </a:xfrm>
          <a:prstGeom prst="rect">
            <a:avLst/>
          </a:prstGeom>
          <a:noFill/>
          <a:ln/>
        </p:spPr>
        <p:txBody>
          <a:bodyPr wrap="square" rtlCol="0" anchor="ctr"/>
          <a:lstStyle/>
          <a:p>
            <a:pPr algn="ctr" indent="0" marL="0">
              <a:buNone/>
            </a:pPr>
            <a:r>
              <a:rPr lang="en-US" sz="1600" b="1" dirty="0">
                <a:solidFill>
                  <a:srgbClr val="0E7C86"/>
                </a:solidFill>
                <a:latin typeface="Segoe UI" pitchFamily="34" charset="0"/>
                <a:ea typeface="Segoe UI" pitchFamily="34" charset="-122"/>
                <a:cs typeface="Segoe UI" pitchFamily="34" charset="-120"/>
              </a:rPr>
              <a:t>✓</a:t>
            </a:r>
            <a:endParaRPr lang="en-US" sz="1600" dirty="0"/>
          </a:p>
        </p:txBody>
      </p:sp>
      <p:sp>
        <p:nvSpPr>
          <p:cNvPr id="9" name="Text 7"/>
          <p:cNvSpPr/>
          <p:nvPr/>
        </p:nvSpPr>
        <p:spPr>
          <a:xfrm>
            <a:off x="1389888" y="2944368"/>
            <a:ext cx="10058400" cy="548640"/>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Token-bucket rate limiting  —  </a:t>
            </a:r>
            <a:pPr indent="0" marL="0">
              <a:buNone/>
            </a:pPr>
            <a:r>
              <a:rPr lang="en-US" sz="1700" dirty="0">
                <a:solidFill>
                  <a:srgbClr val="3A3A3A"/>
                </a:solidFill>
                <a:latin typeface="Segoe UI" pitchFamily="34" charset="0"/>
                <a:ea typeface="Segoe UI" pitchFamily="34" charset="-122"/>
                <a:cs typeface="Segoe UI" pitchFamily="34" charset="-120"/>
              </a:rPr>
              <a:t>Redis Lua, per user</a:t>
            </a:r>
            <a:endParaRPr lang="en-US" sz="1700" dirty="0"/>
          </a:p>
        </p:txBody>
      </p:sp>
      <p:sp>
        <p:nvSpPr>
          <p:cNvPr id="10" name="Shape 8"/>
          <p:cNvSpPr/>
          <p:nvPr/>
        </p:nvSpPr>
        <p:spPr>
          <a:xfrm>
            <a:off x="566928" y="3694176"/>
            <a:ext cx="548640" cy="548640"/>
          </a:xfrm>
          <a:prstGeom prst="ellipse">
            <a:avLst/>
          </a:prstGeom>
          <a:solidFill>
            <a:srgbClr val="E4EFEF"/>
          </a:solidFill>
          <a:ln w="16510">
            <a:solidFill>
              <a:srgbClr val="0E7C86"/>
            </a:solidFill>
            <a:prstDash val="solid"/>
          </a:ln>
        </p:spPr>
      </p:sp>
      <p:sp>
        <p:nvSpPr>
          <p:cNvPr id="11" name="Text 9"/>
          <p:cNvSpPr/>
          <p:nvPr/>
        </p:nvSpPr>
        <p:spPr>
          <a:xfrm>
            <a:off x="566928" y="3694176"/>
            <a:ext cx="548640" cy="548640"/>
          </a:xfrm>
          <a:prstGeom prst="rect">
            <a:avLst/>
          </a:prstGeom>
          <a:noFill/>
          <a:ln/>
        </p:spPr>
        <p:txBody>
          <a:bodyPr wrap="square" rtlCol="0" anchor="ctr"/>
          <a:lstStyle/>
          <a:p>
            <a:pPr algn="ctr" indent="0" marL="0">
              <a:buNone/>
            </a:pPr>
            <a:r>
              <a:rPr lang="en-US" sz="1600" b="1" dirty="0">
                <a:solidFill>
                  <a:srgbClr val="0E7C86"/>
                </a:solidFill>
                <a:latin typeface="Segoe UI" pitchFamily="34" charset="0"/>
                <a:ea typeface="Segoe UI" pitchFamily="34" charset="-122"/>
                <a:cs typeface="Segoe UI" pitchFamily="34" charset="-120"/>
              </a:rPr>
              <a:t>✓</a:t>
            </a:r>
            <a:endParaRPr lang="en-US" sz="1600" dirty="0"/>
          </a:p>
        </p:txBody>
      </p:sp>
      <p:sp>
        <p:nvSpPr>
          <p:cNvPr id="12" name="Text 10"/>
          <p:cNvSpPr/>
          <p:nvPr/>
        </p:nvSpPr>
        <p:spPr>
          <a:xfrm>
            <a:off x="1389888" y="3694176"/>
            <a:ext cx="10058400" cy="548640"/>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Retries with back-off  —  </a:t>
            </a:r>
            <a:pPr indent="0" marL="0">
              <a:buNone/>
            </a:pPr>
            <a:r>
              <a:rPr lang="en-US" sz="1700" dirty="0">
                <a:solidFill>
                  <a:srgbClr val="3A3A3A"/>
                </a:solidFill>
                <a:latin typeface="Segoe UI" pitchFamily="34" charset="0"/>
                <a:ea typeface="Segoe UI" pitchFamily="34" charset="-122"/>
                <a:cs typeface="Segoe UI" pitchFamily="34" charset="-120"/>
              </a:rPr>
              <a:t>Tenacity on transient faults</a:t>
            </a:r>
            <a:endParaRPr lang="en-US" sz="1700" dirty="0"/>
          </a:p>
        </p:txBody>
      </p:sp>
      <p:sp>
        <p:nvSpPr>
          <p:cNvPr id="13" name="Shape 11"/>
          <p:cNvSpPr/>
          <p:nvPr/>
        </p:nvSpPr>
        <p:spPr>
          <a:xfrm>
            <a:off x="566928" y="4443984"/>
            <a:ext cx="548640" cy="548640"/>
          </a:xfrm>
          <a:prstGeom prst="ellipse">
            <a:avLst/>
          </a:prstGeom>
          <a:solidFill>
            <a:srgbClr val="E4EFEF"/>
          </a:solidFill>
          <a:ln w="16510">
            <a:solidFill>
              <a:srgbClr val="0E7C86"/>
            </a:solidFill>
            <a:prstDash val="solid"/>
          </a:ln>
        </p:spPr>
      </p:sp>
      <p:sp>
        <p:nvSpPr>
          <p:cNvPr id="14" name="Text 12"/>
          <p:cNvSpPr/>
          <p:nvPr/>
        </p:nvSpPr>
        <p:spPr>
          <a:xfrm>
            <a:off x="566928" y="4443984"/>
            <a:ext cx="548640" cy="548640"/>
          </a:xfrm>
          <a:prstGeom prst="rect">
            <a:avLst/>
          </a:prstGeom>
          <a:noFill/>
          <a:ln/>
        </p:spPr>
        <p:txBody>
          <a:bodyPr wrap="square" rtlCol="0" anchor="ctr"/>
          <a:lstStyle/>
          <a:p>
            <a:pPr algn="ctr" indent="0" marL="0">
              <a:buNone/>
            </a:pPr>
            <a:r>
              <a:rPr lang="en-US" sz="1600" b="1" dirty="0">
                <a:solidFill>
                  <a:srgbClr val="0E7C86"/>
                </a:solidFill>
                <a:latin typeface="Segoe UI" pitchFamily="34" charset="0"/>
                <a:ea typeface="Segoe UI" pitchFamily="34" charset="-122"/>
                <a:cs typeface="Segoe UI" pitchFamily="34" charset="-120"/>
              </a:rPr>
              <a:t>✓</a:t>
            </a:r>
            <a:endParaRPr lang="en-US" sz="1600" dirty="0"/>
          </a:p>
        </p:txBody>
      </p:sp>
      <p:sp>
        <p:nvSpPr>
          <p:cNvPr id="15" name="Text 13"/>
          <p:cNvSpPr/>
          <p:nvPr/>
        </p:nvSpPr>
        <p:spPr>
          <a:xfrm>
            <a:off x="1389888" y="4443984"/>
            <a:ext cx="10058400" cy="548640"/>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Idempotent jobs  —  </a:t>
            </a:r>
            <a:pPr indent="0" marL="0">
              <a:buNone/>
            </a:pPr>
            <a:r>
              <a:rPr lang="en-US" sz="1700" dirty="0">
                <a:solidFill>
                  <a:srgbClr val="3A3A3A"/>
                </a:solidFill>
                <a:latin typeface="Segoe UI" pitchFamily="34" charset="0"/>
                <a:ea typeface="Segoe UI" pitchFamily="34" charset="-122"/>
                <a:cs typeface="Segoe UI" pitchFamily="34" charset="-120"/>
              </a:rPr>
              <a:t>a retry never double-fires</a:t>
            </a:r>
            <a:endParaRPr lang="en-US" sz="1700" dirty="0"/>
          </a:p>
        </p:txBody>
      </p:sp>
      <p:sp>
        <p:nvSpPr>
          <p:cNvPr id="16" name="Shape 14"/>
          <p:cNvSpPr/>
          <p:nvPr/>
        </p:nvSpPr>
        <p:spPr>
          <a:xfrm>
            <a:off x="566928" y="5193792"/>
            <a:ext cx="548640" cy="548640"/>
          </a:xfrm>
          <a:prstGeom prst="ellipse">
            <a:avLst/>
          </a:prstGeom>
          <a:solidFill>
            <a:srgbClr val="E4EFEF"/>
          </a:solidFill>
          <a:ln w="16510">
            <a:solidFill>
              <a:srgbClr val="0E7C86"/>
            </a:solidFill>
            <a:prstDash val="solid"/>
          </a:ln>
        </p:spPr>
      </p:sp>
      <p:sp>
        <p:nvSpPr>
          <p:cNvPr id="17" name="Text 15"/>
          <p:cNvSpPr/>
          <p:nvPr/>
        </p:nvSpPr>
        <p:spPr>
          <a:xfrm>
            <a:off x="566928" y="5193792"/>
            <a:ext cx="548640" cy="548640"/>
          </a:xfrm>
          <a:prstGeom prst="rect">
            <a:avLst/>
          </a:prstGeom>
          <a:noFill/>
          <a:ln/>
        </p:spPr>
        <p:txBody>
          <a:bodyPr wrap="square" rtlCol="0" anchor="ctr"/>
          <a:lstStyle/>
          <a:p>
            <a:pPr algn="ctr" indent="0" marL="0">
              <a:buNone/>
            </a:pPr>
            <a:r>
              <a:rPr lang="en-US" sz="1600" b="1" dirty="0">
                <a:solidFill>
                  <a:srgbClr val="0E7C86"/>
                </a:solidFill>
                <a:latin typeface="Segoe UI" pitchFamily="34" charset="0"/>
                <a:ea typeface="Segoe UI" pitchFamily="34" charset="-122"/>
                <a:cs typeface="Segoe UI" pitchFamily="34" charset="-120"/>
              </a:rPr>
              <a:t>✓</a:t>
            </a:r>
            <a:endParaRPr lang="en-US" sz="1600" dirty="0"/>
          </a:p>
        </p:txBody>
      </p:sp>
      <p:sp>
        <p:nvSpPr>
          <p:cNvPr id="18" name="Text 16"/>
          <p:cNvSpPr/>
          <p:nvPr/>
        </p:nvSpPr>
        <p:spPr>
          <a:xfrm>
            <a:off x="1389888" y="5193792"/>
            <a:ext cx="10058400" cy="548640"/>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ULID IDs  —  </a:t>
            </a:r>
            <a:pPr indent="0" marL="0">
              <a:buNone/>
            </a:pPr>
            <a:r>
              <a:rPr lang="en-US" sz="1700" dirty="0">
                <a:solidFill>
                  <a:srgbClr val="3A3A3A"/>
                </a:solidFill>
                <a:latin typeface="Segoe UI" pitchFamily="34" charset="0"/>
                <a:ea typeface="Segoe UI" pitchFamily="34" charset="-122"/>
                <a:cs typeface="Segoe UI" pitchFamily="34" charset="-120"/>
              </a:rPr>
              <a:t>sortable, collision-safe</a:t>
            </a:r>
            <a:endParaRPr lang="en-US" sz="1700" dirty="0"/>
          </a:p>
        </p:txBody>
      </p:sp>
      <p:sp>
        <p:nvSpPr>
          <p:cNvPr id="19" name="Text 17"/>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0" name="Text 18"/>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32</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par>
                    <p:cTn id="142" presetID="10" presetClass="entr" presetSubtype="0" fill="hold" grpId="0" nodeType="afterEffect">
                      <p:stCondLst>
                        <p:cond delay="1680"/>
                      </p:stCondLst>
                      <p:childTnLst>
                        <p:set>
                          <p:cBhvr>
                            <p:cTn id="143" dur="1" fill="hold">
                              <p:stCondLst>
                                <p:cond delay="0"/>
                              </p:stCondLst>
                            </p:cTn>
                            <p:tgtEl>
                              <p:spTgt spid="16"/>
                            </p:tgtEl>
                            <p:attrNameLst>
                              <p:attrName>style.visibility</p:attrName>
                            </p:attrNameLst>
                          </p:cBhvr>
                          <p:to>
                            <p:strVal val="visible"/>
                          </p:to>
                        </p:set>
                        <p:animEffect transition="in" filter="fade">
                          <p:cBhvr>
                            <p:cTn id="144" dur="450"/>
                            <p:tgtEl>
                              <p:spTgt spid="16"/>
                            </p:tgtEl>
                          </p:cBhvr>
                        </p:animEffect>
                      </p:childTnLst>
                    </p:cTn>
                  </p:par>
                  <p:par>
                    <p:cTn id="145" presetID="10" presetClass="entr" presetSubtype="0" fill="hold" grpId="0" nodeType="afterEffect">
                      <p:stCondLst>
                        <p:cond delay="1800"/>
                      </p:stCondLst>
                      <p:childTnLst>
                        <p:set>
                          <p:cBhvr>
                            <p:cTn id="146" dur="1" fill="hold">
                              <p:stCondLst>
                                <p:cond delay="0"/>
                              </p:stCondLst>
                            </p:cTn>
                            <p:tgtEl>
                              <p:spTgt spid="17"/>
                            </p:tgtEl>
                            <p:attrNameLst>
                              <p:attrName>style.visibility</p:attrName>
                            </p:attrNameLst>
                          </p:cBhvr>
                          <p:to>
                            <p:strVal val="visible"/>
                          </p:to>
                        </p:set>
                        <p:animEffect transition="in" filter="fade">
                          <p:cBhvr>
                            <p:cTn id="147" dur="450"/>
                            <p:tgtEl>
                              <p:spTgt spid="17"/>
                            </p:tgtEl>
                          </p:cBhvr>
                        </p:animEffect>
                      </p:childTnLst>
                    </p:cTn>
                  </p:par>
                  <p:par>
                    <p:cTn id="148" presetID="10" presetClass="entr" presetSubtype="0" fill="hold" grpId="0" nodeType="afterEffect">
                      <p:stCondLst>
                        <p:cond delay="1920"/>
                      </p:stCondLst>
                      <p:childTnLst>
                        <p:set>
                          <p:cBhvr>
                            <p:cTn id="149" dur="1" fill="hold">
                              <p:stCondLst>
                                <p:cond delay="0"/>
                              </p:stCondLst>
                            </p:cTn>
                            <p:tgtEl>
                              <p:spTgt spid="18"/>
                            </p:tgtEl>
                            <p:attrNameLst>
                              <p:attrName>style.visibility</p:attrName>
                            </p:attrNameLst>
                          </p:cBhvr>
                          <p:to>
                            <p:strVal val="visible"/>
                          </p:to>
                        </p:set>
                        <p:animEffect transition="in" filter="fade">
                          <p:cBhvr>
                            <p:cTn id="150" dur="450"/>
                            <p:tgtEl>
                              <p:spTgt spid="18"/>
                            </p:tgtEl>
                          </p:cBhvr>
                        </p:animEffect>
                      </p:childTnLst>
                    </p:cTn>
                  </p:par>
                  <p:par>
                    <p:cTn id="151" presetID="10" presetClass="entr" presetSubtype="0" fill="hold" grpId="0" nodeType="afterEffect">
                      <p:stCondLst>
                        <p:cond delay="2040"/>
                      </p:stCondLst>
                      <p:childTnLst>
                        <p:set>
                          <p:cBhvr>
                            <p:cTn id="152" dur="1" fill="hold">
                              <p:stCondLst>
                                <p:cond delay="0"/>
                              </p:stCondLst>
                            </p:cTn>
                            <p:tgtEl>
                              <p:spTgt spid="19"/>
                            </p:tgtEl>
                            <p:attrNameLst>
                              <p:attrName>style.visibility</p:attrName>
                            </p:attrNameLst>
                          </p:cBhvr>
                          <p:to>
                            <p:strVal val="visible"/>
                          </p:to>
                        </p:set>
                        <p:animEffect transition="in" filter="fade">
                          <p:cBhvr>
                            <p:cTn id="153" dur="450"/>
                            <p:tgtEl>
                              <p:spTgt spid="19"/>
                            </p:tgtEl>
                          </p:cBhvr>
                        </p:animEffect>
                      </p:childTnLst>
                    </p:cTn>
                  </p:par>
                  <p:par>
                    <p:cTn id="154" presetID="10" presetClass="entr" presetSubtype="0" fill="hold" grpId="0" nodeType="afterEffect">
                      <p:stCondLst>
                        <p:cond delay="2160"/>
                      </p:stCondLst>
                      <p:childTnLst>
                        <p:set>
                          <p:cBhvr>
                            <p:cTn id="155" dur="1" fill="hold">
                              <p:stCondLst>
                                <p:cond delay="0"/>
                              </p:stCondLst>
                            </p:cTn>
                            <p:tgtEl>
                              <p:spTgt spid="20"/>
                            </p:tgtEl>
                            <p:attrNameLst>
                              <p:attrName>style.visibility</p:attrName>
                            </p:attrNameLst>
                          </p:cBhvr>
                          <p:to>
                            <p:strVal val="visible"/>
                          </p:to>
                        </p:set>
                        <p:animEffect transition="in" filter="fade">
                          <p:cBhvr>
                            <p:cTn id="156" dur="450"/>
                            <p:tgtEl>
                              <p:spTgt spid="20"/>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WHAT'S BUILT</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Ten features — all live in the app.</a:t>
            </a:r>
            <a:endParaRPr lang="en-US" sz="3300" dirty="0"/>
          </a:p>
        </p:txBody>
      </p:sp>
      <p:sp>
        <p:nvSpPr>
          <p:cNvPr id="4" name="Shape 2"/>
          <p:cNvSpPr/>
          <p:nvPr/>
        </p:nvSpPr>
        <p:spPr>
          <a:xfrm>
            <a:off x="566928" y="2377440"/>
            <a:ext cx="2057400" cy="1097280"/>
          </a:xfrm>
          <a:prstGeom prst="roundRect">
            <a:avLst>
              <a:gd name="adj" fmla="val 8333"/>
            </a:avLst>
          </a:prstGeom>
          <a:solidFill>
            <a:srgbClr val="FFFFFF"/>
          </a:solidFill>
          <a:ln w="12700">
            <a:solidFill>
              <a:srgbClr val="0E7C86"/>
            </a:solidFill>
            <a:prstDash val="solid"/>
          </a:ln>
        </p:spPr>
      </p:sp>
      <p:sp>
        <p:nvSpPr>
          <p:cNvPr id="5" name="Text 3"/>
          <p:cNvSpPr/>
          <p:nvPr/>
        </p:nvSpPr>
        <p:spPr>
          <a:xfrm>
            <a:off x="658368" y="2377440"/>
            <a:ext cx="1874520" cy="1097280"/>
          </a:xfrm>
          <a:prstGeom prst="rect">
            <a:avLst/>
          </a:prstGeom>
          <a:noFill/>
          <a:ln/>
        </p:spPr>
        <p:txBody>
          <a:bodyPr wrap="square" rtlCol="0" anchor="ctr"/>
          <a:lstStyle/>
          <a:p>
            <a:pPr algn="ctr" indent="0" marL="0">
              <a:buNone/>
            </a:pPr>
            <a:r>
              <a:rPr lang="en-US" sz="1350" b="1" dirty="0">
                <a:solidFill>
                  <a:srgbClr val="0A5159"/>
                </a:solidFill>
                <a:latin typeface="Segoe UI" pitchFamily="34" charset="0"/>
                <a:ea typeface="Segoe UI" pitchFamily="34" charset="-122"/>
                <a:cs typeface="Segoe UI" pitchFamily="34" charset="-120"/>
              </a:rPr>
              <a:t>Live Wingman</a:t>
            </a:r>
            <a:endParaRPr lang="en-US" sz="1350" dirty="0"/>
          </a:p>
        </p:txBody>
      </p:sp>
      <p:sp>
        <p:nvSpPr>
          <p:cNvPr id="6" name="Shape 4"/>
          <p:cNvSpPr/>
          <p:nvPr/>
        </p:nvSpPr>
        <p:spPr>
          <a:xfrm>
            <a:off x="2779776" y="2377440"/>
            <a:ext cx="2057400" cy="1097280"/>
          </a:xfrm>
          <a:prstGeom prst="roundRect">
            <a:avLst>
              <a:gd name="adj" fmla="val 8333"/>
            </a:avLst>
          </a:prstGeom>
          <a:solidFill>
            <a:srgbClr val="E4EFEF"/>
          </a:solidFill>
          <a:ln w="12700">
            <a:solidFill>
              <a:srgbClr val="0E7C86"/>
            </a:solidFill>
            <a:prstDash val="solid"/>
          </a:ln>
        </p:spPr>
      </p:sp>
      <p:sp>
        <p:nvSpPr>
          <p:cNvPr id="7" name="Text 5"/>
          <p:cNvSpPr/>
          <p:nvPr/>
        </p:nvSpPr>
        <p:spPr>
          <a:xfrm>
            <a:off x="2871216" y="2377440"/>
            <a:ext cx="1874520" cy="1097280"/>
          </a:xfrm>
          <a:prstGeom prst="rect">
            <a:avLst/>
          </a:prstGeom>
          <a:noFill/>
          <a:ln/>
        </p:spPr>
        <p:txBody>
          <a:bodyPr wrap="square" rtlCol="0" anchor="ctr"/>
          <a:lstStyle/>
          <a:p>
            <a:pPr algn="ctr" indent="0" marL="0">
              <a:buNone/>
            </a:pPr>
            <a:r>
              <a:rPr lang="en-US" sz="1350" b="1" dirty="0">
                <a:solidFill>
                  <a:srgbClr val="0A5159"/>
                </a:solidFill>
                <a:latin typeface="Segoe UI" pitchFamily="34" charset="0"/>
                <a:ea typeface="Segoe UI" pitchFamily="34" charset="-122"/>
                <a:cs typeface="Segoe UI" pitchFamily="34" charset="-120"/>
              </a:rPr>
              <a:t>Consultant</a:t>
            </a:r>
            <a:endParaRPr lang="en-US" sz="1350" dirty="0"/>
          </a:p>
        </p:txBody>
      </p:sp>
      <p:sp>
        <p:nvSpPr>
          <p:cNvPr id="8" name="Shape 6"/>
          <p:cNvSpPr/>
          <p:nvPr/>
        </p:nvSpPr>
        <p:spPr>
          <a:xfrm>
            <a:off x="4992624" y="2377440"/>
            <a:ext cx="2057400" cy="1097280"/>
          </a:xfrm>
          <a:prstGeom prst="roundRect">
            <a:avLst>
              <a:gd name="adj" fmla="val 8333"/>
            </a:avLst>
          </a:prstGeom>
          <a:solidFill>
            <a:srgbClr val="FFFFFF"/>
          </a:solidFill>
          <a:ln w="12700">
            <a:solidFill>
              <a:srgbClr val="0E7C86"/>
            </a:solidFill>
            <a:prstDash val="solid"/>
          </a:ln>
        </p:spPr>
      </p:sp>
      <p:sp>
        <p:nvSpPr>
          <p:cNvPr id="9" name="Text 7"/>
          <p:cNvSpPr/>
          <p:nvPr/>
        </p:nvSpPr>
        <p:spPr>
          <a:xfrm>
            <a:off x="5084064" y="2377440"/>
            <a:ext cx="1874520" cy="1097280"/>
          </a:xfrm>
          <a:prstGeom prst="rect">
            <a:avLst/>
          </a:prstGeom>
          <a:noFill/>
          <a:ln/>
        </p:spPr>
        <p:txBody>
          <a:bodyPr wrap="square" rtlCol="0" anchor="ctr"/>
          <a:lstStyle/>
          <a:p>
            <a:pPr algn="ctr" indent="0" marL="0">
              <a:buNone/>
            </a:pPr>
            <a:r>
              <a:rPr lang="en-US" sz="1350" b="1" dirty="0">
                <a:solidFill>
                  <a:srgbClr val="0A5159"/>
                </a:solidFill>
                <a:latin typeface="Segoe UI" pitchFamily="34" charset="0"/>
                <a:ea typeface="Segoe UI" pitchFamily="34" charset="-122"/>
                <a:cs typeface="Segoe UI" pitchFamily="34" charset="-120"/>
              </a:rPr>
              <a:t>Confidence meter</a:t>
            </a:r>
            <a:endParaRPr lang="en-US" sz="1350" dirty="0"/>
          </a:p>
        </p:txBody>
      </p:sp>
      <p:sp>
        <p:nvSpPr>
          <p:cNvPr id="10" name="Shape 8"/>
          <p:cNvSpPr/>
          <p:nvPr/>
        </p:nvSpPr>
        <p:spPr>
          <a:xfrm>
            <a:off x="7205472" y="2377440"/>
            <a:ext cx="2057400" cy="1097280"/>
          </a:xfrm>
          <a:prstGeom prst="roundRect">
            <a:avLst>
              <a:gd name="adj" fmla="val 8333"/>
            </a:avLst>
          </a:prstGeom>
          <a:solidFill>
            <a:srgbClr val="E4EFEF"/>
          </a:solidFill>
          <a:ln w="12700">
            <a:solidFill>
              <a:srgbClr val="0E7C86"/>
            </a:solidFill>
            <a:prstDash val="solid"/>
          </a:ln>
        </p:spPr>
      </p:sp>
      <p:sp>
        <p:nvSpPr>
          <p:cNvPr id="11" name="Text 9"/>
          <p:cNvSpPr/>
          <p:nvPr/>
        </p:nvSpPr>
        <p:spPr>
          <a:xfrm>
            <a:off x="7296912" y="2377440"/>
            <a:ext cx="1874520" cy="1097280"/>
          </a:xfrm>
          <a:prstGeom prst="rect">
            <a:avLst/>
          </a:prstGeom>
          <a:noFill/>
          <a:ln/>
        </p:spPr>
        <p:txBody>
          <a:bodyPr wrap="square" rtlCol="0" anchor="ctr"/>
          <a:lstStyle/>
          <a:p>
            <a:pPr algn="ctr" indent="0" marL="0">
              <a:buNone/>
            </a:pPr>
            <a:r>
              <a:rPr lang="en-US" sz="1350" b="1" dirty="0">
                <a:solidFill>
                  <a:srgbClr val="0A5159"/>
                </a:solidFill>
                <a:latin typeface="Segoe UI" pitchFamily="34" charset="0"/>
                <a:ea typeface="Segoe UI" pitchFamily="34" charset="-122"/>
                <a:cs typeface="Segoe UI" pitchFamily="34" charset="-120"/>
              </a:rPr>
              <a:t>Spaced-repetition drills</a:t>
            </a:r>
            <a:endParaRPr lang="en-US" sz="1350" dirty="0"/>
          </a:p>
        </p:txBody>
      </p:sp>
      <p:sp>
        <p:nvSpPr>
          <p:cNvPr id="12" name="Shape 10"/>
          <p:cNvSpPr/>
          <p:nvPr/>
        </p:nvSpPr>
        <p:spPr>
          <a:xfrm>
            <a:off x="9418320" y="2377440"/>
            <a:ext cx="2057400" cy="1097280"/>
          </a:xfrm>
          <a:prstGeom prst="roundRect">
            <a:avLst>
              <a:gd name="adj" fmla="val 8333"/>
            </a:avLst>
          </a:prstGeom>
          <a:solidFill>
            <a:srgbClr val="FFFFFF"/>
          </a:solidFill>
          <a:ln w="12700">
            <a:solidFill>
              <a:srgbClr val="0E7C86"/>
            </a:solidFill>
            <a:prstDash val="solid"/>
          </a:ln>
        </p:spPr>
      </p:sp>
      <p:sp>
        <p:nvSpPr>
          <p:cNvPr id="13" name="Text 11"/>
          <p:cNvSpPr/>
          <p:nvPr/>
        </p:nvSpPr>
        <p:spPr>
          <a:xfrm>
            <a:off x="9509760" y="2377440"/>
            <a:ext cx="1874520" cy="1097280"/>
          </a:xfrm>
          <a:prstGeom prst="rect">
            <a:avLst/>
          </a:prstGeom>
          <a:noFill/>
          <a:ln/>
        </p:spPr>
        <p:txBody>
          <a:bodyPr wrap="square" rtlCol="0" anchor="ctr"/>
          <a:lstStyle/>
          <a:p>
            <a:pPr algn="ctr" indent="0" marL="0">
              <a:buNone/>
            </a:pPr>
            <a:r>
              <a:rPr lang="en-US" sz="1350" b="1" dirty="0">
                <a:solidFill>
                  <a:srgbClr val="0A5159"/>
                </a:solidFill>
                <a:latin typeface="Segoe UI" pitchFamily="34" charset="0"/>
                <a:ea typeface="Segoe UI" pitchFamily="34" charset="-122"/>
                <a:cs typeface="Segoe UI" pitchFamily="34" charset="-120"/>
              </a:rPr>
              <a:t>Progress dashboard</a:t>
            </a:r>
            <a:endParaRPr lang="en-US" sz="1350" dirty="0"/>
          </a:p>
        </p:txBody>
      </p:sp>
      <p:sp>
        <p:nvSpPr>
          <p:cNvPr id="14" name="Shape 12"/>
          <p:cNvSpPr/>
          <p:nvPr/>
        </p:nvSpPr>
        <p:spPr>
          <a:xfrm>
            <a:off x="566928" y="3657600"/>
            <a:ext cx="2057400" cy="1097280"/>
          </a:xfrm>
          <a:prstGeom prst="roundRect">
            <a:avLst>
              <a:gd name="adj" fmla="val 8333"/>
            </a:avLst>
          </a:prstGeom>
          <a:solidFill>
            <a:srgbClr val="E4EFEF"/>
          </a:solidFill>
          <a:ln w="12700">
            <a:solidFill>
              <a:srgbClr val="0E7C86"/>
            </a:solidFill>
            <a:prstDash val="solid"/>
          </a:ln>
        </p:spPr>
      </p:sp>
      <p:sp>
        <p:nvSpPr>
          <p:cNvPr id="15" name="Text 13"/>
          <p:cNvSpPr/>
          <p:nvPr/>
        </p:nvSpPr>
        <p:spPr>
          <a:xfrm>
            <a:off x="658368" y="3657600"/>
            <a:ext cx="1874520" cy="1097280"/>
          </a:xfrm>
          <a:prstGeom prst="rect">
            <a:avLst/>
          </a:prstGeom>
          <a:noFill/>
          <a:ln/>
        </p:spPr>
        <p:txBody>
          <a:bodyPr wrap="square" rtlCol="0" anchor="ctr"/>
          <a:lstStyle/>
          <a:p>
            <a:pPr algn="ctr" indent="0" marL="0">
              <a:buNone/>
            </a:pPr>
            <a:r>
              <a:rPr lang="en-US" sz="1350" b="1" dirty="0">
                <a:solidFill>
                  <a:srgbClr val="0A5159"/>
                </a:solidFill>
                <a:latin typeface="Segoe UI" pitchFamily="34" charset="0"/>
                <a:ea typeface="Segoe UI" pitchFamily="34" charset="-122"/>
                <a:cs typeface="Segoe UI" pitchFamily="34" charset="-120"/>
              </a:rPr>
              <a:t>Roleplay scenarios</a:t>
            </a:r>
            <a:endParaRPr lang="en-US" sz="1350" dirty="0"/>
          </a:p>
        </p:txBody>
      </p:sp>
      <p:sp>
        <p:nvSpPr>
          <p:cNvPr id="16" name="Shape 14"/>
          <p:cNvSpPr/>
          <p:nvPr/>
        </p:nvSpPr>
        <p:spPr>
          <a:xfrm>
            <a:off x="2779776" y="3657600"/>
            <a:ext cx="2057400" cy="1097280"/>
          </a:xfrm>
          <a:prstGeom prst="roundRect">
            <a:avLst>
              <a:gd name="adj" fmla="val 8333"/>
            </a:avLst>
          </a:prstGeom>
          <a:solidFill>
            <a:srgbClr val="FFFFFF"/>
          </a:solidFill>
          <a:ln w="12700">
            <a:solidFill>
              <a:srgbClr val="0E7C86"/>
            </a:solidFill>
            <a:prstDash val="solid"/>
          </a:ln>
        </p:spPr>
      </p:sp>
      <p:sp>
        <p:nvSpPr>
          <p:cNvPr id="17" name="Text 15"/>
          <p:cNvSpPr/>
          <p:nvPr/>
        </p:nvSpPr>
        <p:spPr>
          <a:xfrm>
            <a:off x="2871216" y="3657600"/>
            <a:ext cx="1874520" cy="1097280"/>
          </a:xfrm>
          <a:prstGeom prst="rect">
            <a:avLst/>
          </a:prstGeom>
          <a:noFill/>
          <a:ln/>
        </p:spPr>
        <p:txBody>
          <a:bodyPr wrap="square" rtlCol="0" anchor="ctr"/>
          <a:lstStyle/>
          <a:p>
            <a:pPr algn="ctr" indent="0" marL="0">
              <a:buNone/>
            </a:pPr>
            <a:r>
              <a:rPr lang="en-US" sz="1350" b="1" dirty="0">
                <a:solidFill>
                  <a:srgbClr val="0A5159"/>
                </a:solidFill>
                <a:latin typeface="Segoe UI" pitchFamily="34" charset="0"/>
                <a:ea typeface="Segoe UI" pitchFamily="34" charset="-122"/>
                <a:cs typeface="Segoe UI" pitchFamily="34" charset="-120"/>
              </a:rPr>
              <a:t>Gamification</a:t>
            </a:r>
            <a:endParaRPr lang="en-US" sz="1350" dirty="0"/>
          </a:p>
        </p:txBody>
      </p:sp>
      <p:sp>
        <p:nvSpPr>
          <p:cNvPr id="18" name="Shape 16"/>
          <p:cNvSpPr/>
          <p:nvPr/>
        </p:nvSpPr>
        <p:spPr>
          <a:xfrm>
            <a:off x="4992624" y="3657600"/>
            <a:ext cx="2057400" cy="1097280"/>
          </a:xfrm>
          <a:prstGeom prst="roundRect">
            <a:avLst>
              <a:gd name="adj" fmla="val 8333"/>
            </a:avLst>
          </a:prstGeom>
          <a:solidFill>
            <a:srgbClr val="E4EFEF"/>
          </a:solidFill>
          <a:ln w="12700">
            <a:solidFill>
              <a:srgbClr val="0E7C86"/>
            </a:solidFill>
            <a:prstDash val="solid"/>
          </a:ln>
        </p:spPr>
      </p:sp>
      <p:sp>
        <p:nvSpPr>
          <p:cNvPr id="19" name="Text 17"/>
          <p:cNvSpPr/>
          <p:nvPr/>
        </p:nvSpPr>
        <p:spPr>
          <a:xfrm>
            <a:off x="5084064" y="3657600"/>
            <a:ext cx="1874520" cy="1097280"/>
          </a:xfrm>
          <a:prstGeom prst="rect">
            <a:avLst/>
          </a:prstGeom>
          <a:noFill/>
          <a:ln/>
        </p:spPr>
        <p:txBody>
          <a:bodyPr wrap="square" rtlCol="0" anchor="ctr"/>
          <a:lstStyle/>
          <a:p>
            <a:pPr algn="ctr" indent="0" marL="0">
              <a:buNone/>
            </a:pPr>
            <a:r>
              <a:rPr lang="en-US" sz="1350" b="1" dirty="0">
                <a:solidFill>
                  <a:srgbClr val="0A5159"/>
                </a:solidFill>
                <a:latin typeface="Segoe UI" pitchFamily="34" charset="0"/>
                <a:ea typeface="Segoe UI" pitchFamily="34" charset="-122"/>
                <a:cs typeface="Segoe UI" pitchFamily="34" charset="-120"/>
              </a:rPr>
              <a:t>Knowledge-graph explorer</a:t>
            </a:r>
            <a:endParaRPr lang="en-US" sz="1350" dirty="0"/>
          </a:p>
        </p:txBody>
      </p:sp>
      <p:sp>
        <p:nvSpPr>
          <p:cNvPr id="20" name="Shape 18"/>
          <p:cNvSpPr/>
          <p:nvPr/>
        </p:nvSpPr>
        <p:spPr>
          <a:xfrm>
            <a:off x="7205472" y="3657600"/>
            <a:ext cx="2057400" cy="1097280"/>
          </a:xfrm>
          <a:prstGeom prst="roundRect">
            <a:avLst>
              <a:gd name="adj" fmla="val 8333"/>
            </a:avLst>
          </a:prstGeom>
          <a:solidFill>
            <a:srgbClr val="FFFFFF"/>
          </a:solidFill>
          <a:ln w="12700">
            <a:solidFill>
              <a:srgbClr val="0E7C86"/>
            </a:solidFill>
            <a:prstDash val="solid"/>
          </a:ln>
        </p:spPr>
      </p:sp>
      <p:sp>
        <p:nvSpPr>
          <p:cNvPr id="21" name="Text 19"/>
          <p:cNvSpPr/>
          <p:nvPr/>
        </p:nvSpPr>
        <p:spPr>
          <a:xfrm>
            <a:off x="7296912" y="3657600"/>
            <a:ext cx="1874520" cy="1097280"/>
          </a:xfrm>
          <a:prstGeom prst="rect">
            <a:avLst/>
          </a:prstGeom>
          <a:noFill/>
          <a:ln/>
        </p:spPr>
        <p:txBody>
          <a:bodyPr wrap="square" rtlCol="0" anchor="ctr"/>
          <a:lstStyle/>
          <a:p>
            <a:pPr algn="ctr" indent="0" marL="0">
              <a:buNone/>
            </a:pPr>
            <a:r>
              <a:rPr lang="en-US" sz="1350" b="1" dirty="0">
                <a:solidFill>
                  <a:srgbClr val="0A5159"/>
                </a:solidFill>
                <a:latin typeface="Segoe UI" pitchFamily="34" charset="0"/>
                <a:ea typeface="Segoe UI" pitchFamily="34" charset="-122"/>
                <a:cs typeface="Segoe UI" pitchFamily="34" charset="-120"/>
              </a:rPr>
              <a:t>Grammar &amp; sentiment</a:t>
            </a:r>
            <a:endParaRPr lang="en-US" sz="1350" dirty="0"/>
          </a:p>
        </p:txBody>
      </p:sp>
      <p:sp>
        <p:nvSpPr>
          <p:cNvPr id="22" name="Shape 20"/>
          <p:cNvSpPr/>
          <p:nvPr/>
        </p:nvSpPr>
        <p:spPr>
          <a:xfrm>
            <a:off x="9418320" y="3657600"/>
            <a:ext cx="2057400" cy="1097280"/>
          </a:xfrm>
          <a:prstGeom prst="roundRect">
            <a:avLst>
              <a:gd name="adj" fmla="val 8333"/>
            </a:avLst>
          </a:prstGeom>
          <a:solidFill>
            <a:srgbClr val="E4EFEF"/>
          </a:solidFill>
          <a:ln w="12700">
            <a:solidFill>
              <a:srgbClr val="0E7C86"/>
            </a:solidFill>
            <a:prstDash val="solid"/>
          </a:ln>
        </p:spPr>
      </p:sp>
      <p:sp>
        <p:nvSpPr>
          <p:cNvPr id="23" name="Text 21"/>
          <p:cNvSpPr/>
          <p:nvPr/>
        </p:nvSpPr>
        <p:spPr>
          <a:xfrm>
            <a:off x="9509760" y="3657600"/>
            <a:ext cx="1874520" cy="1097280"/>
          </a:xfrm>
          <a:prstGeom prst="rect">
            <a:avLst/>
          </a:prstGeom>
          <a:noFill/>
          <a:ln/>
        </p:spPr>
        <p:txBody>
          <a:bodyPr wrap="square" rtlCol="0" anchor="ctr"/>
          <a:lstStyle/>
          <a:p>
            <a:pPr algn="ctr" indent="0" marL="0">
              <a:buNone/>
            </a:pPr>
            <a:r>
              <a:rPr lang="en-US" sz="1350" b="1" dirty="0">
                <a:solidFill>
                  <a:srgbClr val="0A5159"/>
                </a:solidFill>
                <a:latin typeface="Segoe UI" pitchFamily="34" charset="0"/>
                <a:ea typeface="Segoe UI" pitchFamily="34" charset="-122"/>
                <a:cs typeface="Segoe UI" pitchFamily="34" charset="-120"/>
              </a:rPr>
              <a:t>Voice &amp; speaker ID</a:t>
            </a:r>
            <a:endParaRPr lang="en-US" sz="1350" dirty="0"/>
          </a:p>
        </p:txBody>
      </p:sp>
      <p:sp>
        <p:nvSpPr>
          <p:cNvPr id="24" name="Text 22"/>
          <p:cNvSpPr/>
          <p:nvPr/>
        </p:nvSpPr>
        <p:spPr>
          <a:xfrm>
            <a:off x="566928" y="5212080"/>
            <a:ext cx="10972800" cy="457200"/>
          </a:xfrm>
          <a:prstGeom prst="rect">
            <a:avLst/>
          </a:prstGeom>
          <a:noFill/>
          <a:ln/>
        </p:spPr>
        <p:txBody>
          <a:bodyPr wrap="square" rtlCol="0" anchor="ctr"/>
          <a:lstStyle/>
          <a:p>
            <a:pPr indent="0" marL="0">
              <a:buNone/>
            </a:pPr>
            <a:r>
              <a:rPr lang="en-US" sz="1500" i="1" dirty="0">
                <a:solidFill>
                  <a:srgbClr val="9A9285"/>
                </a:solidFill>
                <a:latin typeface="Segoe UI" pitchFamily="34" charset="0"/>
                <a:ea typeface="Segoe UI" pitchFamily="34" charset="-122"/>
                <a:cs typeface="Segoe UI" pitchFamily="34" charset="-120"/>
              </a:rPr>
              <a:t>We'll deep-dive four that show real engineering — then a live demo.</a:t>
            </a:r>
            <a:endParaRPr lang="en-US" sz="1500" dirty="0"/>
          </a:p>
        </p:txBody>
      </p:sp>
      <p:sp>
        <p:nvSpPr>
          <p:cNvPr id="25" name="Text 23"/>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6" name="Text 24"/>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33</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par>
                    <p:cTn id="142" presetID="10" presetClass="entr" presetSubtype="0" fill="hold" grpId="0" nodeType="afterEffect">
                      <p:stCondLst>
                        <p:cond delay="1680"/>
                      </p:stCondLst>
                      <p:childTnLst>
                        <p:set>
                          <p:cBhvr>
                            <p:cTn id="143" dur="1" fill="hold">
                              <p:stCondLst>
                                <p:cond delay="0"/>
                              </p:stCondLst>
                            </p:cTn>
                            <p:tgtEl>
                              <p:spTgt spid="16"/>
                            </p:tgtEl>
                            <p:attrNameLst>
                              <p:attrName>style.visibility</p:attrName>
                            </p:attrNameLst>
                          </p:cBhvr>
                          <p:to>
                            <p:strVal val="visible"/>
                          </p:to>
                        </p:set>
                        <p:animEffect transition="in" filter="fade">
                          <p:cBhvr>
                            <p:cTn id="144" dur="450"/>
                            <p:tgtEl>
                              <p:spTgt spid="16"/>
                            </p:tgtEl>
                          </p:cBhvr>
                        </p:animEffect>
                      </p:childTnLst>
                    </p:cTn>
                  </p:par>
                  <p:par>
                    <p:cTn id="145" presetID="10" presetClass="entr" presetSubtype="0" fill="hold" grpId="0" nodeType="afterEffect">
                      <p:stCondLst>
                        <p:cond delay="1800"/>
                      </p:stCondLst>
                      <p:childTnLst>
                        <p:set>
                          <p:cBhvr>
                            <p:cTn id="146" dur="1" fill="hold">
                              <p:stCondLst>
                                <p:cond delay="0"/>
                              </p:stCondLst>
                            </p:cTn>
                            <p:tgtEl>
                              <p:spTgt spid="17"/>
                            </p:tgtEl>
                            <p:attrNameLst>
                              <p:attrName>style.visibility</p:attrName>
                            </p:attrNameLst>
                          </p:cBhvr>
                          <p:to>
                            <p:strVal val="visible"/>
                          </p:to>
                        </p:set>
                        <p:animEffect transition="in" filter="fade">
                          <p:cBhvr>
                            <p:cTn id="147" dur="450"/>
                            <p:tgtEl>
                              <p:spTgt spid="17"/>
                            </p:tgtEl>
                          </p:cBhvr>
                        </p:animEffect>
                      </p:childTnLst>
                    </p:cTn>
                  </p:par>
                  <p:par>
                    <p:cTn id="148" presetID="10" presetClass="entr" presetSubtype="0" fill="hold" grpId="0" nodeType="afterEffect">
                      <p:stCondLst>
                        <p:cond delay="1920"/>
                      </p:stCondLst>
                      <p:childTnLst>
                        <p:set>
                          <p:cBhvr>
                            <p:cTn id="149" dur="1" fill="hold">
                              <p:stCondLst>
                                <p:cond delay="0"/>
                              </p:stCondLst>
                            </p:cTn>
                            <p:tgtEl>
                              <p:spTgt spid="18"/>
                            </p:tgtEl>
                            <p:attrNameLst>
                              <p:attrName>style.visibility</p:attrName>
                            </p:attrNameLst>
                          </p:cBhvr>
                          <p:to>
                            <p:strVal val="visible"/>
                          </p:to>
                        </p:set>
                        <p:animEffect transition="in" filter="fade">
                          <p:cBhvr>
                            <p:cTn id="150" dur="450"/>
                            <p:tgtEl>
                              <p:spTgt spid="18"/>
                            </p:tgtEl>
                          </p:cBhvr>
                        </p:animEffect>
                      </p:childTnLst>
                    </p:cTn>
                  </p:par>
                  <p:par>
                    <p:cTn id="151" presetID="10" presetClass="entr" presetSubtype="0" fill="hold" grpId="0" nodeType="afterEffect">
                      <p:stCondLst>
                        <p:cond delay="2040"/>
                      </p:stCondLst>
                      <p:childTnLst>
                        <p:set>
                          <p:cBhvr>
                            <p:cTn id="152" dur="1" fill="hold">
                              <p:stCondLst>
                                <p:cond delay="0"/>
                              </p:stCondLst>
                            </p:cTn>
                            <p:tgtEl>
                              <p:spTgt spid="19"/>
                            </p:tgtEl>
                            <p:attrNameLst>
                              <p:attrName>style.visibility</p:attrName>
                            </p:attrNameLst>
                          </p:cBhvr>
                          <p:to>
                            <p:strVal val="visible"/>
                          </p:to>
                        </p:set>
                        <p:animEffect transition="in" filter="fade">
                          <p:cBhvr>
                            <p:cTn id="153" dur="450"/>
                            <p:tgtEl>
                              <p:spTgt spid="19"/>
                            </p:tgtEl>
                          </p:cBhvr>
                        </p:animEffect>
                      </p:childTnLst>
                    </p:cTn>
                  </p:par>
                  <p:par>
                    <p:cTn id="154" presetID="10" presetClass="entr" presetSubtype="0" fill="hold" grpId="0" nodeType="afterEffect">
                      <p:stCondLst>
                        <p:cond delay="2160"/>
                      </p:stCondLst>
                      <p:childTnLst>
                        <p:set>
                          <p:cBhvr>
                            <p:cTn id="155" dur="1" fill="hold">
                              <p:stCondLst>
                                <p:cond delay="0"/>
                              </p:stCondLst>
                            </p:cTn>
                            <p:tgtEl>
                              <p:spTgt spid="20"/>
                            </p:tgtEl>
                            <p:attrNameLst>
                              <p:attrName>style.visibility</p:attrName>
                            </p:attrNameLst>
                          </p:cBhvr>
                          <p:to>
                            <p:strVal val="visible"/>
                          </p:to>
                        </p:set>
                        <p:animEffect transition="in" filter="fade">
                          <p:cBhvr>
                            <p:cTn id="156" dur="450"/>
                            <p:tgtEl>
                              <p:spTgt spid="20"/>
                            </p:tgtEl>
                          </p:cBhvr>
                        </p:animEffect>
                      </p:childTnLst>
                    </p:cTn>
                  </p:par>
                  <p:par>
                    <p:cTn id="157" presetID="10" presetClass="entr" presetSubtype="0" fill="hold" grpId="0" nodeType="afterEffect">
                      <p:stCondLst>
                        <p:cond delay="2280"/>
                      </p:stCondLst>
                      <p:childTnLst>
                        <p:set>
                          <p:cBhvr>
                            <p:cTn id="158" dur="1" fill="hold">
                              <p:stCondLst>
                                <p:cond delay="0"/>
                              </p:stCondLst>
                            </p:cTn>
                            <p:tgtEl>
                              <p:spTgt spid="21"/>
                            </p:tgtEl>
                            <p:attrNameLst>
                              <p:attrName>style.visibility</p:attrName>
                            </p:attrNameLst>
                          </p:cBhvr>
                          <p:to>
                            <p:strVal val="visible"/>
                          </p:to>
                        </p:set>
                        <p:animEffect transition="in" filter="fade">
                          <p:cBhvr>
                            <p:cTn id="159" dur="450"/>
                            <p:tgtEl>
                              <p:spTgt spid="21"/>
                            </p:tgtEl>
                          </p:cBhvr>
                        </p:animEffect>
                      </p:childTnLst>
                    </p:cTn>
                  </p:par>
                  <p:par>
                    <p:cTn id="160" presetID="10" presetClass="entr" presetSubtype="0" fill="hold" grpId="0" nodeType="afterEffect">
                      <p:stCondLst>
                        <p:cond delay="2400"/>
                      </p:stCondLst>
                      <p:childTnLst>
                        <p:set>
                          <p:cBhvr>
                            <p:cTn id="161" dur="1" fill="hold">
                              <p:stCondLst>
                                <p:cond delay="0"/>
                              </p:stCondLst>
                            </p:cTn>
                            <p:tgtEl>
                              <p:spTgt spid="22"/>
                            </p:tgtEl>
                            <p:attrNameLst>
                              <p:attrName>style.visibility</p:attrName>
                            </p:attrNameLst>
                          </p:cBhvr>
                          <p:to>
                            <p:strVal val="visible"/>
                          </p:to>
                        </p:set>
                        <p:animEffect transition="in" filter="fade">
                          <p:cBhvr>
                            <p:cTn id="162" dur="450"/>
                            <p:tgtEl>
                              <p:spTgt spid="22"/>
                            </p:tgtEl>
                          </p:cBhvr>
                        </p:animEffect>
                      </p:childTnLst>
                    </p:cTn>
                  </p:par>
                  <p:par>
                    <p:cTn id="163" presetID="10" presetClass="entr" presetSubtype="0" fill="hold" grpId="0" nodeType="afterEffect">
                      <p:stCondLst>
                        <p:cond delay="2520"/>
                      </p:stCondLst>
                      <p:childTnLst>
                        <p:set>
                          <p:cBhvr>
                            <p:cTn id="164" dur="1" fill="hold">
                              <p:stCondLst>
                                <p:cond delay="0"/>
                              </p:stCondLst>
                            </p:cTn>
                            <p:tgtEl>
                              <p:spTgt spid="23"/>
                            </p:tgtEl>
                            <p:attrNameLst>
                              <p:attrName>style.visibility</p:attrName>
                            </p:attrNameLst>
                          </p:cBhvr>
                          <p:to>
                            <p:strVal val="visible"/>
                          </p:to>
                        </p:set>
                        <p:animEffect transition="in" filter="fade">
                          <p:cBhvr>
                            <p:cTn id="165" dur="450"/>
                            <p:tgtEl>
                              <p:spTgt spid="23"/>
                            </p:tgtEl>
                          </p:cBhvr>
                        </p:animEffect>
                      </p:childTnLst>
                    </p:cTn>
                  </p:par>
                  <p:par>
                    <p:cTn id="166" presetID="10" presetClass="entr" presetSubtype="0" fill="hold" grpId="0" nodeType="afterEffect">
                      <p:stCondLst>
                        <p:cond delay="2640"/>
                      </p:stCondLst>
                      <p:childTnLst>
                        <p:set>
                          <p:cBhvr>
                            <p:cTn id="167" dur="1" fill="hold">
                              <p:stCondLst>
                                <p:cond delay="0"/>
                              </p:stCondLst>
                            </p:cTn>
                            <p:tgtEl>
                              <p:spTgt spid="24"/>
                            </p:tgtEl>
                            <p:attrNameLst>
                              <p:attrName>style.visibility</p:attrName>
                            </p:attrNameLst>
                          </p:cBhvr>
                          <p:to>
                            <p:strVal val="visible"/>
                          </p:to>
                        </p:set>
                        <p:animEffect transition="in" filter="fade">
                          <p:cBhvr>
                            <p:cTn id="168" dur="450"/>
                            <p:tgtEl>
                              <p:spTgt spid="24"/>
                            </p:tgtEl>
                          </p:cBhvr>
                        </p:animEffect>
                      </p:childTnLst>
                    </p:cTn>
                  </p:par>
                  <p:par>
                    <p:cTn id="169" presetID="10" presetClass="entr" presetSubtype="0" fill="hold" grpId="0" nodeType="afterEffect">
                      <p:stCondLst>
                        <p:cond delay="2760"/>
                      </p:stCondLst>
                      <p:childTnLst>
                        <p:set>
                          <p:cBhvr>
                            <p:cTn id="170" dur="1" fill="hold">
                              <p:stCondLst>
                                <p:cond delay="0"/>
                              </p:stCondLst>
                            </p:cTn>
                            <p:tgtEl>
                              <p:spTgt spid="25"/>
                            </p:tgtEl>
                            <p:attrNameLst>
                              <p:attrName>style.visibility</p:attrName>
                            </p:attrNameLst>
                          </p:cBhvr>
                          <p:to>
                            <p:strVal val="visible"/>
                          </p:to>
                        </p:set>
                        <p:animEffect transition="in" filter="fade">
                          <p:cBhvr>
                            <p:cTn id="171" dur="450"/>
                            <p:tgtEl>
                              <p:spTgt spid="25"/>
                            </p:tgtEl>
                          </p:cBhvr>
                        </p:animEffect>
                      </p:childTnLst>
                    </p:cTn>
                  </p:par>
                  <p:par>
                    <p:cTn id="172" presetID="10" presetClass="entr" presetSubtype="0" fill="hold" grpId="0" nodeType="afterEffect">
                      <p:stCondLst>
                        <p:cond delay="2880"/>
                      </p:stCondLst>
                      <p:childTnLst>
                        <p:set>
                          <p:cBhvr>
                            <p:cTn id="173" dur="1" fill="hold">
                              <p:stCondLst>
                                <p:cond delay="0"/>
                              </p:stCondLst>
                            </p:cTn>
                            <p:tgtEl>
                              <p:spTgt spid="26"/>
                            </p:tgtEl>
                            <p:attrNameLst>
                              <p:attrName>style.visibility</p:attrName>
                            </p:attrNameLst>
                          </p:cBhvr>
                          <p:to>
                            <p:strVal val="visible"/>
                          </p:to>
                        </p:set>
                        <p:animEffect transition="in" filter="fade">
                          <p:cBhvr>
                            <p:cTn id="174" dur="450"/>
                            <p:tgtEl>
                              <p:spTgt spid="26"/>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LIVE CONFIDENCE METER</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On-device, zero added latency.</a:t>
            </a:r>
            <a:endParaRPr lang="en-US" sz="3300" dirty="0"/>
          </a:p>
        </p:txBody>
      </p:sp>
      <p:sp>
        <p:nvSpPr>
          <p:cNvPr id="4" name="Text 2"/>
          <p:cNvSpPr/>
          <p:nvPr/>
        </p:nvSpPr>
        <p:spPr>
          <a:xfrm>
            <a:off x="566928" y="2103120"/>
            <a:ext cx="10972800" cy="914400"/>
          </a:xfrm>
          <a:prstGeom prst="rect">
            <a:avLst/>
          </a:prstGeom>
          <a:noFill/>
          <a:ln/>
        </p:spPr>
        <p:txBody>
          <a:bodyPr wrap="square" rtlCol="0" anchor="ctr"/>
          <a:lstStyle/>
          <a:p>
            <a:pPr indent="0" marL="0">
              <a:lnSpc>
                <a:spcPct val="120000"/>
              </a:lnSpc>
              <a:buNone/>
            </a:pPr>
            <a:r>
              <a:rPr lang="en-US" sz="1700" dirty="0">
                <a:solidFill>
                  <a:srgbClr val="3A3A3A"/>
                </a:solidFill>
                <a:latin typeface="Segoe UI" pitchFamily="34" charset="0"/>
                <a:ea typeface="Segoe UI" pitchFamily="34" charset="-122"/>
                <a:cs typeface="Segoe UI" pitchFamily="34" charset="-120"/>
              </a:rPr>
              <a:t>Counts filler words (“um”, “uh”, “like”) and hedges (“sort of”, “I guess”) over a rolling 8 seconds — smoothed so it doesn't jitter.</a:t>
            </a:r>
            <a:endParaRPr lang="en-US" sz="1700" dirty="0"/>
          </a:p>
        </p:txBody>
      </p:sp>
      <p:sp>
        <p:nvSpPr>
          <p:cNvPr id="5" name="Shape 3"/>
          <p:cNvSpPr/>
          <p:nvPr/>
        </p:nvSpPr>
        <p:spPr>
          <a:xfrm>
            <a:off x="566928" y="3383280"/>
            <a:ext cx="3429000" cy="1280160"/>
          </a:xfrm>
          <a:prstGeom prst="roundRect">
            <a:avLst>
              <a:gd name="adj" fmla="val 8571"/>
            </a:avLst>
          </a:prstGeom>
          <a:solidFill>
            <a:srgbClr val="F7DAD2"/>
          </a:solidFill>
          <a:ln w="17780">
            <a:solidFill>
              <a:srgbClr val="C0492F"/>
            </a:solidFill>
            <a:prstDash val="solid"/>
          </a:ln>
        </p:spPr>
      </p:sp>
      <p:sp>
        <p:nvSpPr>
          <p:cNvPr id="6" name="Text 4"/>
          <p:cNvSpPr/>
          <p:nvPr/>
        </p:nvSpPr>
        <p:spPr>
          <a:xfrm>
            <a:off x="566928" y="3611880"/>
            <a:ext cx="3429000" cy="548640"/>
          </a:xfrm>
          <a:prstGeom prst="rect">
            <a:avLst/>
          </a:prstGeom>
          <a:noFill/>
          <a:ln/>
        </p:spPr>
        <p:txBody>
          <a:bodyPr wrap="square" rtlCol="0" anchor="ctr"/>
          <a:lstStyle/>
          <a:p>
            <a:pPr algn="ctr" indent="0" marL="0">
              <a:buNone/>
            </a:pPr>
            <a:r>
              <a:rPr lang="en-US" sz="2200" b="1" dirty="0">
                <a:solidFill>
                  <a:srgbClr val="C0492F"/>
                </a:solidFill>
                <a:latin typeface="Segoe UI" pitchFamily="34" charset="0"/>
                <a:ea typeface="Segoe UI" pitchFamily="34" charset="-122"/>
                <a:cs typeface="Segoe UI" pitchFamily="34" charset="-120"/>
              </a:rPr>
              <a:t>Low</a:t>
            </a:r>
            <a:endParaRPr lang="en-US" sz="2200" dirty="0"/>
          </a:p>
        </p:txBody>
      </p:sp>
      <p:sp>
        <p:nvSpPr>
          <p:cNvPr id="7" name="Text 5"/>
          <p:cNvSpPr/>
          <p:nvPr/>
        </p:nvSpPr>
        <p:spPr>
          <a:xfrm>
            <a:off x="566928" y="4160520"/>
            <a:ext cx="3429000" cy="365760"/>
          </a:xfrm>
          <a:prstGeom prst="rect">
            <a:avLst/>
          </a:prstGeom>
          <a:noFill/>
          <a:ln/>
        </p:spPr>
        <p:txBody>
          <a:bodyPr wrap="square" rtlCol="0" anchor="ctr"/>
          <a:lstStyle/>
          <a:p>
            <a:pPr algn="ctr" indent="0" marL="0">
              <a:buNone/>
            </a:pPr>
            <a:r>
              <a:rPr lang="en-US" sz="1400" dirty="0">
                <a:solidFill>
                  <a:srgbClr val="3A3A3A"/>
                </a:solidFill>
                <a:latin typeface="Segoe UI" pitchFamily="34" charset="0"/>
                <a:ea typeface="Segoe UI" pitchFamily="34" charset="-122"/>
                <a:cs typeface="Segoe UI" pitchFamily="34" charset="-120"/>
              </a:rPr>
              <a:t>0.0 – 0.4</a:t>
            </a:r>
            <a:endParaRPr lang="en-US" sz="1400" dirty="0"/>
          </a:p>
        </p:txBody>
      </p:sp>
      <p:sp>
        <p:nvSpPr>
          <p:cNvPr id="8" name="Shape 6"/>
          <p:cNvSpPr/>
          <p:nvPr/>
        </p:nvSpPr>
        <p:spPr>
          <a:xfrm>
            <a:off x="4270248" y="3383280"/>
            <a:ext cx="3429000" cy="1280160"/>
          </a:xfrm>
          <a:prstGeom prst="roundRect">
            <a:avLst>
              <a:gd name="adj" fmla="val 8571"/>
            </a:avLst>
          </a:prstGeom>
          <a:solidFill>
            <a:srgbClr val="F7E9CF"/>
          </a:solidFill>
          <a:ln w="17780">
            <a:solidFill>
              <a:srgbClr val="E08A2B"/>
            </a:solidFill>
            <a:prstDash val="solid"/>
          </a:ln>
        </p:spPr>
      </p:sp>
      <p:sp>
        <p:nvSpPr>
          <p:cNvPr id="9" name="Text 7"/>
          <p:cNvSpPr/>
          <p:nvPr/>
        </p:nvSpPr>
        <p:spPr>
          <a:xfrm>
            <a:off x="4270248" y="3611880"/>
            <a:ext cx="3429000" cy="548640"/>
          </a:xfrm>
          <a:prstGeom prst="rect">
            <a:avLst/>
          </a:prstGeom>
          <a:noFill/>
          <a:ln/>
        </p:spPr>
        <p:txBody>
          <a:bodyPr wrap="square" rtlCol="0" anchor="ctr"/>
          <a:lstStyle/>
          <a:p>
            <a:pPr algn="ctr" indent="0" marL="0">
              <a:buNone/>
            </a:pPr>
            <a:r>
              <a:rPr lang="en-US" sz="2200" b="1" dirty="0">
                <a:solidFill>
                  <a:srgbClr val="E08A2B"/>
                </a:solidFill>
                <a:latin typeface="Segoe UI" pitchFamily="34" charset="0"/>
                <a:ea typeface="Segoe UI" pitchFamily="34" charset="-122"/>
                <a:cs typeface="Segoe UI" pitchFamily="34" charset="-120"/>
              </a:rPr>
              <a:t>Building</a:t>
            </a:r>
            <a:endParaRPr lang="en-US" sz="2200" dirty="0"/>
          </a:p>
        </p:txBody>
      </p:sp>
      <p:sp>
        <p:nvSpPr>
          <p:cNvPr id="10" name="Text 8"/>
          <p:cNvSpPr/>
          <p:nvPr/>
        </p:nvSpPr>
        <p:spPr>
          <a:xfrm>
            <a:off x="4270248" y="4160520"/>
            <a:ext cx="3429000" cy="365760"/>
          </a:xfrm>
          <a:prstGeom prst="rect">
            <a:avLst/>
          </a:prstGeom>
          <a:noFill/>
          <a:ln/>
        </p:spPr>
        <p:txBody>
          <a:bodyPr wrap="square" rtlCol="0" anchor="ctr"/>
          <a:lstStyle/>
          <a:p>
            <a:pPr algn="ctr" indent="0" marL="0">
              <a:buNone/>
            </a:pPr>
            <a:r>
              <a:rPr lang="en-US" sz="1400" dirty="0">
                <a:solidFill>
                  <a:srgbClr val="3A3A3A"/>
                </a:solidFill>
                <a:latin typeface="Segoe UI" pitchFamily="34" charset="0"/>
                <a:ea typeface="Segoe UI" pitchFamily="34" charset="-122"/>
                <a:cs typeface="Segoe UI" pitchFamily="34" charset="-120"/>
              </a:rPr>
              <a:t>0.4 – 0.7</a:t>
            </a:r>
            <a:endParaRPr lang="en-US" sz="1400" dirty="0"/>
          </a:p>
        </p:txBody>
      </p:sp>
      <p:sp>
        <p:nvSpPr>
          <p:cNvPr id="11" name="Shape 9"/>
          <p:cNvSpPr/>
          <p:nvPr/>
        </p:nvSpPr>
        <p:spPr>
          <a:xfrm>
            <a:off x="7973568" y="3383280"/>
            <a:ext cx="3429000" cy="1280160"/>
          </a:xfrm>
          <a:prstGeom prst="roundRect">
            <a:avLst>
              <a:gd name="adj" fmla="val 8571"/>
            </a:avLst>
          </a:prstGeom>
          <a:solidFill>
            <a:srgbClr val="D8EEDF"/>
          </a:solidFill>
          <a:ln w="17780">
            <a:solidFill>
              <a:srgbClr val="2F8F5B"/>
            </a:solidFill>
            <a:prstDash val="solid"/>
          </a:ln>
        </p:spPr>
      </p:sp>
      <p:sp>
        <p:nvSpPr>
          <p:cNvPr id="12" name="Text 10"/>
          <p:cNvSpPr/>
          <p:nvPr/>
        </p:nvSpPr>
        <p:spPr>
          <a:xfrm>
            <a:off x="7973568" y="3611880"/>
            <a:ext cx="3429000" cy="548640"/>
          </a:xfrm>
          <a:prstGeom prst="rect">
            <a:avLst/>
          </a:prstGeom>
          <a:noFill/>
          <a:ln/>
        </p:spPr>
        <p:txBody>
          <a:bodyPr wrap="square" rtlCol="0" anchor="ctr"/>
          <a:lstStyle/>
          <a:p>
            <a:pPr algn="ctr" indent="0" marL="0">
              <a:buNone/>
            </a:pPr>
            <a:r>
              <a:rPr lang="en-US" sz="2200" b="1" dirty="0">
                <a:solidFill>
                  <a:srgbClr val="2F8F5B"/>
                </a:solidFill>
                <a:latin typeface="Segoe UI" pitchFamily="34" charset="0"/>
                <a:ea typeface="Segoe UI" pitchFamily="34" charset="-122"/>
                <a:cs typeface="Segoe UI" pitchFamily="34" charset="-120"/>
              </a:rPr>
              <a:t>Confident</a:t>
            </a:r>
            <a:endParaRPr lang="en-US" sz="2200" dirty="0"/>
          </a:p>
        </p:txBody>
      </p:sp>
      <p:sp>
        <p:nvSpPr>
          <p:cNvPr id="13" name="Text 11"/>
          <p:cNvSpPr/>
          <p:nvPr/>
        </p:nvSpPr>
        <p:spPr>
          <a:xfrm>
            <a:off x="7973568" y="4160520"/>
            <a:ext cx="3429000" cy="365760"/>
          </a:xfrm>
          <a:prstGeom prst="rect">
            <a:avLst/>
          </a:prstGeom>
          <a:noFill/>
          <a:ln/>
        </p:spPr>
        <p:txBody>
          <a:bodyPr wrap="square" rtlCol="0" anchor="ctr"/>
          <a:lstStyle/>
          <a:p>
            <a:pPr algn="ctr" indent="0" marL="0">
              <a:buNone/>
            </a:pPr>
            <a:r>
              <a:rPr lang="en-US" sz="1400" dirty="0">
                <a:solidFill>
                  <a:srgbClr val="3A3A3A"/>
                </a:solidFill>
                <a:latin typeface="Segoe UI" pitchFamily="34" charset="0"/>
                <a:ea typeface="Segoe UI" pitchFamily="34" charset="-122"/>
                <a:cs typeface="Segoe UI" pitchFamily="34" charset="-120"/>
              </a:rPr>
              <a:t>0.7 – 1.0</a:t>
            </a:r>
            <a:endParaRPr lang="en-US" sz="1400" dirty="0"/>
          </a:p>
        </p:txBody>
      </p:sp>
      <p:sp>
        <p:nvSpPr>
          <p:cNvPr id="14" name="Text 12"/>
          <p:cNvSpPr/>
          <p:nvPr/>
        </p:nvSpPr>
        <p:spPr>
          <a:xfrm>
            <a:off x="566928" y="5029200"/>
            <a:ext cx="10972800" cy="457200"/>
          </a:xfrm>
          <a:prstGeom prst="rect">
            <a:avLst/>
          </a:prstGeom>
          <a:noFill/>
          <a:ln/>
        </p:spPr>
        <p:txBody>
          <a:bodyPr wrap="square" rtlCol="0" anchor="ctr"/>
          <a:lstStyle/>
          <a:p>
            <a:pPr indent="0" marL="0">
              <a:buNone/>
            </a:pPr>
            <a:r>
              <a:rPr lang="en-US" sz="1400" i="1" dirty="0">
                <a:solidFill>
                  <a:srgbClr val="9A9285"/>
                </a:solidFill>
                <a:latin typeface="Segoe UI" pitchFamily="34" charset="0"/>
                <a:ea typeface="Segoe UI" pitchFamily="34" charset="-122"/>
                <a:cs typeface="Segoe UI" pitchFamily="34" charset="-120"/>
              </a:rPr>
              <a:t>Server only stores the per-turn score at session end — for the confidence-trend chart.</a:t>
            </a:r>
            <a:endParaRPr lang="en-US" sz="1400" dirty="0"/>
          </a:p>
        </p:txBody>
      </p:sp>
      <p:sp>
        <p:nvSpPr>
          <p:cNvPr id="15" name="Text 13"/>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6" name="Text 14"/>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34</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par>
                    <p:cTn id="142" presetID="10" presetClass="entr" presetSubtype="0" fill="hold" grpId="0" nodeType="afterEffect">
                      <p:stCondLst>
                        <p:cond delay="1680"/>
                      </p:stCondLst>
                      <p:childTnLst>
                        <p:set>
                          <p:cBhvr>
                            <p:cTn id="143" dur="1" fill="hold">
                              <p:stCondLst>
                                <p:cond delay="0"/>
                              </p:stCondLst>
                            </p:cTn>
                            <p:tgtEl>
                              <p:spTgt spid="16"/>
                            </p:tgtEl>
                            <p:attrNameLst>
                              <p:attrName>style.visibility</p:attrName>
                            </p:attrNameLst>
                          </p:cBhvr>
                          <p:to>
                            <p:strVal val="visible"/>
                          </p:to>
                        </p:set>
                        <p:animEffect transition="in" filter="fade">
                          <p:cBhvr>
                            <p:cTn id="144" dur="450"/>
                            <p:tgtEl>
                              <p:spTgt spid="16"/>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SPACED-REPETITION DRILLS</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Your mistakes → flashcards → 5 Leitner boxes.</a:t>
            </a:r>
            <a:endParaRPr lang="en-US" sz="3300" dirty="0"/>
          </a:p>
        </p:txBody>
      </p:sp>
      <p:sp>
        <p:nvSpPr>
          <p:cNvPr id="4" name="Shape 2"/>
          <p:cNvSpPr/>
          <p:nvPr/>
        </p:nvSpPr>
        <p:spPr>
          <a:xfrm>
            <a:off x="566928" y="2743200"/>
            <a:ext cx="2011680" cy="1554480"/>
          </a:xfrm>
          <a:prstGeom prst="roundRect">
            <a:avLst>
              <a:gd name="adj" fmla="val 5882"/>
            </a:avLst>
          </a:prstGeom>
          <a:solidFill>
            <a:srgbClr val="E4EFEF"/>
          </a:solidFill>
          <a:ln w="15240">
            <a:solidFill>
              <a:srgbClr val="0E7C86"/>
            </a:solidFill>
            <a:prstDash val="solid"/>
          </a:ln>
        </p:spPr>
      </p:sp>
      <p:sp>
        <p:nvSpPr>
          <p:cNvPr id="5" name="Text 3"/>
          <p:cNvSpPr/>
          <p:nvPr/>
        </p:nvSpPr>
        <p:spPr>
          <a:xfrm>
            <a:off x="566928" y="2926080"/>
            <a:ext cx="2011680" cy="457200"/>
          </a:xfrm>
          <a:prstGeom prst="rect">
            <a:avLst/>
          </a:prstGeom>
          <a:noFill/>
          <a:ln/>
        </p:spPr>
        <p:txBody>
          <a:bodyPr wrap="square" rtlCol="0" anchor="ctr"/>
          <a:lstStyle/>
          <a:p>
            <a:pPr algn="ctr" indent="0" marL="0">
              <a:buNone/>
            </a:pPr>
            <a:r>
              <a:rPr lang="en-US" sz="1700" b="1" dirty="0">
                <a:solidFill>
                  <a:srgbClr val="1A1A1A"/>
                </a:solidFill>
                <a:latin typeface="Segoe UI" pitchFamily="34" charset="0"/>
                <a:ea typeface="Segoe UI" pitchFamily="34" charset="-122"/>
                <a:cs typeface="Segoe UI" pitchFamily="34" charset="-120"/>
              </a:rPr>
              <a:t>Box 1</a:t>
            </a:r>
            <a:endParaRPr lang="en-US" sz="1700" dirty="0"/>
          </a:p>
        </p:txBody>
      </p:sp>
      <p:sp>
        <p:nvSpPr>
          <p:cNvPr id="6" name="Text 4"/>
          <p:cNvSpPr/>
          <p:nvPr/>
        </p:nvSpPr>
        <p:spPr>
          <a:xfrm>
            <a:off x="566928" y="3429000"/>
            <a:ext cx="2011680" cy="320040"/>
          </a:xfrm>
          <a:prstGeom prst="rect">
            <a:avLst/>
          </a:prstGeom>
          <a:noFill/>
          <a:ln/>
        </p:spPr>
        <p:txBody>
          <a:bodyPr wrap="square" rtlCol="0" anchor="ctr"/>
          <a:lstStyle/>
          <a:p>
            <a:pPr algn="ctr" indent="0" marL="0">
              <a:buNone/>
            </a:pPr>
            <a:r>
              <a:rPr lang="en-US" sz="1100" dirty="0">
                <a:solidFill>
                  <a:srgbClr val="9A9285"/>
                </a:solidFill>
                <a:latin typeface="Segoe UI" pitchFamily="34" charset="0"/>
                <a:ea typeface="Segoe UI" pitchFamily="34" charset="-122"/>
                <a:cs typeface="Segoe UI" pitchFamily="34" charset="-120"/>
              </a:rPr>
              <a:t>review every</a:t>
            </a:r>
            <a:endParaRPr lang="en-US" sz="1100" dirty="0"/>
          </a:p>
        </p:txBody>
      </p:sp>
      <p:sp>
        <p:nvSpPr>
          <p:cNvPr id="7" name="Text 5"/>
          <p:cNvSpPr/>
          <p:nvPr/>
        </p:nvSpPr>
        <p:spPr>
          <a:xfrm>
            <a:off x="566928" y="3703320"/>
            <a:ext cx="2011680" cy="457200"/>
          </a:xfrm>
          <a:prstGeom prst="rect">
            <a:avLst/>
          </a:prstGeom>
          <a:noFill/>
          <a:ln/>
        </p:spPr>
        <p:txBody>
          <a:bodyPr wrap="square" rtlCol="0" anchor="ctr"/>
          <a:lstStyle/>
          <a:p>
            <a:pPr algn="ctr" indent="0" marL="0">
              <a:buNone/>
            </a:pPr>
            <a:r>
              <a:rPr lang="en-US" sz="2200" b="1" dirty="0">
                <a:solidFill>
                  <a:srgbClr val="0E7C86"/>
                </a:solidFill>
                <a:latin typeface="Segoe UI" pitchFamily="34" charset="0"/>
                <a:ea typeface="Segoe UI" pitchFamily="34" charset="-122"/>
                <a:cs typeface="Segoe UI" pitchFamily="34" charset="-120"/>
              </a:rPr>
              <a:t>1 d</a:t>
            </a:r>
            <a:endParaRPr lang="en-US" sz="2200" dirty="0"/>
          </a:p>
        </p:txBody>
      </p:sp>
      <p:sp>
        <p:nvSpPr>
          <p:cNvPr id="8" name="Shape 6"/>
          <p:cNvSpPr/>
          <p:nvPr/>
        </p:nvSpPr>
        <p:spPr>
          <a:xfrm>
            <a:off x="2779776" y="2743200"/>
            <a:ext cx="2011680" cy="1554480"/>
          </a:xfrm>
          <a:prstGeom prst="roundRect">
            <a:avLst>
              <a:gd name="adj" fmla="val 5882"/>
            </a:avLst>
          </a:prstGeom>
          <a:solidFill>
            <a:srgbClr val="F0EBE1"/>
          </a:solidFill>
          <a:ln w="15240">
            <a:solidFill>
              <a:srgbClr val="0E7C86"/>
            </a:solidFill>
            <a:prstDash val="solid"/>
          </a:ln>
        </p:spPr>
      </p:sp>
      <p:sp>
        <p:nvSpPr>
          <p:cNvPr id="9" name="Text 7"/>
          <p:cNvSpPr/>
          <p:nvPr/>
        </p:nvSpPr>
        <p:spPr>
          <a:xfrm>
            <a:off x="2779776" y="2926080"/>
            <a:ext cx="2011680" cy="457200"/>
          </a:xfrm>
          <a:prstGeom prst="rect">
            <a:avLst/>
          </a:prstGeom>
          <a:noFill/>
          <a:ln/>
        </p:spPr>
        <p:txBody>
          <a:bodyPr wrap="square" rtlCol="0" anchor="ctr"/>
          <a:lstStyle/>
          <a:p>
            <a:pPr algn="ctr" indent="0" marL="0">
              <a:buNone/>
            </a:pPr>
            <a:r>
              <a:rPr lang="en-US" sz="1700" b="1" dirty="0">
                <a:solidFill>
                  <a:srgbClr val="1A1A1A"/>
                </a:solidFill>
                <a:latin typeface="Segoe UI" pitchFamily="34" charset="0"/>
                <a:ea typeface="Segoe UI" pitchFamily="34" charset="-122"/>
                <a:cs typeface="Segoe UI" pitchFamily="34" charset="-120"/>
              </a:rPr>
              <a:t>Box 2</a:t>
            </a:r>
            <a:endParaRPr lang="en-US" sz="1700" dirty="0"/>
          </a:p>
        </p:txBody>
      </p:sp>
      <p:sp>
        <p:nvSpPr>
          <p:cNvPr id="10" name="Text 8"/>
          <p:cNvSpPr/>
          <p:nvPr/>
        </p:nvSpPr>
        <p:spPr>
          <a:xfrm>
            <a:off x="2779776" y="3429000"/>
            <a:ext cx="2011680" cy="320040"/>
          </a:xfrm>
          <a:prstGeom prst="rect">
            <a:avLst/>
          </a:prstGeom>
          <a:noFill/>
          <a:ln/>
        </p:spPr>
        <p:txBody>
          <a:bodyPr wrap="square" rtlCol="0" anchor="ctr"/>
          <a:lstStyle/>
          <a:p>
            <a:pPr algn="ctr" indent="0" marL="0">
              <a:buNone/>
            </a:pPr>
            <a:r>
              <a:rPr lang="en-US" sz="1100" dirty="0">
                <a:solidFill>
                  <a:srgbClr val="9A9285"/>
                </a:solidFill>
                <a:latin typeface="Segoe UI" pitchFamily="34" charset="0"/>
                <a:ea typeface="Segoe UI" pitchFamily="34" charset="-122"/>
                <a:cs typeface="Segoe UI" pitchFamily="34" charset="-120"/>
              </a:rPr>
              <a:t>review every</a:t>
            </a:r>
            <a:endParaRPr lang="en-US" sz="1100" dirty="0"/>
          </a:p>
        </p:txBody>
      </p:sp>
      <p:sp>
        <p:nvSpPr>
          <p:cNvPr id="11" name="Text 9"/>
          <p:cNvSpPr/>
          <p:nvPr/>
        </p:nvSpPr>
        <p:spPr>
          <a:xfrm>
            <a:off x="2779776" y="3703320"/>
            <a:ext cx="2011680" cy="457200"/>
          </a:xfrm>
          <a:prstGeom prst="rect">
            <a:avLst/>
          </a:prstGeom>
          <a:noFill/>
          <a:ln/>
        </p:spPr>
        <p:txBody>
          <a:bodyPr wrap="square" rtlCol="0" anchor="ctr"/>
          <a:lstStyle/>
          <a:p>
            <a:pPr algn="ctr" indent="0" marL="0">
              <a:buNone/>
            </a:pPr>
            <a:r>
              <a:rPr lang="en-US" sz="2200" b="1" dirty="0">
                <a:solidFill>
                  <a:srgbClr val="0E7C86"/>
                </a:solidFill>
                <a:latin typeface="Segoe UI" pitchFamily="34" charset="0"/>
                <a:ea typeface="Segoe UI" pitchFamily="34" charset="-122"/>
                <a:cs typeface="Segoe UI" pitchFamily="34" charset="-120"/>
              </a:rPr>
              <a:t>3 d</a:t>
            </a:r>
            <a:endParaRPr lang="en-US" sz="2200" dirty="0"/>
          </a:p>
        </p:txBody>
      </p:sp>
      <p:sp>
        <p:nvSpPr>
          <p:cNvPr id="12" name="Shape 10"/>
          <p:cNvSpPr/>
          <p:nvPr/>
        </p:nvSpPr>
        <p:spPr>
          <a:xfrm>
            <a:off x="4992624" y="2743200"/>
            <a:ext cx="2011680" cy="1554480"/>
          </a:xfrm>
          <a:prstGeom prst="roundRect">
            <a:avLst>
              <a:gd name="adj" fmla="val 5882"/>
            </a:avLst>
          </a:prstGeom>
          <a:solidFill>
            <a:srgbClr val="E4EFEF"/>
          </a:solidFill>
          <a:ln w="15240">
            <a:solidFill>
              <a:srgbClr val="0E7C86"/>
            </a:solidFill>
            <a:prstDash val="solid"/>
          </a:ln>
        </p:spPr>
      </p:sp>
      <p:sp>
        <p:nvSpPr>
          <p:cNvPr id="13" name="Text 11"/>
          <p:cNvSpPr/>
          <p:nvPr/>
        </p:nvSpPr>
        <p:spPr>
          <a:xfrm>
            <a:off x="4992624" y="2926080"/>
            <a:ext cx="2011680" cy="457200"/>
          </a:xfrm>
          <a:prstGeom prst="rect">
            <a:avLst/>
          </a:prstGeom>
          <a:noFill/>
          <a:ln/>
        </p:spPr>
        <p:txBody>
          <a:bodyPr wrap="square" rtlCol="0" anchor="ctr"/>
          <a:lstStyle/>
          <a:p>
            <a:pPr algn="ctr" indent="0" marL="0">
              <a:buNone/>
            </a:pPr>
            <a:r>
              <a:rPr lang="en-US" sz="1700" b="1" dirty="0">
                <a:solidFill>
                  <a:srgbClr val="1A1A1A"/>
                </a:solidFill>
                <a:latin typeface="Segoe UI" pitchFamily="34" charset="0"/>
                <a:ea typeface="Segoe UI" pitchFamily="34" charset="-122"/>
                <a:cs typeface="Segoe UI" pitchFamily="34" charset="-120"/>
              </a:rPr>
              <a:t>Box 3</a:t>
            </a:r>
            <a:endParaRPr lang="en-US" sz="1700" dirty="0"/>
          </a:p>
        </p:txBody>
      </p:sp>
      <p:sp>
        <p:nvSpPr>
          <p:cNvPr id="14" name="Text 12"/>
          <p:cNvSpPr/>
          <p:nvPr/>
        </p:nvSpPr>
        <p:spPr>
          <a:xfrm>
            <a:off x="4992624" y="3429000"/>
            <a:ext cx="2011680" cy="320040"/>
          </a:xfrm>
          <a:prstGeom prst="rect">
            <a:avLst/>
          </a:prstGeom>
          <a:noFill/>
          <a:ln/>
        </p:spPr>
        <p:txBody>
          <a:bodyPr wrap="square" rtlCol="0" anchor="ctr"/>
          <a:lstStyle/>
          <a:p>
            <a:pPr algn="ctr" indent="0" marL="0">
              <a:buNone/>
            </a:pPr>
            <a:r>
              <a:rPr lang="en-US" sz="1100" dirty="0">
                <a:solidFill>
                  <a:srgbClr val="9A9285"/>
                </a:solidFill>
                <a:latin typeface="Segoe UI" pitchFamily="34" charset="0"/>
                <a:ea typeface="Segoe UI" pitchFamily="34" charset="-122"/>
                <a:cs typeface="Segoe UI" pitchFamily="34" charset="-120"/>
              </a:rPr>
              <a:t>review every</a:t>
            </a:r>
            <a:endParaRPr lang="en-US" sz="1100" dirty="0"/>
          </a:p>
        </p:txBody>
      </p:sp>
      <p:sp>
        <p:nvSpPr>
          <p:cNvPr id="15" name="Text 13"/>
          <p:cNvSpPr/>
          <p:nvPr/>
        </p:nvSpPr>
        <p:spPr>
          <a:xfrm>
            <a:off x="4992624" y="3703320"/>
            <a:ext cx="2011680" cy="457200"/>
          </a:xfrm>
          <a:prstGeom prst="rect">
            <a:avLst/>
          </a:prstGeom>
          <a:noFill/>
          <a:ln/>
        </p:spPr>
        <p:txBody>
          <a:bodyPr wrap="square" rtlCol="0" anchor="ctr"/>
          <a:lstStyle/>
          <a:p>
            <a:pPr algn="ctr" indent="0" marL="0">
              <a:buNone/>
            </a:pPr>
            <a:r>
              <a:rPr lang="en-US" sz="2200" b="1" dirty="0">
                <a:solidFill>
                  <a:srgbClr val="0E7C86"/>
                </a:solidFill>
                <a:latin typeface="Segoe UI" pitchFamily="34" charset="0"/>
                <a:ea typeface="Segoe UI" pitchFamily="34" charset="-122"/>
                <a:cs typeface="Segoe UI" pitchFamily="34" charset="-120"/>
              </a:rPr>
              <a:t>7 d</a:t>
            </a:r>
            <a:endParaRPr lang="en-US" sz="2200" dirty="0"/>
          </a:p>
        </p:txBody>
      </p:sp>
      <p:sp>
        <p:nvSpPr>
          <p:cNvPr id="16" name="Shape 14"/>
          <p:cNvSpPr/>
          <p:nvPr/>
        </p:nvSpPr>
        <p:spPr>
          <a:xfrm>
            <a:off x="7205472" y="2743200"/>
            <a:ext cx="2011680" cy="1554480"/>
          </a:xfrm>
          <a:prstGeom prst="roundRect">
            <a:avLst>
              <a:gd name="adj" fmla="val 5882"/>
            </a:avLst>
          </a:prstGeom>
          <a:solidFill>
            <a:srgbClr val="F0EBE1"/>
          </a:solidFill>
          <a:ln w="15240">
            <a:solidFill>
              <a:srgbClr val="0E7C86"/>
            </a:solidFill>
            <a:prstDash val="solid"/>
          </a:ln>
        </p:spPr>
      </p:sp>
      <p:sp>
        <p:nvSpPr>
          <p:cNvPr id="17" name="Text 15"/>
          <p:cNvSpPr/>
          <p:nvPr/>
        </p:nvSpPr>
        <p:spPr>
          <a:xfrm>
            <a:off x="7205472" y="2926080"/>
            <a:ext cx="2011680" cy="457200"/>
          </a:xfrm>
          <a:prstGeom prst="rect">
            <a:avLst/>
          </a:prstGeom>
          <a:noFill/>
          <a:ln/>
        </p:spPr>
        <p:txBody>
          <a:bodyPr wrap="square" rtlCol="0" anchor="ctr"/>
          <a:lstStyle/>
          <a:p>
            <a:pPr algn="ctr" indent="0" marL="0">
              <a:buNone/>
            </a:pPr>
            <a:r>
              <a:rPr lang="en-US" sz="1700" b="1" dirty="0">
                <a:solidFill>
                  <a:srgbClr val="1A1A1A"/>
                </a:solidFill>
                <a:latin typeface="Segoe UI" pitchFamily="34" charset="0"/>
                <a:ea typeface="Segoe UI" pitchFamily="34" charset="-122"/>
                <a:cs typeface="Segoe UI" pitchFamily="34" charset="-120"/>
              </a:rPr>
              <a:t>Box 4</a:t>
            </a:r>
            <a:endParaRPr lang="en-US" sz="1700" dirty="0"/>
          </a:p>
        </p:txBody>
      </p:sp>
      <p:sp>
        <p:nvSpPr>
          <p:cNvPr id="18" name="Text 16"/>
          <p:cNvSpPr/>
          <p:nvPr/>
        </p:nvSpPr>
        <p:spPr>
          <a:xfrm>
            <a:off x="7205472" y="3429000"/>
            <a:ext cx="2011680" cy="320040"/>
          </a:xfrm>
          <a:prstGeom prst="rect">
            <a:avLst/>
          </a:prstGeom>
          <a:noFill/>
          <a:ln/>
        </p:spPr>
        <p:txBody>
          <a:bodyPr wrap="square" rtlCol="0" anchor="ctr"/>
          <a:lstStyle/>
          <a:p>
            <a:pPr algn="ctr" indent="0" marL="0">
              <a:buNone/>
            </a:pPr>
            <a:r>
              <a:rPr lang="en-US" sz="1100" dirty="0">
                <a:solidFill>
                  <a:srgbClr val="9A9285"/>
                </a:solidFill>
                <a:latin typeface="Segoe UI" pitchFamily="34" charset="0"/>
                <a:ea typeface="Segoe UI" pitchFamily="34" charset="-122"/>
                <a:cs typeface="Segoe UI" pitchFamily="34" charset="-120"/>
              </a:rPr>
              <a:t>review every</a:t>
            </a:r>
            <a:endParaRPr lang="en-US" sz="1100" dirty="0"/>
          </a:p>
        </p:txBody>
      </p:sp>
      <p:sp>
        <p:nvSpPr>
          <p:cNvPr id="19" name="Text 17"/>
          <p:cNvSpPr/>
          <p:nvPr/>
        </p:nvSpPr>
        <p:spPr>
          <a:xfrm>
            <a:off x="7205472" y="3703320"/>
            <a:ext cx="2011680" cy="457200"/>
          </a:xfrm>
          <a:prstGeom prst="rect">
            <a:avLst/>
          </a:prstGeom>
          <a:noFill/>
          <a:ln/>
        </p:spPr>
        <p:txBody>
          <a:bodyPr wrap="square" rtlCol="0" anchor="ctr"/>
          <a:lstStyle/>
          <a:p>
            <a:pPr algn="ctr" indent="0" marL="0">
              <a:buNone/>
            </a:pPr>
            <a:r>
              <a:rPr lang="en-US" sz="2200" b="1" dirty="0">
                <a:solidFill>
                  <a:srgbClr val="0E7C86"/>
                </a:solidFill>
                <a:latin typeface="Segoe UI" pitchFamily="34" charset="0"/>
                <a:ea typeface="Segoe UI" pitchFamily="34" charset="-122"/>
                <a:cs typeface="Segoe UI" pitchFamily="34" charset="-120"/>
              </a:rPr>
              <a:t>14 d</a:t>
            </a:r>
            <a:endParaRPr lang="en-US" sz="2200" dirty="0"/>
          </a:p>
        </p:txBody>
      </p:sp>
      <p:sp>
        <p:nvSpPr>
          <p:cNvPr id="20" name="Shape 18"/>
          <p:cNvSpPr/>
          <p:nvPr/>
        </p:nvSpPr>
        <p:spPr>
          <a:xfrm>
            <a:off x="9418320" y="2743200"/>
            <a:ext cx="2011680" cy="1554480"/>
          </a:xfrm>
          <a:prstGeom prst="roundRect">
            <a:avLst>
              <a:gd name="adj" fmla="val 5882"/>
            </a:avLst>
          </a:prstGeom>
          <a:solidFill>
            <a:srgbClr val="E4EFEF"/>
          </a:solidFill>
          <a:ln w="15240">
            <a:solidFill>
              <a:srgbClr val="0E7C86"/>
            </a:solidFill>
            <a:prstDash val="solid"/>
          </a:ln>
        </p:spPr>
      </p:sp>
      <p:sp>
        <p:nvSpPr>
          <p:cNvPr id="21" name="Text 19"/>
          <p:cNvSpPr/>
          <p:nvPr/>
        </p:nvSpPr>
        <p:spPr>
          <a:xfrm>
            <a:off x="9418320" y="2926080"/>
            <a:ext cx="2011680" cy="457200"/>
          </a:xfrm>
          <a:prstGeom prst="rect">
            <a:avLst/>
          </a:prstGeom>
          <a:noFill/>
          <a:ln/>
        </p:spPr>
        <p:txBody>
          <a:bodyPr wrap="square" rtlCol="0" anchor="ctr"/>
          <a:lstStyle/>
          <a:p>
            <a:pPr algn="ctr" indent="0" marL="0">
              <a:buNone/>
            </a:pPr>
            <a:r>
              <a:rPr lang="en-US" sz="1700" b="1" dirty="0">
                <a:solidFill>
                  <a:srgbClr val="1A1A1A"/>
                </a:solidFill>
                <a:latin typeface="Segoe UI" pitchFamily="34" charset="0"/>
                <a:ea typeface="Segoe UI" pitchFamily="34" charset="-122"/>
                <a:cs typeface="Segoe UI" pitchFamily="34" charset="-120"/>
              </a:rPr>
              <a:t>Box 5</a:t>
            </a:r>
            <a:endParaRPr lang="en-US" sz="1700" dirty="0"/>
          </a:p>
        </p:txBody>
      </p:sp>
      <p:sp>
        <p:nvSpPr>
          <p:cNvPr id="22" name="Text 20"/>
          <p:cNvSpPr/>
          <p:nvPr/>
        </p:nvSpPr>
        <p:spPr>
          <a:xfrm>
            <a:off x="9418320" y="3429000"/>
            <a:ext cx="2011680" cy="320040"/>
          </a:xfrm>
          <a:prstGeom prst="rect">
            <a:avLst/>
          </a:prstGeom>
          <a:noFill/>
          <a:ln/>
        </p:spPr>
        <p:txBody>
          <a:bodyPr wrap="square" rtlCol="0" anchor="ctr"/>
          <a:lstStyle/>
          <a:p>
            <a:pPr algn="ctr" indent="0" marL="0">
              <a:buNone/>
            </a:pPr>
            <a:r>
              <a:rPr lang="en-US" sz="1100" dirty="0">
                <a:solidFill>
                  <a:srgbClr val="9A9285"/>
                </a:solidFill>
                <a:latin typeface="Segoe UI" pitchFamily="34" charset="0"/>
                <a:ea typeface="Segoe UI" pitchFamily="34" charset="-122"/>
                <a:cs typeface="Segoe UI" pitchFamily="34" charset="-120"/>
              </a:rPr>
              <a:t>review every</a:t>
            </a:r>
            <a:endParaRPr lang="en-US" sz="1100" dirty="0"/>
          </a:p>
        </p:txBody>
      </p:sp>
      <p:sp>
        <p:nvSpPr>
          <p:cNvPr id="23" name="Text 21"/>
          <p:cNvSpPr/>
          <p:nvPr/>
        </p:nvSpPr>
        <p:spPr>
          <a:xfrm>
            <a:off x="9418320" y="3703320"/>
            <a:ext cx="2011680" cy="457200"/>
          </a:xfrm>
          <a:prstGeom prst="rect">
            <a:avLst/>
          </a:prstGeom>
          <a:noFill/>
          <a:ln/>
        </p:spPr>
        <p:txBody>
          <a:bodyPr wrap="square" rtlCol="0" anchor="ctr"/>
          <a:lstStyle/>
          <a:p>
            <a:pPr algn="ctr" indent="0" marL="0">
              <a:buNone/>
            </a:pPr>
            <a:r>
              <a:rPr lang="en-US" sz="2200" b="1" dirty="0">
                <a:solidFill>
                  <a:srgbClr val="0E7C86"/>
                </a:solidFill>
                <a:latin typeface="Segoe UI" pitchFamily="34" charset="0"/>
                <a:ea typeface="Segoe UI" pitchFamily="34" charset="-122"/>
                <a:cs typeface="Segoe UI" pitchFamily="34" charset="-120"/>
              </a:rPr>
              <a:t>30 d</a:t>
            </a:r>
            <a:endParaRPr lang="en-US" sz="2200" dirty="0"/>
          </a:p>
        </p:txBody>
      </p:sp>
      <p:sp>
        <p:nvSpPr>
          <p:cNvPr id="24" name="Text 22"/>
          <p:cNvSpPr/>
          <p:nvPr/>
        </p:nvSpPr>
        <p:spPr>
          <a:xfrm>
            <a:off x="566928" y="4663440"/>
            <a:ext cx="10972800" cy="548640"/>
          </a:xfrm>
          <a:prstGeom prst="rect">
            <a:avLst/>
          </a:prstGeom>
          <a:noFill/>
          <a:ln/>
        </p:spPr>
        <p:txBody>
          <a:bodyPr wrap="square" rtlCol="0" anchor="ctr"/>
          <a:lstStyle/>
          <a:p>
            <a:pPr indent="0" marL="0">
              <a:buNone/>
            </a:pPr>
            <a:r>
              <a:rPr lang="en-US" sz="1500" dirty="0">
                <a:solidFill>
                  <a:srgbClr val="3A3A3A"/>
                </a:solidFill>
                <a:latin typeface="Segoe UI" pitchFamily="34" charset="0"/>
                <a:ea typeface="Segoe UI" pitchFamily="34" charset="-122"/>
                <a:cs typeface="Segoe UI" pitchFamily="34" charset="-120"/>
              </a:rPr>
              <a:t>Correct → up a box (seen less often).   Wrong → back to Box 1.   XP on every transition (+15 / +5), idempotent.</a:t>
            </a:r>
            <a:endParaRPr lang="en-US" sz="1500" dirty="0"/>
          </a:p>
        </p:txBody>
      </p:sp>
      <p:sp>
        <p:nvSpPr>
          <p:cNvPr id="25" name="Text 23"/>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6" name="Text 24"/>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35</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par>
                    <p:cTn id="142" presetID="10" presetClass="entr" presetSubtype="0" fill="hold" grpId="0" nodeType="afterEffect">
                      <p:stCondLst>
                        <p:cond delay="1680"/>
                      </p:stCondLst>
                      <p:childTnLst>
                        <p:set>
                          <p:cBhvr>
                            <p:cTn id="143" dur="1" fill="hold">
                              <p:stCondLst>
                                <p:cond delay="0"/>
                              </p:stCondLst>
                            </p:cTn>
                            <p:tgtEl>
                              <p:spTgt spid="16"/>
                            </p:tgtEl>
                            <p:attrNameLst>
                              <p:attrName>style.visibility</p:attrName>
                            </p:attrNameLst>
                          </p:cBhvr>
                          <p:to>
                            <p:strVal val="visible"/>
                          </p:to>
                        </p:set>
                        <p:animEffect transition="in" filter="fade">
                          <p:cBhvr>
                            <p:cTn id="144" dur="450"/>
                            <p:tgtEl>
                              <p:spTgt spid="16"/>
                            </p:tgtEl>
                          </p:cBhvr>
                        </p:animEffect>
                      </p:childTnLst>
                    </p:cTn>
                  </p:par>
                  <p:par>
                    <p:cTn id="145" presetID="10" presetClass="entr" presetSubtype="0" fill="hold" grpId="0" nodeType="afterEffect">
                      <p:stCondLst>
                        <p:cond delay="1800"/>
                      </p:stCondLst>
                      <p:childTnLst>
                        <p:set>
                          <p:cBhvr>
                            <p:cTn id="146" dur="1" fill="hold">
                              <p:stCondLst>
                                <p:cond delay="0"/>
                              </p:stCondLst>
                            </p:cTn>
                            <p:tgtEl>
                              <p:spTgt spid="17"/>
                            </p:tgtEl>
                            <p:attrNameLst>
                              <p:attrName>style.visibility</p:attrName>
                            </p:attrNameLst>
                          </p:cBhvr>
                          <p:to>
                            <p:strVal val="visible"/>
                          </p:to>
                        </p:set>
                        <p:animEffect transition="in" filter="fade">
                          <p:cBhvr>
                            <p:cTn id="147" dur="450"/>
                            <p:tgtEl>
                              <p:spTgt spid="17"/>
                            </p:tgtEl>
                          </p:cBhvr>
                        </p:animEffect>
                      </p:childTnLst>
                    </p:cTn>
                  </p:par>
                  <p:par>
                    <p:cTn id="148" presetID="10" presetClass="entr" presetSubtype="0" fill="hold" grpId="0" nodeType="afterEffect">
                      <p:stCondLst>
                        <p:cond delay="1920"/>
                      </p:stCondLst>
                      <p:childTnLst>
                        <p:set>
                          <p:cBhvr>
                            <p:cTn id="149" dur="1" fill="hold">
                              <p:stCondLst>
                                <p:cond delay="0"/>
                              </p:stCondLst>
                            </p:cTn>
                            <p:tgtEl>
                              <p:spTgt spid="18"/>
                            </p:tgtEl>
                            <p:attrNameLst>
                              <p:attrName>style.visibility</p:attrName>
                            </p:attrNameLst>
                          </p:cBhvr>
                          <p:to>
                            <p:strVal val="visible"/>
                          </p:to>
                        </p:set>
                        <p:animEffect transition="in" filter="fade">
                          <p:cBhvr>
                            <p:cTn id="150" dur="450"/>
                            <p:tgtEl>
                              <p:spTgt spid="18"/>
                            </p:tgtEl>
                          </p:cBhvr>
                        </p:animEffect>
                      </p:childTnLst>
                    </p:cTn>
                  </p:par>
                  <p:par>
                    <p:cTn id="151" presetID="10" presetClass="entr" presetSubtype="0" fill="hold" grpId="0" nodeType="afterEffect">
                      <p:stCondLst>
                        <p:cond delay="2040"/>
                      </p:stCondLst>
                      <p:childTnLst>
                        <p:set>
                          <p:cBhvr>
                            <p:cTn id="152" dur="1" fill="hold">
                              <p:stCondLst>
                                <p:cond delay="0"/>
                              </p:stCondLst>
                            </p:cTn>
                            <p:tgtEl>
                              <p:spTgt spid="19"/>
                            </p:tgtEl>
                            <p:attrNameLst>
                              <p:attrName>style.visibility</p:attrName>
                            </p:attrNameLst>
                          </p:cBhvr>
                          <p:to>
                            <p:strVal val="visible"/>
                          </p:to>
                        </p:set>
                        <p:animEffect transition="in" filter="fade">
                          <p:cBhvr>
                            <p:cTn id="153" dur="450"/>
                            <p:tgtEl>
                              <p:spTgt spid="19"/>
                            </p:tgtEl>
                          </p:cBhvr>
                        </p:animEffect>
                      </p:childTnLst>
                    </p:cTn>
                  </p:par>
                  <p:par>
                    <p:cTn id="154" presetID="10" presetClass="entr" presetSubtype="0" fill="hold" grpId="0" nodeType="afterEffect">
                      <p:stCondLst>
                        <p:cond delay="2160"/>
                      </p:stCondLst>
                      <p:childTnLst>
                        <p:set>
                          <p:cBhvr>
                            <p:cTn id="155" dur="1" fill="hold">
                              <p:stCondLst>
                                <p:cond delay="0"/>
                              </p:stCondLst>
                            </p:cTn>
                            <p:tgtEl>
                              <p:spTgt spid="20"/>
                            </p:tgtEl>
                            <p:attrNameLst>
                              <p:attrName>style.visibility</p:attrName>
                            </p:attrNameLst>
                          </p:cBhvr>
                          <p:to>
                            <p:strVal val="visible"/>
                          </p:to>
                        </p:set>
                        <p:animEffect transition="in" filter="fade">
                          <p:cBhvr>
                            <p:cTn id="156" dur="450"/>
                            <p:tgtEl>
                              <p:spTgt spid="20"/>
                            </p:tgtEl>
                          </p:cBhvr>
                        </p:animEffect>
                      </p:childTnLst>
                    </p:cTn>
                  </p:par>
                  <p:par>
                    <p:cTn id="157" presetID="10" presetClass="entr" presetSubtype="0" fill="hold" grpId="0" nodeType="afterEffect">
                      <p:stCondLst>
                        <p:cond delay="2280"/>
                      </p:stCondLst>
                      <p:childTnLst>
                        <p:set>
                          <p:cBhvr>
                            <p:cTn id="158" dur="1" fill="hold">
                              <p:stCondLst>
                                <p:cond delay="0"/>
                              </p:stCondLst>
                            </p:cTn>
                            <p:tgtEl>
                              <p:spTgt spid="21"/>
                            </p:tgtEl>
                            <p:attrNameLst>
                              <p:attrName>style.visibility</p:attrName>
                            </p:attrNameLst>
                          </p:cBhvr>
                          <p:to>
                            <p:strVal val="visible"/>
                          </p:to>
                        </p:set>
                        <p:animEffect transition="in" filter="fade">
                          <p:cBhvr>
                            <p:cTn id="159" dur="450"/>
                            <p:tgtEl>
                              <p:spTgt spid="21"/>
                            </p:tgtEl>
                          </p:cBhvr>
                        </p:animEffect>
                      </p:childTnLst>
                    </p:cTn>
                  </p:par>
                  <p:par>
                    <p:cTn id="160" presetID="10" presetClass="entr" presetSubtype="0" fill="hold" grpId="0" nodeType="afterEffect">
                      <p:stCondLst>
                        <p:cond delay="2400"/>
                      </p:stCondLst>
                      <p:childTnLst>
                        <p:set>
                          <p:cBhvr>
                            <p:cTn id="161" dur="1" fill="hold">
                              <p:stCondLst>
                                <p:cond delay="0"/>
                              </p:stCondLst>
                            </p:cTn>
                            <p:tgtEl>
                              <p:spTgt spid="22"/>
                            </p:tgtEl>
                            <p:attrNameLst>
                              <p:attrName>style.visibility</p:attrName>
                            </p:attrNameLst>
                          </p:cBhvr>
                          <p:to>
                            <p:strVal val="visible"/>
                          </p:to>
                        </p:set>
                        <p:animEffect transition="in" filter="fade">
                          <p:cBhvr>
                            <p:cTn id="162" dur="450"/>
                            <p:tgtEl>
                              <p:spTgt spid="22"/>
                            </p:tgtEl>
                          </p:cBhvr>
                        </p:animEffect>
                      </p:childTnLst>
                    </p:cTn>
                  </p:par>
                  <p:par>
                    <p:cTn id="163" presetID="10" presetClass="entr" presetSubtype="0" fill="hold" grpId="0" nodeType="afterEffect">
                      <p:stCondLst>
                        <p:cond delay="2520"/>
                      </p:stCondLst>
                      <p:childTnLst>
                        <p:set>
                          <p:cBhvr>
                            <p:cTn id="164" dur="1" fill="hold">
                              <p:stCondLst>
                                <p:cond delay="0"/>
                              </p:stCondLst>
                            </p:cTn>
                            <p:tgtEl>
                              <p:spTgt spid="23"/>
                            </p:tgtEl>
                            <p:attrNameLst>
                              <p:attrName>style.visibility</p:attrName>
                            </p:attrNameLst>
                          </p:cBhvr>
                          <p:to>
                            <p:strVal val="visible"/>
                          </p:to>
                        </p:set>
                        <p:animEffect transition="in" filter="fade">
                          <p:cBhvr>
                            <p:cTn id="165" dur="450"/>
                            <p:tgtEl>
                              <p:spTgt spid="23"/>
                            </p:tgtEl>
                          </p:cBhvr>
                        </p:animEffect>
                      </p:childTnLst>
                    </p:cTn>
                  </p:par>
                  <p:par>
                    <p:cTn id="166" presetID="10" presetClass="entr" presetSubtype="0" fill="hold" grpId="0" nodeType="afterEffect">
                      <p:stCondLst>
                        <p:cond delay="2640"/>
                      </p:stCondLst>
                      <p:childTnLst>
                        <p:set>
                          <p:cBhvr>
                            <p:cTn id="167" dur="1" fill="hold">
                              <p:stCondLst>
                                <p:cond delay="0"/>
                              </p:stCondLst>
                            </p:cTn>
                            <p:tgtEl>
                              <p:spTgt spid="24"/>
                            </p:tgtEl>
                            <p:attrNameLst>
                              <p:attrName>style.visibility</p:attrName>
                            </p:attrNameLst>
                          </p:cBhvr>
                          <p:to>
                            <p:strVal val="visible"/>
                          </p:to>
                        </p:set>
                        <p:animEffect transition="in" filter="fade">
                          <p:cBhvr>
                            <p:cTn id="168" dur="450"/>
                            <p:tgtEl>
                              <p:spTgt spid="24"/>
                            </p:tgtEl>
                          </p:cBhvr>
                        </p:animEffect>
                      </p:childTnLst>
                    </p:cTn>
                  </p:par>
                  <p:par>
                    <p:cTn id="169" presetID="10" presetClass="entr" presetSubtype="0" fill="hold" grpId="0" nodeType="afterEffect">
                      <p:stCondLst>
                        <p:cond delay="2760"/>
                      </p:stCondLst>
                      <p:childTnLst>
                        <p:set>
                          <p:cBhvr>
                            <p:cTn id="170" dur="1" fill="hold">
                              <p:stCondLst>
                                <p:cond delay="0"/>
                              </p:stCondLst>
                            </p:cTn>
                            <p:tgtEl>
                              <p:spTgt spid="25"/>
                            </p:tgtEl>
                            <p:attrNameLst>
                              <p:attrName>style.visibility</p:attrName>
                            </p:attrNameLst>
                          </p:cBhvr>
                          <p:to>
                            <p:strVal val="visible"/>
                          </p:to>
                        </p:set>
                        <p:animEffect transition="in" filter="fade">
                          <p:cBhvr>
                            <p:cTn id="171" dur="450"/>
                            <p:tgtEl>
                              <p:spTgt spid="25"/>
                            </p:tgtEl>
                          </p:cBhvr>
                        </p:animEffect>
                      </p:childTnLst>
                    </p:cTn>
                  </p:par>
                  <p:par>
                    <p:cTn id="172" presetID="10" presetClass="entr" presetSubtype="0" fill="hold" grpId="0" nodeType="afterEffect">
                      <p:stCondLst>
                        <p:cond delay="2880"/>
                      </p:stCondLst>
                      <p:childTnLst>
                        <p:set>
                          <p:cBhvr>
                            <p:cTn id="173" dur="1" fill="hold">
                              <p:stCondLst>
                                <p:cond delay="0"/>
                              </p:stCondLst>
                            </p:cTn>
                            <p:tgtEl>
                              <p:spTgt spid="26"/>
                            </p:tgtEl>
                            <p:attrNameLst>
                              <p:attrName>style.visibility</p:attrName>
                            </p:attrNameLst>
                          </p:cBhvr>
                          <p:to>
                            <p:strVal val="visible"/>
                          </p:to>
                        </p:set>
                        <p:animEffect transition="in" filter="fade">
                          <p:cBhvr>
                            <p:cTn id="174" dur="450"/>
                            <p:tgtEl>
                              <p:spTgt spid="26"/>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PROGRESS DASHBOARD</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“Am I actually improving?”</a:t>
            </a:r>
            <a:endParaRPr lang="en-US" sz="3300" dirty="0"/>
          </a:p>
        </p:txBody>
      </p:sp>
      <p:sp>
        <p:nvSpPr>
          <p:cNvPr id="4" name="Shape 2"/>
          <p:cNvSpPr/>
          <p:nvPr/>
        </p:nvSpPr>
        <p:spPr>
          <a:xfrm>
            <a:off x="566928" y="2377440"/>
            <a:ext cx="2560320" cy="1828800"/>
          </a:xfrm>
          <a:prstGeom prst="roundRect">
            <a:avLst>
              <a:gd name="adj" fmla="val 6000"/>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Text 3"/>
          <p:cNvSpPr/>
          <p:nvPr/>
        </p:nvSpPr>
        <p:spPr>
          <a:xfrm>
            <a:off x="566928" y="2606040"/>
            <a:ext cx="2560320" cy="822960"/>
          </a:xfrm>
          <a:prstGeom prst="rect">
            <a:avLst/>
          </a:prstGeom>
          <a:noFill/>
          <a:ln/>
        </p:spPr>
        <p:txBody>
          <a:bodyPr wrap="square" rtlCol="0" anchor="ctr"/>
          <a:lstStyle/>
          <a:p>
            <a:pPr algn="ctr" indent="0" marL="0">
              <a:buNone/>
            </a:pPr>
            <a:r>
              <a:rPr lang="en-US" sz="4000" b="1" dirty="0">
                <a:solidFill>
                  <a:srgbClr val="2F8F5B"/>
                </a:solidFill>
                <a:latin typeface="Segoe UI" pitchFamily="34" charset="0"/>
                <a:ea typeface="Segoe UI" pitchFamily="34" charset="-122"/>
                <a:cs typeface="Segoe UI" pitchFamily="34" charset="-120"/>
              </a:rPr>
              <a:t>↓ 34%</a:t>
            </a:r>
            <a:endParaRPr lang="en-US" sz="4000" dirty="0"/>
          </a:p>
        </p:txBody>
      </p:sp>
      <p:sp>
        <p:nvSpPr>
          <p:cNvPr id="6" name="Text 4"/>
          <p:cNvSpPr/>
          <p:nvPr/>
        </p:nvSpPr>
        <p:spPr>
          <a:xfrm>
            <a:off x="566928" y="3474720"/>
            <a:ext cx="2560320" cy="457200"/>
          </a:xfrm>
          <a:prstGeom prst="rect">
            <a:avLst/>
          </a:prstGeom>
          <a:noFill/>
          <a:ln/>
        </p:spPr>
        <p:txBody>
          <a:bodyPr wrap="square" rtlCol="0" anchor="ctr"/>
          <a:lstStyle/>
          <a:p>
            <a:pPr algn="ctr" indent="0" marL="0">
              <a:buNone/>
            </a:pPr>
            <a:r>
              <a:rPr lang="en-US" sz="1600" b="1" dirty="0">
                <a:solidFill>
                  <a:srgbClr val="1A1A1A"/>
                </a:solidFill>
                <a:latin typeface="Segoe UI" pitchFamily="34" charset="0"/>
                <a:ea typeface="Segoe UI" pitchFamily="34" charset="-122"/>
                <a:cs typeface="Segoe UI" pitchFamily="34" charset="-120"/>
              </a:rPr>
              <a:t>Mistakes</a:t>
            </a:r>
            <a:endParaRPr lang="en-US" sz="1600" dirty="0"/>
          </a:p>
        </p:txBody>
      </p:sp>
      <p:sp>
        <p:nvSpPr>
          <p:cNvPr id="7" name="Text 5"/>
          <p:cNvSpPr/>
          <p:nvPr/>
        </p:nvSpPr>
        <p:spPr>
          <a:xfrm>
            <a:off x="566928" y="3840480"/>
            <a:ext cx="2560320" cy="320040"/>
          </a:xfrm>
          <a:prstGeom prst="rect">
            <a:avLst/>
          </a:prstGeom>
          <a:noFill/>
          <a:ln/>
        </p:spPr>
        <p:txBody>
          <a:bodyPr wrap="square" rtlCol="0" anchor="ctr"/>
          <a:lstStyle/>
          <a:p>
            <a:pPr algn="ctr" indent="0" marL="0">
              <a:buNone/>
            </a:pPr>
            <a:r>
              <a:rPr lang="en-US" sz="1100" dirty="0">
                <a:solidFill>
                  <a:srgbClr val="9A9285"/>
                </a:solidFill>
                <a:latin typeface="Segoe UI" pitchFamily="34" charset="0"/>
                <a:ea typeface="Segoe UI" pitchFamily="34" charset="-122"/>
                <a:cs typeface="Segoe UI" pitchFamily="34" charset="-120"/>
              </a:rPr>
              <a:t>vs previous window</a:t>
            </a:r>
            <a:endParaRPr lang="en-US" sz="1100" dirty="0"/>
          </a:p>
        </p:txBody>
      </p:sp>
      <p:sp>
        <p:nvSpPr>
          <p:cNvPr id="8" name="Shape 6"/>
          <p:cNvSpPr/>
          <p:nvPr/>
        </p:nvSpPr>
        <p:spPr>
          <a:xfrm>
            <a:off x="3310128" y="2377440"/>
            <a:ext cx="2560320" cy="1828800"/>
          </a:xfrm>
          <a:prstGeom prst="roundRect">
            <a:avLst>
              <a:gd name="adj" fmla="val 6000"/>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9" name="Text 7"/>
          <p:cNvSpPr/>
          <p:nvPr/>
        </p:nvSpPr>
        <p:spPr>
          <a:xfrm>
            <a:off x="3310128" y="2606040"/>
            <a:ext cx="2560320" cy="822960"/>
          </a:xfrm>
          <a:prstGeom prst="rect">
            <a:avLst/>
          </a:prstGeom>
          <a:noFill/>
          <a:ln/>
        </p:spPr>
        <p:txBody>
          <a:bodyPr wrap="square" rtlCol="0" anchor="ctr"/>
          <a:lstStyle/>
          <a:p>
            <a:pPr algn="ctr" indent="0" marL="0">
              <a:buNone/>
            </a:pPr>
            <a:r>
              <a:rPr lang="en-US" sz="4000" b="1" dirty="0">
                <a:solidFill>
                  <a:srgbClr val="2F8F5B"/>
                </a:solidFill>
                <a:latin typeface="Segoe UI" pitchFamily="34" charset="0"/>
                <a:ea typeface="Segoe UI" pitchFamily="34" charset="-122"/>
                <a:cs typeface="Segoe UI" pitchFamily="34" charset="-120"/>
              </a:rPr>
              <a:t>↑ 35%</a:t>
            </a:r>
            <a:endParaRPr lang="en-US" sz="4000" dirty="0"/>
          </a:p>
        </p:txBody>
      </p:sp>
      <p:sp>
        <p:nvSpPr>
          <p:cNvPr id="10" name="Text 8"/>
          <p:cNvSpPr/>
          <p:nvPr/>
        </p:nvSpPr>
        <p:spPr>
          <a:xfrm>
            <a:off x="3310128" y="3474720"/>
            <a:ext cx="2560320" cy="457200"/>
          </a:xfrm>
          <a:prstGeom prst="rect">
            <a:avLst/>
          </a:prstGeom>
          <a:noFill/>
          <a:ln/>
        </p:spPr>
        <p:txBody>
          <a:bodyPr wrap="square" rtlCol="0" anchor="ctr"/>
          <a:lstStyle/>
          <a:p>
            <a:pPr algn="ctr" indent="0" marL="0">
              <a:buNone/>
            </a:pPr>
            <a:r>
              <a:rPr lang="en-US" sz="1600" b="1" dirty="0">
                <a:solidFill>
                  <a:srgbClr val="1A1A1A"/>
                </a:solidFill>
                <a:latin typeface="Segoe UI" pitchFamily="34" charset="0"/>
                <a:ea typeface="Segoe UI" pitchFamily="34" charset="-122"/>
                <a:cs typeface="Segoe UI" pitchFamily="34" charset="-120"/>
              </a:rPr>
              <a:t>Sentiment</a:t>
            </a:r>
            <a:endParaRPr lang="en-US" sz="1600" dirty="0"/>
          </a:p>
        </p:txBody>
      </p:sp>
      <p:sp>
        <p:nvSpPr>
          <p:cNvPr id="11" name="Text 9"/>
          <p:cNvSpPr/>
          <p:nvPr/>
        </p:nvSpPr>
        <p:spPr>
          <a:xfrm>
            <a:off x="3310128" y="3840480"/>
            <a:ext cx="2560320" cy="320040"/>
          </a:xfrm>
          <a:prstGeom prst="rect">
            <a:avLst/>
          </a:prstGeom>
          <a:noFill/>
          <a:ln/>
        </p:spPr>
        <p:txBody>
          <a:bodyPr wrap="square" rtlCol="0" anchor="ctr"/>
          <a:lstStyle/>
          <a:p>
            <a:pPr algn="ctr" indent="0" marL="0">
              <a:buNone/>
            </a:pPr>
            <a:r>
              <a:rPr lang="en-US" sz="1100" dirty="0">
                <a:solidFill>
                  <a:srgbClr val="9A9285"/>
                </a:solidFill>
                <a:latin typeface="Segoe UI" pitchFamily="34" charset="0"/>
                <a:ea typeface="Segoe UI" pitchFamily="34" charset="-122"/>
                <a:cs typeface="Segoe UI" pitchFamily="34" charset="-120"/>
              </a:rPr>
              <a:t>vs previous window</a:t>
            </a:r>
            <a:endParaRPr lang="en-US" sz="1100" dirty="0"/>
          </a:p>
        </p:txBody>
      </p:sp>
      <p:sp>
        <p:nvSpPr>
          <p:cNvPr id="12" name="Shape 10"/>
          <p:cNvSpPr/>
          <p:nvPr/>
        </p:nvSpPr>
        <p:spPr>
          <a:xfrm>
            <a:off x="6053328" y="2377440"/>
            <a:ext cx="2560320" cy="1828800"/>
          </a:xfrm>
          <a:prstGeom prst="roundRect">
            <a:avLst>
              <a:gd name="adj" fmla="val 6000"/>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3" name="Text 11"/>
          <p:cNvSpPr/>
          <p:nvPr/>
        </p:nvSpPr>
        <p:spPr>
          <a:xfrm>
            <a:off x="6053328" y="2606040"/>
            <a:ext cx="2560320" cy="822960"/>
          </a:xfrm>
          <a:prstGeom prst="rect">
            <a:avLst/>
          </a:prstGeom>
          <a:noFill/>
          <a:ln/>
        </p:spPr>
        <p:txBody>
          <a:bodyPr wrap="square" rtlCol="0" anchor="ctr"/>
          <a:lstStyle/>
          <a:p>
            <a:pPr algn="ctr" indent="0" marL="0">
              <a:buNone/>
            </a:pPr>
            <a:r>
              <a:rPr lang="en-US" sz="4000" b="1" dirty="0">
                <a:solidFill>
                  <a:srgbClr val="0E7C86"/>
                </a:solidFill>
                <a:latin typeface="Segoe UI" pitchFamily="34" charset="0"/>
                <a:ea typeface="Segoe UI" pitchFamily="34" charset="-122"/>
                <a:cs typeface="Segoe UI" pitchFamily="34" charset="-120"/>
              </a:rPr>
              <a:t>+33%</a:t>
            </a:r>
            <a:endParaRPr lang="en-US" sz="4000" dirty="0"/>
          </a:p>
        </p:txBody>
      </p:sp>
      <p:sp>
        <p:nvSpPr>
          <p:cNvPr id="14" name="Text 12"/>
          <p:cNvSpPr/>
          <p:nvPr/>
        </p:nvSpPr>
        <p:spPr>
          <a:xfrm>
            <a:off x="6053328" y="3474720"/>
            <a:ext cx="2560320" cy="457200"/>
          </a:xfrm>
          <a:prstGeom prst="rect">
            <a:avLst/>
          </a:prstGeom>
          <a:noFill/>
          <a:ln/>
        </p:spPr>
        <p:txBody>
          <a:bodyPr wrap="square" rtlCol="0" anchor="ctr"/>
          <a:lstStyle/>
          <a:p>
            <a:pPr algn="ctr" indent="0" marL="0">
              <a:buNone/>
            </a:pPr>
            <a:r>
              <a:rPr lang="en-US" sz="1600" b="1" dirty="0">
                <a:solidFill>
                  <a:srgbClr val="1A1A1A"/>
                </a:solidFill>
                <a:latin typeface="Segoe UI" pitchFamily="34" charset="0"/>
                <a:ea typeface="Segoe UI" pitchFamily="34" charset="-122"/>
                <a:cs typeface="Segoe UI" pitchFamily="34" charset="-120"/>
              </a:rPr>
              <a:t>Sessions</a:t>
            </a:r>
            <a:endParaRPr lang="en-US" sz="1600" dirty="0"/>
          </a:p>
        </p:txBody>
      </p:sp>
      <p:sp>
        <p:nvSpPr>
          <p:cNvPr id="15" name="Text 13"/>
          <p:cNvSpPr/>
          <p:nvPr/>
        </p:nvSpPr>
        <p:spPr>
          <a:xfrm>
            <a:off x="6053328" y="3840480"/>
            <a:ext cx="2560320" cy="320040"/>
          </a:xfrm>
          <a:prstGeom prst="rect">
            <a:avLst/>
          </a:prstGeom>
          <a:noFill/>
          <a:ln/>
        </p:spPr>
        <p:txBody>
          <a:bodyPr wrap="square" rtlCol="0" anchor="ctr"/>
          <a:lstStyle/>
          <a:p>
            <a:pPr algn="ctr" indent="0" marL="0">
              <a:buNone/>
            </a:pPr>
            <a:r>
              <a:rPr lang="en-US" sz="1100" dirty="0">
                <a:solidFill>
                  <a:srgbClr val="9A9285"/>
                </a:solidFill>
                <a:latin typeface="Segoe UI" pitchFamily="34" charset="0"/>
                <a:ea typeface="Segoe UI" pitchFamily="34" charset="-122"/>
                <a:cs typeface="Segoe UI" pitchFamily="34" charset="-120"/>
              </a:rPr>
              <a:t>vs previous window</a:t>
            </a:r>
            <a:endParaRPr lang="en-US" sz="1100" dirty="0"/>
          </a:p>
        </p:txBody>
      </p:sp>
      <p:sp>
        <p:nvSpPr>
          <p:cNvPr id="16" name="Shape 14"/>
          <p:cNvSpPr/>
          <p:nvPr/>
        </p:nvSpPr>
        <p:spPr>
          <a:xfrm>
            <a:off x="8796528" y="2377440"/>
            <a:ext cx="2560320" cy="1828800"/>
          </a:xfrm>
          <a:prstGeom prst="roundRect">
            <a:avLst>
              <a:gd name="adj" fmla="val 6000"/>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7" name="Text 15"/>
          <p:cNvSpPr/>
          <p:nvPr/>
        </p:nvSpPr>
        <p:spPr>
          <a:xfrm>
            <a:off x="8796528" y="2606040"/>
            <a:ext cx="2560320" cy="822960"/>
          </a:xfrm>
          <a:prstGeom prst="rect">
            <a:avLst/>
          </a:prstGeom>
          <a:noFill/>
          <a:ln/>
        </p:spPr>
        <p:txBody>
          <a:bodyPr wrap="square" rtlCol="0" anchor="ctr"/>
          <a:lstStyle/>
          <a:p>
            <a:pPr algn="ctr" indent="0" marL="0">
              <a:buNone/>
            </a:pPr>
            <a:r>
              <a:rPr lang="en-US" sz="4000" b="1" dirty="0">
                <a:solidFill>
                  <a:srgbClr val="0E7C86"/>
                </a:solidFill>
                <a:latin typeface="Segoe UI" pitchFamily="34" charset="0"/>
                <a:ea typeface="Segoe UI" pitchFamily="34" charset="-122"/>
                <a:cs typeface="Segoe UI" pitchFamily="34" charset="-120"/>
              </a:rPr>
              <a:t>+23%</a:t>
            </a:r>
            <a:endParaRPr lang="en-US" sz="4000" dirty="0"/>
          </a:p>
        </p:txBody>
      </p:sp>
      <p:sp>
        <p:nvSpPr>
          <p:cNvPr id="18" name="Text 16"/>
          <p:cNvSpPr/>
          <p:nvPr/>
        </p:nvSpPr>
        <p:spPr>
          <a:xfrm>
            <a:off x="8796528" y="3474720"/>
            <a:ext cx="2560320" cy="457200"/>
          </a:xfrm>
          <a:prstGeom prst="rect">
            <a:avLst/>
          </a:prstGeom>
          <a:noFill/>
          <a:ln/>
        </p:spPr>
        <p:txBody>
          <a:bodyPr wrap="square" rtlCol="0" anchor="ctr"/>
          <a:lstStyle/>
          <a:p>
            <a:pPr algn="ctr" indent="0" marL="0">
              <a:buNone/>
            </a:pPr>
            <a:r>
              <a:rPr lang="en-US" sz="1600" b="1" dirty="0">
                <a:solidFill>
                  <a:srgbClr val="1A1A1A"/>
                </a:solidFill>
                <a:latin typeface="Segoe UI" pitchFamily="34" charset="0"/>
                <a:ea typeface="Segoe UI" pitchFamily="34" charset="-122"/>
                <a:cs typeface="Segoe UI" pitchFamily="34" charset="-120"/>
              </a:rPr>
              <a:t>XP</a:t>
            </a:r>
            <a:endParaRPr lang="en-US" sz="1600" dirty="0"/>
          </a:p>
        </p:txBody>
      </p:sp>
      <p:sp>
        <p:nvSpPr>
          <p:cNvPr id="19" name="Text 17"/>
          <p:cNvSpPr/>
          <p:nvPr/>
        </p:nvSpPr>
        <p:spPr>
          <a:xfrm>
            <a:off x="8796528" y="3840480"/>
            <a:ext cx="2560320" cy="320040"/>
          </a:xfrm>
          <a:prstGeom prst="rect">
            <a:avLst/>
          </a:prstGeom>
          <a:noFill/>
          <a:ln/>
        </p:spPr>
        <p:txBody>
          <a:bodyPr wrap="square" rtlCol="0" anchor="ctr"/>
          <a:lstStyle/>
          <a:p>
            <a:pPr algn="ctr" indent="0" marL="0">
              <a:buNone/>
            </a:pPr>
            <a:r>
              <a:rPr lang="en-US" sz="1100" dirty="0">
                <a:solidFill>
                  <a:srgbClr val="9A9285"/>
                </a:solidFill>
                <a:latin typeface="Segoe UI" pitchFamily="34" charset="0"/>
                <a:ea typeface="Segoe UI" pitchFamily="34" charset="-122"/>
                <a:cs typeface="Segoe UI" pitchFamily="34" charset="-120"/>
              </a:rPr>
              <a:t>vs previous window</a:t>
            </a:r>
            <a:endParaRPr lang="en-US" sz="1100" dirty="0"/>
          </a:p>
        </p:txBody>
      </p:sp>
      <p:sp>
        <p:nvSpPr>
          <p:cNvPr id="20" name="Text 18"/>
          <p:cNvSpPr/>
          <p:nvPr/>
        </p:nvSpPr>
        <p:spPr>
          <a:xfrm>
            <a:off x="566928" y="4663440"/>
            <a:ext cx="10972800" cy="457200"/>
          </a:xfrm>
          <a:prstGeom prst="rect">
            <a:avLst/>
          </a:prstGeom>
          <a:noFill/>
          <a:ln/>
        </p:spPr>
        <p:txBody>
          <a:bodyPr wrap="square" rtlCol="0" anchor="ctr"/>
          <a:lstStyle/>
          <a:p>
            <a:pPr indent="0" marL="0">
              <a:buNone/>
            </a:pPr>
            <a:r>
              <a:rPr lang="en-US" sz="1500" i="1" dirty="0">
                <a:solidFill>
                  <a:srgbClr val="9A9285"/>
                </a:solidFill>
                <a:latin typeface="Segoe UI" pitchFamily="34" charset="0"/>
                <a:ea typeface="Segoe UI" pitchFamily="34" charset="-122"/>
                <a:cs typeface="Segoe UI" pitchFamily="34" charset="-120"/>
              </a:rPr>
              <a:t>One endpoint, time-bucketed daily / weekly / monthly — pure read-side aggregation, no new tables.</a:t>
            </a:r>
            <a:endParaRPr lang="en-US" sz="1500" dirty="0"/>
          </a:p>
        </p:txBody>
      </p:sp>
      <p:sp>
        <p:nvSpPr>
          <p:cNvPr id="21" name="Text 19"/>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2" name="Text 20"/>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36</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par>
                    <p:cTn id="142" presetID="10" presetClass="entr" presetSubtype="0" fill="hold" grpId="0" nodeType="afterEffect">
                      <p:stCondLst>
                        <p:cond delay="1680"/>
                      </p:stCondLst>
                      <p:childTnLst>
                        <p:set>
                          <p:cBhvr>
                            <p:cTn id="143" dur="1" fill="hold">
                              <p:stCondLst>
                                <p:cond delay="0"/>
                              </p:stCondLst>
                            </p:cTn>
                            <p:tgtEl>
                              <p:spTgt spid="16"/>
                            </p:tgtEl>
                            <p:attrNameLst>
                              <p:attrName>style.visibility</p:attrName>
                            </p:attrNameLst>
                          </p:cBhvr>
                          <p:to>
                            <p:strVal val="visible"/>
                          </p:to>
                        </p:set>
                        <p:animEffect transition="in" filter="fade">
                          <p:cBhvr>
                            <p:cTn id="144" dur="450"/>
                            <p:tgtEl>
                              <p:spTgt spid="16"/>
                            </p:tgtEl>
                          </p:cBhvr>
                        </p:animEffect>
                      </p:childTnLst>
                    </p:cTn>
                  </p:par>
                  <p:par>
                    <p:cTn id="145" presetID="10" presetClass="entr" presetSubtype="0" fill="hold" grpId="0" nodeType="afterEffect">
                      <p:stCondLst>
                        <p:cond delay="1800"/>
                      </p:stCondLst>
                      <p:childTnLst>
                        <p:set>
                          <p:cBhvr>
                            <p:cTn id="146" dur="1" fill="hold">
                              <p:stCondLst>
                                <p:cond delay="0"/>
                              </p:stCondLst>
                            </p:cTn>
                            <p:tgtEl>
                              <p:spTgt spid="17"/>
                            </p:tgtEl>
                            <p:attrNameLst>
                              <p:attrName>style.visibility</p:attrName>
                            </p:attrNameLst>
                          </p:cBhvr>
                          <p:to>
                            <p:strVal val="visible"/>
                          </p:to>
                        </p:set>
                        <p:animEffect transition="in" filter="fade">
                          <p:cBhvr>
                            <p:cTn id="147" dur="450"/>
                            <p:tgtEl>
                              <p:spTgt spid="17"/>
                            </p:tgtEl>
                          </p:cBhvr>
                        </p:animEffect>
                      </p:childTnLst>
                    </p:cTn>
                  </p:par>
                  <p:par>
                    <p:cTn id="148" presetID="10" presetClass="entr" presetSubtype="0" fill="hold" grpId="0" nodeType="afterEffect">
                      <p:stCondLst>
                        <p:cond delay="1920"/>
                      </p:stCondLst>
                      <p:childTnLst>
                        <p:set>
                          <p:cBhvr>
                            <p:cTn id="149" dur="1" fill="hold">
                              <p:stCondLst>
                                <p:cond delay="0"/>
                              </p:stCondLst>
                            </p:cTn>
                            <p:tgtEl>
                              <p:spTgt spid="18"/>
                            </p:tgtEl>
                            <p:attrNameLst>
                              <p:attrName>style.visibility</p:attrName>
                            </p:attrNameLst>
                          </p:cBhvr>
                          <p:to>
                            <p:strVal val="visible"/>
                          </p:to>
                        </p:set>
                        <p:animEffect transition="in" filter="fade">
                          <p:cBhvr>
                            <p:cTn id="150" dur="450"/>
                            <p:tgtEl>
                              <p:spTgt spid="18"/>
                            </p:tgtEl>
                          </p:cBhvr>
                        </p:animEffect>
                      </p:childTnLst>
                    </p:cTn>
                  </p:par>
                  <p:par>
                    <p:cTn id="151" presetID="10" presetClass="entr" presetSubtype="0" fill="hold" grpId="0" nodeType="afterEffect">
                      <p:stCondLst>
                        <p:cond delay="2040"/>
                      </p:stCondLst>
                      <p:childTnLst>
                        <p:set>
                          <p:cBhvr>
                            <p:cTn id="152" dur="1" fill="hold">
                              <p:stCondLst>
                                <p:cond delay="0"/>
                              </p:stCondLst>
                            </p:cTn>
                            <p:tgtEl>
                              <p:spTgt spid="19"/>
                            </p:tgtEl>
                            <p:attrNameLst>
                              <p:attrName>style.visibility</p:attrName>
                            </p:attrNameLst>
                          </p:cBhvr>
                          <p:to>
                            <p:strVal val="visible"/>
                          </p:to>
                        </p:set>
                        <p:animEffect transition="in" filter="fade">
                          <p:cBhvr>
                            <p:cTn id="153" dur="450"/>
                            <p:tgtEl>
                              <p:spTgt spid="19"/>
                            </p:tgtEl>
                          </p:cBhvr>
                        </p:animEffect>
                      </p:childTnLst>
                    </p:cTn>
                  </p:par>
                  <p:par>
                    <p:cTn id="154" presetID="10" presetClass="entr" presetSubtype="0" fill="hold" grpId="0" nodeType="afterEffect">
                      <p:stCondLst>
                        <p:cond delay="2160"/>
                      </p:stCondLst>
                      <p:childTnLst>
                        <p:set>
                          <p:cBhvr>
                            <p:cTn id="155" dur="1" fill="hold">
                              <p:stCondLst>
                                <p:cond delay="0"/>
                              </p:stCondLst>
                            </p:cTn>
                            <p:tgtEl>
                              <p:spTgt spid="20"/>
                            </p:tgtEl>
                            <p:attrNameLst>
                              <p:attrName>style.visibility</p:attrName>
                            </p:attrNameLst>
                          </p:cBhvr>
                          <p:to>
                            <p:strVal val="visible"/>
                          </p:to>
                        </p:set>
                        <p:animEffect transition="in" filter="fade">
                          <p:cBhvr>
                            <p:cTn id="156" dur="450"/>
                            <p:tgtEl>
                              <p:spTgt spid="20"/>
                            </p:tgtEl>
                          </p:cBhvr>
                        </p:animEffect>
                      </p:childTnLst>
                    </p:cTn>
                  </p:par>
                  <p:par>
                    <p:cTn id="157" presetID="10" presetClass="entr" presetSubtype="0" fill="hold" grpId="0" nodeType="afterEffect">
                      <p:stCondLst>
                        <p:cond delay="2280"/>
                      </p:stCondLst>
                      <p:childTnLst>
                        <p:set>
                          <p:cBhvr>
                            <p:cTn id="158" dur="1" fill="hold">
                              <p:stCondLst>
                                <p:cond delay="0"/>
                              </p:stCondLst>
                            </p:cTn>
                            <p:tgtEl>
                              <p:spTgt spid="21"/>
                            </p:tgtEl>
                            <p:attrNameLst>
                              <p:attrName>style.visibility</p:attrName>
                            </p:attrNameLst>
                          </p:cBhvr>
                          <p:to>
                            <p:strVal val="visible"/>
                          </p:to>
                        </p:set>
                        <p:animEffect transition="in" filter="fade">
                          <p:cBhvr>
                            <p:cTn id="159" dur="450"/>
                            <p:tgtEl>
                              <p:spTgt spid="21"/>
                            </p:tgtEl>
                          </p:cBhvr>
                        </p:animEffect>
                      </p:childTnLst>
                    </p:cTn>
                  </p:par>
                  <p:par>
                    <p:cTn id="160" presetID="10" presetClass="entr" presetSubtype="0" fill="hold" grpId="0" nodeType="afterEffect">
                      <p:stCondLst>
                        <p:cond delay="2400"/>
                      </p:stCondLst>
                      <p:childTnLst>
                        <p:set>
                          <p:cBhvr>
                            <p:cTn id="161" dur="1" fill="hold">
                              <p:stCondLst>
                                <p:cond delay="0"/>
                              </p:stCondLst>
                            </p:cTn>
                            <p:tgtEl>
                              <p:spTgt spid="22"/>
                            </p:tgtEl>
                            <p:attrNameLst>
                              <p:attrName>style.visibility</p:attrName>
                            </p:attrNameLst>
                          </p:cBhvr>
                          <p:to>
                            <p:strVal val="visible"/>
                          </p:to>
                        </p:set>
                        <p:animEffect transition="in" filter="fade">
                          <p:cBhvr>
                            <p:cTn id="162" dur="450"/>
                            <p:tgtEl>
                              <p:spTgt spid="22"/>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ROLEPLAY SCENARIO GENERATOR</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Practice the conversation before you have it.</a:t>
            </a:r>
            <a:endParaRPr lang="en-US" sz="3300" dirty="0"/>
          </a:p>
        </p:txBody>
      </p:sp>
      <p:sp>
        <p:nvSpPr>
          <p:cNvPr id="4" name="Shape 2"/>
          <p:cNvSpPr/>
          <p:nvPr/>
        </p:nvSpPr>
        <p:spPr>
          <a:xfrm>
            <a:off x="566928" y="2286000"/>
            <a:ext cx="6400800" cy="3017520"/>
          </a:xfrm>
          <a:prstGeom prst="roundRect">
            <a:avLst>
              <a:gd name="adj" fmla="val 3636"/>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Shape 3"/>
          <p:cNvSpPr/>
          <p:nvPr/>
        </p:nvSpPr>
        <p:spPr>
          <a:xfrm>
            <a:off x="566928" y="2286000"/>
            <a:ext cx="6400800" cy="109728"/>
          </a:xfrm>
          <a:prstGeom prst="rect">
            <a:avLst/>
          </a:prstGeom>
          <a:solidFill>
            <a:srgbClr val="E08A2B"/>
          </a:solidFill>
          <a:ln/>
        </p:spPr>
      </p:sp>
      <p:sp>
        <p:nvSpPr>
          <p:cNvPr id="6" name="Text 4"/>
          <p:cNvSpPr/>
          <p:nvPr/>
        </p:nvSpPr>
        <p:spPr>
          <a:xfrm>
            <a:off x="978408" y="2560320"/>
            <a:ext cx="5669280" cy="548640"/>
          </a:xfrm>
          <a:prstGeom prst="rect">
            <a:avLst/>
          </a:prstGeom>
          <a:noFill/>
          <a:ln/>
        </p:spPr>
        <p:txBody>
          <a:bodyPr wrap="square" rtlCol="0" anchor="ctr"/>
          <a:lstStyle/>
          <a:p>
            <a:pPr indent="0" marL="0">
              <a:buNone/>
            </a:pPr>
            <a:r>
              <a:rPr lang="en-US" sz="2100" b="1" dirty="0">
                <a:solidFill>
                  <a:srgbClr val="1A1A1A"/>
                </a:solidFill>
                <a:latin typeface="Segoe UI" pitchFamily="34" charset="0"/>
                <a:ea typeface="Segoe UI" pitchFamily="34" charset="-122"/>
                <a:cs typeface="Segoe UI" pitchFamily="34" charset="-120"/>
              </a:rPr>
              <a:t>Salary review with your manager</a:t>
            </a:r>
            <a:endParaRPr lang="en-US" sz="2100" dirty="0"/>
          </a:p>
        </p:txBody>
      </p:sp>
      <p:sp>
        <p:nvSpPr>
          <p:cNvPr id="7" name="Text 5"/>
          <p:cNvSpPr/>
          <p:nvPr/>
        </p:nvSpPr>
        <p:spPr>
          <a:xfrm>
            <a:off x="978408" y="3200400"/>
            <a:ext cx="5669280" cy="365760"/>
          </a:xfrm>
          <a:prstGeom prst="rect">
            <a:avLst/>
          </a:prstGeom>
          <a:noFill/>
          <a:ln/>
        </p:spPr>
        <p:txBody>
          <a:bodyPr wrap="square" rtlCol="0" anchor="ctr"/>
          <a:lstStyle/>
          <a:p>
            <a:pPr indent="0" marL="0">
              <a:buNone/>
            </a:pPr>
            <a:r>
              <a:rPr lang="en-US" sz="1500" b="1" dirty="0">
                <a:solidFill>
                  <a:srgbClr val="3A3A3A"/>
                </a:solidFill>
                <a:latin typeface="Segoe UI" pitchFamily="34" charset="0"/>
                <a:ea typeface="Segoe UI" pitchFamily="34" charset="-122"/>
                <a:cs typeface="Segoe UI" pitchFamily="34" charset="-120"/>
              </a:rPr>
              <a:t>Person:  </a:t>
            </a:r>
            <a:pPr indent="0" marL="0">
              <a:buNone/>
            </a:pPr>
            <a:r>
              <a:rPr lang="en-US" sz="1500" dirty="0">
                <a:solidFill>
                  <a:srgbClr val="3A3A3A"/>
                </a:solidFill>
                <a:latin typeface="Segoe UI" pitchFamily="34" charset="0"/>
                <a:ea typeface="Segoe UI" pitchFamily="34" charset="-122"/>
                <a:cs typeface="Segoe UI" pitchFamily="34" charset="-120"/>
              </a:rPr>
              <a:t>Asma (Project Manager)</a:t>
            </a:r>
            <a:endParaRPr lang="en-US" sz="1500" dirty="0"/>
          </a:p>
        </p:txBody>
      </p:sp>
      <p:sp>
        <p:nvSpPr>
          <p:cNvPr id="8" name="Text 6"/>
          <p:cNvSpPr/>
          <p:nvPr/>
        </p:nvSpPr>
        <p:spPr>
          <a:xfrm>
            <a:off x="978408" y="3566160"/>
            <a:ext cx="5669280" cy="365760"/>
          </a:xfrm>
          <a:prstGeom prst="rect">
            <a:avLst/>
          </a:prstGeom>
          <a:noFill/>
          <a:ln/>
        </p:spPr>
        <p:txBody>
          <a:bodyPr wrap="square" rtlCol="0" anchor="ctr"/>
          <a:lstStyle/>
          <a:p>
            <a:pPr indent="0" marL="0">
              <a:buNone/>
            </a:pPr>
            <a:r>
              <a:rPr lang="en-US" sz="1500" b="1" dirty="0">
                <a:solidFill>
                  <a:srgbClr val="3A3A3A"/>
                </a:solidFill>
                <a:latin typeface="Segoe UI" pitchFamily="34" charset="0"/>
                <a:ea typeface="Segoe UI" pitchFamily="34" charset="-122"/>
                <a:cs typeface="Segoe UI" pitchFamily="34" charset="-120"/>
              </a:rPr>
              <a:t>Difficulty:  </a:t>
            </a:r>
            <a:pPr indent="0" marL="0">
              <a:buNone/>
            </a:pPr>
            <a:r>
              <a:rPr lang="en-US" sz="1500" dirty="0">
                <a:solidFill>
                  <a:srgbClr val="3A3A3A"/>
                </a:solidFill>
                <a:latin typeface="Segoe UI" pitchFamily="34" charset="0"/>
                <a:ea typeface="Segoe UI" pitchFamily="34" charset="-122"/>
                <a:cs typeface="Segoe UI" pitchFamily="34" charset="-120"/>
              </a:rPr>
              <a:t>Hard</a:t>
            </a:r>
            <a:endParaRPr lang="en-US" sz="1500" dirty="0"/>
          </a:p>
        </p:txBody>
      </p:sp>
      <p:sp>
        <p:nvSpPr>
          <p:cNvPr id="9" name="Text 7"/>
          <p:cNvSpPr/>
          <p:nvPr/>
        </p:nvSpPr>
        <p:spPr>
          <a:xfrm>
            <a:off x="978408" y="3931920"/>
            <a:ext cx="5760720" cy="822960"/>
          </a:xfrm>
          <a:prstGeom prst="rect">
            <a:avLst/>
          </a:prstGeom>
          <a:noFill/>
          <a:ln/>
        </p:spPr>
        <p:txBody>
          <a:bodyPr wrap="square" rtlCol="0" anchor="ctr"/>
          <a:lstStyle/>
          <a:p>
            <a:pPr indent="0" marL="0">
              <a:lnSpc>
                <a:spcPct val="110000"/>
              </a:lnSpc>
              <a:buNone/>
            </a:pPr>
            <a:r>
              <a:rPr lang="en-US" sz="1450" b="1" i="1" dirty="0">
                <a:solidFill>
                  <a:srgbClr val="3A3A3A"/>
                </a:solidFill>
                <a:latin typeface="Segoe UI" pitchFamily="34" charset="0"/>
                <a:ea typeface="Segoe UI" pitchFamily="34" charset="-122"/>
                <a:cs typeface="Segoe UI" pitchFamily="34" charset="-120"/>
              </a:rPr>
              <a:t>Opening:  </a:t>
            </a:r>
            <a:pPr indent="0" marL="0">
              <a:lnSpc>
                <a:spcPct val="110000"/>
              </a:lnSpc>
              <a:buNone/>
            </a:pPr>
            <a:r>
              <a:rPr lang="en-US" sz="1450" i="1" dirty="0">
                <a:solidFill>
                  <a:srgbClr val="3A3A3A"/>
                </a:solidFill>
                <a:latin typeface="Segoe UI" pitchFamily="34" charset="0"/>
                <a:ea typeface="Segoe UI" pitchFamily="34" charset="-122"/>
                <a:cs typeface="Segoe UI" pitchFamily="34" charset="-120"/>
              </a:rPr>
              <a:t>“Thanks for making time — I'd like to talk about my role.”</a:t>
            </a:r>
            <a:endParaRPr lang="en-US" sz="1450" dirty="0"/>
          </a:p>
        </p:txBody>
      </p:sp>
      <p:sp>
        <p:nvSpPr>
          <p:cNvPr id="10" name="Text 8"/>
          <p:cNvSpPr/>
          <p:nvPr/>
        </p:nvSpPr>
        <p:spPr>
          <a:xfrm>
            <a:off x="7315200" y="2560320"/>
            <a:ext cx="4206240" cy="2743200"/>
          </a:xfrm>
          <a:prstGeom prst="rect">
            <a:avLst/>
          </a:prstGeom>
          <a:noFill/>
          <a:ln/>
        </p:spPr>
        <p:txBody>
          <a:bodyPr wrap="square" rtlCol="0" anchor="ctr"/>
          <a:lstStyle/>
          <a:p>
            <a:pPr indent="0" marL="0">
              <a:lnSpc>
                <a:spcPct val="120000"/>
              </a:lnSpc>
              <a:buNone/>
            </a:pPr>
            <a:r>
              <a:rPr lang="en-US" sz="1550" b="1" dirty="0">
                <a:solidFill>
                  <a:srgbClr val="0E7C86"/>
                </a:solidFill>
                <a:latin typeface="Segoe UI" pitchFamily="34" charset="0"/>
                <a:ea typeface="Segoe UI" pitchFamily="34" charset="-122"/>
                <a:cs typeface="Segoe UI" pitchFamily="34" charset="-120"/>
              </a:rPr>
              <a:t>Generated from your graph
</a:t>
            </a:r>
            <a:pPr indent="0" marL="0">
              <a:lnSpc>
                <a:spcPct val="120000"/>
              </a:lnSpc>
              <a:buNone/>
            </a:pPr>
            <a:r>
              <a:rPr lang="en-US" sz="1550" dirty="0">
                <a:solidFill>
                  <a:srgbClr val="3A3A3A"/>
                </a:solidFill>
                <a:latin typeface="Segoe UI" pitchFamily="34" charset="0"/>
                <a:ea typeface="Segoe UI" pitchFamily="34" charset="-122"/>
                <a:cs typeface="Segoe UI" pitchFamily="34" charset="-120"/>
              </a:rPr>
              <a:t>Pass it → auto-graded against its success criteria → +40 XP. The feed never repeats — used topics are excluded.</a:t>
            </a:r>
            <a:endParaRPr lang="en-US" sz="1550" dirty="0"/>
          </a:p>
        </p:txBody>
      </p:sp>
      <p:sp>
        <p:nvSpPr>
          <p:cNvPr id="11" name="Text 9"/>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2" name="Text 10"/>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37</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GAMIFICATION</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Habit mechanics — for talking.</a:t>
            </a:r>
            <a:endParaRPr lang="en-US" sz="3300" dirty="0"/>
          </a:p>
        </p:txBody>
      </p:sp>
      <p:sp>
        <p:nvSpPr>
          <p:cNvPr id="4" name="Shape 2"/>
          <p:cNvSpPr/>
          <p:nvPr/>
        </p:nvSpPr>
        <p:spPr>
          <a:xfrm>
            <a:off x="566928" y="2240280"/>
            <a:ext cx="530352" cy="530352"/>
          </a:xfrm>
          <a:prstGeom prst="ellipse">
            <a:avLst/>
          </a:prstGeom>
          <a:solidFill>
            <a:srgbClr val="E4EFEF"/>
          </a:solidFill>
          <a:ln w="16510">
            <a:solidFill>
              <a:srgbClr val="0E7C86"/>
            </a:solidFill>
            <a:prstDash val="solid"/>
          </a:ln>
        </p:spPr>
      </p:sp>
      <p:sp>
        <p:nvSpPr>
          <p:cNvPr id="5" name="Text 3"/>
          <p:cNvSpPr/>
          <p:nvPr/>
        </p:nvSpPr>
        <p:spPr>
          <a:xfrm>
            <a:off x="566928" y="2240280"/>
            <a:ext cx="530352" cy="530352"/>
          </a:xfrm>
          <a:prstGeom prst="rect">
            <a:avLst/>
          </a:prstGeom>
          <a:noFill/>
          <a:ln/>
        </p:spPr>
        <p:txBody>
          <a:bodyPr wrap="square" rtlCol="0" anchor="ctr"/>
          <a:lstStyle/>
          <a:p>
            <a:pPr algn="ctr" indent="0" marL="0">
              <a:buNone/>
            </a:pPr>
            <a:r>
              <a:rPr lang="en-US" sz="1500" b="1" dirty="0">
                <a:solidFill>
                  <a:srgbClr val="0E7C86"/>
                </a:solidFill>
                <a:latin typeface="Segoe UI" pitchFamily="34" charset="0"/>
                <a:ea typeface="Segoe UI" pitchFamily="34" charset="-122"/>
                <a:cs typeface="Segoe UI" pitchFamily="34" charset="-120"/>
              </a:rPr>
              <a:t>★</a:t>
            </a:r>
            <a:endParaRPr lang="en-US" sz="1500" dirty="0"/>
          </a:p>
        </p:txBody>
      </p:sp>
      <p:sp>
        <p:nvSpPr>
          <p:cNvPr id="6" name="Text 4"/>
          <p:cNvSpPr/>
          <p:nvPr/>
        </p:nvSpPr>
        <p:spPr>
          <a:xfrm>
            <a:off x="1389888" y="2240280"/>
            <a:ext cx="10332720" cy="530352"/>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Quests  —  </a:t>
            </a:r>
            <a:pPr indent="0" marL="0">
              <a:buNone/>
            </a:pPr>
            <a:r>
              <a:rPr lang="en-US" sz="1700" dirty="0">
                <a:solidFill>
                  <a:srgbClr val="3A3A3A"/>
                </a:solidFill>
                <a:latin typeface="Segoe UI" pitchFamily="34" charset="0"/>
                <a:ea typeface="Segoe UI" pitchFamily="34" charset="-122"/>
                <a:cs typeface="Segoe UI" pitchFamily="34" charset="-120"/>
              </a:rPr>
              <a:t>small daily goals</a:t>
            </a:r>
            <a:endParaRPr lang="en-US" sz="1700" dirty="0"/>
          </a:p>
        </p:txBody>
      </p:sp>
      <p:sp>
        <p:nvSpPr>
          <p:cNvPr id="7" name="Shape 5"/>
          <p:cNvSpPr/>
          <p:nvPr/>
        </p:nvSpPr>
        <p:spPr>
          <a:xfrm>
            <a:off x="566928" y="2953512"/>
            <a:ext cx="530352" cy="530352"/>
          </a:xfrm>
          <a:prstGeom prst="ellipse">
            <a:avLst/>
          </a:prstGeom>
          <a:solidFill>
            <a:srgbClr val="E4EFEF"/>
          </a:solidFill>
          <a:ln w="16510">
            <a:solidFill>
              <a:srgbClr val="0E7C86"/>
            </a:solidFill>
            <a:prstDash val="solid"/>
          </a:ln>
        </p:spPr>
      </p:sp>
      <p:sp>
        <p:nvSpPr>
          <p:cNvPr id="8" name="Text 6"/>
          <p:cNvSpPr/>
          <p:nvPr/>
        </p:nvSpPr>
        <p:spPr>
          <a:xfrm>
            <a:off x="566928" y="2953512"/>
            <a:ext cx="530352" cy="530352"/>
          </a:xfrm>
          <a:prstGeom prst="rect">
            <a:avLst/>
          </a:prstGeom>
          <a:noFill/>
          <a:ln/>
        </p:spPr>
        <p:txBody>
          <a:bodyPr wrap="square" rtlCol="0" anchor="ctr"/>
          <a:lstStyle/>
          <a:p>
            <a:pPr algn="ctr" indent="0" marL="0">
              <a:buNone/>
            </a:pPr>
            <a:r>
              <a:rPr lang="en-US" sz="1500" b="1" dirty="0">
                <a:solidFill>
                  <a:srgbClr val="0E7C86"/>
                </a:solidFill>
                <a:latin typeface="Segoe UI" pitchFamily="34" charset="0"/>
                <a:ea typeface="Segoe UI" pitchFamily="34" charset="-122"/>
                <a:cs typeface="Segoe UI" pitchFamily="34" charset="-120"/>
              </a:rPr>
              <a:t>★</a:t>
            </a:r>
            <a:endParaRPr lang="en-US" sz="1500" dirty="0"/>
          </a:p>
        </p:txBody>
      </p:sp>
      <p:sp>
        <p:nvSpPr>
          <p:cNvPr id="9" name="Text 7"/>
          <p:cNvSpPr/>
          <p:nvPr/>
        </p:nvSpPr>
        <p:spPr>
          <a:xfrm>
            <a:off x="1389888" y="2953512"/>
            <a:ext cx="10332720" cy="530352"/>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Achievements  —  </a:t>
            </a:r>
            <a:pPr indent="0" marL="0">
              <a:buNone/>
            </a:pPr>
            <a:r>
              <a:rPr lang="en-US" sz="1700" dirty="0">
                <a:solidFill>
                  <a:srgbClr val="3A3A3A"/>
                </a:solidFill>
                <a:latin typeface="Segoe UI" pitchFamily="34" charset="0"/>
                <a:ea typeface="Segoe UI" pitchFamily="34" charset="-122"/>
                <a:cs typeface="Segoe UI" pitchFamily="34" charset="-120"/>
              </a:rPr>
              <a:t>milestone badges</a:t>
            </a:r>
            <a:endParaRPr lang="en-US" sz="1700" dirty="0"/>
          </a:p>
        </p:txBody>
      </p:sp>
      <p:sp>
        <p:nvSpPr>
          <p:cNvPr id="10" name="Shape 8"/>
          <p:cNvSpPr/>
          <p:nvPr/>
        </p:nvSpPr>
        <p:spPr>
          <a:xfrm>
            <a:off x="566928" y="3666744"/>
            <a:ext cx="530352" cy="530352"/>
          </a:xfrm>
          <a:prstGeom prst="ellipse">
            <a:avLst/>
          </a:prstGeom>
          <a:solidFill>
            <a:srgbClr val="E4EFEF"/>
          </a:solidFill>
          <a:ln w="16510">
            <a:solidFill>
              <a:srgbClr val="0E7C86"/>
            </a:solidFill>
            <a:prstDash val="solid"/>
          </a:ln>
        </p:spPr>
      </p:sp>
      <p:sp>
        <p:nvSpPr>
          <p:cNvPr id="11" name="Text 9"/>
          <p:cNvSpPr/>
          <p:nvPr/>
        </p:nvSpPr>
        <p:spPr>
          <a:xfrm>
            <a:off x="566928" y="3666744"/>
            <a:ext cx="530352" cy="530352"/>
          </a:xfrm>
          <a:prstGeom prst="rect">
            <a:avLst/>
          </a:prstGeom>
          <a:noFill/>
          <a:ln/>
        </p:spPr>
        <p:txBody>
          <a:bodyPr wrap="square" rtlCol="0" anchor="ctr"/>
          <a:lstStyle/>
          <a:p>
            <a:pPr algn="ctr" indent="0" marL="0">
              <a:buNone/>
            </a:pPr>
            <a:r>
              <a:rPr lang="en-US" sz="1500" b="1" dirty="0">
                <a:solidFill>
                  <a:srgbClr val="0E7C86"/>
                </a:solidFill>
                <a:latin typeface="Segoe UI" pitchFamily="34" charset="0"/>
                <a:ea typeface="Segoe UI" pitchFamily="34" charset="-122"/>
                <a:cs typeface="Segoe UI" pitchFamily="34" charset="-120"/>
              </a:rPr>
              <a:t>★</a:t>
            </a:r>
            <a:endParaRPr lang="en-US" sz="1500" dirty="0"/>
          </a:p>
        </p:txBody>
      </p:sp>
      <p:sp>
        <p:nvSpPr>
          <p:cNvPr id="12" name="Text 10"/>
          <p:cNvSpPr/>
          <p:nvPr/>
        </p:nvSpPr>
        <p:spPr>
          <a:xfrm>
            <a:off x="1389888" y="3666744"/>
            <a:ext cx="10332720" cy="530352"/>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Rewards  —  </a:t>
            </a:r>
            <a:pPr indent="0" marL="0">
              <a:buNone/>
            </a:pPr>
            <a:r>
              <a:rPr lang="en-US" sz="1700" dirty="0">
                <a:solidFill>
                  <a:srgbClr val="3A3A3A"/>
                </a:solidFill>
                <a:latin typeface="Segoe UI" pitchFamily="34" charset="0"/>
                <a:ea typeface="Segoe UI" pitchFamily="34" charset="-122"/>
                <a:cs typeface="Segoe UI" pitchFamily="34" charset="-120"/>
              </a:rPr>
              <a:t>redeemable points</a:t>
            </a:r>
            <a:endParaRPr lang="en-US" sz="1700" dirty="0"/>
          </a:p>
        </p:txBody>
      </p:sp>
      <p:sp>
        <p:nvSpPr>
          <p:cNvPr id="13" name="Shape 11"/>
          <p:cNvSpPr/>
          <p:nvPr/>
        </p:nvSpPr>
        <p:spPr>
          <a:xfrm>
            <a:off x="566928" y="4379976"/>
            <a:ext cx="530352" cy="530352"/>
          </a:xfrm>
          <a:prstGeom prst="ellipse">
            <a:avLst/>
          </a:prstGeom>
          <a:solidFill>
            <a:srgbClr val="E4EFEF"/>
          </a:solidFill>
          <a:ln w="16510">
            <a:solidFill>
              <a:srgbClr val="0E7C86"/>
            </a:solidFill>
            <a:prstDash val="solid"/>
          </a:ln>
        </p:spPr>
      </p:sp>
      <p:sp>
        <p:nvSpPr>
          <p:cNvPr id="14" name="Text 12"/>
          <p:cNvSpPr/>
          <p:nvPr/>
        </p:nvSpPr>
        <p:spPr>
          <a:xfrm>
            <a:off x="566928" y="4379976"/>
            <a:ext cx="530352" cy="530352"/>
          </a:xfrm>
          <a:prstGeom prst="rect">
            <a:avLst/>
          </a:prstGeom>
          <a:noFill/>
          <a:ln/>
        </p:spPr>
        <p:txBody>
          <a:bodyPr wrap="square" rtlCol="0" anchor="ctr"/>
          <a:lstStyle/>
          <a:p>
            <a:pPr algn="ctr" indent="0" marL="0">
              <a:buNone/>
            </a:pPr>
            <a:r>
              <a:rPr lang="en-US" sz="1500" b="1" dirty="0">
                <a:solidFill>
                  <a:srgbClr val="0E7C86"/>
                </a:solidFill>
                <a:latin typeface="Segoe UI" pitchFamily="34" charset="0"/>
                <a:ea typeface="Segoe UI" pitchFamily="34" charset="-122"/>
                <a:cs typeface="Segoe UI" pitchFamily="34" charset="-120"/>
              </a:rPr>
              <a:t>★</a:t>
            </a:r>
            <a:endParaRPr lang="en-US" sz="1500" dirty="0"/>
          </a:p>
        </p:txBody>
      </p:sp>
      <p:sp>
        <p:nvSpPr>
          <p:cNvPr id="15" name="Text 13"/>
          <p:cNvSpPr/>
          <p:nvPr/>
        </p:nvSpPr>
        <p:spPr>
          <a:xfrm>
            <a:off x="1389888" y="4379976"/>
            <a:ext cx="10332720" cy="530352"/>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Streaks  —  </a:t>
            </a:r>
            <a:pPr indent="0" marL="0">
              <a:buNone/>
            </a:pPr>
            <a:r>
              <a:rPr lang="en-US" sz="1700" dirty="0">
                <a:solidFill>
                  <a:srgbClr val="3A3A3A"/>
                </a:solidFill>
                <a:latin typeface="Segoe UI" pitchFamily="34" charset="0"/>
                <a:ea typeface="Segoe UI" pitchFamily="34" charset="-122"/>
                <a:cs typeface="Segoe UI" pitchFamily="34" charset="-120"/>
              </a:rPr>
              <a:t>keep the chain alive</a:t>
            </a:r>
            <a:endParaRPr lang="en-US" sz="1700" dirty="0"/>
          </a:p>
        </p:txBody>
      </p:sp>
      <p:sp>
        <p:nvSpPr>
          <p:cNvPr id="16" name="Shape 14"/>
          <p:cNvSpPr/>
          <p:nvPr/>
        </p:nvSpPr>
        <p:spPr>
          <a:xfrm>
            <a:off x="566928" y="5093208"/>
            <a:ext cx="530352" cy="530352"/>
          </a:xfrm>
          <a:prstGeom prst="ellipse">
            <a:avLst/>
          </a:prstGeom>
          <a:solidFill>
            <a:srgbClr val="EFE3D2"/>
          </a:solidFill>
          <a:ln w="16510">
            <a:solidFill>
              <a:srgbClr val="E08A2B"/>
            </a:solidFill>
            <a:prstDash val="solid"/>
          </a:ln>
        </p:spPr>
      </p:sp>
      <p:sp>
        <p:nvSpPr>
          <p:cNvPr id="17" name="Text 15"/>
          <p:cNvSpPr/>
          <p:nvPr/>
        </p:nvSpPr>
        <p:spPr>
          <a:xfrm>
            <a:off x="566928" y="5093208"/>
            <a:ext cx="530352" cy="530352"/>
          </a:xfrm>
          <a:prstGeom prst="rect">
            <a:avLst/>
          </a:prstGeom>
          <a:noFill/>
          <a:ln/>
        </p:spPr>
        <p:txBody>
          <a:bodyPr wrap="square" rtlCol="0" anchor="ctr"/>
          <a:lstStyle/>
          <a:p>
            <a:pPr algn="ctr" indent="0" marL="0">
              <a:buNone/>
            </a:pPr>
            <a:r>
              <a:rPr lang="en-US" sz="1500" b="1" dirty="0">
                <a:solidFill>
                  <a:srgbClr val="E08A2B"/>
                </a:solidFill>
                <a:latin typeface="Segoe UI" pitchFamily="34" charset="0"/>
                <a:ea typeface="Segoe UI" pitchFamily="34" charset="-122"/>
                <a:cs typeface="Segoe UI" pitchFamily="34" charset="-120"/>
              </a:rPr>
              <a:t>★</a:t>
            </a:r>
            <a:endParaRPr lang="en-US" sz="1500" dirty="0"/>
          </a:p>
        </p:txBody>
      </p:sp>
      <p:sp>
        <p:nvSpPr>
          <p:cNvPr id="18" name="Text 16"/>
          <p:cNvSpPr/>
          <p:nvPr/>
        </p:nvSpPr>
        <p:spPr>
          <a:xfrm>
            <a:off x="1389888" y="5093208"/>
            <a:ext cx="10332720" cy="530352"/>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Leaderboard  —  </a:t>
            </a:r>
            <a:pPr indent="0" marL="0">
              <a:buNone/>
            </a:pPr>
            <a:r>
              <a:rPr lang="en-US" sz="1700" dirty="0">
                <a:solidFill>
                  <a:srgbClr val="3A3A3A"/>
                </a:solidFill>
                <a:latin typeface="Segoe UI" pitchFamily="34" charset="0"/>
                <a:ea typeface="Segoe UI" pitchFamily="34" charset="-122"/>
                <a:cs typeface="Segoe UI" pitchFamily="34" charset="-120"/>
              </a:rPr>
              <a:t>opt-in only — consistent with privacy-first</a:t>
            </a:r>
            <a:endParaRPr lang="en-US" sz="1700" dirty="0"/>
          </a:p>
        </p:txBody>
      </p:sp>
      <p:sp>
        <p:nvSpPr>
          <p:cNvPr id="19" name="Text 17"/>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0" name="Text 18"/>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38</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par>
                    <p:cTn id="142" presetID="10" presetClass="entr" presetSubtype="0" fill="hold" grpId="0" nodeType="afterEffect">
                      <p:stCondLst>
                        <p:cond delay="1680"/>
                      </p:stCondLst>
                      <p:childTnLst>
                        <p:set>
                          <p:cBhvr>
                            <p:cTn id="143" dur="1" fill="hold">
                              <p:stCondLst>
                                <p:cond delay="0"/>
                              </p:stCondLst>
                            </p:cTn>
                            <p:tgtEl>
                              <p:spTgt spid="16"/>
                            </p:tgtEl>
                            <p:attrNameLst>
                              <p:attrName>style.visibility</p:attrName>
                            </p:attrNameLst>
                          </p:cBhvr>
                          <p:to>
                            <p:strVal val="visible"/>
                          </p:to>
                        </p:set>
                        <p:animEffect transition="in" filter="fade">
                          <p:cBhvr>
                            <p:cTn id="144" dur="450"/>
                            <p:tgtEl>
                              <p:spTgt spid="16"/>
                            </p:tgtEl>
                          </p:cBhvr>
                        </p:animEffect>
                      </p:childTnLst>
                    </p:cTn>
                  </p:par>
                  <p:par>
                    <p:cTn id="145" presetID="10" presetClass="entr" presetSubtype="0" fill="hold" grpId="0" nodeType="afterEffect">
                      <p:stCondLst>
                        <p:cond delay="1800"/>
                      </p:stCondLst>
                      <p:childTnLst>
                        <p:set>
                          <p:cBhvr>
                            <p:cTn id="146" dur="1" fill="hold">
                              <p:stCondLst>
                                <p:cond delay="0"/>
                              </p:stCondLst>
                            </p:cTn>
                            <p:tgtEl>
                              <p:spTgt spid="17"/>
                            </p:tgtEl>
                            <p:attrNameLst>
                              <p:attrName>style.visibility</p:attrName>
                            </p:attrNameLst>
                          </p:cBhvr>
                          <p:to>
                            <p:strVal val="visible"/>
                          </p:to>
                        </p:set>
                        <p:animEffect transition="in" filter="fade">
                          <p:cBhvr>
                            <p:cTn id="147" dur="450"/>
                            <p:tgtEl>
                              <p:spTgt spid="17"/>
                            </p:tgtEl>
                          </p:cBhvr>
                        </p:animEffect>
                      </p:childTnLst>
                    </p:cTn>
                  </p:par>
                  <p:par>
                    <p:cTn id="148" presetID="10" presetClass="entr" presetSubtype="0" fill="hold" grpId="0" nodeType="afterEffect">
                      <p:stCondLst>
                        <p:cond delay="1920"/>
                      </p:stCondLst>
                      <p:childTnLst>
                        <p:set>
                          <p:cBhvr>
                            <p:cTn id="149" dur="1" fill="hold">
                              <p:stCondLst>
                                <p:cond delay="0"/>
                              </p:stCondLst>
                            </p:cTn>
                            <p:tgtEl>
                              <p:spTgt spid="18"/>
                            </p:tgtEl>
                            <p:attrNameLst>
                              <p:attrName>style.visibility</p:attrName>
                            </p:attrNameLst>
                          </p:cBhvr>
                          <p:to>
                            <p:strVal val="visible"/>
                          </p:to>
                        </p:set>
                        <p:animEffect transition="in" filter="fade">
                          <p:cBhvr>
                            <p:cTn id="150" dur="450"/>
                            <p:tgtEl>
                              <p:spTgt spid="18"/>
                            </p:tgtEl>
                          </p:cBhvr>
                        </p:animEffect>
                      </p:childTnLst>
                    </p:cTn>
                  </p:par>
                  <p:par>
                    <p:cTn id="151" presetID="10" presetClass="entr" presetSubtype="0" fill="hold" grpId="0" nodeType="afterEffect">
                      <p:stCondLst>
                        <p:cond delay="2040"/>
                      </p:stCondLst>
                      <p:childTnLst>
                        <p:set>
                          <p:cBhvr>
                            <p:cTn id="152" dur="1" fill="hold">
                              <p:stCondLst>
                                <p:cond delay="0"/>
                              </p:stCondLst>
                            </p:cTn>
                            <p:tgtEl>
                              <p:spTgt spid="19"/>
                            </p:tgtEl>
                            <p:attrNameLst>
                              <p:attrName>style.visibility</p:attrName>
                            </p:attrNameLst>
                          </p:cBhvr>
                          <p:to>
                            <p:strVal val="visible"/>
                          </p:to>
                        </p:set>
                        <p:animEffect transition="in" filter="fade">
                          <p:cBhvr>
                            <p:cTn id="153" dur="450"/>
                            <p:tgtEl>
                              <p:spTgt spid="19"/>
                            </p:tgtEl>
                          </p:cBhvr>
                        </p:animEffect>
                      </p:childTnLst>
                    </p:cTn>
                  </p:par>
                  <p:par>
                    <p:cTn id="154" presetID="10" presetClass="entr" presetSubtype="0" fill="hold" grpId="0" nodeType="afterEffect">
                      <p:stCondLst>
                        <p:cond delay="2160"/>
                      </p:stCondLst>
                      <p:childTnLst>
                        <p:set>
                          <p:cBhvr>
                            <p:cTn id="155" dur="1" fill="hold">
                              <p:stCondLst>
                                <p:cond delay="0"/>
                              </p:stCondLst>
                            </p:cTn>
                            <p:tgtEl>
                              <p:spTgt spid="20"/>
                            </p:tgtEl>
                            <p:attrNameLst>
                              <p:attrName>style.visibility</p:attrName>
                            </p:attrNameLst>
                          </p:cBhvr>
                          <p:to>
                            <p:strVal val="visible"/>
                          </p:to>
                        </p:set>
                        <p:animEffect transition="in" filter="fade">
                          <p:cBhvr>
                            <p:cTn id="156" dur="450"/>
                            <p:tgtEl>
                              <p:spTgt spid="20"/>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KNOWLEDGE-GRAPH EXPLORER</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Your memory, made tangible.</a:t>
            </a:r>
            <a:endParaRPr lang="en-US" sz="3300" dirty="0"/>
          </a:p>
        </p:txBody>
      </p:sp>
      <p:sp>
        <p:nvSpPr>
          <p:cNvPr id="4" name="Text 2"/>
          <p:cNvSpPr/>
          <p:nvPr/>
        </p:nvSpPr>
        <p:spPr>
          <a:xfrm>
            <a:off x="566928" y="2057400"/>
            <a:ext cx="4572000" cy="1463040"/>
          </a:xfrm>
          <a:prstGeom prst="rect">
            <a:avLst/>
          </a:prstGeom>
          <a:noFill/>
          <a:ln/>
        </p:spPr>
        <p:txBody>
          <a:bodyPr wrap="square" rtlCol="0" anchor="ctr"/>
          <a:lstStyle/>
          <a:p>
            <a:pPr indent="0" marL="0">
              <a:lnSpc>
                <a:spcPct val="125000"/>
              </a:lnSpc>
              <a:buNone/>
            </a:pPr>
            <a:r>
              <a:rPr lang="en-US" sz="1800" dirty="0">
                <a:solidFill>
                  <a:srgbClr val="3A3A3A"/>
                </a:solidFill>
                <a:latin typeface="Segoe UI" pitchFamily="34" charset="0"/>
                <a:ea typeface="Segoe UI" pitchFamily="34" charset="-122"/>
                <a:cs typeface="Segoe UI" pitchFamily="34" charset="-120"/>
              </a:rPr>
              <a:t>Browse the people, topics and entities you've mentioned — on a timeline.</a:t>
            </a:r>
            <a:endParaRPr lang="en-US" sz="1800" dirty="0"/>
          </a:p>
        </p:txBody>
      </p:sp>
      <p:sp>
        <p:nvSpPr>
          <p:cNvPr id="5" name="Text 3"/>
          <p:cNvSpPr/>
          <p:nvPr/>
        </p:nvSpPr>
        <p:spPr>
          <a:xfrm>
            <a:off x="566928" y="4023360"/>
            <a:ext cx="4572000" cy="1097280"/>
          </a:xfrm>
          <a:prstGeom prst="rect">
            <a:avLst/>
          </a:prstGeom>
          <a:noFill/>
          <a:ln/>
        </p:spPr>
        <p:txBody>
          <a:bodyPr wrap="square" rtlCol="0" anchor="ctr"/>
          <a:lstStyle/>
          <a:p>
            <a:pPr indent="0" marL="0">
              <a:lnSpc>
                <a:spcPct val="120000"/>
              </a:lnSpc>
              <a:buNone/>
            </a:pPr>
            <a:r>
              <a:rPr lang="en-US" sz="1450" i="1" dirty="0">
                <a:solidFill>
                  <a:srgbClr val="9A9285"/>
                </a:solidFill>
                <a:latin typeface="Segoe UI" pitchFamily="34" charset="0"/>
                <a:ea typeface="Segoe UI" pitchFamily="34" charset="-122"/>
                <a:cs typeface="Segoe UI" pitchFamily="34" charset="-120"/>
              </a:rPr>
              <a:t>The same nodes the AI uses for grounding — now yours to explore.</a:t>
            </a:r>
            <a:endParaRPr lang="en-US" sz="1450" dirty="0"/>
          </a:p>
        </p:txBody>
      </p:sp>
      <p:sp>
        <p:nvSpPr>
          <p:cNvPr id="6" name="Shape 4"/>
          <p:cNvSpPr/>
          <p:nvPr/>
        </p:nvSpPr>
        <p:spPr>
          <a:xfrm>
            <a:off x="6858000" y="2834640"/>
            <a:ext cx="1828800" cy="1097280"/>
          </a:xfrm>
          <a:prstGeom prst="line">
            <a:avLst/>
          </a:prstGeom>
          <a:noFill/>
          <a:ln w="25400">
            <a:solidFill>
              <a:srgbClr val="9A9285"/>
            </a:solidFill>
            <a:prstDash val="solid"/>
          </a:ln>
        </p:spPr>
      </p:sp>
      <p:sp>
        <p:nvSpPr>
          <p:cNvPr id="7" name="Shape 5"/>
          <p:cNvSpPr/>
          <p:nvPr/>
        </p:nvSpPr>
        <p:spPr>
          <a:xfrm flipV="1">
            <a:off x="8686800" y="3017520"/>
            <a:ext cx="1828800" cy="914400"/>
          </a:xfrm>
          <a:prstGeom prst="line">
            <a:avLst/>
          </a:prstGeom>
          <a:noFill/>
          <a:ln w="25400">
            <a:solidFill>
              <a:srgbClr val="9A9285"/>
            </a:solidFill>
            <a:prstDash val="solid"/>
          </a:ln>
        </p:spPr>
      </p:sp>
      <p:sp>
        <p:nvSpPr>
          <p:cNvPr id="8" name="Shape 6"/>
          <p:cNvSpPr/>
          <p:nvPr/>
        </p:nvSpPr>
        <p:spPr>
          <a:xfrm flipV="1">
            <a:off x="7315200" y="3931920"/>
            <a:ext cx="1371600" cy="1371600"/>
          </a:xfrm>
          <a:prstGeom prst="line">
            <a:avLst/>
          </a:prstGeom>
          <a:noFill/>
          <a:ln w="25400">
            <a:solidFill>
              <a:srgbClr val="9A9285"/>
            </a:solidFill>
            <a:prstDash val="solid"/>
          </a:ln>
        </p:spPr>
      </p:sp>
      <p:sp>
        <p:nvSpPr>
          <p:cNvPr id="9" name="Shape 7"/>
          <p:cNvSpPr/>
          <p:nvPr/>
        </p:nvSpPr>
        <p:spPr>
          <a:xfrm>
            <a:off x="8686800" y="3931920"/>
            <a:ext cx="1554480" cy="1280160"/>
          </a:xfrm>
          <a:prstGeom prst="line">
            <a:avLst/>
          </a:prstGeom>
          <a:noFill/>
          <a:ln w="25400">
            <a:solidFill>
              <a:srgbClr val="9A9285"/>
            </a:solidFill>
            <a:prstDash val="solid"/>
          </a:ln>
        </p:spPr>
      </p:sp>
      <p:sp>
        <p:nvSpPr>
          <p:cNvPr id="10" name="Shape 8"/>
          <p:cNvSpPr/>
          <p:nvPr/>
        </p:nvSpPr>
        <p:spPr>
          <a:xfrm>
            <a:off x="8206740" y="3451860"/>
            <a:ext cx="960120" cy="960120"/>
          </a:xfrm>
          <a:prstGeom prst="ellipse">
            <a:avLst/>
          </a:prstGeom>
          <a:solidFill>
            <a:srgbClr val="0E7C86"/>
          </a:solidFill>
          <a:ln w="22860">
            <a:solidFill>
              <a:srgbClr val="0E7C86"/>
            </a:solidFill>
            <a:prstDash val="solid"/>
          </a:ln>
        </p:spPr>
      </p:sp>
      <p:sp>
        <p:nvSpPr>
          <p:cNvPr id="11" name="Text 9"/>
          <p:cNvSpPr/>
          <p:nvPr/>
        </p:nvSpPr>
        <p:spPr>
          <a:xfrm>
            <a:off x="7772400" y="3703320"/>
            <a:ext cx="1828800" cy="457200"/>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You</a:t>
            </a:r>
            <a:endParaRPr lang="en-US" sz="1150" dirty="0"/>
          </a:p>
        </p:txBody>
      </p:sp>
      <p:sp>
        <p:nvSpPr>
          <p:cNvPr id="12" name="Shape 10"/>
          <p:cNvSpPr/>
          <p:nvPr/>
        </p:nvSpPr>
        <p:spPr>
          <a:xfrm>
            <a:off x="6446520" y="2423160"/>
            <a:ext cx="822960" cy="822960"/>
          </a:xfrm>
          <a:prstGeom prst="ellipse">
            <a:avLst/>
          </a:prstGeom>
          <a:solidFill>
            <a:srgbClr val="FFFFFF"/>
          </a:solidFill>
          <a:ln w="22860">
            <a:solidFill>
              <a:srgbClr val="E08A2B"/>
            </a:solidFill>
            <a:prstDash val="solid"/>
          </a:ln>
        </p:spPr>
      </p:sp>
      <p:sp>
        <p:nvSpPr>
          <p:cNvPr id="13" name="Text 11"/>
          <p:cNvSpPr/>
          <p:nvPr/>
        </p:nvSpPr>
        <p:spPr>
          <a:xfrm>
            <a:off x="5943600" y="2606040"/>
            <a:ext cx="1828800" cy="457200"/>
          </a:xfrm>
          <a:prstGeom prst="rect">
            <a:avLst/>
          </a:prstGeom>
          <a:noFill/>
          <a:ln/>
        </p:spPr>
        <p:txBody>
          <a:bodyPr wrap="square" rtlCol="0" anchor="ctr"/>
          <a:lstStyle/>
          <a:p>
            <a:pPr algn="ctr" indent="0" marL="0">
              <a:buNone/>
            </a:pPr>
            <a:r>
              <a:rPr lang="en-US" sz="1150" b="1" dirty="0">
                <a:solidFill>
                  <a:srgbClr val="1A1A1A"/>
                </a:solidFill>
                <a:latin typeface="Segoe UI" pitchFamily="34" charset="0"/>
                <a:ea typeface="Segoe UI" pitchFamily="34" charset="-122"/>
                <a:cs typeface="Segoe UI" pitchFamily="34" charset="-120"/>
              </a:rPr>
              <a:t>Asma</a:t>
            </a:r>
            <a:endParaRPr lang="en-US" sz="1150" dirty="0"/>
          </a:p>
        </p:txBody>
      </p:sp>
      <p:sp>
        <p:nvSpPr>
          <p:cNvPr id="14" name="Shape 12"/>
          <p:cNvSpPr/>
          <p:nvPr/>
        </p:nvSpPr>
        <p:spPr>
          <a:xfrm>
            <a:off x="10104120" y="2606040"/>
            <a:ext cx="822960" cy="822960"/>
          </a:xfrm>
          <a:prstGeom prst="ellipse">
            <a:avLst/>
          </a:prstGeom>
          <a:solidFill>
            <a:srgbClr val="FFFFFF"/>
          </a:solidFill>
          <a:ln w="22860">
            <a:solidFill>
              <a:srgbClr val="0A5159"/>
            </a:solidFill>
            <a:prstDash val="solid"/>
          </a:ln>
        </p:spPr>
      </p:sp>
      <p:sp>
        <p:nvSpPr>
          <p:cNvPr id="15" name="Text 13"/>
          <p:cNvSpPr/>
          <p:nvPr/>
        </p:nvSpPr>
        <p:spPr>
          <a:xfrm>
            <a:off x="9601200" y="2788920"/>
            <a:ext cx="1828800" cy="457200"/>
          </a:xfrm>
          <a:prstGeom prst="rect">
            <a:avLst/>
          </a:prstGeom>
          <a:noFill/>
          <a:ln/>
        </p:spPr>
        <p:txBody>
          <a:bodyPr wrap="square" rtlCol="0" anchor="ctr"/>
          <a:lstStyle/>
          <a:p>
            <a:pPr algn="ctr" indent="0" marL="0">
              <a:buNone/>
            </a:pPr>
            <a:r>
              <a:rPr lang="en-US" sz="1150" b="1" dirty="0">
                <a:solidFill>
                  <a:srgbClr val="1A1A1A"/>
                </a:solidFill>
                <a:latin typeface="Segoe UI" pitchFamily="34" charset="0"/>
                <a:ea typeface="Segoe UI" pitchFamily="34" charset="-122"/>
                <a:cs typeface="Segoe UI" pitchFamily="34" charset="-120"/>
              </a:rPr>
              <a:t>Project X</a:t>
            </a:r>
            <a:endParaRPr lang="en-US" sz="1150" dirty="0"/>
          </a:p>
        </p:txBody>
      </p:sp>
      <p:sp>
        <p:nvSpPr>
          <p:cNvPr id="16" name="Shape 14"/>
          <p:cNvSpPr/>
          <p:nvPr/>
        </p:nvSpPr>
        <p:spPr>
          <a:xfrm>
            <a:off x="6903720" y="4892040"/>
            <a:ext cx="822960" cy="822960"/>
          </a:xfrm>
          <a:prstGeom prst="ellipse">
            <a:avLst/>
          </a:prstGeom>
          <a:solidFill>
            <a:srgbClr val="FFFFFF"/>
          </a:solidFill>
          <a:ln w="22860">
            <a:solidFill>
              <a:srgbClr val="E08A2B"/>
            </a:solidFill>
            <a:prstDash val="solid"/>
          </a:ln>
        </p:spPr>
      </p:sp>
      <p:sp>
        <p:nvSpPr>
          <p:cNvPr id="17" name="Text 15"/>
          <p:cNvSpPr/>
          <p:nvPr/>
        </p:nvSpPr>
        <p:spPr>
          <a:xfrm>
            <a:off x="6400800" y="5074920"/>
            <a:ext cx="1828800" cy="457200"/>
          </a:xfrm>
          <a:prstGeom prst="rect">
            <a:avLst/>
          </a:prstGeom>
          <a:noFill/>
          <a:ln/>
        </p:spPr>
        <p:txBody>
          <a:bodyPr wrap="square" rtlCol="0" anchor="ctr"/>
          <a:lstStyle/>
          <a:p>
            <a:pPr algn="ctr" indent="0" marL="0">
              <a:buNone/>
            </a:pPr>
            <a:r>
              <a:rPr lang="en-US" sz="1150" b="1" dirty="0">
                <a:solidFill>
                  <a:srgbClr val="1A1A1A"/>
                </a:solidFill>
                <a:latin typeface="Segoe UI" pitchFamily="34" charset="0"/>
                <a:ea typeface="Segoe UI" pitchFamily="34" charset="-122"/>
                <a:cs typeface="Segoe UI" pitchFamily="34" charset="-120"/>
              </a:rPr>
              <a:t>Friday</a:t>
            </a:r>
            <a:endParaRPr lang="en-US" sz="1150" dirty="0"/>
          </a:p>
        </p:txBody>
      </p:sp>
      <p:sp>
        <p:nvSpPr>
          <p:cNvPr id="18" name="Shape 16"/>
          <p:cNvSpPr/>
          <p:nvPr/>
        </p:nvSpPr>
        <p:spPr>
          <a:xfrm>
            <a:off x="9829800" y="4800600"/>
            <a:ext cx="822960" cy="822960"/>
          </a:xfrm>
          <a:prstGeom prst="ellipse">
            <a:avLst/>
          </a:prstGeom>
          <a:solidFill>
            <a:srgbClr val="FFFFFF"/>
          </a:solidFill>
          <a:ln w="22860">
            <a:solidFill>
              <a:srgbClr val="0A5159"/>
            </a:solidFill>
            <a:prstDash val="solid"/>
          </a:ln>
        </p:spPr>
      </p:sp>
      <p:sp>
        <p:nvSpPr>
          <p:cNvPr id="19" name="Text 17"/>
          <p:cNvSpPr/>
          <p:nvPr/>
        </p:nvSpPr>
        <p:spPr>
          <a:xfrm>
            <a:off x="9326880" y="4983480"/>
            <a:ext cx="1828800" cy="457200"/>
          </a:xfrm>
          <a:prstGeom prst="rect">
            <a:avLst/>
          </a:prstGeom>
          <a:noFill/>
          <a:ln/>
        </p:spPr>
        <p:txBody>
          <a:bodyPr wrap="square" rtlCol="0" anchor="ctr"/>
          <a:lstStyle/>
          <a:p>
            <a:pPr algn="ctr" indent="0" marL="0">
              <a:buNone/>
            </a:pPr>
            <a:r>
              <a:rPr lang="en-US" sz="1150" b="1" dirty="0">
                <a:solidFill>
                  <a:srgbClr val="1A1A1A"/>
                </a:solidFill>
                <a:latin typeface="Segoe UI" pitchFamily="34" charset="0"/>
                <a:ea typeface="Segoe UI" pitchFamily="34" charset="-122"/>
                <a:cs typeface="Segoe UI" pitchFamily="34" charset="-120"/>
              </a:rPr>
              <a:t>Report</a:t>
            </a:r>
            <a:endParaRPr lang="en-US" sz="1150" dirty="0"/>
          </a:p>
        </p:txBody>
      </p:sp>
      <p:sp>
        <p:nvSpPr>
          <p:cNvPr id="20" name="Text 18"/>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1" name="Text 19"/>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39</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par>
                    <p:cTn id="142" presetID="10" presetClass="entr" presetSubtype="0" fill="hold" grpId="0" nodeType="afterEffect">
                      <p:stCondLst>
                        <p:cond delay="1680"/>
                      </p:stCondLst>
                      <p:childTnLst>
                        <p:set>
                          <p:cBhvr>
                            <p:cTn id="143" dur="1" fill="hold">
                              <p:stCondLst>
                                <p:cond delay="0"/>
                              </p:stCondLst>
                            </p:cTn>
                            <p:tgtEl>
                              <p:spTgt spid="16"/>
                            </p:tgtEl>
                            <p:attrNameLst>
                              <p:attrName>style.visibility</p:attrName>
                            </p:attrNameLst>
                          </p:cBhvr>
                          <p:to>
                            <p:strVal val="visible"/>
                          </p:to>
                        </p:set>
                        <p:animEffect transition="in" filter="fade">
                          <p:cBhvr>
                            <p:cTn id="144" dur="450"/>
                            <p:tgtEl>
                              <p:spTgt spid="16"/>
                            </p:tgtEl>
                          </p:cBhvr>
                        </p:animEffect>
                      </p:childTnLst>
                    </p:cTn>
                  </p:par>
                  <p:par>
                    <p:cTn id="145" presetID="10" presetClass="entr" presetSubtype="0" fill="hold" grpId="0" nodeType="afterEffect">
                      <p:stCondLst>
                        <p:cond delay="1800"/>
                      </p:stCondLst>
                      <p:childTnLst>
                        <p:set>
                          <p:cBhvr>
                            <p:cTn id="146" dur="1" fill="hold">
                              <p:stCondLst>
                                <p:cond delay="0"/>
                              </p:stCondLst>
                            </p:cTn>
                            <p:tgtEl>
                              <p:spTgt spid="17"/>
                            </p:tgtEl>
                            <p:attrNameLst>
                              <p:attrName>style.visibility</p:attrName>
                            </p:attrNameLst>
                          </p:cBhvr>
                          <p:to>
                            <p:strVal val="visible"/>
                          </p:to>
                        </p:set>
                        <p:animEffect transition="in" filter="fade">
                          <p:cBhvr>
                            <p:cTn id="147" dur="450"/>
                            <p:tgtEl>
                              <p:spTgt spid="17"/>
                            </p:tgtEl>
                          </p:cBhvr>
                        </p:animEffect>
                      </p:childTnLst>
                    </p:cTn>
                  </p:par>
                  <p:par>
                    <p:cTn id="148" presetID="10" presetClass="entr" presetSubtype="0" fill="hold" grpId="0" nodeType="afterEffect">
                      <p:stCondLst>
                        <p:cond delay="1920"/>
                      </p:stCondLst>
                      <p:childTnLst>
                        <p:set>
                          <p:cBhvr>
                            <p:cTn id="149" dur="1" fill="hold">
                              <p:stCondLst>
                                <p:cond delay="0"/>
                              </p:stCondLst>
                            </p:cTn>
                            <p:tgtEl>
                              <p:spTgt spid="18"/>
                            </p:tgtEl>
                            <p:attrNameLst>
                              <p:attrName>style.visibility</p:attrName>
                            </p:attrNameLst>
                          </p:cBhvr>
                          <p:to>
                            <p:strVal val="visible"/>
                          </p:to>
                        </p:set>
                        <p:animEffect transition="in" filter="fade">
                          <p:cBhvr>
                            <p:cTn id="150" dur="450"/>
                            <p:tgtEl>
                              <p:spTgt spid="18"/>
                            </p:tgtEl>
                          </p:cBhvr>
                        </p:animEffect>
                      </p:childTnLst>
                    </p:cTn>
                  </p:par>
                  <p:par>
                    <p:cTn id="151" presetID="10" presetClass="entr" presetSubtype="0" fill="hold" grpId="0" nodeType="afterEffect">
                      <p:stCondLst>
                        <p:cond delay="2040"/>
                      </p:stCondLst>
                      <p:childTnLst>
                        <p:set>
                          <p:cBhvr>
                            <p:cTn id="152" dur="1" fill="hold">
                              <p:stCondLst>
                                <p:cond delay="0"/>
                              </p:stCondLst>
                            </p:cTn>
                            <p:tgtEl>
                              <p:spTgt spid="19"/>
                            </p:tgtEl>
                            <p:attrNameLst>
                              <p:attrName>style.visibility</p:attrName>
                            </p:attrNameLst>
                          </p:cBhvr>
                          <p:to>
                            <p:strVal val="visible"/>
                          </p:to>
                        </p:set>
                        <p:animEffect transition="in" filter="fade">
                          <p:cBhvr>
                            <p:cTn id="153" dur="450"/>
                            <p:tgtEl>
                              <p:spTgt spid="19"/>
                            </p:tgtEl>
                          </p:cBhvr>
                        </p:animEffect>
                      </p:childTnLst>
                    </p:cTn>
                  </p:par>
                  <p:par>
                    <p:cTn id="154" presetID="10" presetClass="entr" presetSubtype="0" fill="hold" grpId="0" nodeType="afterEffect">
                      <p:stCondLst>
                        <p:cond delay="2160"/>
                      </p:stCondLst>
                      <p:childTnLst>
                        <p:set>
                          <p:cBhvr>
                            <p:cTn id="155" dur="1" fill="hold">
                              <p:stCondLst>
                                <p:cond delay="0"/>
                              </p:stCondLst>
                            </p:cTn>
                            <p:tgtEl>
                              <p:spTgt spid="20"/>
                            </p:tgtEl>
                            <p:attrNameLst>
                              <p:attrName>style.visibility</p:attrName>
                            </p:attrNameLst>
                          </p:cBhvr>
                          <p:to>
                            <p:strVal val="visible"/>
                          </p:to>
                        </p:set>
                        <p:animEffect transition="in" filter="fade">
                          <p:cBhvr>
                            <p:cTn id="156" dur="450"/>
                            <p:tgtEl>
                              <p:spTgt spid="20"/>
                            </p:tgtEl>
                          </p:cBhvr>
                        </p:animEffect>
                      </p:childTnLst>
                    </p:cTn>
                  </p:par>
                  <p:par>
                    <p:cTn id="157" presetID="10" presetClass="entr" presetSubtype="0" fill="hold" grpId="0" nodeType="afterEffect">
                      <p:stCondLst>
                        <p:cond delay="2280"/>
                      </p:stCondLst>
                      <p:childTnLst>
                        <p:set>
                          <p:cBhvr>
                            <p:cTn id="158" dur="1" fill="hold">
                              <p:stCondLst>
                                <p:cond delay="0"/>
                              </p:stCondLst>
                            </p:cTn>
                            <p:tgtEl>
                              <p:spTgt spid="21"/>
                            </p:tgtEl>
                            <p:attrNameLst>
                              <p:attrName>style.visibility</p:attrName>
                            </p:attrNameLst>
                          </p:cBhvr>
                          <p:to>
                            <p:strVal val="visible"/>
                          </p:to>
                        </p:set>
                        <p:animEffect transition="in" filter="fade">
                          <p:cBhvr>
                            <p:cTn id="159" dur="450"/>
                            <p:tgtEl>
                              <p:spTgt spid="21"/>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DATA MODEL</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Three pillars in Postgres.</a:t>
            </a:r>
            <a:endParaRPr lang="en-US" sz="3300" dirty="0"/>
          </a:p>
        </p:txBody>
      </p:sp>
      <p:sp>
        <p:nvSpPr>
          <p:cNvPr id="4" name="Shape 2"/>
          <p:cNvSpPr/>
          <p:nvPr/>
        </p:nvSpPr>
        <p:spPr>
          <a:xfrm>
            <a:off x="566928" y="2286000"/>
            <a:ext cx="3429000" cy="2468880"/>
          </a:xfrm>
          <a:prstGeom prst="roundRect">
            <a:avLst>
              <a:gd name="adj" fmla="val 4444"/>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Text 3"/>
          <p:cNvSpPr/>
          <p:nvPr/>
        </p:nvSpPr>
        <p:spPr>
          <a:xfrm>
            <a:off x="886968" y="2560320"/>
            <a:ext cx="2834640" cy="822960"/>
          </a:xfrm>
          <a:prstGeom prst="rect">
            <a:avLst/>
          </a:prstGeom>
          <a:noFill/>
          <a:ln/>
        </p:spPr>
        <p:txBody>
          <a:bodyPr wrap="square" rtlCol="0" anchor="ctr"/>
          <a:lstStyle/>
          <a:p>
            <a:pPr indent="0" marL="0">
              <a:buNone/>
            </a:pPr>
            <a:r>
              <a:rPr lang="en-US" sz="1800" b="1" dirty="0">
                <a:solidFill>
                  <a:srgbClr val="0A5159"/>
                </a:solidFill>
                <a:latin typeface="Segoe UI" pitchFamily="34" charset="0"/>
                <a:ea typeface="Segoe UI" pitchFamily="34" charset="-122"/>
                <a:cs typeface="Segoe UI" pitchFamily="34" charset="-120"/>
              </a:rPr>
              <a:t>Vector memory</a:t>
            </a:r>
            <a:endParaRPr lang="en-US" sz="1800" dirty="0"/>
          </a:p>
        </p:txBody>
      </p:sp>
      <p:sp>
        <p:nvSpPr>
          <p:cNvPr id="6" name="Text 4"/>
          <p:cNvSpPr/>
          <p:nvPr/>
        </p:nvSpPr>
        <p:spPr>
          <a:xfrm>
            <a:off x="886968" y="3383280"/>
            <a:ext cx="2834640" cy="1188720"/>
          </a:xfrm>
          <a:prstGeom prst="rect">
            <a:avLst/>
          </a:prstGeom>
          <a:noFill/>
          <a:ln/>
        </p:spPr>
        <p:txBody>
          <a:bodyPr wrap="square" rtlCol="0" anchor="ctr"/>
          <a:lstStyle/>
          <a:p>
            <a:pPr indent="0" marL="0">
              <a:lnSpc>
                <a:spcPct val="120000"/>
              </a:lnSpc>
              <a:buNone/>
            </a:pPr>
            <a:r>
              <a:rPr lang="en-US" sz="1500" dirty="0">
                <a:solidFill>
                  <a:srgbClr val="3A3A3A"/>
                </a:solidFill>
                <a:latin typeface="Segoe UI" pitchFamily="34" charset="0"/>
                <a:ea typeface="Segoe UI" pitchFamily="34" charset="-122"/>
                <a:cs typeface="Segoe UI" pitchFamily="34" charset="-120"/>
              </a:rPr>
              <a:t>384-dim embeddings for semantic recall (RAG).</a:t>
            </a:r>
            <a:endParaRPr lang="en-US" sz="1500" dirty="0"/>
          </a:p>
        </p:txBody>
      </p:sp>
      <p:sp>
        <p:nvSpPr>
          <p:cNvPr id="7" name="Shape 5"/>
          <p:cNvSpPr/>
          <p:nvPr/>
        </p:nvSpPr>
        <p:spPr>
          <a:xfrm>
            <a:off x="4288536" y="2286000"/>
            <a:ext cx="3429000" cy="2468880"/>
          </a:xfrm>
          <a:prstGeom prst="roundRect">
            <a:avLst>
              <a:gd name="adj" fmla="val 4444"/>
            </a:avLst>
          </a:prstGeom>
          <a:solidFill>
            <a:srgbClr val="E4EFE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8" name="Text 6"/>
          <p:cNvSpPr/>
          <p:nvPr/>
        </p:nvSpPr>
        <p:spPr>
          <a:xfrm>
            <a:off x="4608576" y="2560320"/>
            <a:ext cx="2834640" cy="822960"/>
          </a:xfrm>
          <a:prstGeom prst="rect">
            <a:avLst/>
          </a:prstGeom>
          <a:noFill/>
          <a:ln/>
        </p:spPr>
        <p:txBody>
          <a:bodyPr wrap="square" rtlCol="0" anchor="ctr"/>
          <a:lstStyle/>
          <a:p>
            <a:pPr indent="0" marL="0">
              <a:buNone/>
            </a:pPr>
            <a:r>
              <a:rPr lang="en-US" sz="1800" b="1" dirty="0">
                <a:solidFill>
                  <a:srgbClr val="0A5159"/>
                </a:solidFill>
                <a:latin typeface="Segoe UI" pitchFamily="34" charset="0"/>
                <a:ea typeface="Segoe UI" pitchFamily="34" charset="-122"/>
                <a:cs typeface="Segoe UI" pitchFamily="34" charset="-120"/>
              </a:rPr>
              <a:t>Knowledge graph</a:t>
            </a:r>
            <a:endParaRPr lang="en-US" sz="1800" dirty="0"/>
          </a:p>
        </p:txBody>
      </p:sp>
      <p:sp>
        <p:nvSpPr>
          <p:cNvPr id="9" name="Text 7"/>
          <p:cNvSpPr/>
          <p:nvPr/>
        </p:nvSpPr>
        <p:spPr>
          <a:xfrm>
            <a:off x="4608576" y="3383280"/>
            <a:ext cx="2834640" cy="1188720"/>
          </a:xfrm>
          <a:prstGeom prst="rect">
            <a:avLst/>
          </a:prstGeom>
          <a:noFill/>
          <a:ln/>
        </p:spPr>
        <p:txBody>
          <a:bodyPr wrap="square" rtlCol="0" anchor="ctr"/>
          <a:lstStyle/>
          <a:p>
            <a:pPr indent="0" marL="0">
              <a:lnSpc>
                <a:spcPct val="120000"/>
              </a:lnSpc>
              <a:buNone/>
            </a:pPr>
            <a:r>
              <a:rPr lang="en-US" sz="1500" dirty="0">
                <a:solidFill>
                  <a:srgbClr val="3A3A3A"/>
                </a:solidFill>
                <a:latin typeface="Segoe UI" pitchFamily="34" charset="0"/>
                <a:ea typeface="Segoe UI" pitchFamily="34" charset="-122"/>
                <a:cs typeface="Segoe UI" pitchFamily="34" charset="-120"/>
              </a:rPr>
              <a:t>Nodes + edges — people, topics, relationships.</a:t>
            </a:r>
            <a:endParaRPr lang="en-US" sz="1500" dirty="0"/>
          </a:p>
        </p:txBody>
      </p:sp>
      <p:sp>
        <p:nvSpPr>
          <p:cNvPr id="10" name="Shape 8"/>
          <p:cNvSpPr/>
          <p:nvPr/>
        </p:nvSpPr>
        <p:spPr>
          <a:xfrm>
            <a:off x="8010144" y="2286000"/>
            <a:ext cx="3429000" cy="2468880"/>
          </a:xfrm>
          <a:prstGeom prst="roundRect">
            <a:avLst>
              <a:gd name="adj" fmla="val 4444"/>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1" name="Text 9"/>
          <p:cNvSpPr/>
          <p:nvPr/>
        </p:nvSpPr>
        <p:spPr>
          <a:xfrm>
            <a:off x="8330184" y="2560320"/>
            <a:ext cx="2834640" cy="822960"/>
          </a:xfrm>
          <a:prstGeom prst="rect">
            <a:avLst/>
          </a:prstGeom>
          <a:noFill/>
          <a:ln/>
        </p:spPr>
        <p:txBody>
          <a:bodyPr wrap="square" rtlCol="0" anchor="ctr"/>
          <a:lstStyle/>
          <a:p>
            <a:pPr indent="0" marL="0">
              <a:buNone/>
            </a:pPr>
            <a:r>
              <a:rPr lang="en-US" sz="1800" b="1" dirty="0">
                <a:solidFill>
                  <a:srgbClr val="0A5159"/>
                </a:solidFill>
                <a:latin typeface="Segoe UI" pitchFamily="34" charset="0"/>
                <a:ea typeface="Segoe UI" pitchFamily="34" charset="-122"/>
                <a:cs typeface="Segoe UI" pitchFamily="34" charset="-120"/>
              </a:rPr>
              <a:t>Session logs</a:t>
            </a:r>
            <a:endParaRPr lang="en-US" sz="1800" dirty="0"/>
          </a:p>
        </p:txBody>
      </p:sp>
      <p:sp>
        <p:nvSpPr>
          <p:cNvPr id="12" name="Text 10"/>
          <p:cNvSpPr/>
          <p:nvPr/>
        </p:nvSpPr>
        <p:spPr>
          <a:xfrm>
            <a:off x="8330184" y="3383280"/>
            <a:ext cx="2834640" cy="1188720"/>
          </a:xfrm>
          <a:prstGeom prst="rect">
            <a:avLst/>
          </a:prstGeom>
          <a:noFill/>
          <a:ln/>
        </p:spPr>
        <p:txBody>
          <a:bodyPr wrap="square" rtlCol="0" anchor="ctr"/>
          <a:lstStyle/>
          <a:p>
            <a:pPr indent="0" marL="0">
              <a:lnSpc>
                <a:spcPct val="120000"/>
              </a:lnSpc>
              <a:buNone/>
            </a:pPr>
            <a:r>
              <a:rPr lang="en-US" sz="1500" dirty="0">
                <a:solidFill>
                  <a:srgbClr val="3A3A3A"/>
                </a:solidFill>
                <a:latin typeface="Segoe UI" pitchFamily="34" charset="0"/>
                <a:ea typeface="Segoe UI" pitchFamily="34" charset="-122"/>
                <a:cs typeface="Segoe UI" pitchFamily="34" charset="-120"/>
              </a:rPr>
              <a:t>Verbatim transcript with speaker role.</a:t>
            </a:r>
            <a:endParaRPr lang="en-US" sz="1500" dirty="0"/>
          </a:p>
        </p:txBody>
      </p:sp>
      <p:sp>
        <p:nvSpPr>
          <p:cNvPr id="13" name="Text 11"/>
          <p:cNvSpPr/>
          <p:nvPr/>
        </p:nvSpPr>
        <p:spPr>
          <a:xfrm>
            <a:off x="566928" y="5029200"/>
            <a:ext cx="10972800" cy="457200"/>
          </a:xfrm>
          <a:prstGeom prst="rect">
            <a:avLst/>
          </a:prstGeom>
          <a:noFill/>
          <a:ln/>
        </p:spPr>
        <p:txBody>
          <a:bodyPr wrap="square" rtlCol="0" anchor="ctr"/>
          <a:lstStyle/>
          <a:p>
            <a:pPr indent="0" marL="0">
              <a:buNone/>
            </a:pPr>
            <a:r>
              <a:rPr lang="en-US" sz="1400" i="1" dirty="0">
                <a:solidFill>
                  <a:srgbClr val="9A9285"/>
                </a:solidFill>
                <a:latin typeface="Segoe UI" pitchFamily="34" charset="0"/>
                <a:ea typeface="Segoe UI" pitchFamily="34" charset="-122"/>
                <a:cs typeface="Segoe UI" pitchFamily="34" charset="-120"/>
              </a:rPr>
              <a:t>Supabase Postgres + pgvector · 7 versioned, reversible Alembic migrations.</a:t>
            </a:r>
            <a:endParaRPr lang="en-US" sz="1400" dirty="0"/>
          </a:p>
        </p:txBody>
      </p:sp>
      <p:sp>
        <p:nvSpPr>
          <p:cNvPr id="14" name="Text 12"/>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5" name="Text 13"/>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40</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PRIVACY-FIRST — A FEATURE, NOT AN AFTERTHOUGHT</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Your data stays yours.</a:t>
            </a:r>
            <a:endParaRPr lang="en-US" sz="3300" dirty="0"/>
          </a:p>
        </p:txBody>
      </p:sp>
      <p:sp>
        <p:nvSpPr>
          <p:cNvPr id="4" name="Shape 2"/>
          <p:cNvSpPr/>
          <p:nvPr/>
        </p:nvSpPr>
        <p:spPr>
          <a:xfrm>
            <a:off x="566928" y="2286000"/>
            <a:ext cx="3108960" cy="2743200"/>
          </a:xfrm>
          <a:prstGeom prst="roundRect">
            <a:avLst>
              <a:gd name="adj" fmla="val 5000"/>
            </a:avLst>
          </a:prstGeom>
          <a:solidFill>
            <a:srgbClr val="E4EFEF"/>
          </a:solidFill>
          <a:ln w="19050">
            <a:solidFill>
              <a:srgbClr val="0E7C86"/>
            </a:solidFill>
            <a:prstDash val="solid"/>
          </a:ln>
        </p:spPr>
      </p:sp>
      <p:sp>
        <p:nvSpPr>
          <p:cNvPr id="5" name="Text 3"/>
          <p:cNvSpPr/>
          <p:nvPr/>
        </p:nvSpPr>
        <p:spPr>
          <a:xfrm>
            <a:off x="566928" y="2468880"/>
            <a:ext cx="3108960" cy="128016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6" name="Text 4"/>
          <p:cNvSpPr/>
          <p:nvPr/>
        </p:nvSpPr>
        <p:spPr>
          <a:xfrm>
            <a:off x="566928" y="3749040"/>
            <a:ext cx="3108960" cy="914400"/>
          </a:xfrm>
          <a:prstGeom prst="rect">
            <a:avLst/>
          </a:prstGeom>
          <a:noFill/>
          <a:ln/>
        </p:spPr>
        <p:txBody>
          <a:bodyPr wrap="square" rtlCol="0" anchor="ctr"/>
          <a:lstStyle/>
          <a:p>
            <a:pPr algn="ctr" indent="0" marL="0">
              <a:buNone/>
            </a:pPr>
            <a:r>
              <a:rPr lang="en-US" sz="2000" b="1" dirty="0">
                <a:solidFill>
                  <a:srgbClr val="0E7C86"/>
                </a:solidFill>
                <a:latin typeface="Segoe UI" pitchFamily="34" charset="0"/>
                <a:ea typeface="Segoe UI" pitchFamily="34" charset="-122"/>
                <a:cs typeface="Segoe UI" pitchFamily="34" charset="-120"/>
              </a:rPr>
              <a:t>Row-Level</a:t>
            </a:r>
            <a:endParaRPr lang="en-US" sz="2000" dirty="0"/>
          </a:p>
          <a:p>
            <a:pPr algn="ctr" indent="0" marL="0">
              <a:buNone/>
            </a:pPr>
            <a:r>
              <a:rPr lang="en-US" sz="2000" b="1" dirty="0">
                <a:solidFill>
                  <a:srgbClr val="0E7C86"/>
                </a:solidFill>
                <a:latin typeface="Segoe UI" pitchFamily="34" charset="0"/>
                <a:ea typeface="Segoe UI" pitchFamily="34" charset="-122"/>
                <a:cs typeface="Segoe UI" pitchFamily="34" charset="-120"/>
              </a:rPr>
              <a:t>Security</a:t>
            </a:r>
            <a:endParaRPr lang="en-US" sz="2000" dirty="0"/>
          </a:p>
        </p:txBody>
      </p:sp>
      <p:sp>
        <p:nvSpPr>
          <p:cNvPr id="7" name="Text 5"/>
          <p:cNvSpPr/>
          <p:nvPr/>
        </p:nvSpPr>
        <p:spPr>
          <a:xfrm>
            <a:off x="4023360" y="2468880"/>
            <a:ext cx="7498080" cy="2743200"/>
          </a:xfrm>
          <a:prstGeom prst="rect">
            <a:avLst/>
          </a:prstGeom>
          <a:noFill/>
          <a:ln/>
        </p:spPr>
        <p:txBody>
          <a:bodyPr wrap="square" rtlCol="0" anchor="ctr"/>
          <a:lstStyle/>
          <a:p>
            <a:pPr marL="342900" indent="-342900">
              <a:lnSpc>
                <a:spcPct val="135000"/>
              </a:lnSpc>
              <a:spcAft>
                <a:spcPts val="1000"/>
              </a:spcAft>
              <a:buSzPct val="100000"/>
              <a:buChar char="•"/>
            </a:pPr>
            <a:r>
              <a:rPr lang="en-US" sz="1800" dirty="0">
                <a:solidFill>
                  <a:srgbClr val="3A3A3A"/>
                </a:solidFill>
                <a:latin typeface="Segoe UI" pitchFamily="34" charset="0"/>
                <a:ea typeface="Segoe UI" pitchFamily="34" charset="-122"/>
                <a:cs typeface="Segoe UI" pitchFamily="34" charset="-120"/>
              </a:rPr>
              <a:t>Enforced at the database</a:t>
            </a:r>
            <a:endParaRPr lang="en-US" sz="1800" dirty="0"/>
          </a:p>
          <a:p>
            <a:pPr marL="342900" indent="-342900">
              <a:lnSpc>
                <a:spcPct val="135000"/>
              </a:lnSpc>
              <a:spcAft>
                <a:spcPts val="1000"/>
              </a:spcAft>
              <a:buSzPct val="100000"/>
              <a:buChar char="•"/>
            </a:pPr>
            <a:r>
              <a:rPr lang="en-US" sz="1800" dirty="0">
                <a:solidFill>
                  <a:srgbClr val="3A3A3A"/>
                </a:solidFill>
                <a:latin typeface="Segoe UI" pitchFamily="34" charset="0"/>
                <a:ea typeface="Segoe UI" pitchFamily="34" charset="-122"/>
                <a:cs typeface="Segoe UI" pitchFamily="34" charset="-120"/>
              </a:rPr>
              <a:t>A user can only ever touch their own graph &amp; memories</a:t>
            </a:r>
            <a:endParaRPr lang="en-US" sz="1800" dirty="0"/>
          </a:p>
          <a:p>
            <a:pPr marL="342900" indent="-342900">
              <a:lnSpc>
                <a:spcPct val="135000"/>
              </a:lnSpc>
              <a:spcAft>
                <a:spcPts val="1000"/>
              </a:spcAft>
              <a:buSzPct val="100000"/>
              <a:buChar char="•"/>
            </a:pPr>
            <a:r>
              <a:rPr lang="en-US" sz="1800" dirty="0">
                <a:solidFill>
                  <a:srgbClr val="3A3A3A"/>
                </a:solidFill>
                <a:latin typeface="Segoe UI" pitchFamily="34" charset="0"/>
                <a:ea typeface="Segoe UI" pitchFamily="34" charset="-122"/>
                <a:cs typeface="Segoe UI" pitchFamily="34" charset="-120"/>
              </a:rPr>
              <a:t>Sharing is opt-in, never default</a:t>
            </a:r>
            <a:endParaRPr lang="en-US" sz="1800" dirty="0"/>
          </a:p>
          <a:p>
            <a:pPr marL="342900" indent="-342900">
              <a:lnSpc>
                <a:spcPct val="135000"/>
              </a:lnSpc>
              <a:spcAft>
                <a:spcPts val="1000"/>
              </a:spcAft>
              <a:buSzPct val="100000"/>
              <a:buChar char="•"/>
            </a:pPr>
            <a:r>
              <a:rPr lang="en-US" sz="1800" dirty="0">
                <a:solidFill>
                  <a:srgbClr val="3A3A3A"/>
                </a:solidFill>
                <a:latin typeface="Segoe UI" pitchFamily="34" charset="0"/>
                <a:ea typeface="Segoe UI" pitchFamily="34" charset="-122"/>
                <a:cs typeface="Segoe UI" pitchFamily="34" charset="-120"/>
              </a:rPr>
              <a:t>Personal growth tool — not org surveillance</a:t>
            </a:r>
            <a:endParaRPr lang="en-US" sz="1800" dirty="0"/>
          </a:p>
        </p:txBody>
      </p:sp>
      <p:sp>
        <p:nvSpPr>
          <p:cNvPr id="8" name="Text 6"/>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9" name="Text 7"/>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41</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PRODUCTION-GRADE OBSERVABILITY</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We can see the system — from day one.</a:t>
            </a:r>
            <a:endParaRPr lang="en-US" sz="3300" dirty="0"/>
          </a:p>
        </p:txBody>
      </p:sp>
      <p:sp>
        <p:nvSpPr>
          <p:cNvPr id="4" name="Shape 2"/>
          <p:cNvSpPr/>
          <p:nvPr/>
        </p:nvSpPr>
        <p:spPr>
          <a:xfrm>
            <a:off x="566928" y="2377440"/>
            <a:ext cx="3429000" cy="1143000"/>
          </a:xfrm>
          <a:prstGeom prst="roundRect">
            <a:avLst>
              <a:gd name="adj" fmla="val 9600"/>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Text 3"/>
          <p:cNvSpPr/>
          <p:nvPr/>
        </p:nvSpPr>
        <p:spPr>
          <a:xfrm>
            <a:off x="886968" y="2560320"/>
            <a:ext cx="2834640" cy="457200"/>
          </a:xfrm>
          <a:prstGeom prst="rect">
            <a:avLst/>
          </a:prstGeom>
          <a:noFill/>
          <a:ln/>
        </p:spPr>
        <p:txBody>
          <a:bodyPr wrap="square" rtlCol="0" anchor="ctr"/>
          <a:lstStyle/>
          <a:p>
            <a:pPr indent="0" marL="0">
              <a:buNone/>
            </a:pPr>
            <a:r>
              <a:rPr lang="en-US" sz="1900" b="1" dirty="0">
                <a:solidFill>
                  <a:srgbClr val="0E7C86"/>
                </a:solidFill>
                <a:latin typeface="Segoe UI" pitchFamily="34" charset="0"/>
                <a:ea typeface="Segoe UI" pitchFamily="34" charset="-122"/>
                <a:cs typeface="Segoe UI" pitchFamily="34" charset="-120"/>
              </a:rPr>
              <a:t>Sentry</a:t>
            </a:r>
            <a:endParaRPr lang="en-US" sz="1900" dirty="0"/>
          </a:p>
        </p:txBody>
      </p:sp>
      <p:sp>
        <p:nvSpPr>
          <p:cNvPr id="6" name="Text 4"/>
          <p:cNvSpPr/>
          <p:nvPr/>
        </p:nvSpPr>
        <p:spPr>
          <a:xfrm>
            <a:off x="886968" y="3035808"/>
            <a:ext cx="2834640" cy="365760"/>
          </a:xfrm>
          <a:prstGeom prst="rect">
            <a:avLst/>
          </a:prstGeom>
          <a:noFill/>
          <a:ln/>
        </p:spPr>
        <p:txBody>
          <a:bodyPr wrap="square" rtlCol="0" anchor="ctr"/>
          <a:lstStyle/>
          <a:p>
            <a:pPr indent="0" marL="0">
              <a:buNone/>
            </a:pPr>
            <a:r>
              <a:rPr lang="en-US" sz="1400" dirty="0">
                <a:solidFill>
                  <a:srgbClr val="3A3A3A"/>
                </a:solidFill>
                <a:latin typeface="Segoe UI" pitchFamily="34" charset="0"/>
                <a:ea typeface="Segoe UI" pitchFamily="34" charset="-122"/>
                <a:cs typeface="Segoe UI" pitchFamily="34" charset="-120"/>
              </a:rPr>
              <a:t>errors</a:t>
            </a:r>
            <a:endParaRPr lang="en-US" sz="1400" dirty="0"/>
          </a:p>
        </p:txBody>
      </p:sp>
      <p:sp>
        <p:nvSpPr>
          <p:cNvPr id="7" name="Shape 5"/>
          <p:cNvSpPr/>
          <p:nvPr/>
        </p:nvSpPr>
        <p:spPr>
          <a:xfrm>
            <a:off x="4288536" y="2377440"/>
            <a:ext cx="3429000" cy="1143000"/>
          </a:xfrm>
          <a:prstGeom prst="roundRect">
            <a:avLst>
              <a:gd name="adj" fmla="val 9600"/>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8" name="Text 6"/>
          <p:cNvSpPr/>
          <p:nvPr/>
        </p:nvSpPr>
        <p:spPr>
          <a:xfrm>
            <a:off x="4608576" y="2560320"/>
            <a:ext cx="2834640" cy="457200"/>
          </a:xfrm>
          <a:prstGeom prst="rect">
            <a:avLst/>
          </a:prstGeom>
          <a:noFill/>
          <a:ln/>
        </p:spPr>
        <p:txBody>
          <a:bodyPr wrap="square" rtlCol="0" anchor="ctr"/>
          <a:lstStyle/>
          <a:p>
            <a:pPr indent="0" marL="0">
              <a:buNone/>
            </a:pPr>
            <a:r>
              <a:rPr lang="en-US" sz="1900" b="1" dirty="0">
                <a:solidFill>
                  <a:srgbClr val="0E7C86"/>
                </a:solidFill>
                <a:latin typeface="Segoe UI" pitchFamily="34" charset="0"/>
                <a:ea typeface="Segoe UI" pitchFamily="34" charset="-122"/>
                <a:cs typeface="Segoe UI" pitchFamily="34" charset="-120"/>
              </a:rPr>
              <a:t>Prometheus</a:t>
            </a:r>
            <a:endParaRPr lang="en-US" sz="1900" dirty="0"/>
          </a:p>
        </p:txBody>
      </p:sp>
      <p:sp>
        <p:nvSpPr>
          <p:cNvPr id="9" name="Text 7"/>
          <p:cNvSpPr/>
          <p:nvPr/>
        </p:nvSpPr>
        <p:spPr>
          <a:xfrm>
            <a:off x="4608576" y="3035808"/>
            <a:ext cx="2834640" cy="365760"/>
          </a:xfrm>
          <a:prstGeom prst="rect">
            <a:avLst/>
          </a:prstGeom>
          <a:noFill/>
          <a:ln/>
        </p:spPr>
        <p:txBody>
          <a:bodyPr wrap="square" rtlCol="0" anchor="ctr"/>
          <a:lstStyle/>
          <a:p>
            <a:pPr indent="0" marL="0">
              <a:buNone/>
            </a:pPr>
            <a:r>
              <a:rPr lang="en-US" sz="1400" dirty="0">
                <a:solidFill>
                  <a:srgbClr val="3A3A3A"/>
                </a:solidFill>
                <a:latin typeface="Segoe UI" pitchFamily="34" charset="0"/>
                <a:ea typeface="Segoe UI" pitchFamily="34" charset="-122"/>
                <a:cs typeface="Segoe UI" pitchFamily="34" charset="-120"/>
              </a:rPr>
              <a:t>metrics</a:t>
            </a:r>
            <a:endParaRPr lang="en-US" sz="1400" dirty="0"/>
          </a:p>
        </p:txBody>
      </p:sp>
      <p:sp>
        <p:nvSpPr>
          <p:cNvPr id="10" name="Shape 8"/>
          <p:cNvSpPr/>
          <p:nvPr/>
        </p:nvSpPr>
        <p:spPr>
          <a:xfrm>
            <a:off x="8010144" y="2377440"/>
            <a:ext cx="3429000" cy="1143000"/>
          </a:xfrm>
          <a:prstGeom prst="roundRect">
            <a:avLst>
              <a:gd name="adj" fmla="val 9600"/>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1" name="Text 9"/>
          <p:cNvSpPr/>
          <p:nvPr/>
        </p:nvSpPr>
        <p:spPr>
          <a:xfrm>
            <a:off x="8330184" y="2560320"/>
            <a:ext cx="2834640" cy="457200"/>
          </a:xfrm>
          <a:prstGeom prst="rect">
            <a:avLst/>
          </a:prstGeom>
          <a:noFill/>
          <a:ln/>
        </p:spPr>
        <p:txBody>
          <a:bodyPr wrap="square" rtlCol="0" anchor="ctr"/>
          <a:lstStyle/>
          <a:p>
            <a:pPr indent="0" marL="0">
              <a:buNone/>
            </a:pPr>
            <a:r>
              <a:rPr lang="en-US" sz="1900" b="1" dirty="0">
                <a:solidFill>
                  <a:srgbClr val="0E7C86"/>
                </a:solidFill>
                <a:latin typeface="Segoe UI" pitchFamily="34" charset="0"/>
                <a:ea typeface="Segoe UI" pitchFamily="34" charset="-122"/>
                <a:cs typeface="Segoe UI" pitchFamily="34" charset="-120"/>
              </a:rPr>
              <a:t>OpenTelemetry</a:t>
            </a:r>
            <a:endParaRPr lang="en-US" sz="1900" dirty="0"/>
          </a:p>
        </p:txBody>
      </p:sp>
      <p:sp>
        <p:nvSpPr>
          <p:cNvPr id="12" name="Text 10"/>
          <p:cNvSpPr/>
          <p:nvPr/>
        </p:nvSpPr>
        <p:spPr>
          <a:xfrm>
            <a:off x="8330184" y="3035808"/>
            <a:ext cx="2834640" cy="365760"/>
          </a:xfrm>
          <a:prstGeom prst="rect">
            <a:avLst/>
          </a:prstGeom>
          <a:noFill/>
          <a:ln/>
        </p:spPr>
        <p:txBody>
          <a:bodyPr wrap="square" rtlCol="0" anchor="ctr"/>
          <a:lstStyle/>
          <a:p>
            <a:pPr indent="0" marL="0">
              <a:buNone/>
            </a:pPr>
            <a:r>
              <a:rPr lang="en-US" sz="1400" dirty="0">
                <a:solidFill>
                  <a:srgbClr val="3A3A3A"/>
                </a:solidFill>
                <a:latin typeface="Segoe UI" pitchFamily="34" charset="0"/>
                <a:ea typeface="Segoe UI" pitchFamily="34" charset="-122"/>
                <a:cs typeface="Segoe UI" pitchFamily="34" charset="-120"/>
              </a:rPr>
              <a:t>traces</a:t>
            </a:r>
            <a:endParaRPr lang="en-US" sz="1400" dirty="0"/>
          </a:p>
        </p:txBody>
      </p:sp>
      <p:sp>
        <p:nvSpPr>
          <p:cNvPr id="13" name="Shape 11"/>
          <p:cNvSpPr/>
          <p:nvPr/>
        </p:nvSpPr>
        <p:spPr>
          <a:xfrm>
            <a:off x="566928" y="3749040"/>
            <a:ext cx="3429000" cy="1143000"/>
          </a:xfrm>
          <a:prstGeom prst="roundRect">
            <a:avLst>
              <a:gd name="adj" fmla="val 9600"/>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4" name="Text 12"/>
          <p:cNvSpPr/>
          <p:nvPr/>
        </p:nvSpPr>
        <p:spPr>
          <a:xfrm>
            <a:off x="886968" y="3931920"/>
            <a:ext cx="2834640" cy="457200"/>
          </a:xfrm>
          <a:prstGeom prst="rect">
            <a:avLst/>
          </a:prstGeom>
          <a:noFill/>
          <a:ln/>
        </p:spPr>
        <p:txBody>
          <a:bodyPr wrap="square" rtlCol="0" anchor="ctr"/>
          <a:lstStyle/>
          <a:p>
            <a:pPr indent="0" marL="0">
              <a:buNone/>
            </a:pPr>
            <a:r>
              <a:rPr lang="en-US" sz="1900" b="1" dirty="0">
                <a:solidFill>
                  <a:srgbClr val="0E7C86"/>
                </a:solidFill>
                <a:latin typeface="Segoe UI" pitchFamily="34" charset="0"/>
                <a:ea typeface="Segoe UI" pitchFamily="34" charset="-122"/>
                <a:cs typeface="Segoe UI" pitchFamily="34" charset="-120"/>
              </a:rPr>
              <a:t>Grafana</a:t>
            </a:r>
            <a:endParaRPr lang="en-US" sz="1900" dirty="0"/>
          </a:p>
        </p:txBody>
      </p:sp>
      <p:sp>
        <p:nvSpPr>
          <p:cNvPr id="15" name="Text 13"/>
          <p:cNvSpPr/>
          <p:nvPr/>
        </p:nvSpPr>
        <p:spPr>
          <a:xfrm>
            <a:off x="886968" y="4407408"/>
            <a:ext cx="2834640" cy="365760"/>
          </a:xfrm>
          <a:prstGeom prst="rect">
            <a:avLst/>
          </a:prstGeom>
          <a:noFill/>
          <a:ln/>
        </p:spPr>
        <p:txBody>
          <a:bodyPr wrap="square" rtlCol="0" anchor="ctr"/>
          <a:lstStyle/>
          <a:p>
            <a:pPr indent="0" marL="0">
              <a:buNone/>
            </a:pPr>
            <a:r>
              <a:rPr lang="en-US" sz="1400" dirty="0">
                <a:solidFill>
                  <a:srgbClr val="3A3A3A"/>
                </a:solidFill>
                <a:latin typeface="Segoe UI" pitchFamily="34" charset="0"/>
                <a:ea typeface="Segoe UI" pitchFamily="34" charset="-122"/>
                <a:cs typeface="Segoe UI" pitchFamily="34" charset="-120"/>
              </a:rPr>
              <a:t>dashboards</a:t>
            </a:r>
            <a:endParaRPr lang="en-US" sz="1400" dirty="0"/>
          </a:p>
        </p:txBody>
      </p:sp>
      <p:sp>
        <p:nvSpPr>
          <p:cNvPr id="16" name="Shape 14"/>
          <p:cNvSpPr/>
          <p:nvPr/>
        </p:nvSpPr>
        <p:spPr>
          <a:xfrm>
            <a:off x="4288536" y="3749040"/>
            <a:ext cx="3429000" cy="1143000"/>
          </a:xfrm>
          <a:prstGeom prst="roundRect">
            <a:avLst>
              <a:gd name="adj" fmla="val 9600"/>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7" name="Text 15"/>
          <p:cNvSpPr/>
          <p:nvPr/>
        </p:nvSpPr>
        <p:spPr>
          <a:xfrm>
            <a:off x="4608576" y="3931920"/>
            <a:ext cx="2834640" cy="457200"/>
          </a:xfrm>
          <a:prstGeom prst="rect">
            <a:avLst/>
          </a:prstGeom>
          <a:noFill/>
          <a:ln/>
        </p:spPr>
        <p:txBody>
          <a:bodyPr wrap="square" rtlCol="0" anchor="ctr"/>
          <a:lstStyle/>
          <a:p>
            <a:pPr indent="0" marL="0">
              <a:buNone/>
            </a:pPr>
            <a:r>
              <a:rPr lang="en-US" sz="1900" b="1" dirty="0">
                <a:solidFill>
                  <a:srgbClr val="0E7C86"/>
                </a:solidFill>
                <a:latin typeface="Segoe UI" pitchFamily="34" charset="0"/>
                <a:ea typeface="Segoe UI" pitchFamily="34" charset="-122"/>
                <a:cs typeface="Segoe UI" pitchFamily="34" charset="-120"/>
              </a:rPr>
              <a:t>structlog</a:t>
            </a:r>
            <a:endParaRPr lang="en-US" sz="1900" dirty="0"/>
          </a:p>
        </p:txBody>
      </p:sp>
      <p:sp>
        <p:nvSpPr>
          <p:cNvPr id="18" name="Text 16"/>
          <p:cNvSpPr/>
          <p:nvPr/>
        </p:nvSpPr>
        <p:spPr>
          <a:xfrm>
            <a:off x="4608576" y="4407408"/>
            <a:ext cx="2834640" cy="365760"/>
          </a:xfrm>
          <a:prstGeom prst="rect">
            <a:avLst/>
          </a:prstGeom>
          <a:noFill/>
          <a:ln/>
        </p:spPr>
        <p:txBody>
          <a:bodyPr wrap="square" rtlCol="0" anchor="ctr"/>
          <a:lstStyle/>
          <a:p>
            <a:pPr indent="0" marL="0">
              <a:buNone/>
            </a:pPr>
            <a:r>
              <a:rPr lang="en-US" sz="1400" dirty="0">
                <a:solidFill>
                  <a:srgbClr val="3A3A3A"/>
                </a:solidFill>
                <a:latin typeface="Segoe UI" pitchFamily="34" charset="0"/>
                <a:ea typeface="Segoe UI" pitchFamily="34" charset="-122"/>
                <a:cs typeface="Segoe UI" pitchFamily="34" charset="-120"/>
              </a:rPr>
              <a:t>structured logs</a:t>
            </a:r>
            <a:endParaRPr lang="en-US" sz="1400" dirty="0"/>
          </a:p>
        </p:txBody>
      </p:sp>
      <p:sp>
        <p:nvSpPr>
          <p:cNvPr id="19" name="Text 17"/>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0" name="Text 18"/>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42</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par>
                    <p:cTn id="142" presetID="10" presetClass="entr" presetSubtype="0" fill="hold" grpId="0" nodeType="afterEffect">
                      <p:stCondLst>
                        <p:cond delay="1680"/>
                      </p:stCondLst>
                      <p:childTnLst>
                        <p:set>
                          <p:cBhvr>
                            <p:cTn id="143" dur="1" fill="hold">
                              <p:stCondLst>
                                <p:cond delay="0"/>
                              </p:stCondLst>
                            </p:cTn>
                            <p:tgtEl>
                              <p:spTgt spid="16"/>
                            </p:tgtEl>
                            <p:attrNameLst>
                              <p:attrName>style.visibility</p:attrName>
                            </p:attrNameLst>
                          </p:cBhvr>
                          <p:to>
                            <p:strVal val="visible"/>
                          </p:to>
                        </p:set>
                        <p:animEffect transition="in" filter="fade">
                          <p:cBhvr>
                            <p:cTn id="144" dur="450"/>
                            <p:tgtEl>
                              <p:spTgt spid="16"/>
                            </p:tgtEl>
                          </p:cBhvr>
                        </p:animEffect>
                      </p:childTnLst>
                    </p:cTn>
                  </p:par>
                  <p:par>
                    <p:cTn id="145" presetID="10" presetClass="entr" presetSubtype="0" fill="hold" grpId="0" nodeType="afterEffect">
                      <p:stCondLst>
                        <p:cond delay="1800"/>
                      </p:stCondLst>
                      <p:childTnLst>
                        <p:set>
                          <p:cBhvr>
                            <p:cTn id="146" dur="1" fill="hold">
                              <p:stCondLst>
                                <p:cond delay="0"/>
                              </p:stCondLst>
                            </p:cTn>
                            <p:tgtEl>
                              <p:spTgt spid="17"/>
                            </p:tgtEl>
                            <p:attrNameLst>
                              <p:attrName>style.visibility</p:attrName>
                            </p:attrNameLst>
                          </p:cBhvr>
                          <p:to>
                            <p:strVal val="visible"/>
                          </p:to>
                        </p:set>
                        <p:animEffect transition="in" filter="fade">
                          <p:cBhvr>
                            <p:cTn id="147" dur="450"/>
                            <p:tgtEl>
                              <p:spTgt spid="17"/>
                            </p:tgtEl>
                          </p:cBhvr>
                        </p:animEffect>
                      </p:childTnLst>
                    </p:cTn>
                  </p:par>
                  <p:par>
                    <p:cTn id="148" presetID="10" presetClass="entr" presetSubtype="0" fill="hold" grpId="0" nodeType="afterEffect">
                      <p:stCondLst>
                        <p:cond delay="1920"/>
                      </p:stCondLst>
                      <p:childTnLst>
                        <p:set>
                          <p:cBhvr>
                            <p:cTn id="149" dur="1" fill="hold">
                              <p:stCondLst>
                                <p:cond delay="0"/>
                              </p:stCondLst>
                            </p:cTn>
                            <p:tgtEl>
                              <p:spTgt spid="18"/>
                            </p:tgtEl>
                            <p:attrNameLst>
                              <p:attrName>style.visibility</p:attrName>
                            </p:attrNameLst>
                          </p:cBhvr>
                          <p:to>
                            <p:strVal val="visible"/>
                          </p:to>
                        </p:set>
                        <p:animEffect transition="in" filter="fade">
                          <p:cBhvr>
                            <p:cTn id="150" dur="450"/>
                            <p:tgtEl>
                              <p:spTgt spid="18"/>
                            </p:tgtEl>
                          </p:cBhvr>
                        </p:animEffect>
                      </p:childTnLst>
                    </p:cTn>
                  </p:par>
                  <p:par>
                    <p:cTn id="151" presetID="10" presetClass="entr" presetSubtype="0" fill="hold" grpId="0" nodeType="afterEffect">
                      <p:stCondLst>
                        <p:cond delay="2040"/>
                      </p:stCondLst>
                      <p:childTnLst>
                        <p:set>
                          <p:cBhvr>
                            <p:cTn id="152" dur="1" fill="hold">
                              <p:stCondLst>
                                <p:cond delay="0"/>
                              </p:stCondLst>
                            </p:cTn>
                            <p:tgtEl>
                              <p:spTgt spid="19"/>
                            </p:tgtEl>
                            <p:attrNameLst>
                              <p:attrName>style.visibility</p:attrName>
                            </p:attrNameLst>
                          </p:cBhvr>
                          <p:to>
                            <p:strVal val="visible"/>
                          </p:to>
                        </p:set>
                        <p:animEffect transition="in" filter="fade">
                          <p:cBhvr>
                            <p:cTn id="153" dur="450"/>
                            <p:tgtEl>
                              <p:spTgt spid="19"/>
                            </p:tgtEl>
                          </p:cBhvr>
                        </p:animEffect>
                      </p:childTnLst>
                    </p:cTn>
                  </p:par>
                  <p:par>
                    <p:cTn id="154" presetID="10" presetClass="entr" presetSubtype="0" fill="hold" grpId="0" nodeType="afterEffect">
                      <p:stCondLst>
                        <p:cond delay="2160"/>
                      </p:stCondLst>
                      <p:childTnLst>
                        <p:set>
                          <p:cBhvr>
                            <p:cTn id="155" dur="1" fill="hold">
                              <p:stCondLst>
                                <p:cond delay="0"/>
                              </p:stCondLst>
                            </p:cTn>
                            <p:tgtEl>
                              <p:spTgt spid="20"/>
                            </p:tgtEl>
                            <p:attrNameLst>
                              <p:attrName>style.visibility</p:attrName>
                            </p:attrNameLst>
                          </p:cBhvr>
                          <p:to>
                            <p:strVal val="visible"/>
                          </p:to>
                        </p:set>
                        <p:animEffect transition="in" filter="fade">
                          <p:cBhvr>
                            <p:cTn id="156" dur="450"/>
                            <p:tgtEl>
                              <p:spTgt spid="20"/>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HOW WE JUDGE SUCCESS</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Honest numbers.</a:t>
            </a:r>
            <a:endParaRPr lang="en-US" sz="3300" dirty="0"/>
          </a:p>
        </p:txBody>
      </p:sp>
      <p:sp>
        <p:nvSpPr>
          <p:cNvPr id="4" name="Shape 2"/>
          <p:cNvSpPr/>
          <p:nvPr/>
        </p:nvSpPr>
        <p:spPr>
          <a:xfrm>
            <a:off x="566928" y="2468880"/>
            <a:ext cx="2560320" cy="2103120"/>
          </a:xfrm>
          <a:prstGeom prst="roundRect">
            <a:avLst>
              <a:gd name="adj" fmla="val 5217"/>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5" name="Text 3"/>
          <p:cNvSpPr/>
          <p:nvPr/>
        </p:nvSpPr>
        <p:spPr>
          <a:xfrm>
            <a:off x="566928" y="2697480"/>
            <a:ext cx="2560320" cy="822960"/>
          </a:xfrm>
          <a:prstGeom prst="rect">
            <a:avLst/>
          </a:prstGeom>
          <a:noFill/>
          <a:ln/>
        </p:spPr>
        <p:txBody>
          <a:bodyPr wrap="square" rtlCol="0" anchor="ctr"/>
          <a:lstStyle/>
          <a:p>
            <a:pPr algn="ctr" indent="0" marL="0">
              <a:buNone/>
            </a:pPr>
            <a:r>
              <a:rPr lang="en-US" sz="3300" b="1" dirty="0">
                <a:solidFill>
                  <a:srgbClr val="0E7C86"/>
                </a:solidFill>
                <a:latin typeface="Segoe UI" pitchFamily="34" charset="0"/>
                <a:ea typeface="Segoe UI" pitchFamily="34" charset="-122"/>
                <a:cs typeface="Segoe UI" pitchFamily="34" charset="-120"/>
              </a:rPr>
              <a:t>~300 ms</a:t>
            </a:r>
            <a:endParaRPr lang="en-US" sz="3300" dirty="0"/>
          </a:p>
        </p:txBody>
      </p:sp>
      <p:sp>
        <p:nvSpPr>
          <p:cNvPr id="6" name="Text 4"/>
          <p:cNvSpPr/>
          <p:nvPr/>
        </p:nvSpPr>
        <p:spPr>
          <a:xfrm>
            <a:off x="704088" y="3611880"/>
            <a:ext cx="2286000" cy="731520"/>
          </a:xfrm>
          <a:prstGeom prst="rect">
            <a:avLst/>
          </a:prstGeom>
          <a:noFill/>
          <a:ln/>
        </p:spPr>
        <p:txBody>
          <a:bodyPr wrap="square" rtlCol="0" anchor="ctr"/>
          <a:lstStyle/>
          <a:p>
            <a:pPr algn="ctr" indent="0" marL="0">
              <a:lnSpc>
                <a:spcPct val="105000"/>
              </a:lnSpc>
              <a:buNone/>
            </a:pPr>
            <a:r>
              <a:rPr lang="en-US" sz="1450" dirty="0">
                <a:solidFill>
                  <a:srgbClr val="1A1A1A"/>
                </a:solidFill>
                <a:latin typeface="Segoe UI" pitchFamily="34" charset="0"/>
                <a:ea typeface="Segoe UI" pitchFamily="34" charset="-122"/>
                <a:cs typeface="Segoe UI" pitchFamily="34" charset="-120"/>
              </a:rPr>
              <a:t>advice latency</a:t>
            </a:r>
            <a:endParaRPr lang="en-US" sz="1450" dirty="0"/>
          </a:p>
        </p:txBody>
      </p:sp>
      <p:sp>
        <p:nvSpPr>
          <p:cNvPr id="7" name="Shape 5"/>
          <p:cNvSpPr/>
          <p:nvPr/>
        </p:nvSpPr>
        <p:spPr>
          <a:xfrm>
            <a:off x="3310128" y="2468880"/>
            <a:ext cx="2560320" cy="2103120"/>
          </a:xfrm>
          <a:prstGeom prst="roundRect">
            <a:avLst>
              <a:gd name="adj" fmla="val 5217"/>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8" name="Text 6"/>
          <p:cNvSpPr/>
          <p:nvPr/>
        </p:nvSpPr>
        <p:spPr>
          <a:xfrm>
            <a:off x="3310128" y="2697480"/>
            <a:ext cx="2560320" cy="822960"/>
          </a:xfrm>
          <a:prstGeom prst="rect">
            <a:avLst/>
          </a:prstGeom>
          <a:noFill/>
          <a:ln/>
        </p:spPr>
        <p:txBody>
          <a:bodyPr wrap="square" rtlCol="0" anchor="ctr"/>
          <a:lstStyle/>
          <a:p>
            <a:pPr algn="ctr" indent="0" marL="0">
              <a:buNone/>
            </a:pPr>
            <a:r>
              <a:rPr lang="en-US" sz="3300" b="1" dirty="0">
                <a:solidFill>
                  <a:srgbClr val="0E7C86"/>
                </a:solidFill>
                <a:latin typeface="Segoe UI" pitchFamily="34" charset="0"/>
                <a:ea typeface="Segoe UI" pitchFamily="34" charset="-122"/>
                <a:cs typeface="Segoe UI" pitchFamily="34" charset="-120"/>
              </a:rPr>
              <a:t>≥85%</a:t>
            </a:r>
            <a:endParaRPr lang="en-US" sz="3300" dirty="0"/>
          </a:p>
        </p:txBody>
      </p:sp>
      <p:sp>
        <p:nvSpPr>
          <p:cNvPr id="9" name="Text 7"/>
          <p:cNvSpPr/>
          <p:nvPr/>
        </p:nvSpPr>
        <p:spPr>
          <a:xfrm>
            <a:off x="3447288" y="3611880"/>
            <a:ext cx="2286000" cy="731520"/>
          </a:xfrm>
          <a:prstGeom prst="rect">
            <a:avLst/>
          </a:prstGeom>
          <a:noFill/>
          <a:ln/>
        </p:spPr>
        <p:txBody>
          <a:bodyPr wrap="square" rtlCol="0" anchor="ctr"/>
          <a:lstStyle/>
          <a:p>
            <a:pPr algn="ctr" indent="0" marL="0">
              <a:lnSpc>
                <a:spcPct val="105000"/>
              </a:lnSpc>
              <a:buNone/>
            </a:pPr>
            <a:r>
              <a:rPr lang="en-US" sz="1450" dirty="0">
                <a:solidFill>
                  <a:srgbClr val="1A1A1A"/>
                </a:solidFill>
                <a:latin typeface="Segoe UI" pitchFamily="34" charset="0"/>
                <a:ea typeface="Segoe UI" pitchFamily="34" charset="-122"/>
                <a:cs typeface="Segoe UI" pitchFamily="34" charset="-120"/>
              </a:rPr>
              <a:t>transcription target</a:t>
            </a:r>
            <a:endParaRPr lang="en-US" sz="1450" dirty="0"/>
          </a:p>
        </p:txBody>
      </p:sp>
      <p:sp>
        <p:nvSpPr>
          <p:cNvPr id="10" name="Shape 8"/>
          <p:cNvSpPr/>
          <p:nvPr/>
        </p:nvSpPr>
        <p:spPr>
          <a:xfrm>
            <a:off x="6053328" y="2468880"/>
            <a:ext cx="2560320" cy="2103120"/>
          </a:xfrm>
          <a:prstGeom prst="roundRect">
            <a:avLst>
              <a:gd name="adj" fmla="val 5217"/>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1" name="Text 9"/>
          <p:cNvSpPr/>
          <p:nvPr/>
        </p:nvSpPr>
        <p:spPr>
          <a:xfrm>
            <a:off x="6053328" y="2697480"/>
            <a:ext cx="2560320" cy="822960"/>
          </a:xfrm>
          <a:prstGeom prst="rect">
            <a:avLst/>
          </a:prstGeom>
          <a:noFill/>
          <a:ln/>
        </p:spPr>
        <p:txBody>
          <a:bodyPr wrap="square" rtlCol="0" anchor="ctr"/>
          <a:lstStyle/>
          <a:p>
            <a:pPr algn="ctr" indent="0" marL="0">
              <a:buNone/>
            </a:pPr>
            <a:r>
              <a:rPr lang="en-US" sz="3300" b="1" dirty="0">
                <a:solidFill>
                  <a:srgbClr val="0E7C86"/>
                </a:solidFill>
                <a:latin typeface="Segoe UI" pitchFamily="34" charset="0"/>
                <a:ea typeface="Segoe UI" pitchFamily="34" charset="-122"/>
                <a:cs typeface="Segoe UI" pitchFamily="34" charset="-120"/>
              </a:rPr>
              <a:t>low</a:t>
            </a:r>
            <a:endParaRPr lang="en-US" sz="3300" dirty="0"/>
          </a:p>
        </p:txBody>
      </p:sp>
      <p:sp>
        <p:nvSpPr>
          <p:cNvPr id="12" name="Text 10"/>
          <p:cNvSpPr/>
          <p:nvPr/>
        </p:nvSpPr>
        <p:spPr>
          <a:xfrm>
            <a:off x="6190488" y="3611880"/>
            <a:ext cx="2286000" cy="731520"/>
          </a:xfrm>
          <a:prstGeom prst="rect">
            <a:avLst/>
          </a:prstGeom>
          <a:noFill/>
          <a:ln/>
        </p:spPr>
        <p:txBody>
          <a:bodyPr wrap="square" rtlCol="0" anchor="ctr"/>
          <a:lstStyle/>
          <a:p>
            <a:pPr algn="ctr" indent="0" marL="0">
              <a:lnSpc>
                <a:spcPct val="105000"/>
              </a:lnSpc>
              <a:buNone/>
            </a:pPr>
            <a:r>
              <a:rPr lang="en-US" sz="1450" dirty="0">
                <a:solidFill>
                  <a:srgbClr val="1A1A1A"/>
                </a:solidFill>
                <a:latin typeface="Segoe UI" pitchFamily="34" charset="0"/>
                <a:ea typeface="Segoe UI" pitchFamily="34" charset="-122"/>
                <a:cs typeface="Segoe UI" pitchFamily="34" charset="-120"/>
              </a:rPr>
              <a:t>hallucination rate</a:t>
            </a:r>
            <a:endParaRPr lang="en-US" sz="1450" dirty="0"/>
          </a:p>
        </p:txBody>
      </p:sp>
      <p:sp>
        <p:nvSpPr>
          <p:cNvPr id="13" name="Shape 11"/>
          <p:cNvSpPr/>
          <p:nvPr/>
        </p:nvSpPr>
        <p:spPr>
          <a:xfrm>
            <a:off x="8796528" y="2468880"/>
            <a:ext cx="2560320" cy="2103120"/>
          </a:xfrm>
          <a:prstGeom prst="roundRect">
            <a:avLst>
              <a:gd name="adj" fmla="val 5217"/>
            </a:avLst>
          </a:prstGeom>
          <a:solidFill>
            <a:srgbClr val="F7E9CF"/>
          </a:solidFill>
          <a:ln w="12700">
            <a:solidFill>
              <a:srgbClr val="E08A2B"/>
            </a:solidFill>
            <a:prstDash val="solid"/>
          </a:ln>
          <a:effectLst>
            <a:outerShdw sx="100000" sy="100000" kx="0" ky="0" algn="bl" rotWithShape="0" blurRad="88900" dist="25400" dir="5400000">
              <a:srgbClr val="BBB2A2">
                <a:alpha val="22000"/>
              </a:srgbClr>
            </a:outerShdw>
          </a:effectLst>
        </p:spPr>
      </p:sp>
      <p:sp>
        <p:nvSpPr>
          <p:cNvPr id="14" name="Text 12"/>
          <p:cNvSpPr/>
          <p:nvPr/>
        </p:nvSpPr>
        <p:spPr>
          <a:xfrm>
            <a:off x="8796528" y="2697480"/>
            <a:ext cx="2560320" cy="822960"/>
          </a:xfrm>
          <a:prstGeom prst="rect">
            <a:avLst/>
          </a:prstGeom>
          <a:noFill/>
          <a:ln/>
        </p:spPr>
        <p:txBody>
          <a:bodyPr wrap="square" rtlCol="0" anchor="ctr"/>
          <a:lstStyle/>
          <a:p>
            <a:pPr algn="ctr" indent="0" marL="0">
              <a:buNone/>
            </a:pPr>
            <a:r>
              <a:rPr lang="en-US" sz="3300" b="1" dirty="0">
                <a:solidFill>
                  <a:srgbClr val="E08A2B"/>
                </a:solidFill>
                <a:latin typeface="Segoe UI" pitchFamily="34" charset="0"/>
                <a:ea typeface="Segoe UI" pitchFamily="34" charset="-122"/>
                <a:cs typeface="Segoe UI" pitchFamily="34" charset="-120"/>
              </a:rPr>
              <a:t>~80%</a:t>
            </a:r>
            <a:endParaRPr lang="en-US" sz="3300" dirty="0"/>
          </a:p>
        </p:txBody>
      </p:sp>
      <p:sp>
        <p:nvSpPr>
          <p:cNvPr id="15" name="Text 13"/>
          <p:cNvSpPr/>
          <p:nvPr/>
        </p:nvSpPr>
        <p:spPr>
          <a:xfrm>
            <a:off x="8933688" y="3611880"/>
            <a:ext cx="2286000" cy="731520"/>
          </a:xfrm>
          <a:prstGeom prst="rect">
            <a:avLst/>
          </a:prstGeom>
          <a:noFill/>
          <a:ln/>
        </p:spPr>
        <p:txBody>
          <a:bodyPr wrap="square" rtlCol="0" anchor="ctr"/>
          <a:lstStyle/>
          <a:p>
            <a:pPr algn="ctr" indent="0" marL="0">
              <a:lnSpc>
                <a:spcPct val="105000"/>
              </a:lnSpc>
              <a:buNone/>
            </a:pPr>
            <a:r>
              <a:rPr lang="en-US" sz="1450" dirty="0">
                <a:solidFill>
                  <a:srgbClr val="1A1A1A"/>
                </a:solidFill>
                <a:latin typeface="Segoe UI" pitchFamily="34" charset="0"/>
                <a:ea typeface="Segoe UI" pitchFamily="34" charset="-122"/>
                <a:cs typeface="Segoe UI" pitchFamily="34" charset="-120"/>
              </a:rPr>
              <a:t>context-accurate answers</a:t>
            </a:r>
            <a:endParaRPr lang="en-US" sz="1450" dirty="0"/>
          </a:p>
        </p:txBody>
      </p:sp>
      <p:sp>
        <p:nvSpPr>
          <p:cNvPr id="16" name="Text 14"/>
          <p:cNvSpPr/>
          <p:nvPr/>
        </p:nvSpPr>
        <p:spPr>
          <a:xfrm>
            <a:off x="566928" y="4937760"/>
            <a:ext cx="10972800" cy="457200"/>
          </a:xfrm>
          <a:prstGeom prst="rect">
            <a:avLst/>
          </a:prstGeom>
          <a:noFill/>
          <a:ln/>
        </p:spPr>
        <p:txBody>
          <a:bodyPr wrap="square" rtlCol="0" anchor="ctr"/>
          <a:lstStyle/>
          <a:p>
            <a:pPr indent="0" marL="0">
              <a:buNone/>
            </a:pPr>
            <a:r>
              <a:rPr lang="en-US" sz="1500" i="1" dirty="0">
                <a:solidFill>
                  <a:srgbClr val="9A9285"/>
                </a:solidFill>
                <a:latin typeface="Segoe UI" pitchFamily="34" charset="0"/>
                <a:ea typeface="Segoe UI" pitchFamily="34" charset="-122"/>
                <a:cs typeface="Segoe UI" pitchFamily="34" charset="-120"/>
              </a:rPr>
              <a:t>Across 30+ trial sessions (~350 transcript lines, 45+ graph relations) — and we're driving accuracy up.</a:t>
            </a:r>
            <a:endParaRPr lang="en-US" sz="1500" dirty="0"/>
          </a:p>
        </p:txBody>
      </p:sp>
      <p:sp>
        <p:nvSpPr>
          <p:cNvPr id="17" name="Text 15"/>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8" name="Text 16"/>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43</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par>
                    <p:cTn id="142" presetID="10" presetClass="entr" presetSubtype="0" fill="hold" grpId="0" nodeType="afterEffect">
                      <p:stCondLst>
                        <p:cond delay="1680"/>
                      </p:stCondLst>
                      <p:childTnLst>
                        <p:set>
                          <p:cBhvr>
                            <p:cTn id="143" dur="1" fill="hold">
                              <p:stCondLst>
                                <p:cond delay="0"/>
                              </p:stCondLst>
                            </p:cTn>
                            <p:tgtEl>
                              <p:spTgt spid="16"/>
                            </p:tgtEl>
                            <p:attrNameLst>
                              <p:attrName>style.visibility</p:attrName>
                            </p:attrNameLst>
                          </p:cBhvr>
                          <p:to>
                            <p:strVal val="visible"/>
                          </p:to>
                        </p:set>
                        <p:animEffect transition="in" filter="fade">
                          <p:cBhvr>
                            <p:cTn id="144" dur="450"/>
                            <p:tgtEl>
                              <p:spTgt spid="16"/>
                            </p:tgtEl>
                          </p:cBhvr>
                        </p:animEffect>
                      </p:childTnLst>
                    </p:cTn>
                  </p:par>
                  <p:par>
                    <p:cTn id="145" presetID="10" presetClass="entr" presetSubtype="0" fill="hold" grpId="0" nodeType="afterEffect">
                      <p:stCondLst>
                        <p:cond delay="1800"/>
                      </p:stCondLst>
                      <p:childTnLst>
                        <p:set>
                          <p:cBhvr>
                            <p:cTn id="146" dur="1" fill="hold">
                              <p:stCondLst>
                                <p:cond delay="0"/>
                              </p:stCondLst>
                            </p:cTn>
                            <p:tgtEl>
                              <p:spTgt spid="17"/>
                            </p:tgtEl>
                            <p:attrNameLst>
                              <p:attrName>style.visibility</p:attrName>
                            </p:attrNameLst>
                          </p:cBhvr>
                          <p:to>
                            <p:strVal val="visible"/>
                          </p:to>
                        </p:set>
                        <p:animEffect transition="in" filter="fade">
                          <p:cBhvr>
                            <p:cTn id="147" dur="450"/>
                            <p:tgtEl>
                              <p:spTgt spid="17"/>
                            </p:tgtEl>
                          </p:cBhvr>
                        </p:animEffect>
                      </p:childTnLst>
                    </p:cTn>
                  </p:par>
                  <p:par>
                    <p:cTn id="148" presetID="10" presetClass="entr" presetSubtype="0" fill="hold" grpId="0" nodeType="afterEffect">
                      <p:stCondLst>
                        <p:cond delay="1920"/>
                      </p:stCondLst>
                      <p:childTnLst>
                        <p:set>
                          <p:cBhvr>
                            <p:cTn id="149" dur="1" fill="hold">
                              <p:stCondLst>
                                <p:cond delay="0"/>
                              </p:stCondLst>
                            </p:cTn>
                            <p:tgtEl>
                              <p:spTgt spid="18"/>
                            </p:tgtEl>
                            <p:attrNameLst>
                              <p:attrName>style.visibility</p:attrName>
                            </p:attrNameLst>
                          </p:cBhvr>
                          <p:to>
                            <p:strVal val="visible"/>
                          </p:to>
                        </p:set>
                        <p:animEffect transition="in" filter="fade">
                          <p:cBhvr>
                            <p:cTn id="150" dur="450"/>
                            <p:tgtEl>
                              <p:spTgt spid="18"/>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ENGINEERING QUALITY</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Discipline, not vibes.</a:t>
            </a:r>
            <a:endParaRPr lang="en-US" sz="3300" dirty="0"/>
          </a:p>
        </p:txBody>
      </p:sp>
      <p:sp>
        <p:nvSpPr>
          <p:cNvPr id="4" name="Shape 2"/>
          <p:cNvSpPr/>
          <p:nvPr/>
        </p:nvSpPr>
        <p:spPr>
          <a:xfrm>
            <a:off x="566928" y="2194560"/>
            <a:ext cx="566928" cy="566928"/>
          </a:xfrm>
          <a:prstGeom prst="roundRect">
            <a:avLst>
              <a:gd name="adj" fmla="val 12903"/>
            </a:avLst>
          </a:prstGeom>
          <a:solidFill>
            <a:srgbClr val="E9F3EC"/>
          </a:solidFill>
          <a:ln w="16510">
            <a:solidFill>
              <a:srgbClr val="2F8F5B"/>
            </a:solidFill>
            <a:prstDash val="solid"/>
          </a:ln>
        </p:spPr>
      </p:sp>
      <p:sp>
        <p:nvSpPr>
          <p:cNvPr id="5" name="Text 3"/>
          <p:cNvSpPr/>
          <p:nvPr/>
        </p:nvSpPr>
        <p:spPr>
          <a:xfrm>
            <a:off x="566928" y="2194560"/>
            <a:ext cx="566928" cy="566928"/>
          </a:xfrm>
          <a:prstGeom prst="rect">
            <a:avLst/>
          </a:prstGeom>
          <a:noFill/>
          <a:ln/>
        </p:spPr>
        <p:txBody>
          <a:bodyPr wrap="square" rtlCol="0" anchor="ctr"/>
          <a:lstStyle/>
          <a:p>
            <a:pPr algn="ctr" indent="0" marL="0">
              <a:buNone/>
            </a:pPr>
            <a:r>
              <a:rPr lang="en-US" sz="1600" b="1" dirty="0">
                <a:solidFill>
                  <a:srgbClr val="2F8F5B"/>
                </a:solidFill>
                <a:latin typeface="Segoe UI" pitchFamily="34" charset="0"/>
                <a:ea typeface="Segoe UI" pitchFamily="34" charset="-122"/>
                <a:cs typeface="Segoe UI" pitchFamily="34" charset="-120"/>
              </a:rPr>
              <a:t>✓</a:t>
            </a:r>
            <a:endParaRPr lang="en-US" sz="1600" dirty="0"/>
          </a:p>
        </p:txBody>
      </p:sp>
      <p:sp>
        <p:nvSpPr>
          <p:cNvPr id="6" name="Text 4"/>
          <p:cNvSpPr/>
          <p:nvPr/>
        </p:nvSpPr>
        <p:spPr>
          <a:xfrm>
            <a:off x="1389888" y="2194560"/>
            <a:ext cx="10058400" cy="566928"/>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mypy --strict  —  </a:t>
            </a:r>
            <a:pPr indent="0" marL="0">
              <a:buNone/>
            </a:pPr>
            <a:r>
              <a:rPr lang="en-US" sz="1700" dirty="0">
                <a:solidFill>
                  <a:srgbClr val="3A3A3A"/>
                </a:solidFill>
                <a:latin typeface="Segoe UI" pitchFamily="34" charset="0"/>
                <a:ea typeface="Segoe UI" pitchFamily="34" charset="-122"/>
                <a:cs typeface="Segoe UI" pitchFamily="34" charset="-120"/>
              </a:rPr>
              <a:t>fully typed Python</a:t>
            </a:r>
            <a:endParaRPr lang="en-US" sz="1700" dirty="0"/>
          </a:p>
        </p:txBody>
      </p:sp>
      <p:sp>
        <p:nvSpPr>
          <p:cNvPr id="7" name="Shape 5"/>
          <p:cNvSpPr/>
          <p:nvPr/>
        </p:nvSpPr>
        <p:spPr>
          <a:xfrm>
            <a:off x="566928" y="2944368"/>
            <a:ext cx="566928" cy="566928"/>
          </a:xfrm>
          <a:prstGeom prst="roundRect">
            <a:avLst>
              <a:gd name="adj" fmla="val 12903"/>
            </a:avLst>
          </a:prstGeom>
          <a:solidFill>
            <a:srgbClr val="E9F3EC"/>
          </a:solidFill>
          <a:ln w="16510">
            <a:solidFill>
              <a:srgbClr val="2F8F5B"/>
            </a:solidFill>
            <a:prstDash val="solid"/>
          </a:ln>
        </p:spPr>
      </p:sp>
      <p:sp>
        <p:nvSpPr>
          <p:cNvPr id="8" name="Text 6"/>
          <p:cNvSpPr/>
          <p:nvPr/>
        </p:nvSpPr>
        <p:spPr>
          <a:xfrm>
            <a:off x="566928" y="2944368"/>
            <a:ext cx="566928" cy="566928"/>
          </a:xfrm>
          <a:prstGeom prst="rect">
            <a:avLst/>
          </a:prstGeom>
          <a:noFill/>
          <a:ln/>
        </p:spPr>
        <p:txBody>
          <a:bodyPr wrap="square" rtlCol="0" anchor="ctr"/>
          <a:lstStyle/>
          <a:p>
            <a:pPr algn="ctr" indent="0" marL="0">
              <a:buNone/>
            </a:pPr>
            <a:r>
              <a:rPr lang="en-US" sz="1600" b="1" dirty="0">
                <a:solidFill>
                  <a:srgbClr val="2F8F5B"/>
                </a:solidFill>
                <a:latin typeface="Segoe UI" pitchFamily="34" charset="0"/>
                <a:ea typeface="Segoe UI" pitchFamily="34" charset="-122"/>
                <a:cs typeface="Segoe UI" pitchFamily="34" charset="-120"/>
              </a:rPr>
              <a:t>✓</a:t>
            </a:r>
            <a:endParaRPr lang="en-US" sz="1600" dirty="0"/>
          </a:p>
        </p:txBody>
      </p:sp>
      <p:sp>
        <p:nvSpPr>
          <p:cNvPr id="9" name="Text 7"/>
          <p:cNvSpPr/>
          <p:nvPr/>
        </p:nvSpPr>
        <p:spPr>
          <a:xfrm>
            <a:off x="1389888" y="2944368"/>
            <a:ext cx="10058400" cy="566928"/>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Ruff  —  </a:t>
            </a:r>
            <a:pPr indent="0" marL="0">
              <a:buNone/>
            </a:pPr>
            <a:r>
              <a:rPr lang="en-US" sz="1700" dirty="0">
                <a:solidFill>
                  <a:srgbClr val="3A3A3A"/>
                </a:solidFill>
                <a:latin typeface="Segoe UI" pitchFamily="34" charset="0"/>
                <a:ea typeface="Segoe UI" pitchFamily="34" charset="-122"/>
                <a:cs typeface="Segoe UI" pitchFamily="34" charset="-120"/>
              </a:rPr>
              <a:t>fast linting</a:t>
            </a:r>
            <a:endParaRPr lang="en-US" sz="1700" dirty="0"/>
          </a:p>
        </p:txBody>
      </p:sp>
      <p:sp>
        <p:nvSpPr>
          <p:cNvPr id="10" name="Shape 8"/>
          <p:cNvSpPr/>
          <p:nvPr/>
        </p:nvSpPr>
        <p:spPr>
          <a:xfrm>
            <a:off x="566928" y="3694176"/>
            <a:ext cx="566928" cy="566928"/>
          </a:xfrm>
          <a:prstGeom prst="roundRect">
            <a:avLst>
              <a:gd name="adj" fmla="val 12903"/>
            </a:avLst>
          </a:prstGeom>
          <a:solidFill>
            <a:srgbClr val="E9F3EC"/>
          </a:solidFill>
          <a:ln w="16510">
            <a:solidFill>
              <a:srgbClr val="2F8F5B"/>
            </a:solidFill>
            <a:prstDash val="solid"/>
          </a:ln>
        </p:spPr>
      </p:sp>
      <p:sp>
        <p:nvSpPr>
          <p:cNvPr id="11" name="Text 9"/>
          <p:cNvSpPr/>
          <p:nvPr/>
        </p:nvSpPr>
        <p:spPr>
          <a:xfrm>
            <a:off x="566928" y="3694176"/>
            <a:ext cx="566928" cy="566928"/>
          </a:xfrm>
          <a:prstGeom prst="rect">
            <a:avLst/>
          </a:prstGeom>
          <a:noFill/>
          <a:ln/>
        </p:spPr>
        <p:txBody>
          <a:bodyPr wrap="square" rtlCol="0" anchor="ctr"/>
          <a:lstStyle/>
          <a:p>
            <a:pPr algn="ctr" indent="0" marL="0">
              <a:buNone/>
            </a:pPr>
            <a:r>
              <a:rPr lang="en-US" sz="1600" b="1" dirty="0">
                <a:solidFill>
                  <a:srgbClr val="2F8F5B"/>
                </a:solidFill>
                <a:latin typeface="Segoe UI" pitchFamily="34" charset="0"/>
                <a:ea typeface="Segoe UI" pitchFamily="34" charset="-122"/>
                <a:cs typeface="Segoe UI" pitchFamily="34" charset="-120"/>
              </a:rPr>
              <a:t>✓</a:t>
            </a:r>
            <a:endParaRPr lang="en-US" sz="1600" dirty="0"/>
          </a:p>
        </p:txBody>
      </p:sp>
      <p:sp>
        <p:nvSpPr>
          <p:cNvPr id="12" name="Text 10"/>
          <p:cNvSpPr/>
          <p:nvPr/>
        </p:nvSpPr>
        <p:spPr>
          <a:xfrm>
            <a:off x="1389888" y="3694176"/>
            <a:ext cx="10058400" cy="566928"/>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pytest  —  </a:t>
            </a:r>
            <a:pPr indent="0" marL="0">
              <a:buNone/>
            </a:pPr>
            <a:r>
              <a:rPr lang="en-US" sz="1700" dirty="0">
                <a:solidFill>
                  <a:srgbClr val="3A3A3A"/>
                </a:solidFill>
                <a:latin typeface="Segoe UI" pitchFamily="34" charset="0"/>
                <a:ea typeface="Segoe UI" pitchFamily="34" charset="-122"/>
                <a:cs typeface="Segoe UI" pitchFamily="34" charset="-120"/>
              </a:rPr>
              <a:t>unit · integration · e2e</a:t>
            </a:r>
            <a:endParaRPr lang="en-US" sz="1700" dirty="0"/>
          </a:p>
        </p:txBody>
      </p:sp>
      <p:sp>
        <p:nvSpPr>
          <p:cNvPr id="13" name="Shape 11"/>
          <p:cNvSpPr/>
          <p:nvPr/>
        </p:nvSpPr>
        <p:spPr>
          <a:xfrm>
            <a:off x="566928" y="4443984"/>
            <a:ext cx="566928" cy="566928"/>
          </a:xfrm>
          <a:prstGeom prst="roundRect">
            <a:avLst>
              <a:gd name="adj" fmla="val 12903"/>
            </a:avLst>
          </a:prstGeom>
          <a:solidFill>
            <a:srgbClr val="E9F3EC"/>
          </a:solidFill>
          <a:ln w="16510">
            <a:solidFill>
              <a:srgbClr val="2F8F5B"/>
            </a:solidFill>
            <a:prstDash val="solid"/>
          </a:ln>
        </p:spPr>
      </p:sp>
      <p:sp>
        <p:nvSpPr>
          <p:cNvPr id="14" name="Text 12"/>
          <p:cNvSpPr/>
          <p:nvPr/>
        </p:nvSpPr>
        <p:spPr>
          <a:xfrm>
            <a:off x="566928" y="4443984"/>
            <a:ext cx="566928" cy="566928"/>
          </a:xfrm>
          <a:prstGeom prst="rect">
            <a:avLst/>
          </a:prstGeom>
          <a:noFill/>
          <a:ln/>
        </p:spPr>
        <p:txBody>
          <a:bodyPr wrap="square" rtlCol="0" anchor="ctr"/>
          <a:lstStyle/>
          <a:p>
            <a:pPr algn="ctr" indent="0" marL="0">
              <a:buNone/>
            </a:pPr>
            <a:r>
              <a:rPr lang="en-US" sz="1600" b="1" dirty="0">
                <a:solidFill>
                  <a:srgbClr val="2F8F5B"/>
                </a:solidFill>
                <a:latin typeface="Segoe UI" pitchFamily="34" charset="0"/>
                <a:ea typeface="Segoe UI" pitchFamily="34" charset="-122"/>
                <a:cs typeface="Segoe UI" pitchFamily="34" charset="-120"/>
              </a:rPr>
              <a:t>✓</a:t>
            </a:r>
            <a:endParaRPr lang="en-US" sz="1600" dirty="0"/>
          </a:p>
        </p:txBody>
      </p:sp>
      <p:sp>
        <p:nvSpPr>
          <p:cNvPr id="15" name="Text 13"/>
          <p:cNvSpPr/>
          <p:nvPr/>
        </p:nvSpPr>
        <p:spPr>
          <a:xfrm>
            <a:off x="1389888" y="4443984"/>
            <a:ext cx="10058400" cy="566928"/>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Locust  —  </a:t>
            </a:r>
            <a:pPr indent="0" marL="0">
              <a:buNone/>
            </a:pPr>
            <a:r>
              <a:rPr lang="en-US" sz="1700" dirty="0">
                <a:solidFill>
                  <a:srgbClr val="3A3A3A"/>
                </a:solidFill>
                <a:latin typeface="Segoe UI" pitchFamily="34" charset="0"/>
                <a:ea typeface="Segoe UI" pitchFamily="34" charset="-122"/>
                <a:cs typeface="Segoe UI" pitchFamily="34" charset="-120"/>
              </a:rPr>
              <a:t>load tested for concurrency</a:t>
            </a:r>
            <a:endParaRPr lang="en-US" sz="1700" dirty="0"/>
          </a:p>
        </p:txBody>
      </p:sp>
      <p:sp>
        <p:nvSpPr>
          <p:cNvPr id="16" name="Shape 14"/>
          <p:cNvSpPr/>
          <p:nvPr/>
        </p:nvSpPr>
        <p:spPr>
          <a:xfrm>
            <a:off x="566928" y="5193792"/>
            <a:ext cx="566928" cy="566928"/>
          </a:xfrm>
          <a:prstGeom prst="roundRect">
            <a:avLst>
              <a:gd name="adj" fmla="val 12903"/>
            </a:avLst>
          </a:prstGeom>
          <a:solidFill>
            <a:srgbClr val="E9F3EC"/>
          </a:solidFill>
          <a:ln w="16510">
            <a:solidFill>
              <a:srgbClr val="2F8F5B"/>
            </a:solidFill>
            <a:prstDash val="solid"/>
          </a:ln>
        </p:spPr>
      </p:sp>
      <p:sp>
        <p:nvSpPr>
          <p:cNvPr id="17" name="Text 15"/>
          <p:cNvSpPr/>
          <p:nvPr/>
        </p:nvSpPr>
        <p:spPr>
          <a:xfrm>
            <a:off x="566928" y="5193792"/>
            <a:ext cx="566928" cy="566928"/>
          </a:xfrm>
          <a:prstGeom prst="rect">
            <a:avLst/>
          </a:prstGeom>
          <a:noFill/>
          <a:ln/>
        </p:spPr>
        <p:txBody>
          <a:bodyPr wrap="square" rtlCol="0" anchor="ctr"/>
          <a:lstStyle/>
          <a:p>
            <a:pPr algn="ctr" indent="0" marL="0">
              <a:buNone/>
            </a:pPr>
            <a:r>
              <a:rPr lang="en-US" sz="1600" b="1" dirty="0">
                <a:solidFill>
                  <a:srgbClr val="2F8F5B"/>
                </a:solidFill>
                <a:latin typeface="Segoe UI" pitchFamily="34" charset="0"/>
                <a:ea typeface="Segoe UI" pitchFamily="34" charset="-122"/>
                <a:cs typeface="Segoe UI" pitchFamily="34" charset="-120"/>
              </a:rPr>
              <a:t>✓</a:t>
            </a:r>
            <a:endParaRPr lang="en-US" sz="1600" dirty="0"/>
          </a:p>
        </p:txBody>
      </p:sp>
      <p:sp>
        <p:nvSpPr>
          <p:cNvPr id="18" name="Text 16"/>
          <p:cNvSpPr/>
          <p:nvPr/>
        </p:nvSpPr>
        <p:spPr>
          <a:xfrm>
            <a:off x="1389888" y="5193792"/>
            <a:ext cx="10058400" cy="566928"/>
          </a:xfrm>
          <a:prstGeom prst="rect">
            <a:avLst/>
          </a:prstGeom>
          <a:noFill/>
          <a:ln/>
        </p:spPr>
        <p:txBody>
          <a:bodyPr wrap="square" rtlCol="0" anchor="ctr"/>
          <a:lstStyle/>
          <a:p>
            <a:pPr indent="0" marL="0">
              <a:buNone/>
            </a:pPr>
            <a:r>
              <a:rPr lang="en-US" sz="1700" b="1" dirty="0">
                <a:solidFill>
                  <a:srgbClr val="1A1A1A"/>
                </a:solidFill>
                <a:latin typeface="Segoe UI" pitchFamily="34" charset="0"/>
                <a:ea typeface="Segoe UI" pitchFamily="34" charset="-122"/>
                <a:cs typeface="Segoe UI" pitchFamily="34" charset="-120"/>
              </a:rPr>
              <a:t>Docker multi-stage  —  </a:t>
            </a:r>
            <a:pPr indent="0" marL="0">
              <a:buNone/>
            </a:pPr>
            <a:r>
              <a:rPr lang="en-US" sz="1700" dirty="0">
                <a:solidFill>
                  <a:srgbClr val="3A3A3A"/>
                </a:solidFill>
                <a:latin typeface="Segoe UI" pitchFamily="34" charset="0"/>
                <a:ea typeface="Segoe UI" pitchFamily="34" charset="-122"/>
                <a:cs typeface="Segoe UI" pitchFamily="34" charset="-120"/>
              </a:rPr>
              <a:t>runtime + worker targets</a:t>
            </a:r>
            <a:endParaRPr lang="en-US" sz="1700" dirty="0"/>
          </a:p>
        </p:txBody>
      </p:sp>
      <p:sp>
        <p:nvSpPr>
          <p:cNvPr id="19" name="Text 17"/>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0" name="Text 18"/>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44</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par>
                    <p:cTn id="142" presetID="10" presetClass="entr" presetSubtype="0" fill="hold" grpId="0" nodeType="afterEffect">
                      <p:stCondLst>
                        <p:cond delay="1680"/>
                      </p:stCondLst>
                      <p:childTnLst>
                        <p:set>
                          <p:cBhvr>
                            <p:cTn id="143" dur="1" fill="hold">
                              <p:stCondLst>
                                <p:cond delay="0"/>
                              </p:stCondLst>
                            </p:cTn>
                            <p:tgtEl>
                              <p:spTgt spid="16"/>
                            </p:tgtEl>
                            <p:attrNameLst>
                              <p:attrName>style.visibility</p:attrName>
                            </p:attrNameLst>
                          </p:cBhvr>
                          <p:to>
                            <p:strVal val="visible"/>
                          </p:to>
                        </p:set>
                        <p:animEffect transition="in" filter="fade">
                          <p:cBhvr>
                            <p:cTn id="144" dur="450"/>
                            <p:tgtEl>
                              <p:spTgt spid="16"/>
                            </p:tgtEl>
                          </p:cBhvr>
                        </p:animEffect>
                      </p:childTnLst>
                    </p:cTn>
                  </p:par>
                  <p:par>
                    <p:cTn id="145" presetID="10" presetClass="entr" presetSubtype="0" fill="hold" grpId="0" nodeType="afterEffect">
                      <p:stCondLst>
                        <p:cond delay="1800"/>
                      </p:stCondLst>
                      <p:childTnLst>
                        <p:set>
                          <p:cBhvr>
                            <p:cTn id="146" dur="1" fill="hold">
                              <p:stCondLst>
                                <p:cond delay="0"/>
                              </p:stCondLst>
                            </p:cTn>
                            <p:tgtEl>
                              <p:spTgt spid="17"/>
                            </p:tgtEl>
                            <p:attrNameLst>
                              <p:attrName>style.visibility</p:attrName>
                            </p:attrNameLst>
                          </p:cBhvr>
                          <p:to>
                            <p:strVal val="visible"/>
                          </p:to>
                        </p:set>
                        <p:animEffect transition="in" filter="fade">
                          <p:cBhvr>
                            <p:cTn id="147" dur="450"/>
                            <p:tgtEl>
                              <p:spTgt spid="17"/>
                            </p:tgtEl>
                          </p:cBhvr>
                        </p:animEffect>
                      </p:childTnLst>
                    </p:cTn>
                  </p:par>
                  <p:par>
                    <p:cTn id="148" presetID="10" presetClass="entr" presetSubtype="0" fill="hold" grpId="0" nodeType="afterEffect">
                      <p:stCondLst>
                        <p:cond delay="1920"/>
                      </p:stCondLst>
                      <p:childTnLst>
                        <p:set>
                          <p:cBhvr>
                            <p:cTn id="149" dur="1" fill="hold">
                              <p:stCondLst>
                                <p:cond delay="0"/>
                              </p:stCondLst>
                            </p:cTn>
                            <p:tgtEl>
                              <p:spTgt spid="18"/>
                            </p:tgtEl>
                            <p:attrNameLst>
                              <p:attrName>style.visibility</p:attrName>
                            </p:attrNameLst>
                          </p:cBhvr>
                          <p:to>
                            <p:strVal val="visible"/>
                          </p:to>
                        </p:set>
                        <p:animEffect transition="in" filter="fade">
                          <p:cBhvr>
                            <p:cTn id="150" dur="450"/>
                            <p:tgtEl>
                              <p:spTgt spid="18"/>
                            </p:tgtEl>
                          </p:cBhvr>
                        </p:animEffect>
                      </p:childTnLst>
                    </p:cTn>
                  </p:par>
                  <p:par>
                    <p:cTn id="151" presetID="10" presetClass="entr" presetSubtype="0" fill="hold" grpId="0" nodeType="afterEffect">
                      <p:stCondLst>
                        <p:cond delay="2040"/>
                      </p:stCondLst>
                      <p:childTnLst>
                        <p:set>
                          <p:cBhvr>
                            <p:cTn id="152" dur="1" fill="hold">
                              <p:stCondLst>
                                <p:cond delay="0"/>
                              </p:stCondLst>
                            </p:cTn>
                            <p:tgtEl>
                              <p:spTgt spid="19"/>
                            </p:tgtEl>
                            <p:attrNameLst>
                              <p:attrName>style.visibility</p:attrName>
                            </p:attrNameLst>
                          </p:cBhvr>
                          <p:to>
                            <p:strVal val="visible"/>
                          </p:to>
                        </p:set>
                        <p:animEffect transition="in" filter="fade">
                          <p:cBhvr>
                            <p:cTn id="153" dur="450"/>
                            <p:tgtEl>
                              <p:spTgt spid="19"/>
                            </p:tgtEl>
                          </p:cBhvr>
                        </p:animEffect>
                      </p:childTnLst>
                    </p:cTn>
                  </p:par>
                  <p:par>
                    <p:cTn id="154" presetID="10" presetClass="entr" presetSubtype="0" fill="hold" grpId="0" nodeType="afterEffect">
                      <p:stCondLst>
                        <p:cond delay="2160"/>
                      </p:stCondLst>
                      <p:childTnLst>
                        <p:set>
                          <p:cBhvr>
                            <p:cTn id="155" dur="1" fill="hold">
                              <p:stCondLst>
                                <p:cond delay="0"/>
                              </p:stCondLst>
                            </p:cTn>
                            <p:tgtEl>
                              <p:spTgt spid="20"/>
                            </p:tgtEl>
                            <p:attrNameLst>
                              <p:attrName>style.visibility</p:attrName>
                            </p:attrNameLst>
                          </p:cBhvr>
                          <p:to>
                            <p:strVal val="visible"/>
                          </p:to>
                        </p:set>
                        <p:animEffect transition="in" filter="fade">
                          <p:cBhvr>
                            <p:cTn id="156" dur="450"/>
                            <p:tgtEl>
                              <p:spTgt spid="20"/>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HOW WE WORKED</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Iterative R&amp;D, clean ownership.</a:t>
            </a:r>
            <a:endParaRPr lang="en-US" sz="3300" dirty="0"/>
          </a:p>
        </p:txBody>
      </p:sp>
      <p:sp>
        <p:nvSpPr>
          <p:cNvPr id="4" name="Shape 2"/>
          <p:cNvSpPr/>
          <p:nvPr/>
        </p:nvSpPr>
        <p:spPr>
          <a:xfrm>
            <a:off x="566928" y="2286000"/>
            <a:ext cx="2057400" cy="822960"/>
          </a:xfrm>
          <a:prstGeom prst="roundRect">
            <a:avLst>
              <a:gd name="adj" fmla="val 11111"/>
            </a:avLst>
          </a:prstGeom>
          <a:solidFill>
            <a:srgbClr val="E4EFEF"/>
          </a:solidFill>
          <a:ln w="12700">
            <a:solidFill>
              <a:srgbClr val="0E7C86"/>
            </a:solidFill>
            <a:prstDash val="solid"/>
          </a:ln>
        </p:spPr>
      </p:sp>
      <p:sp>
        <p:nvSpPr>
          <p:cNvPr id="5" name="Text 3"/>
          <p:cNvSpPr/>
          <p:nvPr/>
        </p:nvSpPr>
        <p:spPr>
          <a:xfrm>
            <a:off x="566928" y="2286000"/>
            <a:ext cx="2057400" cy="822960"/>
          </a:xfrm>
          <a:prstGeom prst="rect">
            <a:avLst/>
          </a:prstGeom>
          <a:noFill/>
          <a:ln/>
        </p:spPr>
        <p:txBody>
          <a:bodyPr wrap="square" rtlCol="0" anchor="ctr"/>
          <a:lstStyle/>
          <a:p>
            <a:pPr algn="ctr" indent="0" marL="0">
              <a:buNone/>
            </a:pPr>
            <a:r>
              <a:rPr lang="en-US" sz="1450" b="1" dirty="0">
                <a:solidFill>
                  <a:srgbClr val="1A1A1A"/>
                </a:solidFill>
                <a:latin typeface="Segoe UI" pitchFamily="34" charset="0"/>
                <a:ea typeface="Segoe UI" pitchFamily="34" charset="-122"/>
                <a:cs typeface="Segoe UI" pitchFamily="34" charset="-120"/>
              </a:rPr>
              <a:t>Research</a:t>
            </a:r>
            <a:endParaRPr lang="en-US" sz="1450" dirty="0"/>
          </a:p>
        </p:txBody>
      </p:sp>
      <p:sp>
        <p:nvSpPr>
          <p:cNvPr id="6" name="Text 4"/>
          <p:cNvSpPr/>
          <p:nvPr/>
        </p:nvSpPr>
        <p:spPr>
          <a:xfrm>
            <a:off x="2578608" y="2286000"/>
            <a:ext cx="228600" cy="822960"/>
          </a:xfrm>
          <a:prstGeom prst="rect">
            <a:avLst/>
          </a:prstGeom>
          <a:noFill/>
          <a:ln/>
        </p:spPr>
        <p:txBody>
          <a:bodyPr wrap="square" rtlCol="0" anchor="ctr"/>
          <a:lstStyle/>
          <a:p>
            <a:pPr algn="ctr" indent="0" marL="0">
              <a:buNone/>
            </a:pPr>
            <a:r>
              <a:rPr lang="en-US" sz="1800" b="1" dirty="0">
                <a:solidFill>
                  <a:srgbClr val="0E7C86"/>
                </a:solidFill>
                <a:latin typeface="Segoe UI" pitchFamily="34" charset="0"/>
                <a:ea typeface="Segoe UI" pitchFamily="34" charset="-122"/>
                <a:cs typeface="Segoe UI" pitchFamily="34" charset="-120"/>
              </a:rPr>
              <a:t>›</a:t>
            </a:r>
            <a:endParaRPr lang="en-US" sz="1800" dirty="0"/>
          </a:p>
        </p:txBody>
      </p:sp>
      <p:sp>
        <p:nvSpPr>
          <p:cNvPr id="7" name="Shape 5"/>
          <p:cNvSpPr/>
          <p:nvPr/>
        </p:nvSpPr>
        <p:spPr>
          <a:xfrm>
            <a:off x="2779776" y="2286000"/>
            <a:ext cx="2057400" cy="822960"/>
          </a:xfrm>
          <a:prstGeom prst="roundRect">
            <a:avLst>
              <a:gd name="adj" fmla="val 11111"/>
            </a:avLst>
          </a:prstGeom>
          <a:solidFill>
            <a:srgbClr val="F0EBE1"/>
          </a:solidFill>
          <a:ln w="12700">
            <a:solidFill>
              <a:srgbClr val="0E7C86"/>
            </a:solidFill>
            <a:prstDash val="solid"/>
          </a:ln>
        </p:spPr>
      </p:sp>
      <p:sp>
        <p:nvSpPr>
          <p:cNvPr id="8" name="Text 6"/>
          <p:cNvSpPr/>
          <p:nvPr/>
        </p:nvSpPr>
        <p:spPr>
          <a:xfrm>
            <a:off x="2779776" y="2286000"/>
            <a:ext cx="2057400" cy="822960"/>
          </a:xfrm>
          <a:prstGeom prst="rect">
            <a:avLst/>
          </a:prstGeom>
          <a:noFill/>
          <a:ln/>
        </p:spPr>
        <p:txBody>
          <a:bodyPr wrap="square" rtlCol="0" anchor="ctr"/>
          <a:lstStyle/>
          <a:p>
            <a:pPr algn="ctr" indent="0" marL="0">
              <a:buNone/>
            </a:pPr>
            <a:r>
              <a:rPr lang="en-US" sz="1450" b="1" dirty="0">
                <a:solidFill>
                  <a:srgbClr val="1A1A1A"/>
                </a:solidFill>
                <a:latin typeface="Segoe UI" pitchFamily="34" charset="0"/>
                <a:ea typeface="Segoe UI" pitchFamily="34" charset="-122"/>
                <a:cs typeface="Segoe UI" pitchFamily="34" charset="-120"/>
              </a:rPr>
              <a:t>Analysis</a:t>
            </a:r>
            <a:endParaRPr lang="en-US" sz="1450" dirty="0"/>
          </a:p>
        </p:txBody>
      </p:sp>
      <p:sp>
        <p:nvSpPr>
          <p:cNvPr id="9" name="Text 7"/>
          <p:cNvSpPr/>
          <p:nvPr/>
        </p:nvSpPr>
        <p:spPr>
          <a:xfrm>
            <a:off x="4791456" y="2286000"/>
            <a:ext cx="228600" cy="822960"/>
          </a:xfrm>
          <a:prstGeom prst="rect">
            <a:avLst/>
          </a:prstGeom>
          <a:noFill/>
          <a:ln/>
        </p:spPr>
        <p:txBody>
          <a:bodyPr wrap="square" rtlCol="0" anchor="ctr"/>
          <a:lstStyle/>
          <a:p>
            <a:pPr algn="ctr" indent="0" marL="0">
              <a:buNone/>
            </a:pPr>
            <a:r>
              <a:rPr lang="en-US" sz="1800" b="1" dirty="0">
                <a:solidFill>
                  <a:srgbClr val="0E7C86"/>
                </a:solidFill>
                <a:latin typeface="Segoe UI" pitchFamily="34" charset="0"/>
                <a:ea typeface="Segoe UI" pitchFamily="34" charset="-122"/>
                <a:cs typeface="Segoe UI" pitchFamily="34" charset="-120"/>
              </a:rPr>
              <a:t>›</a:t>
            </a:r>
            <a:endParaRPr lang="en-US" sz="1800" dirty="0"/>
          </a:p>
        </p:txBody>
      </p:sp>
      <p:sp>
        <p:nvSpPr>
          <p:cNvPr id="10" name="Shape 8"/>
          <p:cNvSpPr/>
          <p:nvPr/>
        </p:nvSpPr>
        <p:spPr>
          <a:xfrm>
            <a:off x="4992624" y="2286000"/>
            <a:ext cx="2057400" cy="822960"/>
          </a:xfrm>
          <a:prstGeom prst="roundRect">
            <a:avLst>
              <a:gd name="adj" fmla="val 11111"/>
            </a:avLst>
          </a:prstGeom>
          <a:solidFill>
            <a:srgbClr val="E4EFEF"/>
          </a:solidFill>
          <a:ln w="12700">
            <a:solidFill>
              <a:srgbClr val="0E7C86"/>
            </a:solidFill>
            <a:prstDash val="solid"/>
          </a:ln>
        </p:spPr>
      </p:sp>
      <p:sp>
        <p:nvSpPr>
          <p:cNvPr id="11" name="Text 9"/>
          <p:cNvSpPr/>
          <p:nvPr/>
        </p:nvSpPr>
        <p:spPr>
          <a:xfrm>
            <a:off x="4992624" y="2286000"/>
            <a:ext cx="2057400" cy="822960"/>
          </a:xfrm>
          <a:prstGeom prst="rect">
            <a:avLst/>
          </a:prstGeom>
          <a:noFill/>
          <a:ln/>
        </p:spPr>
        <p:txBody>
          <a:bodyPr wrap="square" rtlCol="0" anchor="ctr"/>
          <a:lstStyle/>
          <a:p>
            <a:pPr algn="ctr" indent="0" marL="0">
              <a:buNone/>
            </a:pPr>
            <a:r>
              <a:rPr lang="en-US" sz="1450" b="1" dirty="0">
                <a:solidFill>
                  <a:srgbClr val="1A1A1A"/>
                </a:solidFill>
                <a:latin typeface="Segoe UI" pitchFamily="34" charset="0"/>
                <a:ea typeface="Segoe UI" pitchFamily="34" charset="-122"/>
                <a:cs typeface="Segoe UI" pitchFamily="34" charset="-120"/>
              </a:rPr>
              <a:t>Design</a:t>
            </a:r>
            <a:endParaRPr lang="en-US" sz="1450" dirty="0"/>
          </a:p>
        </p:txBody>
      </p:sp>
      <p:sp>
        <p:nvSpPr>
          <p:cNvPr id="12" name="Text 10"/>
          <p:cNvSpPr/>
          <p:nvPr/>
        </p:nvSpPr>
        <p:spPr>
          <a:xfrm>
            <a:off x="7004304" y="2286000"/>
            <a:ext cx="228600" cy="822960"/>
          </a:xfrm>
          <a:prstGeom prst="rect">
            <a:avLst/>
          </a:prstGeom>
          <a:noFill/>
          <a:ln/>
        </p:spPr>
        <p:txBody>
          <a:bodyPr wrap="square" rtlCol="0" anchor="ctr"/>
          <a:lstStyle/>
          <a:p>
            <a:pPr algn="ctr" indent="0" marL="0">
              <a:buNone/>
            </a:pPr>
            <a:r>
              <a:rPr lang="en-US" sz="1800" b="1" dirty="0">
                <a:solidFill>
                  <a:srgbClr val="0E7C86"/>
                </a:solidFill>
                <a:latin typeface="Segoe UI" pitchFamily="34" charset="0"/>
                <a:ea typeface="Segoe UI" pitchFamily="34" charset="-122"/>
                <a:cs typeface="Segoe UI" pitchFamily="34" charset="-120"/>
              </a:rPr>
              <a:t>›</a:t>
            </a:r>
            <a:endParaRPr lang="en-US" sz="1800" dirty="0"/>
          </a:p>
        </p:txBody>
      </p:sp>
      <p:sp>
        <p:nvSpPr>
          <p:cNvPr id="13" name="Shape 11"/>
          <p:cNvSpPr/>
          <p:nvPr/>
        </p:nvSpPr>
        <p:spPr>
          <a:xfrm>
            <a:off x="7205472" y="2286000"/>
            <a:ext cx="2057400" cy="822960"/>
          </a:xfrm>
          <a:prstGeom prst="roundRect">
            <a:avLst>
              <a:gd name="adj" fmla="val 11111"/>
            </a:avLst>
          </a:prstGeom>
          <a:solidFill>
            <a:srgbClr val="F0EBE1"/>
          </a:solidFill>
          <a:ln w="12700">
            <a:solidFill>
              <a:srgbClr val="0E7C86"/>
            </a:solidFill>
            <a:prstDash val="solid"/>
          </a:ln>
        </p:spPr>
      </p:sp>
      <p:sp>
        <p:nvSpPr>
          <p:cNvPr id="14" name="Text 12"/>
          <p:cNvSpPr/>
          <p:nvPr/>
        </p:nvSpPr>
        <p:spPr>
          <a:xfrm>
            <a:off x="7205472" y="2286000"/>
            <a:ext cx="2057400" cy="822960"/>
          </a:xfrm>
          <a:prstGeom prst="rect">
            <a:avLst/>
          </a:prstGeom>
          <a:noFill/>
          <a:ln/>
        </p:spPr>
        <p:txBody>
          <a:bodyPr wrap="square" rtlCol="0" anchor="ctr"/>
          <a:lstStyle/>
          <a:p>
            <a:pPr algn="ctr" indent="0" marL="0">
              <a:buNone/>
            </a:pPr>
            <a:r>
              <a:rPr lang="en-US" sz="1450" b="1" dirty="0">
                <a:solidFill>
                  <a:srgbClr val="1A1A1A"/>
                </a:solidFill>
                <a:latin typeface="Segoe UI" pitchFamily="34" charset="0"/>
                <a:ea typeface="Segoe UI" pitchFamily="34" charset="-122"/>
                <a:cs typeface="Segoe UI" pitchFamily="34" charset="-120"/>
              </a:rPr>
              <a:t>Development</a:t>
            </a:r>
            <a:endParaRPr lang="en-US" sz="1450" dirty="0"/>
          </a:p>
        </p:txBody>
      </p:sp>
      <p:sp>
        <p:nvSpPr>
          <p:cNvPr id="15" name="Text 13"/>
          <p:cNvSpPr/>
          <p:nvPr/>
        </p:nvSpPr>
        <p:spPr>
          <a:xfrm>
            <a:off x="9217152" y="2286000"/>
            <a:ext cx="228600" cy="822960"/>
          </a:xfrm>
          <a:prstGeom prst="rect">
            <a:avLst/>
          </a:prstGeom>
          <a:noFill/>
          <a:ln/>
        </p:spPr>
        <p:txBody>
          <a:bodyPr wrap="square" rtlCol="0" anchor="ctr"/>
          <a:lstStyle/>
          <a:p>
            <a:pPr algn="ctr" indent="0" marL="0">
              <a:buNone/>
            </a:pPr>
            <a:r>
              <a:rPr lang="en-US" sz="1800" b="1" dirty="0">
                <a:solidFill>
                  <a:srgbClr val="0E7C86"/>
                </a:solidFill>
                <a:latin typeface="Segoe UI" pitchFamily="34" charset="0"/>
                <a:ea typeface="Segoe UI" pitchFamily="34" charset="-122"/>
                <a:cs typeface="Segoe UI" pitchFamily="34" charset="-120"/>
              </a:rPr>
              <a:t>›</a:t>
            </a:r>
            <a:endParaRPr lang="en-US" sz="1800" dirty="0"/>
          </a:p>
        </p:txBody>
      </p:sp>
      <p:sp>
        <p:nvSpPr>
          <p:cNvPr id="16" name="Shape 14"/>
          <p:cNvSpPr/>
          <p:nvPr/>
        </p:nvSpPr>
        <p:spPr>
          <a:xfrm>
            <a:off x="9418320" y="2286000"/>
            <a:ext cx="2057400" cy="822960"/>
          </a:xfrm>
          <a:prstGeom prst="roundRect">
            <a:avLst>
              <a:gd name="adj" fmla="val 11111"/>
            </a:avLst>
          </a:prstGeom>
          <a:solidFill>
            <a:srgbClr val="E4EFEF"/>
          </a:solidFill>
          <a:ln w="12700">
            <a:solidFill>
              <a:srgbClr val="0E7C86"/>
            </a:solidFill>
            <a:prstDash val="solid"/>
          </a:ln>
        </p:spPr>
      </p:sp>
      <p:sp>
        <p:nvSpPr>
          <p:cNvPr id="17" name="Text 15"/>
          <p:cNvSpPr/>
          <p:nvPr/>
        </p:nvSpPr>
        <p:spPr>
          <a:xfrm>
            <a:off x="9418320" y="2286000"/>
            <a:ext cx="2057400" cy="822960"/>
          </a:xfrm>
          <a:prstGeom prst="rect">
            <a:avLst/>
          </a:prstGeom>
          <a:noFill/>
          <a:ln/>
        </p:spPr>
        <p:txBody>
          <a:bodyPr wrap="square" rtlCol="0" anchor="ctr"/>
          <a:lstStyle/>
          <a:p>
            <a:pPr algn="ctr" indent="0" marL="0">
              <a:buNone/>
            </a:pPr>
            <a:r>
              <a:rPr lang="en-US" sz="1450" b="1" dirty="0">
                <a:solidFill>
                  <a:srgbClr val="1A1A1A"/>
                </a:solidFill>
                <a:latin typeface="Segoe UI" pitchFamily="34" charset="0"/>
                <a:ea typeface="Segoe UI" pitchFamily="34" charset="-122"/>
                <a:cs typeface="Segoe UI" pitchFamily="34" charset="-120"/>
              </a:rPr>
              <a:t>Testing</a:t>
            </a:r>
            <a:endParaRPr lang="en-US" sz="1450" dirty="0"/>
          </a:p>
        </p:txBody>
      </p:sp>
      <p:sp>
        <p:nvSpPr>
          <p:cNvPr id="18" name="Shape 16"/>
          <p:cNvSpPr/>
          <p:nvPr/>
        </p:nvSpPr>
        <p:spPr>
          <a:xfrm>
            <a:off x="566928" y="3474720"/>
            <a:ext cx="5212080" cy="1737360"/>
          </a:xfrm>
          <a:prstGeom prst="roundRect">
            <a:avLst>
              <a:gd name="adj" fmla="val 6316"/>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19" name="Text 17"/>
          <p:cNvSpPr/>
          <p:nvPr/>
        </p:nvSpPr>
        <p:spPr>
          <a:xfrm>
            <a:off x="932688" y="3657600"/>
            <a:ext cx="4572000" cy="411480"/>
          </a:xfrm>
          <a:prstGeom prst="rect">
            <a:avLst/>
          </a:prstGeom>
          <a:noFill/>
          <a:ln/>
        </p:spPr>
        <p:txBody>
          <a:bodyPr wrap="square" rtlCol="0" anchor="ctr"/>
          <a:lstStyle/>
          <a:p>
            <a:pPr indent="0" marL="0">
              <a:buNone/>
            </a:pPr>
            <a:r>
              <a:rPr lang="en-US" sz="1700" b="1" dirty="0">
                <a:solidFill>
                  <a:srgbClr val="0E7C86"/>
                </a:solidFill>
                <a:latin typeface="Segoe UI" pitchFamily="34" charset="0"/>
                <a:ea typeface="Segoe UI" pitchFamily="34" charset="-122"/>
                <a:cs typeface="Segoe UI" pitchFamily="34" charset="-120"/>
              </a:rPr>
              <a:t>Ahmad</a:t>
            </a:r>
            <a:endParaRPr lang="en-US" sz="1700" dirty="0"/>
          </a:p>
        </p:txBody>
      </p:sp>
      <p:sp>
        <p:nvSpPr>
          <p:cNvPr id="20" name="Text 18"/>
          <p:cNvSpPr/>
          <p:nvPr/>
        </p:nvSpPr>
        <p:spPr>
          <a:xfrm>
            <a:off x="932688" y="4114800"/>
            <a:ext cx="4572000" cy="914400"/>
          </a:xfrm>
          <a:prstGeom prst="rect">
            <a:avLst/>
          </a:prstGeom>
          <a:noFill/>
          <a:ln/>
        </p:spPr>
        <p:txBody>
          <a:bodyPr wrap="square" rtlCol="0" anchor="ctr"/>
          <a:lstStyle/>
          <a:p>
            <a:pPr indent="0" marL="0">
              <a:lnSpc>
                <a:spcPct val="115000"/>
              </a:lnSpc>
              <a:buNone/>
            </a:pPr>
            <a:r>
              <a:rPr lang="en-US" sz="1500" dirty="0">
                <a:solidFill>
                  <a:srgbClr val="3A3A3A"/>
                </a:solidFill>
                <a:latin typeface="Segoe UI" pitchFamily="34" charset="0"/>
                <a:ea typeface="Segoe UI" pitchFamily="34" charset="-122"/>
                <a:cs typeface="Segoe UI" pitchFamily="34" charset="-120"/>
              </a:rPr>
              <a:t>Client · architecture · data model · UI · releases</a:t>
            </a:r>
            <a:endParaRPr lang="en-US" sz="1500" dirty="0"/>
          </a:p>
        </p:txBody>
      </p:sp>
      <p:sp>
        <p:nvSpPr>
          <p:cNvPr id="21" name="Shape 19"/>
          <p:cNvSpPr/>
          <p:nvPr/>
        </p:nvSpPr>
        <p:spPr>
          <a:xfrm>
            <a:off x="6355080" y="3474720"/>
            <a:ext cx="5212080" cy="1737360"/>
          </a:xfrm>
          <a:prstGeom prst="roundRect">
            <a:avLst>
              <a:gd name="adj" fmla="val 6316"/>
            </a:avLst>
          </a:prstGeom>
          <a:solidFill>
            <a:srgbClr val="FFFFFF"/>
          </a:solidFill>
          <a:ln w="12700">
            <a:solidFill>
              <a:srgbClr val="E3DCCF"/>
            </a:solidFill>
            <a:prstDash val="solid"/>
          </a:ln>
          <a:effectLst>
            <a:outerShdw sx="100000" sy="100000" kx="0" ky="0" algn="bl" rotWithShape="0" blurRad="88900" dist="25400" dir="5400000">
              <a:srgbClr val="BBB2A2">
                <a:alpha val="22000"/>
              </a:srgbClr>
            </a:outerShdw>
          </a:effectLst>
        </p:spPr>
      </p:sp>
      <p:sp>
        <p:nvSpPr>
          <p:cNvPr id="22" name="Text 20"/>
          <p:cNvSpPr/>
          <p:nvPr/>
        </p:nvSpPr>
        <p:spPr>
          <a:xfrm>
            <a:off x="6720840" y="3657600"/>
            <a:ext cx="4572000" cy="411480"/>
          </a:xfrm>
          <a:prstGeom prst="rect">
            <a:avLst/>
          </a:prstGeom>
          <a:noFill/>
          <a:ln/>
        </p:spPr>
        <p:txBody>
          <a:bodyPr wrap="square" rtlCol="0" anchor="ctr"/>
          <a:lstStyle/>
          <a:p>
            <a:pPr indent="0" marL="0">
              <a:buNone/>
            </a:pPr>
            <a:r>
              <a:rPr lang="en-US" sz="1700" b="1" dirty="0">
                <a:solidFill>
                  <a:srgbClr val="E08A2B"/>
                </a:solidFill>
                <a:latin typeface="Segoe UI" pitchFamily="34" charset="0"/>
                <a:ea typeface="Segoe UI" pitchFamily="34" charset="-122"/>
                <a:cs typeface="Segoe UI" pitchFamily="34" charset="-120"/>
              </a:rPr>
              <a:t>Attique</a:t>
            </a:r>
            <a:endParaRPr lang="en-US" sz="1700" dirty="0"/>
          </a:p>
        </p:txBody>
      </p:sp>
      <p:sp>
        <p:nvSpPr>
          <p:cNvPr id="23" name="Text 21"/>
          <p:cNvSpPr/>
          <p:nvPr/>
        </p:nvSpPr>
        <p:spPr>
          <a:xfrm>
            <a:off x="6720840" y="4114800"/>
            <a:ext cx="4572000" cy="914400"/>
          </a:xfrm>
          <a:prstGeom prst="rect">
            <a:avLst/>
          </a:prstGeom>
          <a:noFill/>
          <a:ln/>
        </p:spPr>
        <p:txBody>
          <a:bodyPr wrap="square" rtlCol="0" anchor="ctr"/>
          <a:lstStyle/>
          <a:p>
            <a:pPr indent="0" marL="0">
              <a:lnSpc>
                <a:spcPct val="115000"/>
              </a:lnSpc>
              <a:buNone/>
            </a:pPr>
            <a:r>
              <a:rPr lang="en-US" sz="1500" dirty="0">
                <a:solidFill>
                  <a:srgbClr val="3A3A3A"/>
                </a:solidFill>
                <a:latin typeface="Segoe UI" pitchFamily="34" charset="0"/>
                <a:ea typeface="Segoe UI" pitchFamily="34" charset="-122"/>
                <a:cs typeface="Segoe UI" pitchFamily="34" charset="-120"/>
              </a:rPr>
              <a:t>AI pipeline · memory · backend · workers · evaluation</a:t>
            </a:r>
            <a:endParaRPr lang="en-US" sz="1500" dirty="0"/>
          </a:p>
        </p:txBody>
      </p:sp>
      <p:sp>
        <p:nvSpPr>
          <p:cNvPr id="24" name="Text 22"/>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25" name="Text 23"/>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45</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par>
                    <p:cTn id="142" presetID="10" presetClass="entr" presetSubtype="0" fill="hold" grpId="0" nodeType="afterEffect">
                      <p:stCondLst>
                        <p:cond delay="1680"/>
                      </p:stCondLst>
                      <p:childTnLst>
                        <p:set>
                          <p:cBhvr>
                            <p:cTn id="143" dur="1" fill="hold">
                              <p:stCondLst>
                                <p:cond delay="0"/>
                              </p:stCondLst>
                            </p:cTn>
                            <p:tgtEl>
                              <p:spTgt spid="16"/>
                            </p:tgtEl>
                            <p:attrNameLst>
                              <p:attrName>style.visibility</p:attrName>
                            </p:attrNameLst>
                          </p:cBhvr>
                          <p:to>
                            <p:strVal val="visible"/>
                          </p:to>
                        </p:set>
                        <p:animEffect transition="in" filter="fade">
                          <p:cBhvr>
                            <p:cTn id="144" dur="450"/>
                            <p:tgtEl>
                              <p:spTgt spid="16"/>
                            </p:tgtEl>
                          </p:cBhvr>
                        </p:animEffect>
                      </p:childTnLst>
                    </p:cTn>
                  </p:par>
                  <p:par>
                    <p:cTn id="145" presetID="10" presetClass="entr" presetSubtype="0" fill="hold" grpId="0" nodeType="afterEffect">
                      <p:stCondLst>
                        <p:cond delay="1800"/>
                      </p:stCondLst>
                      <p:childTnLst>
                        <p:set>
                          <p:cBhvr>
                            <p:cTn id="146" dur="1" fill="hold">
                              <p:stCondLst>
                                <p:cond delay="0"/>
                              </p:stCondLst>
                            </p:cTn>
                            <p:tgtEl>
                              <p:spTgt spid="17"/>
                            </p:tgtEl>
                            <p:attrNameLst>
                              <p:attrName>style.visibility</p:attrName>
                            </p:attrNameLst>
                          </p:cBhvr>
                          <p:to>
                            <p:strVal val="visible"/>
                          </p:to>
                        </p:set>
                        <p:animEffect transition="in" filter="fade">
                          <p:cBhvr>
                            <p:cTn id="147" dur="450"/>
                            <p:tgtEl>
                              <p:spTgt spid="17"/>
                            </p:tgtEl>
                          </p:cBhvr>
                        </p:animEffect>
                      </p:childTnLst>
                    </p:cTn>
                  </p:par>
                  <p:par>
                    <p:cTn id="148" presetID="10" presetClass="entr" presetSubtype="0" fill="hold" grpId="0" nodeType="afterEffect">
                      <p:stCondLst>
                        <p:cond delay="1920"/>
                      </p:stCondLst>
                      <p:childTnLst>
                        <p:set>
                          <p:cBhvr>
                            <p:cTn id="149" dur="1" fill="hold">
                              <p:stCondLst>
                                <p:cond delay="0"/>
                              </p:stCondLst>
                            </p:cTn>
                            <p:tgtEl>
                              <p:spTgt spid="18"/>
                            </p:tgtEl>
                            <p:attrNameLst>
                              <p:attrName>style.visibility</p:attrName>
                            </p:attrNameLst>
                          </p:cBhvr>
                          <p:to>
                            <p:strVal val="visible"/>
                          </p:to>
                        </p:set>
                        <p:animEffect transition="in" filter="fade">
                          <p:cBhvr>
                            <p:cTn id="150" dur="450"/>
                            <p:tgtEl>
                              <p:spTgt spid="18"/>
                            </p:tgtEl>
                          </p:cBhvr>
                        </p:animEffect>
                      </p:childTnLst>
                    </p:cTn>
                  </p:par>
                  <p:par>
                    <p:cTn id="151" presetID="10" presetClass="entr" presetSubtype="0" fill="hold" grpId="0" nodeType="afterEffect">
                      <p:stCondLst>
                        <p:cond delay="2040"/>
                      </p:stCondLst>
                      <p:childTnLst>
                        <p:set>
                          <p:cBhvr>
                            <p:cTn id="152" dur="1" fill="hold">
                              <p:stCondLst>
                                <p:cond delay="0"/>
                              </p:stCondLst>
                            </p:cTn>
                            <p:tgtEl>
                              <p:spTgt spid="19"/>
                            </p:tgtEl>
                            <p:attrNameLst>
                              <p:attrName>style.visibility</p:attrName>
                            </p:attrNameLst>
                          </p:cBhvr>
                          <p:to>
                            <p:strVal val="visible"/>
                          </p:to>
                        </p:set>
                        <p:animEffect transition="in" filter="fade">
                          <p:cBhvr>
                            <p:cTn id="153" dur="450"/>
                            <p:tgtEl>
                              <p:spTgt spid="19"/>
                            </p:tgtEl>
                          </p:cBhvr>
                        </p:animEffect>
                      </p:childTnLst>
                    </p:cTn>
                  </p:par>
                  <p:par>
                    <p:cTn id="154" presetID="10" presetClass="entr" presetSubtype="0" fill="hold" grpId="0" nodeType="afterEffect">
                      <p:stCondLst>
                        <p:cond delay="2160"/>
                      </p:stCondLst>
                      <p:childTnLst>
                        <p:set>
                          <p:cBhvr>
                            <p:cTn id="155" dur="1" fill="hold">
                              <p:stCondLst>
                                <p:cond delay="0"/>
                              </p:stCondLst>
                            </p:cTn>
                            <p:tgtEl>
                              <p:spTgt spid="20"/>
                            </p:tgtEl>
                            <p:attrNameLst>
                              <p:attrName>style.visibility</p:attrName>
                            </p:attrNameLst>
                          </p:cBhvr>
                          <p:to>
                            <p:strVal val="visible"/>
                          </p:to>
                        </p:set>
                        <p:animEffect transition="in" filter="fade">
                          <p:cBhvr>
                            <p:cTn id="156" dur="450"/>
                            <p:tgtEl>
                              <p:spTgt spid="20"/>
                            </p:tgtEl>
                          </p:cBhvr>
                        </p:animEffect>
                      </p:childTnLst>
                    </p:cTn>
                  </p:par>
                  <p:par>
                    <p:cTn id="157" presetID="10" presetClass="entr" presetSubtype="0" fill="hold" grpId="0" nodeType="afterEffect">
                      <p:stCondLst>
                        <p:cond delay="2280"/>
                      </p:stCondLst>
                      <p:childTnLst>
                        <p:set>
                          <p:cBhvr>
                            <p:cTn id="158" dur="1" fill="hold">
                              <p:stCondLst>
                                <p:cond delay="0"/>
                              </p:stCondLst>
                            </p:cTn>
                            <p:tgtEl>
                              <p:spTgt spid="21"/>
                            </p:tgtEl>
                            <p:attrNameLst>
                              <p:attrName>style.visibility</p:attrName>
                            </p:attrNameLst>
                          </p:cBhvr>
                          <p:to>
                            <p:strVal val="visible"/>
                          </p:to>
                        </p:set>
                        <p:animEffect transition="in" filter="fade">
                          <p:cBhvr>
                            <p:cTn id="159" dur="450"/>
                            <p:tgtEl>
                              <p:spTgt spid="21"/>
                            </p:tgtEl>
                          </p:cBhvr>
                        </p:animEffect>
                      </p:childTnLst>
                    </p:cTn>
                  </p:par>
                  <p:par>
                    <p:cTn id="160" presetID="10" presetClass="entr" presetSubtype="0" fill="hold" grpId="0" nodeType="afterEffect">
                      <p:stCondLst>
                        <p:cond delay="2400"/>
                      </p:stCondLst>
                      <p:childTnLst>
                        <p:set>
                          <p:cBhvr>
                            <p:cTn id="161" dur="1" fill="hold">
                              <p:stCondLst>
                                <p:cond delay="0"/>
                              </p:stCondLst>
                            </p:cTn>
                            <p:tgtEl>
                              <p:spTgt spid="22"/>
                            </p:tgtEl>
                            <p:attrNameLst>
                              <p:attrName>style.visibility</p:attrName>
                            </p:attrNameLst>
                          </p:cBhvr>
                          <p:to>
                            <p:strVal val="visible"/>
                          </p:to>
                        </p:set>
                        <p:animEffect transition="in" filter="fade">
                          <p:cBhvr>
                            <p:cTn id="162" dur="450"/>
                            <p:tgtEl>
                              <p:spTgt spid="22"/>
                            </p:tgtEl>
                          </p:cBhvr>
                        </p:animEffect>
                      </p:childTnLst>
                    </p:cTn>
                  </p:par>
                  <p:par>
                    <p:cTn id="163" presetID="10" presetClass="entr" presetSubtype="0" fill="hold" grpId="0" nodeType="afterEffect">
                      <p:stCondLst>
                        <p:cond delay="2520"/>
                      </p:stCondLst>
                      <p:childTnLst>
                        <p:set>
                          <p:cBhvr>
                            <p:cTn id="164" dur="1" fill="hold">
                              <p:stCondLst>
                                <p:cond delay="0"/>
                              </p:stCondLst>
                            </p:cTn>
                            <p:tgtEl>
                              <p:spTgt spid="23"/>
                            </p:tgtEl>
                            <p:attrNameLst>
                              <p:attrName>style.visibility</p:attrName>
                            </p:attrNameLst>
                          </p:cBhvr>
                          <p:to>
                            <p:strVal val="visible"/>
                          </p:to>
                        </p:set>
                        <p:animEffect transition="in" filter="fade">
                          <p:cBhvr>
                            <p:cTn id="165" dur="450"/>
                            <p:tgtEl>
                              <p:spTgt spid="23"/>
                            </p:tgtEl>
                          </p:cBhvr>
                        </p:animEffect>
                      </p:childTnLst>
                    </p:cTn>
                  </p:par>
                  <p:par>
                    <p:cTn id="166" presetID="10" presetClass="entr" presetSubtype="0" fill="hold" grpId="0" nodeType="afterEffect">
                      <p:stCondLst>
                        <p:cond delay="2640"/>
                      </p:stCondLst>
                      <p:childTnLst>
                        <p:set>
                          <p:cBhvr>
                            <p:cTn id="167" dur="1" fill="hold">
                              <p:stCondLst>
                                <p:cond delay="0"/>
                              </p:stCondLst>
                            </p:cTn>
                            <p:tgtEl>
                              <p:spTgt spid="24"/>
                            </p:tgtEl>
                            <p:attrNameLst>
                              <p:attrName>style.visibility</p:attrName>
                            </p:attrNameLst>
                          </p:cBhvr>
                          <p:to>
                            <p:strVal val="visible"/>
                          </p:to>
                        </p:set>
                        <p:animEffect transition="in" filter="fade">
                          <p:cBhvr>
                            <p:cTn id="168" dur="450"/>
                            <p:tgtEl>
                              <p:spTgt spid="24"/>
                            </p:tgtEl>
                          </p:cBhvr>
                        </p:animEffect>
                      </p:childTnLst>
                    </p:cTn>
                  </p:par>
                  <p:par>
                    <p:cTn id="169" presetID="10" presetClass="entr" presetSubtype="0" fill="hold" grpId="0" nodeType="afterEffect">
                      <p:stCondLst>
                        <p:cond delay="2760"/>
                      </p:stCondLst>
                      <p:childTnLst>
                        <p:set>
                          <p:cBhvr>
                            <p:cTn id="170" dur="1" fill="hold">
                              <p:stCondLst>
                                <p:cond delay="0"/>
                              </p:stCondLst>
                            </p:cTn>
                            <p:tgtEl>
                              <p:spTgt spid="25"/>
                            </p:tgtEl>
                            <p:attrNameLst>
                              <p:attrName>style.visibility</p:attrName>
                            </p:attrNameLst>
                          </p:cBhvr>
                          <p:to>
                            <p:strVal val="visible"/>
                          </p:to>
                        </p:set>
                        <p:animEffect transition="in" filter="fade">
                          <p:cBhvr>
                            <p:cTn id="171" dur="450"/>
                            <p:tgtEl>
                              <p:spTgt spid="25"/>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0E7C86"/>
                </a:solidFill>
                <a:latin typeface="Segoe UI" pitchFamily="34" charset="0"/>
                <a:ea typeface="Segoe UI" pitchFamily="34" charset="-122"/>
                <a:cs typeface="Segoe UI" pitchFamily="34" charset="-120"/>
              </a:rPr>
              <a:t>CURRENT SCOPE</a:t>
            </a:r>
            <a:endParaRPr lang="en-US" sz="1250" dirty="0"/>
          </a:p>
        </p:txBody>
      </p:sp>
      <p:sp>
        <p:nvSpPr>
          <p:cNvPr id="3" name="Text 1"/>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The honest edges of what's built today.</a:t>
            </a:r>
            <a:endParaRPr lang="en-US" sz="3300" dirty="0"/>
          </a:p>
        </p:txBody>
      </p:sp>
      <p:sp>
        <p:nvSpPr>
          <p:cNvPr id="4" name="Shape 2"/>
          <p:cNvSpPr/>
          <p:nvPr/>
        </p:nvSpPr>
        <p:spPr>
          <a:xfrm>
            <a:off x="566928" y="2377440"/>
            <a:ext cx="10424160" cy="868680"/>
          </a:xfrm>
          <a:prstGeom prst="roundRect">
            <a:avLst>
              <a:gd name="adj" fmla="val 10526"/>
            </a:avLst>
          </a:prstGeom>
          <a:solidFill>
            <a:srgbClr val="F0EBE1"/>
          </a:solidFill>
          <a:ln/>
        </p:spPr>
      </p:sp>
      <p:sp>
        <p:nvSpPr>
          <p:cNvPr id="5" name="Text 3"/>
          <p:cNvSpPr/>
          <p:nvPr/>
        </p:nvSpPr>
        <p:spPr>
          <a:xfrm>
            <a:off x="932688" y="2377440"/>
            <a:ext cx="3657600" cy="868680"/>
          </a:xfrm>
          <a:prstGeom prst="rect">
            <a:avLst/>
          </a:prstGeom>
          <a:noFill/>
          <a:ln/>
        </p:spPr>
        <p:txBody>
          <a:bodyPr wrap="square" rtlCol="0" anchor="ctr"/>
          <a:lstStyle/>
          <a:p>
            <a:pPr indent="0" marL="0">
              <a:buNone/>
            </a:pPr>
            <a:r>
              <a:rPr lang="en-US" sz="1900" b="1" dirty="0">
                <a:solidFill>
                  <a:srgbClr val="1A1A1A"/>
                </a:solidFill>
                <a:latin typeface="Segoe UI" pitchFamily="34" charset="0"/>
                <a:ea typeface="Segoe UI" pitchFamily="34" charset="-122"/>
                <a:cs typeface="Segoe UI" pitchFamily="34" charset="-120"/>
              </a:rPr>
              <a:t>English-only</a:t>
            </a:r>
            <a:endParaRPr lang="en-US" sz="1900" dirty="0"/>
          </a:p>
        </p:txBody>
      </p:sp>
      <p:sp>
        <p:nvSpPr>
          <p:cNvPr id="6" name="Text 4"/>
          <p:cNvSpPr/>
          <p:nvPr/>
        </p:nvSpPr>
        <p:spPr>
          <a:xfrm>
            <a:off x="4590288" y="2377440"/>
            <a:ext cx="6217920" cy="868680"/>
          </a:xfrm>
          <a:prstGeom prst="rect">
            <a:avLst/>
          </a:prstGeom>
          <a:noFill/>
          <a:ln/>
        </p:spPr>
        <p:txBody>
          <a:bodyPr wrap="square" rtlCol="0" anchor="ctr"/>
          <a:lstStyle/>
          <a:p>
            <a:pPr indent="0" marL="0">
              <a:buNone/>
            </a:pPr>
            <a:r>
              <a:rPr lang="en-US" sz="1600" dirty="0">
                <a:solidFill>
                  <a:srgbClr val="3A3A3A"/>
                </a:solidFill>
                <a:latin typeface="Segoe UI" pitchFamily="34" charset="0"/>
                <a:ea typeface="Segoe UI" pitchFamily="34" charset="-122"/>
                <a:cs typeface="Segoe UI" pitchFamily="34" charset="-120"/>
              </a:rPr>
              <a:t>the language we support right now</a:t>
            </a:r>
            <a:endParaRPr lang="en-US" sz="1600" dirty="0"/>
          </a:p>
        </p:txBody>
      </p:sp>
      <p:sp>
        <p:nvSpPr>
          <p:cNvPr id="7" name="Shape 5"/>
          <p:cNvSpPr/>
          <p:nvPr/>
        </p:nvSpPr>
        <p:spPr>
          <a:xfrm>
            <a:off x="566928" y="3429000"/>
            <a:ext cx="10424160" cy="868680"/>
          </a:xfrm>
          <a:prstGeom prst="roundRect">
            <a:avLst>
              <a:gd name="adj" fmla="val 10526"/>
            </a:avLst>
          </a:prstGeom>
          <a:solidFill>
            <a:srgbClr val="F0EBE1"/>
          </a:solidFill>
          <a:ln/>
        </p:spPr>
      </p:sp>
      <p:sp>
        <p:nvSpPr>
          <p:cNvPr id="8" name="Text 6"/>
          <p:cNvSpPr/>
          <p:nvPr/>
        </p:nvSpPr>
        <p:spPr>
          <a:xfrm>
            <a:off x="932688" y="3429000"/>
            <a:ext cx="3657600" cy="868680"/>
          </a:xfrm>
          <a:prstGeom prst="rect">
            <a:avLst/>
          </a:prstGeom>
          <a:noFill/>
          <a:ln/>
        </p:spPr>
        <p:txBody>
          <a:bodyPr wrap="square" rtlCol="0" anchor="ctr"/>
          <a:lstStyle/>
          <a:p>
            <a:pPr indent="0" marL="0">
              <a:buNone/>
            </a:pPr>
            <a:r>
              <a:rPr lang="en-US" sz="1900" b="1" dirty="0">
                <a:solidFill>
                  <a:srgbClr val="1A1A1A"/>
                </a:solidFill>
                <a:latin typeface="Segoe UI" pitchFamily="34" charset="0"/>
                <a:ea typeface="Segoe UI" pitchFamily="34" charset="-122"/>
                <a:cs typeface="Segoe UI" pitchFamily="34" charset="-120"/>
              </a:rPr>
              <a:t>Needs internet</a:t>
            </a:r>
            <a:endParaRPr lang="en-US" sz="1900" dirty="0"/>
          </a:p>
        </p:txBody>
      </p:sp>
      <p:sp>
        <p:nvSpPr>
          <p:cNvPr id="9" name="Text 7"/>
          <p:cNvSpPr/>
          <p:nvPr/>
        </p:nvSpPr>
        <p:spPr>
          <a:xfrm>
            <a:off x="4590288" y="3429000"/>
            <a:ext cx="6217920" cy="868680"/>
          </a:xfrm>
          <a:prstGeom prst="rect">
            <a:avLst/>
          </a:prstGeom>
          <a:noFill/>
          <a:ln/>
        </p:spPr>
        <p:txBody>
          <a:bodyPr wrap="square" rtlCol="0" anchor="ctr"/>
          <a:lstStyle/>
          <a:p>
            <a:pPr indent="0" marL="0">
              <a:buNone/>
            </a:pPr>
            <a:r>
              <a:rPr lang="en-US" sz="1600" dirty="0">
                <a:solidFill>
                  <a:srgbClr val="3A3A3A"/>
                </a:solidFill>
                <a:latin typeface="Segoe UI" pitchFamily="34" charset="0"/>
                <a:ea typeface="Segoe UI" pitchFamily="34" charset="-122"/>
                <a:cs typeface="Segoe UI" pitchFamily="34" charset="-120"/>
              </a:rPr>
              <a:t>the AI brain lives in the cloud</a:t>
            </a:r>
            <a:endParaRPr lang="en-US" sz="1600" dirty="0"/>
          </a:p>
        </p:txBody>
      </p:sp>
      <p:sp>
        <p:nvSpPr>
          <p:cNvPr id="10" name="Shape 8"/>
          <p:cNvSpPr/>
          <p:nvPr/>
        </p:nvSpPr>
        <p:spPr>
          <a:xfrm>
            <a:off x="566928" y="4480560"/>
            <a:ext cx="10424160" cy="868680"/>
          </a:xfrm>
          <a:prstGeom prst="roundRect">
            <a:avLst>
              <a:gd name="adj" fmla="val 10526"/>
            </a:avLst>
          </a:prstGeom>
          <a:solidFill>
            <a:srgbClr val="F0EBE1"/>
          </a:solidFill>
          <a:ln/>
        </p:spPr>
      </p:sp>
      <p:sp>
        <p:nvSpPr>
          <p:cNvPr id="11" name="Text 9"/>
          <p:cNvSpPr/>
          <p:nvPr/>
        </p:nvSpPr>
        <p:spPr>
          <a:xfrm>
            <a:off x="932688" y="4480560"/>
            <a:ext cx="3657600" cy="868680"/>
          </a:xfrm>
          <a:prstGeom prst="rect">
            <a:avLst/>
          </a:prstGeom>
          <a:noFill/>
          <a:ln/>
        </p:spPr>
        <p:txBody>
          <a:bodyPr wrap="square" rtlCol="0" anchor="ctr"/>
          <a:lstStyle/>
          <a:p>
            <a:pPr indent="0" marL="0">
              <a:buNone/>
            </a:pPr>
            <a:r>
              <a:rPr lang="en-US" sz="1900" b="1" dirty="0">
                <a:solidFill>
                  <a:srgbClr val="1A1A1A"/>
                </a:solidFill>
                <a:latin typeface="Segoe UI" pitchFamily="34" charset="0"/>
                <a:ea typeface="Segoe UI" pitchFamily="34" charset="-122"/>
                <a:cs typeface="Segoe UI" pitchFamily="34" charset="-120"/>
              </a:rPr>
              <a:t>Thin client by design</a:t>
            </a:r>
            <a:endParaRPr lang="en-US" sz="1900" dirty="0"/>
          </a:p>
        </p:txBody>
      </p:sp>
      <p:sp>
        <p:nvSpPr>
          <p:cNvPr id="12" name="Text 10"/>
          <p:cNvSpPr/>
          <p:nvPr/>
        </p:nvSpPr>
        <p:spPr>
          <a:xfrm>
            <a:off x="4590288" y="4480560"/>
            <a:ext cx="6217920" cy="868680"/>
          </a:xfrm>
          <a:prstGeom prst="rect">
            <a:avLst/>
          </a:prstGeom>
          <a:noFill/>
          <a:ln/>
        </p:spPr>
        <p:txBody>
          <a:bodyPr wrap="square" rtlCol="0" anchor="ctr"/>
          <a:lstStyle/>
          <a:p>
            <a:pPr indent="0" marL="0">
              <a:buNone/>
            </a:pPr>
            <a:r>
              <a:rPr lang="en-US" sz="1600" dirty="0">
                <a:solidFill>
                  <a:srgbClr val="3A3A3A"/>
                </a:solidFill>
                <a:latin typeface="Segoe UI" pitchFamily="34" charset="0"/>
                <a:ea typeface="Segoe UI" pitchFamily="34" charset="-122"/>
                <a:cs typeface="Segoe UI" pitchFamily="34" charset="-120"/>
              </a:rPr>
              <a:t>the phone is mic + screen only</a:t>
            </a:r>
            <a:endParaRPr lang="en-US" sz="1600" dirty="0"/>
          </a:p>
        </p:txBody>
      </p:sp>
      <p:sp>
        <p:nvSpPr>
          <p:cNvPr id="13" name="Text 11"/>
          <p:cNvSpPr/>
          <p:nvPr/>
        </p:nvSpPr>
        <p:spPr>
          <a:xfrm>
            <a:off x="566928" y="5577840"/>
            <a:ext cx="10972800" cy="365760"/>
          </a:xfrm>
          <a:prstGeom prst="rect">
            <a:avLst/>
          </a:prstGeom>
          <a:noFill/>
          <a:ln/>
        </p:spPr>
        <p:txBody>
          <a:bodyPr wrap="square" rtlCol="0" anchor="ctr"/>
          <a:lstStyle/>
          <a:p>
            <a:pPr indent="0" marL="0">
              <a:buNone/>
            </a:pPr>
            <a:r>
              <a:rPr lang="en-US" sz="1400" i="1" dirty="0">
                <a:solidFill>
                  <a:srgbClr val="9A9285"/>
                </a:solidFill>
                <a:latin typeface="Segoe UI" pitchFamily="34" charset="0"/>
                <a:ea typeface="Segoe UI" pitchFamily="34" charset="-122"/>
                <a:cs typeface="Segoe UI" pitchFamily="34" charset="-120"/>
              </a:rPr>
              <a:t>Design choices, not loose ends — a clear scope for what we demo today.</a:t>
            </a:r>
            <a:endParaRPr lang="en-US" sz="1400" dirty="0"/>
          </a:p>
        </p:txBody>
      </p:sp>
      <p:sp>
        <p:nvSpPr>
          <p:cNvPr id="14" name="Text 12"/>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5" name="Text 13"/>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46</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10332720" y="365760"/>
            <a:ext cx="2377440" cy="2377440"/>
          </a:xfrm>
          <a:prstGeom prst="ellipse">
            <a:avLst/>
          </a:prstGeom>
          <a:solidFill>
            <a:srgbClr val="E08A2B">
              <a:alpha val="14000"/>
            </a:srgbClr>
          </a:solidFill>
          <a:ln/>
        </p:spPr>
      </p:sp>
      <p:sp>
        <p:nvSpPr>
          <p:cNvPr id="3" name="Text 1"/>
          <p:cNvSpPr/>
          <p:nvPr/>
        </p:nvSpPr>
        <p:spPr>
          <a:xfrm>
            <a:off x="566928" y="566928"/>
            <a:ext cx="11057839" cy="310896"/>
          </a:xfrm>
          <a:prstGeom prst="rect">
            <a:avLst/>
          </a:prstGeom>
          <a:noFill/>
          <a:ln/>
        </p:spPr>
        <p:txBody>
          <a:bodyPr wrap="square" rtlCol="0" anchor="ctr"/>
          <a:lstStyle/>
          <a:p>
            <a:pPr algn="l" indent="0" marL="0">
              <a:buNone/>
            </a:pPr>
            <a:r>
              <a:rPr lang="en-US" sz="1250" b="1" spc="200" kern="0" dirty="0">
                <a:solidFill>
                  <a:srgbClr val="E08A2B"/>
                </a:solidFill>
                <a:latin typeface="Segoe UI" pitchFamily="34" charset="0"/>
                <a:ea typeface="Segoe UI" pitchFamily="34" charset="-122"/>
                <a:cs typeface="Segoe UI" pitchFamily="34" charset="-120"/>
              </a:rPr>
              <a:t>FUTURE PLANS  ·  PLANNED, NOT YET BUILT</a:t>
            </a:r>
            <a:endParaRPr lang="en-US" sz="1250" dirty="0"/>
          </a:p>
        </p:txBody>
      </p:sp>
      <p:sp>
        <p:nvSpPr>
          <p:cNvPr id="4" name="Text 2"/>
          <p:cNvSpPr/>
          <p:nvPr/>
        </p:nvSpPr>
        <p:spPr>
          <a:xfrm>
            <a:off x="566928" y="877824"/>
            <a:ext cx="11057839" cy="914400"/>
          </a:xfrm>
          <a:prstGeom prst="rect">
            <a:avLst/>
          </a:prstGeom>
          <a:noFill/>
          <a:ln/>
        </p:spPr>
        <p:txBody>
          <a:bodyPr wrap="square" rtlCol="0" anchor="ctr"/>
          <a:lstStyle/>
          <a:p>
            <a:pPr algn="l" indent="0" marL="0">
              <a:lnSpc>
                <a:spcPct val="98000"/>
              </a:lnSpc>
              <a:buNone/>
            </a:pPr>
            <a:r>
              <a:rPr lang="en-US" sz="3300" b="1" dirty="0">
                <a:solidFill>
                  <a:srgbClr val="1A1A1A"/>
                </a:solidFill>
                <a:latin typeface="Segoe UI" pitchFamily="34" charset="0"/>
                <a:ea typeface="Segoe UI" pitchFamily="34" charset="-122"/>
                <a:cs typeface="Segoe UI" pitchFamily="34" charset="-120"/>
              </a:rPr>
              <a:t>The runway.</a:t>
            </a:r>
            <a:endParaRPr lang="en-US" sz="3300" dirty="0"/>
          </a:p>
        </p:txBody>
      </p:sp>
      <p:sp>
        <p:nvSpPr>
          <p:cNvPr id="5" name="Shape 3"/>
          <p:cNvSpPr/>
          <p:nvPr/>
        </p:nvSpPr>
        <p:spPr>
          <a:xfrm>
            <a:off x="566928" y="2057400"/>
            <a:ext cx="5212080" cy="1051560"/>
          </a:xfrm>
          <a:prstGeom prst="roundRect">
            <a:avLst>
              <a:gd name="adj" fmla="val 8696"/>
            </a:avLst>
          </a:prstGeom>
          <a:solidFill>
            <a:srgbClr val="FFFFFF"/>
          </a:solidFill>
          <a:ln w="12700">
            <a:solidFill>
              <a:srgbClr val="E08A2B"/>
            </a:solidFill>
            <a:prstDash val="dash"/>
          </a:ln>
        </p:spPr>
      </p:sp>
      <p:sp>
        <p:nvSpPr>
          <p:cNvPr id="6" name="Text 4"/>
          <p:cNvSpPr/>
          <p:nvPr/>
        </p:nvSpPr>
        <p:spPr>
          <a:xfrm>
            <a:off x="841248" y="2057400"/>
            <a:ext cx="640080" cy="1051560"/>
          </a:xfrm>
          <a:prstGeom prst="rect">
            <a:avLst/>
          </a:prstGeom>
          <a:noFill/>
          <a:ln/>
        </p:spPr>
        <p:txBody>
          <a:bodyPr wrap="square" rtlCol="0" anchor="ctr"/>
          <a:lstStyle/>
          <a:p>
            <a:pPr indent="0" marL="0">
              <a:buNone/>
            </a:pPr>
            <a:r>
              <a:rPr lang="en-US" sz="2600" b="1" dirty="0">
                <a:solidFill>
                  <a:srgbClr val="E08A2B"/>
                </a:solidFill>
                <a:latin typeface="Segoe UI" pitchFamily="34" charset="0"/>
                <a:ea typeface="Segoe UI" pitchFamily="34" charset="-122"/>
                <a:cs typeface="Segoe UI" pitchFamily="34" charset="-120"/>
              </a:rPr>
              <a:t>1</a:t>
            </a:r>
            <a:endParaRPr lang="en-US" sz="2600" dirty="0"/>
          </a:p>
        </p:txBody>
      </p:sp>
      <p:sp>
        <p:nvSpPr>
          <p:cNvPr id="7" name="Text 5"/>
          <p:cNvSpPr/>
          <p:nvPr/>
        </p:nvSpPr>
        <p:spPr>
          <a:xfrm>
            <a:off x="1572768" y="2221992"/>
            <a:ext cx="4023360" cy="411480"/>
          </a:xfrm>
          <a:prstGeom prst="rect">
            <a:avLst/>
          </a:prstGeom>
          <a:noFill/>
          <a:ln/>
        </p:spPr>
        <p:txBody>
          <a:bodyPr wrap="square" rtlCol="0" anchor="ctr"/>
          <a:lstStyle/>
          <a:p>
            <a:pPr indent="0" marL="0">
              <a:buNone/>
            </a:pPr>
            <a:r>
              <a:rPr lang="en-US" sz="1650" b="1" dirty="0">
                <a:solidFill>
                  <a:srgbClr val="1A1A1A"/>
                </a:solidFill>
                <a:latin typeface="Segoe UI" pitchFamily="34" charset="0"/>
                <a:ea typeface="Segoe UI" pitchFamily="34" charset="-122"/>
                <a:cs typeface="Segoe UI" pitchFamily="34" charset="-120"/>
              </a:rPr>
              <a:t>Multi-language</a:t>
            </a:r>
            <a:endParaRPr lang="en-US" sz="1650" dirty="0"/>
          </a:p>
        </p:txBody>
      </p:sp>
      <p:sp>
        <p:nvSpPr>
          <p:cNvPr id="8" name="Text 6"/>
          <p:cNvSpPr/>
          <p:nvPr/>
        </p:nvSpPr>
        <p:spPr>
          <a:xfrm>
            <a:off x="1572768" y="2624328"/>
            <a:ext cx="4114800" cy="411480"/>
          </a:xfrm>
          <a:prstGeom prst="rect">
            <a:avLst/>
          </a:prstGeom>
          <a:noFill/>
          <a:ln/>
        </p:spPr>
        <p:txBody>
          <a:bodyPr wrap="square" rtlCol="0" anchor="ctr"/>
          <a:lstStyle/>
          <a:p>
            <a:pPr indent="0" marL="0">
              <a:buNone/>
            </a:pPr>
            <a:r>
              <a:rPr lang="en-US" sz="1300" dirty="0">
                <a:solidFill>
                  <a:srgbClr val="3A3A3A"/>
                </a:solidFill>
                <a:latin typeface="Segoe UI" pitchFamily="34" charset="0"/>
                <a:ea typeface="Segoe UI" pitchFamily="34" charset="-122"/>
                <a:cs typeface="Segoe UI" pitchFamily="34" charset="-120"/>
              </a:rPr>
              <a:t>Urdu first, then more</a:t>
            </a:r>
            <a:endParaRPr lang="en-US" sz="1300" dirty="0"/>
          </a:p>
        </p:txBody>
      </p:sp>
      <p:sp>
        <p:nvSpPr>
          <p:cNvPr id="9" name="Shape 7"/>
          <p:cNvSpPr/>
          <p:nvPr/>
        </p:nvSpPr>
        <p:spPr>
          <a:xfrm>
            <a:off x="6144768" y="2057400"/>
            <a:ext cx="5212080" cy="1051560"/>
          </a:xfrm>
          <a:prstGeom prst="roundRect">
            <a:avLst>
              <a:gd name="adj" fmla="val 8696"/>
            </a:avLst>
          </a:prstGeom>
          <a:solidFill>
            <a:srgbClr val="FFFFFF"/>
          </a:solidFill>
          <a:ln w="12700">
            <a:solidFill>
              <a:srgbClr val="E08A2B"/>
            </a:solidFill>
            <a:prstDash val="dash"/>
          </a:ln>
        </p:spPr>
      </p:sp>
      <p:sp>
        <p:nvSpPr>
          <p:cNvPr id="10" name="Text 8"/>
          <p:cNvSpPr/>
          <p:nvPr/>
        </p:nvSpPr>
        <p:spPr>
          <a:xfrm>
            <a:off x="6419088" y="2057400"/>
            <a:ext cx="640080" cy="1051560"/>
          </a:xfrm>
          <a:prstGeom prst="rect">
            <a:avLst/>
          </a:prstGeom>
          <a:noFill/>
          <a:ln/>
        </p:spPr>
        <p:txBody>
          <a:bodyPr wrap="square" rtlCol="0" anchor="ctr"/>
          <a:lstStyle/>
          <a:p>
            <a:pPr indent="0" marL="0">
              <a:buNone/>
            </a:pPr>
            <a:r>
              <a:rPr lang="en-US" sz="2600" b="1" dirty="0">
                <a:solidFill>
                  <a:srgbClr val="E08A2B"/>
                </a:solidFill>
                <a:latin typeface="Segoe UI" pitchFamily="34" charset="0"/>
                <a:ea typeface="Segoe UI" pitchFamily="34" charset="-122"/>
                <a:cs typeface="Segoe UI" pitchFamily="34" charset="-120"/>
              </a:rPr>
              <a:t>2</a:t>
            </a:r>
            <a:endParaRPr lang="en-US" sz="2600" dirty="0"/>
          </a:p>
        </p:txBody>
      </p:sp>
      <p:sp>
        <p:nvSpPr>
          <p:cNvPr id="11" name="Text 9"/>
          <p:cNvSpPr/>
          <p:nvPr/>
        </p:nvSpPr>
        <p:spPr>
          <a:xfrm>
            <a:off x="7150608" y="2221992"/>
            <a:ext cx="4023360" cy="411480"/>
          </a:xfrm>
          <a:prstGeom prst="rect">
            <a:avLst/>
          </a:prstGeom>
          <a:noFill/>
          <a:ln/>
        </p:spPr>
        <p:txBody>
          <a:bodyPr wrap="square" rtlCol="0" anchor="ctr"/>
          <a:lstStyle/>
          <a:p>
            <a:pPr indent="0" marL="0">
              <a:buNone/>
            </a:pPr>
            <a:r>
              <a:rPr lang="en-US" sz="1650" b="1" dirty="0">
                <a:solidFill>
                  <a:srgbClr val="1A1A1A"/>
                </a:solidFill>
                <a:latin typeface="Segoe UI" pitchFamily="34" charset="0"/>
                <a:ea typeface="Segoe UI" pitchFamily="34" charset="-122"/>
                <a:cs typeface="Segoe UI" pitchFamily="34" charset="-120"/>
              </a:rPr>
              <a:t>Offline fallback</a:t>
            </a:r>
            <a:endParaRPr lang="en-US" sz="1650" dirty="0"/>
          </a:p>
        </p:txBody>
      </p:sp>
      <p:sp>
        <p:nvSpPr>
          <p:cNvPr id="12" name="Text 10"/>
          <p:cNvSpPr/>
          <p:nvPr/>
        </p:nvSpPr>
        <p:spPr>
          <a:xfrm>
            <a:off x="7150608" y="2624328"/>
            <a:ext cx="4114800" cy="411480"/>
          </a:xfrm>
          <a:prstGeom prst="rect">
            <a:avLst/>
          </a:prstGeom>
          <a:noFill/>
          <a:ln/>
        </p:spPr>
        <p:txBody>
          <a:bodyPr wrap="square" rtlCol="0" anchor="ctr"/>
          <a:lstStyle/>
          <a:p>
            <a:pPr indent="0" marL="0">
              <a:buNone/>
            </a:pPr>
            <a:r>
              <a:rPr lang="en-US" sz="1300" dirty="0">
                <a:solidFill>
                  <a:srgbClr val="3A3A3A"/>
                </a:solidFill>
                <a:latin typeface="Segoe UI" pitchFamily="34" charset="0"/>
                <a:ea typeface="Segoe UI" pitchFamily="34" charset="-122"/>
                <a:cs typeface="Segoe UI" pitchFamily="34" charset="-120"/>
              </a:rPr>
              <a:t>local STT + small LLM (ONNX already in)</a:t>
            </a:r>
            <a:endParaRPr lang="en-US" sz="1300" dirty="0"/>
          </a:p>
        </p:txBody>
      </p:sp>
      <p:sp>
        <p:nvSpPr>
          <p:cNvPr id="13" name="Shape 11"/>
          <p:cNvSpPr/>
          <p:nvPr/>
        </p:nvSpPr>
        <p:spPr>
          <a:xfrm>
            <a:off x="566928" y="3291840"/>
            <a:ext cx="5212080" cy="1051560"/>
          </a:xfrm>
          <a:prstGeom prst="roundRect">
            <a:avLst>
              <a:gd name="adj" fmla="val 8696"/>
            </a:avLst>
          </a:prstGeom>
          <a:solidFill>
            <a:srgbClr val="FFFFFF"/>
          </a:solidFill>
          <a:ln w="12700">
            <a:solidFill>
              <a:srgbClr val="E08A2B"/>
            </a:solidFill>
            <a:prstDash val="dash"/>
          </a:ln>
        </p:spPr>
      </p:sp>
      <p:sp>
        <p:nvSpPr>
          <p:cNvPr id="14" name="Text 12"/>
          <p:cNvSpPr/>
          <p:nvPr/>
        </p:nvSpPr>
        <p:spPr>
          <a:xfrm>
            <a:off x="841248" y="3291840"/>
            <a:ext cx="640080" cy="1051560"/>
          </a:xfrm>
          <a:prstGeom prst="rect">
            <a:avLst/>
          </a:prstGeom>
          <a:noFill/>
          <a:ln/>
        </p:spPr>
        <p:txBody>
          <a:bodyPr wrap="square" rtlCol="0" anchor="ctr"/>
          <a:lstStyle/>
          <a:p>
            <a:pPr indent="0" marL="0">
              <a:buNone/>
            </a:pPr>
            <a:r>
              <a:rPr lang="en-US" sz="2600" b="1" dirty="0">
                <a:solidFill>
                  <a:srgbClr val="E08A2B"/>
                </a:solidFill>
                <a:latin typeface="Segoe UI" pitchFamily="34" charset="0"/>
                <a:ea typeface="Segoe UI" pitchFamily="34" charset="-122"/>
                <a:cs typeface="Segoe UI" pitchFamily="34" charset="-120"/>
              </a:rPr>
              <a:t>3</a:t>
            </a:r>
            <a:endParaRPr lang="en-US" sz="2600" dirty="0"/>
          </a:p>
        </p:txBody>
      </p:sp>
      <p:sp>
        <p:nvSpPr>
          <p:cNvPr id="15" name="Text 13"/>
          <p:cNvSpPr/>
          <p:nvPr/>
        </p:nvSpPr>
        <p:spPr>
          <a:xfrm>
            <a:off x="1572768" y="3456432"/>
            <a:ext cx="4023360" cy="411480"/>
          </a:xfrm>
          <a:prstGeom prst="rect">
            <a:avLst/>
          </a:prstGeom>
          <a:noFill/>
          <a:ln/>
        </p:spPr>
        <p:txBody>
          <a:bodyPr wrap="square" rtlCol="0" anchor="ctr"/>
          <a:lstStyle/>
          <a:p>
            <a:pPr indent="0" marL="0">
              <a:buNone/>
            </a:pPr>
            <a:r>
              <a:rPr lang="en-US" sz="1650" b="1" dirty="0">
                <a:solidFill>
                  <a:srgbClr val="1A1A1A"/>
                </a:solidFill>
                <a:latin typeface="Segoe UI" pitchFamily="34" charset="0"/>
                <a:ea typeface="Segoe UI" pitchFamily="34" charset="-122"/>
                <a:cs typeface="Segoe UI" pitchFamily="34" charset="-120"/>
              </a:rPr>
              <a:t>Tone-aware coaching</a:t>
            </a:r>
            <a:endParaRPr lang="en-US" sz="1650" dirty="0"/>
          </a:p>
        </p:txBody>
      </p:sp>
      <p:sp>
        <p:nvSpPr>
          <p:cNvPr id="16" name="Text 14"/>
          <p:cNvSpPr/>
          <p:nvPr/>
        </p:nvSpPr>
        <p:spPr>
          <a:xfrm>
            <a:off x="1572768" y="3858768"/>
            <a:ext cx="4114800" cy="411480"/>
          </a:xfrm>
          <a:prstGeom prst="rect">
            <a:avLst/>
          </a:prstGeom>
          <a:noFill/>
          <a:ln/>
        </p:spPr>
        <p:txBody>
          <a:bodyPr wrap="square" rtlCol="0" anchor="ctr"/>
          <a:lstStyle/>
          <a:p>
            <a:pPr indent="0" marL="0">
              <a:buNone/>
            </a:pPr>
            <a:r>
              <a:rPr lang="en-US" sz="1300" dirty="0">
                <a:solidFill>
                  <a:srgbClr val="3A3A3A"/>
                </a:solidFill>
                <a:latin typeface="Segoe UI" pitchFamily="34" charset="0"/>
                <a:ea typeface="Segoe UI" pitchFamily="34" charset="-122"/>
                <a:cs typeface="Segoe UI" pitchFamily="34" charset="-120"/>
              </a:rPr>
              <a:t>live sentiment → tone nudges</a:t>
            </a:r>
            <a:endParaRPr lang="en-US" sz="1300" dirty="0"/>
          </a:p>
        </p:txBody>
      </p:sp>
      <p:sp>
        <p:nvSpPr>
          <p:cNvPr id="17" name="Shape 15"/>
          <p:cNvSpPr/>
          <p:nvPr/>
        </p:nvSpPr>
        <p:spPr>
          <a:xfrm>
            <a:off x="6144768" y="3291840"/>
            <a:ext cx="5212080" cy="1051560"/>
          </a:xfrm>
          <a:prstGeom prst="roundRect">
            <a:avLst>
              <a:gd name="adj" fmla="val 8696"/>
            </a:avLst>
          </a:prstGeom>
          <a:solidFill>
            <a:srgbClr val="FFFFFF"/>
          </a:solidFill>
          <a:ln w="12700">
            <a:solidFill>
              <a:srgbClr val="E08A2B"/>
            </a:solidFill>
            <a:prstDash val="dash"/>
          </a:ln>
        </p:spPr>
      </p:sp>
      <p:sp>
        <p:nvSpPr>
          <p:cNvPr id="18" name="Text 16"/>
          <p:cNvSpPr/>
          <p:nvPr/>
        </p:nvSpPr>
        <p:spPr>
          <a:xfrm>
            <a:off x="6419088" y="3291840"/>
            <a:ext cx="640080" cy="1051560"/>
          </a:xfrm>
          <a:prstGeom prst="rect">
            <a:avLst/>
          </a:prstGeom>
          <a:noFill/>
          <a:ln/>
        </p:spPr>
        <p:txBody>
          <a:bodyPr wrap="square" rtlCol="0" anchor="ctr"/>
          <a:lstStyle/>
          <a:p>
            <a:pPr indent="0" marL="0">
              <a:buNone/>
            </a:pPr>
            <a:r>
              <a:rPr lang="en-US" sz="2600" b="1" dirty="0">
                <a:solidFill>
                  <a:srgbClr val="E08A2B"/>
                </a:solidFill>
                <a:latin typeface="Segoe UI" pitchFamily="34" charset="0"/>
                <a:ea typeface="Segoe UI" pitchFamily="34" charset="-122"/>
                <a:cs typeface="Segoe UI" pitchFamily="34" charset="-120"/>
              </a:rPr>
              <a:t>4</a:t>
            </a:r>
            <a:endParaRPr lang="en-US" sz="2600" dirty="0"/>
          </a:p>
        </p:txBody>
      </p:sp>
      <p:sp>
        <p:nvSpPr>
          <p:cNvPr id="19" name="Text 17"/>
          <p:cNvSpPr/>
          <p:nvPr/>
        </p:nvSpPr>
        <p:spPr>
          <a:xfrm>
            <a:off x="7150608" y="3456432"/>
            <a:ext cx="4023360" cy="411480"/>
          </a:xfrm>
          <a:prstGeom prst="rect">
            <a:avLst/>
          </a:prstGeom>
          <a:noFill/>
          <a:ln/>
        </p:spPr>
        <p:txBody>
          <a:bodyPr wrap="square" rtlCol="0" anchor="ctr"/>
          <a:lstStyle/>
          <a:p>
            <a:pPr indent="0" marL="0">
              <a:buNone/>
            </a:pPr>
            <a:r>
              <a:rPr lang="en-US" sz="1650" b="1" dirty="0">
                <a:solidFill>
                  <a:srgbClr val="1A1A1A"/>
                </a:solidFill>
                <a:latin typeface="Segoe UI" pitchFamily="34" charset="0"/>
                <a:ea typeface="Segoe UI" pitchFamily="34" charset="-122"/>
                <a:cs typeface="Segoe UI" pitchFamily="34" charset="-120"/>
              </a:rPr>
              <a:t>Open-source release</a:t>
            </a:r>
            <a:endParaRPr lang="en-US" sz="1650" dirty="0"/>
          </a:p>
        </p:txBody>
      </p:sp>
      <p:sp>
        <p:nvSpPr>
          <p:cNvPr id="20" name="Text 18"/>
          <p:cNvSpPr/>
          <p:nvPr/>
        </p:nvSpPr>
        <p:spPr>
          <a:xfrm>
            <a:off x="7150608" y="3858768"/>
            <a:ext cx="4114800" cy="411480"/>
          </a:xfrm>
          <a:prstGeom prst="rect">
            <a:avLst/>
          </a:prstGeom>
          <a:noFill/>
          <a:ln/>
        </p:spPr>
        <p:txBody>
          <a:bodyPr wrap="square" rtlCol="0" anchor="ctr"/>
          <a:lstStyle/>
          <a:p>
            <a:pPr indent="0" marL="0">
              <a:buNone/>
            </a:pPr>
            <a:r>
              <a:rPr lang="en-US" sz="1300" dirty="0">
                <a:solidFill>
                  <a:srgbClr val="3A3A3A"/>
                </a:solidFill>
                <a:latin typeface="Segoe UI" pitchFamily="34" charset="0"/>
                <a:ea typeface="Segoe UI" pitchFamily="34" charset="-122"/>
                <a:cs typeface="Segoe UI" pitchFamily="34" charset="-120"/>
              </a:rPr>
              <a:t>code + methods for the community</a:t>
            </a:r>
            <a:endParaRPr lang="en-US" sz="1300" dirty="0"/>
          </a:p>
        </p:txBody>
      </p:sp>
      <p:sp>
        <p:nvSpPr>
          <p:cNvPr id="21" name="Shape 19"/>
          <p:cNvSpPr/>
          <p:nvPr/>
        </p:nvSpPr>
        <p:spPr>
          <a:xfrm>
            <a:off x="566928" y="4526280"/>
            <a:ext cx="5212080" cy="1051560"/>
          </a:xfrm>
          <a:prstGeom prst="roundRect">
            <a:avLst>
              <a:gd name="adj" fmla="val 8696"/>
            </a:avLst>
          </a:prstGeom>
          <a:solidFill>
            <a:srgbClr val="FFFFFF"/>
          </a:solidFill>
          <a:ln w="12700">
            <a:solidFill>
              <a:srgbClr val="E08A2B"/>
            </a:solidFill>
            <a:prstDash val="dash"/>
          </a:ln>
        </p:spPr>
      </p:sp>
      <p:sp>
        <p:nvSpPr>
          <p:cNvPr id="22" name="Text 20"/>
          <p:cNvSpPr/>
          <p:nvPr/>
        </p:nvSpPr>
        <p:spPr>
          <a:xfrm>
            <a:off x="841248" y="4526280"/>
            <a:ext cx="640080" cy="1051560"/>
          </a:xfrm>
          <a:prstGeom prst="rect">
            <a:avLst/>
          </a:prstGeom>
          <a:noFill/>
          <a:ln/>
        </p:spPr>
        <p:txBody>
          <a:bodyPr wrap="square" rtlCol="0" anchor="ctr"/>
          <a:lstStyle/>
          <a:p>
            <a:pPr indent="0" marL="0">
              <a:buNone/>
            </a:pPr>
            <a:r>
              <a:rPr lang="en-US" sz="2600" b="1" dirty="0">
                <a:solidFill>
                  <a:srgbClr val="E08A2B"/>
                </a:solidFill>
                <a:latin typeface="Segoe UI" pitchFamily="34" charset="0"/>
                <a:ea typeface="Segoe UI" pitchFamily="34" charset="-122"/>
                <a:cs typeface="Segoe UI" pitchFamily="34" charset="-120"/>
              </a:rPr>
              <a:t>5</a:t>
            </a:r>
            <a:endParaRPr lang="en-US" sz="2600" dirty="0"/>
          </a:p>
        </p:txBody>
      </p:sp>
      <p:sp>
        <p:nvSpPr>
          <p:cNvPr id="23" name="Text 21"/>
          <p:cNvSpPr/>
          <p:nvPr/>
        </p:nvSpPr>
        <p:spPr>
          <a:xfrm>
            <a:off x="1572768" y="4690872"/>
            <a:ext cx="4023360" cy="411480"/>
          </a:xfrm>
          <a:prstGeom prst="rect">
            <a:avLst/>
          </a:prstGeom>
          <a:noFill/>
          <a:ln/>
        </p:spPr>
        <p:txBody>
          <a:bodyPr wrap="square" rtlCol="0" anchor="ctr"/>
          <a:lstStyle/>
          <a:p>
            <a:pPr indent="0" marL="0">
              <a:buNone/>
            </a:pPr>
            <a:r>
              <a:rPr lang="en-US" sz="1650" b="1" dirty="0">
                <a:solidFill>
                  <a:srgbClr val="1A1A1A"/>
                </a:solidFill>
                <a:latin typeface="Segoe UI" pitchFamily="34" charset="0"/>
                <a:ea typeface="Segoe UI" pitchFamily="34" charset="-122"/>
                <a:cs typeface="Segoe UI" pitchFamily="34" charset="-120"/>
              </a:rPr>
              <a:t>Scale &amp; deploy</a:t>
            </a:r>
            <a:endParaRPr lang="en-US" sz="1650" dirty="0"/>
          </a:p>
        </p:txBody>
      </p:sp>
      <p:sp>
        <p:nvSpPr>
          <p:cNvPr id="24" name="Text 22"/>
          <p:cNvSpPr/>
          <p:nvPr/>
        </p:nvSpPr>
        <p:spPr>
          <a:xfrm>
            <a:off x="1572768" y="5093208"/>
            <a:ext cx="4114800" cy="411480"/>
          </a:xfrm>
          <a:prstGeom prst="rect">
            <a:avLst/>
          </a:prstGeom>
          <a:noFill/>
          <a:ln/>
        </p:spPr>
        <p:txBody>
          <a:bodyPr wrap="square" rtlCol="0" anchor="ctr"/>
          <a:lstStyle/>
          <a:p>
            <a:pPr indent="0" marL="0">
              <a:buNone/>
            </a:pPr>
            <a:r>
              <a:rPr lang="en-US" sz="1300" dirty="0">
                <a:solidFill>
                  <a:srgbClr val="3A3A3A"/>
                </a:solidFill>
                <a:latin typeface="Segoe UI" pitchFamily="34" charset="0"/>
                <a:ea typeface="Segoe UI" pitchFamily="34" charset="-122"/>
                <a:cs typeface="Segoe UI" pitchFamily="34" charset="-120"/>
              </a:rPr>
              <a:t>cloud GPU, app-store builds</a:t>
            </a:r>
            <a:endParaRPr lang="en-US" sz="1300" dirty="0"/>
          </a:p>
        </p:txBody>
      </p:sp>
      <p:sp>
        <p:nvSpPr>
          <p:cNvPr id="25" name="Shape 23"/>
          <p:cNvSpPr/>
          <p:nvPr/>
        </p:nvSpPr>
        <p:spPr>
          <a:xfrm>
            <a:off x="6144768" y="4526280"/>
            <a:ext cx="5212080" cy="1051560"/>
          </a:xfrm>
          <a:prstGeom prst="roundRect">
            <a:avLst>
              <a:gd name="adj" fmla="val 8696"/>
            </a:avLst>
          </a:prstGeom>
          <a:solidFill>
            <a:srgbClr val="FFFFFF"/>
          </a:solidFill>
          <a:ln w="12700">
            <a:solidFill>
              <a:srgbClr val="E08A2B"/>
            </a:solidFill>
            <a:prstDash val="dash"/>
          </a:ln>
        </p:spPr>
      </p:sp>
      <p:sp>
        <p:nvSpPr>
          <p:cNvPr id="26" name="Text 24"/>
          <p:cNvSpPr/>
          <p:nvPr/>
        </p:nvSpPr>
        <p:spPr>
          <a:xfrm>
            <a:off x="6419088" y="4526280"/>
            <a:ext cx="640080" cy="1051560"/>
          </a:xfrm>
          <a:prstGeom prst="rect">
            <a:avLst/>
          </a:prstGeom>
          <a:noFill/>
          <a:ln/>
        </p:spPr>
        <p:txBody>
          <a:bodyPr wrap="square" rtlCol="0" anchor="ctr"/>
          <a:lstStyle/>
          <a:p>
            <a:pPr indent="0" marL="0">
              <a:buNone/>
            </a:pPr>
            <a:r>
              <a:rPr lang="en-US" sz="2600" b="1" dirty="0">
                <a:solidFill>
                  <a:srgbClr val="E08A2B"/>
                </a:solidFill>
                <a:latin typeface="Segoe UI" pitchFamily="34" charset="0"/>
                <a:ea typeface="Segoe UI" pitchFamily="34" charset="-122"/>
                <a:cs typeface="Segoe UI" pitchFamily="34" charset="-120"/>
              </a:rPr>
              <a:t>6</a:t>
            </a:r>
            <a:endParaRPr lang="en-US" sz="2600" dirty="0"/>
          </a:p>
        </p:txBody>
      </p:sp>
      <p:sp>
        <p:nvSpPr>
          <p:cNvPr id="27" name="Text 25"/>
          <p:cNvSpPr/>
          <p:nvPr/>
        </p:nvSpPr>
        <p:spPr>
          <a:xfrm>
            <a:off x="7150608" y="4690872"/>
            <a:ext cx="4023360" cy="411480"/>
          </a:xfrm>
          <a:prstGeom prst="rect">
            <a:avLst/>
          </a:prstGeom>
          <a:noFill/>
          <a:ln/>
        </p:spPr>
        <p:txBody>
          <a:bodyPr wrap="square" rtlCol="0" anchor="ctr"/>
          <a:lstStyle/>
          <a:p>
            <a:pPr indent="0" marL="0">
              <a:buNone/>
            </a:pPr>
            <a:r>
              <a:rPr lang="en-US" sz="1650" b="1" dirty="0">
                <a:solidFill>
                  <a:srgbClr val="1A1A1A"/>
                </a:solidFill>
                <a:latin typeface="Segoe UI" pitchFamily="34" charset="0"/>
                <a:ea typeface="Segoe UI" pitchFamily="34" charset="-122"/>
                <a:cs typeface="Segoe UI" pitchFamily="34" charset="-120"/>
              </a:rPr>
              <a:t>Fine-tuning</a:t>
            </a:r>
            <a:endParaRPr lang="en-US" sz="1650" dirty="0"/>
          </a:p>
        </p:txBody>
      </p:sp>
      <p:sp>
        <p:nvSpPr>
          <p:cNvPr id="28" name="Text 26"/>
          <p:cNvSpPr/>
          <p:nvPr/>
        </p:nvSpPr>
        <p:spPr>
          <a:xfrm>
            <a:off x="7150608" y="5093208"/>
            <a:ext cx="4114800" cy="411480"/>
          </a:xfrm>
          <a:prstGeom prst="rect">
            <a:avLst/>
          </a:prstGeom>
          <a:noFill/>
          <a:ln/>
        </p:spPr>
        <p:txBody>
          <a:bodyPr wrap="square" rtlCol="0" anchor="ctr"/>
          <a:lstStyle/>
          <a:p>
            <a:pPr indent="0" marL="0">
              <a:buNone/>
            </a:pPr>
            <a:r>
              <a:rPr lang="en-US" sz="1300" dirty="0">
                <a:solidFill>
                  <a:srgbClr val="3A3A3A"/>
                </a:solidFill>
                <a:latin typeface="Segoe UI" pitchFamily="34" charset="0"/>
                <a:ea typeface="Segoe UI" pitchFamily="34" charset="-122"/>
                <a:cs typeface="Segoe UI" pitchFamily="34" charset="-120"/>
              </a:rPr>
              <a:t>domain-adapt ASR/LLM on sessions</a:t>
            </a:r>
            <a:endParaRPr lang="en-US" sz="1300" dirty="0"/>
          </a:p>
        </p:txBody>
      </p:sp>
      <p:sp>
        <p:nvSpPr>
          <p:cNvPr id="29" name="Text 27"/>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30" name="Text 28"/>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47</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par>
                    <p:cTn id="127" presetID="10" presetClass="entr" presetSubtype="0" fill="hold" grpId="0" nodeType="afterEffect">
                      <p:stCondLst>
                        <p:cond delay="1080"/>
                      </p:stCondLst>
                      <p:childTnLst>
                        <p:set>
                          <p:cBhvr>
                            <p:cTn id="128" dur="1" fill="hold">
                              <p:stCondLst>
                                <p:cond delay="0"/>
                              </p:stCondLst>
                            </p:cTn>
                            <p:tgtEl>
                              <p:spTgt spid="11"/>
                            </p:tgtEl>
                            <p:attrNameLst>
                              <p:attrName>style.visibility</p:attrName>
                            </p:attrNameLst>
                          </p:cBhvr>
                          <p:to>
                            <p:strVal val="visible"/>
                          </p:to>
                        </p:set>
                        <p:animEffect transition="in" filter="fade">
                          <p:cBhvr>
                            <p:cTn id="129" dur="450"/>
                            <p:tgtEl>
                              <p:spTgt spid="11"/>
                            </p:tgtEl>
                          </p:cBhvr>
                        </p:animEffect>
                      </p:childTnLst>
                    </p:cTn>
                  </p:par>
                  <p:par>
                    <p:cTn id="130" presetID="10" presetClass="entr" presetSubtype="0" fill="hold" grpId="0" nodeType="afterEffect">
                      <p:stCondLst>
                        <p:cond delay="120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450"/>
                            <p:tgtEl>
                              <p:spTgt spid="12"/>
                            </p:tgtEl>
                          </p:cBhvr>
                        </p:animEffect>
                      </p:childTnLst>
                    </p:cTn>
                  </p:par>
                  <p:par>
                    <p:cTn id="133" presetID="10" presetClass="entr" presetSubtype="0" fill="hold" grpId="0" nodeType="afterEffect">
                      <p:stCondLst>
                        <p:cond delay="1320"/>
                      </p:stCondLst>
                      <p:childTnLst>
                        <p:set>
                          <p:cBhvr>
                            <p:cTn id="134" dur="1" fill="hold">
                              <p:stCondLst>
                                <p:cond delay="0"/>
                              </p:stCondLst>
                            </p:cTn>
                            <p:tgtEl>
                              <p:spTgt spid="13"/>
                            </p:tgtEl>
                            <p:attrNameLst>
                              <p:attrName>style.visibility</p:attrName>
                            </p:attrNameLst>
                          </p:cBhvr>
                          <p:to>
                            <p:strVal val="visible"/>
                          </p:to>
                        </p:set>
                        <p:animEffect transition="in" filter="fade">
                          <p:cBhvr>
                            <p:cTn id="135" dur="450"/>
                            <p:tgtEl>
                              <p:spTgt spid="13"/>
                            </p:tgtEl>
                          </p:cBhvr>
                        </p:animEffect>
                      </p:childTnLst>
                    </p:cTn>
                  </p:par>
                  <p:par>
                    <p:cTn id="136" presetID="10" presetClass="entr" presetSubtype="0" fill="hold" grpId="0" nodeType="afterEffect">
                      <p:stCondLst>
                        <p:cond delay="1440"/>
                      </p:stCondLst>
                      <p:childTnLst>
                        <p:set>
                          <p:cBhvr>
                            <p:cTn id="137" dur="1" fill="hold">
                              <p:stCondLst>
                                <p:cond delay="0"/>
                              </p:stCondLst>
                            </p:cTn>
                            <p:tgtEl>
                              <p:spTgt spid="14"/>
                            </p:tgtEl>
                            <p:attrNameLst>
                              <p:attrName>style.visibility</p:attrName>
                            </p:attrNameLst>
                          </p:cBhvr>
                          <p:to>
                            <p:strVal val="visible"/>
                          </p:to>
                        </p:set>
                        <p:animEffect transition="in" filter="fade">
                          <p:cBhvr>
                            <p:cTn id="138" dur="450"/>
                            <p:tgtEl>
                              <p:spTgt spid="14"/>
                            </p:tgtEl>
                          </p:cBhvr>
                        </p:animEffect>
                      </p:childTnLst>
                    </p:cTn>
                  </p:par>
                  <p:par>
                    <p:cTn id="139" presetID="10" presetClass="entr" presetSubtype="0" fill="hold" grpId="0" nodeType="afterEffect">
                      <p:stCondLst>
                        <p:cond delay="156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450"/>
                            <p:tgtEl>
                              <p:spTgt spid="15"/>
                            </p:tgtEl>
                          </p:cBhvr>
                        </p:animEffect>
                      </p:childTnLst>
                    </p:cTn>
                  </p:par>
                  <p:par>
                    <p:cTn id="142" presetID="10" presetClass="entr" presetSubtype="0" fill="hold" grpId="0" nodeType="afterEffect">
                      <p:stCondLst>
                        <p:cond delay="1680"/>
                      </p:stCondLst>
                      <p:childTnLst>
                        <p:set>
                          <p:cBhvr>
                            <p:cTn id="143" dur="1" fill="hold">
                              <p:stCondLst>
                                <p:cond delay="0"/>
                              </p:stCondLst>
                            </p:cTn>
                            <p:tgtEl>
                              <p:spTgt spid="16"/>
                            </p:tgtEl>
                            <p:attrNameLst>
                              <p:attrName>style.visibility</p:attrName>
                            </p:attrNameLst>
                          </p:cBhvr>
                          <p:to>
                            <p:strVal val="visible"/>
                          </p:to>
                        </p:set>
                        <p:animEffect transition="in" filter="fade">
                          <p:cBhvr>
                            <p:cTn id="144" dur="450"/>
                            <p:tgtEl>
                              <p:spTgt spid="16"/>
                            </p:tgtEl>
                          </p:cBhvr>
                        </p:animEffect>
                      </p:childTnLst>
                    </p:cTn>
                  </p:par>
                  <p:par>
                    <p:cTn id="145" presetID="10" presetClass="entr" presetSubtype="0" fill="hold" grpId="0" nodeType="afterEffect">
                      <p:stCondLst>
                        <p:cond delay="1800"/>
                      </p:stCondLst>
                      <p:childTnLst>
                        <p:set>
                          <p:cBhvr>
                            <p:cTn id="146" dur="1" fill="hold">
                              <p:stCondLst>
                                <p:cond delay="0"/>
                              </p:stCondLst>
                            </p:cTn>
                            <p:tgtEl>
                              <p:spTgt spid="17"/>
                            </p:tgtEl>
                            <p:attrNameLst>
                              <p:attrName>style.visibility</p:attrName>
                            </p:attrNameLst>
                          </p:cBhvr>
                          <p:to>
                            <p:strVal val="visible"/>
                          </p:to>
                        </p:set>
                        <p:animEffect transition="in" filter="fade">
                          <p:cBhvr>
                            <p:cTn id="147" dur="450"/>
                            <p:tgtEl>
                              <p:spTgt spid="17"/>
                            </p:tgtEl>
                          </p:cBhvr>
                        </p:animEffect>
                      </p:childTnLst>
                    </p:cTn>
                  </p:par>
                  <p:par>
                    <p:cTn id="148" presetID="10" presetClass="entr" presetSubtype="0" fill="hold" grpId="0" nodeType="afterEffect">
                      <p:stCondLst>
                        <p:cond delay="1920"/>
                      </p:stCondLst>
                      <p:childTnLst>
                        <p:set>
                          <p:cBhvr>
                            <p:cTn id="149" dur="1" fill="hold">
                              <p:stCondLst>
                                <p:cond delay="0"/>
                              </p:stCondLst>
                            </p:cTn>
                            <p:tgtEl>
                              <p:spTgt spid="18"/>
                            </p:tgtEl>
                            <p:attrNameLst>
                              <p:attrName>style.visibility</p:attrName>
                            </p:attrNameLst>
                          </p:cBhvr>
                          <p:to>
                            <p:strVal val="visible"/>
                          </p:to>
                        </p:set>
                        <p:animEffect transition="in" filter="fade">
                          <p:cBhvr>
                            <p:cTn id="150" dur="450"/>
                            <p:tgtEl>
                              <p:spTgt spid="18"/>
                            </p:tgtEl>
                          </p:cBhvr>
                        </p:animEffect>
                      </p:childTnLst>
                    </p:cTn>
                  </p:par>
                  <p:par>
                    <p:cTn id="151" presetID="10" presetClass="entr" presetSubtype="0" fill="hold" grpId="0" nodeType="afterEffect">
                      <p:stCondLst>
                        <p:cond delay="2040"/>
                      </p:stCondLst>
                      <p:childTnLst>
                        <p:set>
                          <p:cBhvr>
                            <p:cTn id="152" dur="1" fill="hold">
                              <p:stCondLst>
                                <p:cond delay="0"/>
                              </p:stCondLst>
                            </p:cTn>
                            <p:tgtEl>
                              <p:spTgt spid="19"/>
                            </p:tgtEl>
                            <p:attrNameLst>
                              <p:attrName>style.visibility</p:attrName>
                            </p:attrNameLst>
                          </p:cBhvr>
                          <p:to>
                            <p:strVal val="visible"/>
                          </p:to>
                        </p:set>
                        <p:animEffect transition="in" filter="fade">
                          <p:cBhvr>
                            <p:cTn id="153" dur="450"/>
                            <p:tgtEl>
                              <p:spTgt spid="19"/>
                            </p:tgtEl>
                          </p:cBhvr>
                        </p:animEffect>
                      </p:childTnLst>
                    </p:cTn>
                  </p:par>
                  <p:par>
                    <p:cTn id="154" presetID="10" presetClass="entr" presetSubtype="0" fill="hold" grpId="0" nodeType="afterEffect">
                      <p:stCondLst>
                        <p:cond delay="2160"/>
                      </p:stCondLst>
                      <p:childTnLst>
                        <p:set>
                          <p:cBhvr>
                            <p:cTn id="155" dur="1" fill="hold">
                              <p:stCondLst>
                                <p:cond delay="0"/>
                              </p:stCondLst>
                            </p:cTn>
                            <p:tgtEl>
                              <p:spTgt spid="20"/>
                            </p:tgtEl>
                            <p:attrNameLst>
                              <p:attrName>style.visibility</p:attrName>
                            </p:attrNameLst>
                          </p:cBhvr>
                          <p:to>
                            <p:strVal val="visible"/>
                          </p:to>
                        </p:set>
                        <p:animEffect transition="in" filter="fade">
                          <p:cBhvr>
                            <p:cTn id="156" dur="450"/>
                            <p:tgtEl>
                              <p:spTgt spid="20"/>
                            </p:tgtEl>
                          </p:cBhvr>
                        </p:animEffect>
                      </p:childTnLst>
                    </p:cTn>
                  </p:par>
                  <p:par>
                    <p:cTn id="157" presetID="10" presetClass="entr" presetSubtype="0" fill="hold" grpId="0" nodeType="afterEffect">
                      <p:stCondLst>
                        <p:cond delay="2280"/>
                      </p:stCondLst>
                      <p:childTnLst>
                        <p:set>
                          <p:cBhvr>
                            <p:cTn id="158" dur="1" fill="hold">
                              <p:stCondLst>
                                <p:cond delay="0"/>
                              </p:stCondLst>
                            </p:cTn>
                            <p:tgtEl>
                              <p:spTgt spid="21"/>
                            </p:tgtEl>
                            <p:attrNameLst>
                              <p:attrName>style.visibility</p:attrName>
                            </p:attrNameLst>
                          </p:cBhvr>
                          <p:to>
                            <p:strVal val="visible"/>
                          </p:to>
                        </p:set>
                        <p:animEffect transition="in" filter="fade">
                          <p:cBhvr>
                            <p:cTn id="159" dur="450"/>
                            <p:tgtEl>
                              <p:spTgt spid="21"/>
                            </p:tgtEl>
                          </p:cBhvr>
                        </p:animEffect>
                      </p:childTnLst>
                    </p:cTn>
                  </p:par>
                  <p:par>
                    <p:cTn id="160" presetID="10" presetClass="entr" presetSubtype="0" fill="hold" grpId="0" nodeType="afterEffect">
                      <p:stCondLst>
                        <p:cond delay="2400"/>
                      </p:stCondLst>
                      <p:childTnLst>
                        <p:set>
                          <p:cBhvr>
                            <p:cTn id="161" dur="1" fill="hold">
                              <p:stCondLst>
                                <p:cond delay="0"/>
                              </p:stCondLst>
                            </p:cTn>
                            <p:tgtEl>
                              <p:spTgt spid="22"/>
                            </p:tgtEl>
                            <p:attrNameLst>
                              <p:attrName>style.visibility</p:attrName>
                            </p:attrNameLst>
                          </p:cBhvr>
                          <p:to>
                            <p:strVal val="visible"/>
                          </p:to>
                        </p:set>
                        <p:animEffect transition="in" filter="fade">
                          <p:cBhvr>
                            <p:cTn id="162" dur="450"/>
                            <p:tgtEl>
                              <p:spTgt spid="22"/>
                            </p:tgtEl>
                          </p:cBhvr>
                        </p:animEffect>
                      </p:childTnLst>
                    </p:cTn>
                  </p:par>
                  <p:par>
                    <p:cTn id="163" presetID="10" presetClass="entr" presetSubtype="0" fill="hold" grpId="0" nodeType="afterEffect">
                      <p:stCondLst>
                        <p:cond delay="2520"/>
                      </p:stCondLst>
                      <p:childTnLst>
                        <p:set>
                          <p:cBhvr>
                            <p:cTn id="164" dur="1" fill="hold">
                              <p:stCondLst>
                                <p:cond delay="0"/>
                              </p:stCondLst>
                            </p:cTn>
                            <p:tgtEl>
                              <p:spTgt spid="23"/>
                            </p:tgtEl>
                            <p:attrNameLst>
                              <p:attrName>style.visibility</p:attrName>
                            </p:attrNameLst>
                          </p:cBhvr>
                          <p:to>
                            <p:strVal val="visible"/>
                          </p:to>
                        </p:set>
                        <p:animEffect transition="in" filter="fade">
                          <p:cBhvr>
                            <p:cTn id="165" dur="450"/>
                            <p:tgtEl>
                              <p:spTgt spid="23"/>
                            </p:tgtEl>
                          </p:cBhvr>
                        </p:animEffect>
                      </p:childTnLst>
                    </p:cTn>
                  </p:par>
                  <p:par>
                    <p:cTn id="166" presetID="10" presetClass="entr" presetSubtype="0" fill="hold" grpId="0" nodeType="afterEffect">
                      <p:stCondLst>
                        <p:cond delay="2640"/>
                      </p:stCondLst>
                      <p:childTnLst>
                        <p:set>
                          <p:cBhvr>
                            <p:cTn id="167" dur="1" fill="hold">
                              <p:stCondLst>
                                <p:cond delay="0"/>
                              </p:stCondLst>
                            </p:cTn>
                            <p:tgtEl>
                              <p:spTgt spid="24"/>
                            </p:tgtEl>
                            <p:attrNameLst>
                              <p:attrName>style.visibility</p:attrName>
                            </p:attrNameLst>
                          </p:cBhvr>
                          <p:to>
                            <p:strVal val="visible"/>
                          </p:to>
                        </p:set>
                        <p:animEffect transition="in" filter="fade">
                          <p:cBhvr>
                            <p:cTn id="168" dur="450"/>
                            <p:tgtEl>
                              <p:spTgt spid="24"/>
                            </p:tgtEl>
                          </p:cBhvr>
                        </p:animEffect>
                      </p:childTnLst>
                    </p:cTn>
                  </p:par>
                  <p:par>
                    <p:cTn id="169" presetID="10" presetClass="entr" presetSubtype="0" fill="hold" grpId="0" nodeType="afterEffect">
                      <p:stCondLst>
                        <p:cond delay="2760"/>
                      </p:stCondLst>
                      <p:childTnLst>
                        <p:set>
                          <p:cBhvr>
                            <p:cTn id="170" dur="1" fill="hold">
                              <p:stCondLst>
                                <p:cond delay="0"/>
                              </p:stCondLst>
                            </p:cTn>
                            <p:tgtEl>
                              <p:spTgt spid="25"/>
                            </p:tgtEl>
                            <p:attrNameLst>
                              <p:attrName>style.visibility</p:attrName>
                            </p:attrNameLst>
                          </p:cBhvr>
                          <p:to>
                            <p:strVal val="visible"/>
                          </p:to>
                        </p:set>
                        <p:animEffect transition="in" filter="fade">
                          <p:cBhvr>
                            <p:cTn id="171" dur="450"/>
                            <p:tgtEl>
                              <p:spTgt spid="25"/>
                            </p:tgtEl>
                          </p:cBhvr>
                        </p:animEffect>
                      </p:childTnLst>
                    </p:cTn>
                  </p:par>
                  <p:par>
                    <p:cTn id="172" presetID="10" presetClass="entr" presetSubtype="0" fill="hold" grpId="0" nodeType="afterEffect">
                      <p:stCondLst>
                        <p:cond delay="2880"/>
                      </p:stCondLst>
                      <p:childTnLst>
                        <p:set>
                          <p:cBhvr>
                            <p:cTn id="173" dur="1" fill="hold">
                              <p:stCondLst>
                                <p:cond delay="0"/>
                              </p:stCondLst>
                            </p:cTn>
                            <p:tgtEl>
                              <p:spTgt spid="26"/>
                            </p:tgtEl>
                            <p:attrNameLst>
                              <p:attrName>style.visibility</p:attrName>
                            </p:attrNameLst>
                          </p:cBhvr>
                          <p:to>
                            <p:strVal val="visible"/>
                          </p:to>
                        </p:set>
                        <p:animEffect transition="in" filter="fade">
                          <p:cBhvr>
                            <p:cTn id="174" dur="450"/>
                            <p:tgtEl>
                              <p:spTgt spid="26"/>
                            </p:tgtEl>
                          </p:cBhvr>
                        </p:animEffect>
                      </p:childTnLst>
                    </p:cTn>
                  </p:par>
                  <p:par>
                    <p:cTn id="175" presetID="10" presetClass="entr" presetSubtype="0" fill="hold" grpId="0" nodeType="afterEffect">
                      <p:stCondLst>
                        <p:cond delay="3000"/>
                      </p:stCondLst>
                      <p:childTnLst>
                        <p:set>
                          <p:cBhvr>
                            <p:cTn id="176" dur="1" fill="hold">
                              <p:stCondLst>
                                <p:cond delay="0"/>
                              </p:stCondLst>
                            </p:cTn>
                            <p:tgtEl>
                              <p:spTgt spid="27"/>
                            </p:tgtEl>
                            <p:attrNameLst>
                              <p:attrName>style.visibility</p:attrName>
                            </p:attrNameLst>
                          </p:cBhvr>
                          <p:to>
                            <p:strVal val="visible"/>
                          </p:to>
                        </p:set>
                        <p:animEffect transition="in" filter="fade">
                          <p:cBhvr>
                            <p:cTn id="177" dur="450"/>
                            <p:tgtEl>
                              <p:spTgt spid="27"/>
                            </p:tgtEl>
                          </p:cBhvr>
                        </p:animEffect>
                      </p:childTnLst>
                    </p:cTn>
                  </p:par>
                  <p:par>
                    <p:cTn id="178" presetID="10" presetClass="entr" presetSubtype="0" fill="hold" grpId="0" nodeType="afterEffect">
                      <p:stCondLst>
                        <p:cond delay="3120"/>
                      </p:stCondLst>
                      <p:childTnLst>
                        <p:set>
                          <p:cBhvr>
                            <p:cTn id="179" dur="1" fill="hold">
                              <p:stCondLst>
                                <p:cond delay="0"/>
                              </p:stCondLst>
                            </p:cTn>
                            <p:tgtEl>
                              <p:spTgt spid="28"/>
                            </p:tgtEl>
                            <p:attrNameLst>
                              <p:attrName>style.visibility</p:attrName>
                            </p:attrNameLst>
                          </p:cBhvr>
                          <p:to>
                            <p:strVal val="visible"/>
                          </p:to>
                        </p:set>
                        <p:animEffect transition="in" filter="fade">
                          <p:cBhvr>
                            <p:cTn id="180" dur="450"/>
                            <p:tgtEl>
                              <p:spTgt spid="28"/>
                            </p:tgtEl>
                          </p:cBhvr>
                        </p:animEffect>
                      </p:childTnLst>
                    </p:cTn>
                  </p:par>
                  <p:par>
                    <p:cTn id="181" presetID="10" presetClass="entr" presetSubtype="0" fill="hold" grpId="0" nodeType="afterEffect">
                      <p:stCondLst>
                        <p:cond delay="3240"/>
                      </p:stCondLst>
                      <p:childTnLst>
                        <p:set>
                          <p:cBhvr>
                            <p:cTn id="182" dur="1" fill="hold">
                              <p:stCondLst>
                                <p:cond delay="0"/>
                              </p:stCondLst>
                            </p:cTn>
                            <p:tgtEl>
                              <p:spTgt spid="29"/>
                            </p:tgtEl>
                            <p:attrNameLst>
                              <p:attrName>style.visibility</p:attrName>
                            </p:attrNameLst>
                          </p:cBhvr>
                          <p:to>
                            <p:strVal val="visible"/>
                          </p:to>
                        </p:set>
                        <p:animEffect transition="in" filter="fade">
                          <p:cBhvr>
                            <p:cTn id="183" dur="450"/>
                            <p:tgtEl>
                              <p:spTgt spid="29"/>
                            </p:tgtEl>
                          </p:cBhvr>
                        </p:animEffect>
                      </p:childTnLst>
                    </p:cTn>
                  </p:par>
                  <p:par>
                    <p:cTn id="184" presetID="10" presetClass="entr" presetSubtype="0" fill="hold" grpId="0" nodeType="afterEffect">
                      <p:stCondLst>
                        <p:cond delay="3360"/>
                      </p:stCondLst>
                      <p:childTnLst>
                        <p:set>
                          <p:cBhvr>
                            <p:cTn id="185" dur="1" fill="hold">
                              <p:stCondLst>
                                <p:cond delay="0"/>
                              </p:stCondLst>
                            </p:cTn>
                            <p:tgtEl>
                              <p:spTgt spid="30"/>
                            </p:tgtEl>
                            <p:attrNameLst>
                              <p:attrName>style.visibility</p:attrName>
                            </p:attrNameLst>
                          </p:cBhvr>
                          <p:to>
                            <p:strVal val="visible"/>
                          </p:to>
                        </p:set>
                        <p:animEffect transition="in" filter="fade">
                          <p:cBhvr>
                            <p:cTn id="186" dur="450"/>
                            <p:tgtEl>
                              <p:spTgt spid="30"/>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9784080" y="-1005840"/>
            <a:ext cx="3657600" cy="3657600"/>
          </a:xfrm>
          <a:prstGeom prst="ellipse">
            <a:avLst/>
          </a:prstGeom>
          <a:solidFill>
            <a:srgbClr val="0E7C86">
              <a:alpha val="14000"/>
            </a:srgbClr>
          </a:solidFill>
          <a:ln/>
        </p:spPr>
      </p:sp>
      <p:sp>
        <p:nvSpPr>
          <p:cNvPr id="3" name="Shape 1"/>
          <p:cNvSpPr/>
          <p:nvPr/>
        </p:nvSpPr>
        <p:spPr>
          <a:xfrm>
            <a:off x="10789920" y="1737360"/>
            <a:ext cx="1280160" cy="1280160"/>
          </a:xfrm>
          <a:prstGeom prst="ellipse">
            <a:avLst/>
          </a:prstGeom>
          <a:solidFill>
            <a:srgbClr val="E08A2B">
              <a:alpha val="16000"/>
            </a:srgbClr>
          </a:solidFill>
          <a:ln/>
        </p:spPr>
      </p:sp>
      <p:sp>
        <p:nvSpPr>
          <p:cNvPr id="4" name="Shape 2"/>
          <p:cNvSpPr/>
          <p:nvPr/>
        </p:nvSpPr>
        <p:spPr>
          <a:xfrm>
            <a:off x="-731520" y="5212080"/>
            <a:ext cx="2560320" cy="2560320"/>
          </a:xfrm>
          <a:prstGeom prst="ellipse">
            <a:avLst/>
          </a:prstGeom>
          <a:solidFill>
            <a:srgbClr val="0E7C86">
              <a:alpha val="10000"/>
            </a:srgbClr>
          </a:solidFill>
          <a:ln/>
        </p:spPr>
      </p:sp>
      <p:pic>
        <p:nvPicPr>
          <p:cNvPr id="5" name="Image 0" descr="assets/logo_dark.png"/>
          <p:cNvPicPr>
            <a:picLocks noChangeAspect="1"/>
          </p:cNvPicPr>
          <p:nvPr/>
        </p:nvPicPr>
        <p:blipFill>
          <a:blip r:embed="rId1"/>
          <a:stretch>
            <a:fillRect/>
          </a:stretch>
        </p:blipFill>
        <p:spPr>
          <a:xfrm>
            <a:off x="566928" y="1280160"/>
            <a:ext cx="1280160" cy="1280160"/>
          </a:xfrm>
          <a:prstGeom prst="rect">
            <a:avLst/>
          </a:prstGeom>
        </p:spPr>
      </p:pic>
      <p:sp>
        <p:nvSpPr>
          <p:cNvPr id="6" name="Text 3"/>
          <p:cNvSpPr/>
          <p:nvPr/>
        </p:nvSpPr>
        <p:spPr>
          <a:xfrm>
            <a:off x="566928" y="2743200"/>
            <a:ext cx="10058400" cy="1645920"/>
          </a:xfrm>
          <a:prstGeom prst="rect">
            <a:avLst/>
          </a:prstGeom>
          <a:noFill/>
          <a:ln/>
        </p:spPr>
        <p:txBody>
          <a:bodyPr wrap="square" rtlCol="0" anchor="ctr"/>
          <a:lstStyle/>
          <a:p>
            <a:pPr indent="0" marL="0">
              <a:lnSpc>
                <a:spcPct val="102000"/>
              </a:lnSpc>
              <a:buNone/>
            </a:pPr>
            <a:r>
              <a:rPr lang="en-US" sz="4400" b="1" dirty="0">
                <a:solidFill>
                  <a:srgbClr val="1A1A1A"/>
                </a:solidFill>
                <a:latin typeface="Segoe UI" pitchFamily="34" charset="0"/>
                <a:ea typeface="Segoe UI" pitchFamily="34" charset="-122"/>
                <a:cs typeface="Segoe UI" pitchFamily="34" charset="-120"/>
              </a:rPr>
              <a:t>Get better at talking —</a:t>
            </a:r>
            <a:endParaRPr lang="en-US" sz="4400" dirty="0"/>
          </a:p>
          <a:p>
            <a:pPr indent="0" marL="0">
              <a:lnSpc>
                <a:spcPct val="102000"/>
              </a:lnSpc>
              <a:buNone/>
            </a:pPr>
            <a:r>
              <a:rPr lang="en-US" sz="4400" b="1" dirty="0">
                <a:solidFill>
                  <a:srgbClr val="1A1A1A"/>
                </a:solidFill>
                <a:latin typeface="Segoe UI" pitchFamily="34" charset="0"/>
                <a:ea typeface="Segoe UI" pitchFamily="34" charset="-122"/>
                <a:cs typeface="Segoe UI" pitchFamily="34" charset="-120"/>
              </a:rPr>
              <a:t>one conversation at a time.</a:t>
            </a:r>
            <a:endParaRPr lang="en-US" sz="4400" dirty="0"/>
          </a:p>
        </p:txBody>
      </p:sp>
      <p:sp>
        <p:nvSpPr>
          <p:cNvPr id="7" name="Text 4"/>
          <p:cNvSpPr/>
          <p:nvPr/>
        </p:nvSpPr>
        <p:spPr>
          <a:xfrm>
            <a:off x="566928" y="4572000"/>
            <a:ext cx="10058400" cy="457200"/>
          </a:xfrm>
          <a:prstGeom prst="rect">
            <a:avLst/>
          </a:prstGeom>
          <a:noFill/>
          <a:ln/>
        </p:spPr>
        <p:txBody>
          <a:bodyPr wrap="square" rtlCol="0" anchor="ctr"/>
          <a:lstStyle/>
          <a:p>
            <a:pPr indent="0" marL="0">
              <a:buNone/>
            </a:pPr>
            <a:r>
              <a:rPr lang="en-US" sz="1600" b="1" dirty="0">
                <a:solidFill>
                  <a:srgbClr val="0E7C86"/>
                </a:solidFill>
                <a:latin typeface="Segoe UI" pitchFamily="34" charset="0"/>
                <a:ea typeface="Segoe UI" pitchFamily="34" charset="-122"/>
                <a:cs typeface="Segoe UI" pitchFamily="34" charset="-120"/>
              </a:rPr>
              <a:t>github.com/qdevaan/Bubbles-AI   ·   qdevaan.github.io/Bubbles-AI</a:t>
            </a:r>
            <a:endParaRPr lang="en-US" sz="1600" dirty="0"/>
          </a:p>
        </p:txBody>
      </p:sp>
      <p:sp>
        <p:nvSpPr>
          <p:cNvPr id="8" name="Text 5"/>
          <p:cNvSpPr/>
          <p:nvPr/>
        </p:nvSpPr>
        <p:spPr>
          <a:xfrm>
            <a:off x="566928" y="5120640"/>
            <a:ext cx="10058400" cy="548640"/>
          </a:xfrm>
          <a:prstGeom prst="rect">
            <a:avLst/>
          </a:prstGeom>
          <a:noFill/>
          <a:ln/>
        </p:spPr>
        <p:txBody>
          <a:bodyPr wrap="square" rtlCol="0" anchor="ctr"/>
          <a:lstStyle/>
          <a:p>
            <a:pPr indent="0" marL="0">
              <a:buNone/>
            </a:pPr>
            <a:r>
              <a:rPr lang="en-US" sz="2200" b="1" dirty="0">
                <a:solidFill>
                  <a:srgbClr val="3A3A3A"/>
                </a:solidFill>
                <a:latin typeface="Segoe UI" pitchFamily="34" charset="0"/>
                <a:ea typeface="Segoe UI" pitchFamily="34" charset="-122"/>
                <a:cs typeface="Segoe UI" pitchFamily="34" charset="-120"/>
              </a:rPr>
              <a:t>Thank you  ·  Questions?</a:t>
            </a:r>
            <a:endParaRPr lang="en-US" sz="2200" dirty="0"/>
          </a:p>
        </p:txBody>
      </p:sp>
      <p:sp>
        <p:nvSpPr>
          <p:cNvPr id="9" name="Text 6"/>
          <p:cNvSpPr/>
          <p:nvPr/>
        </p:nvSpPr>
        <p:spPr>
          <a:xfrm>
            <a:off x="566928" y="6473952"/>
            <a:ext cx="7315200" cy="274320"/>
          </a:xfrm>
          <a:prstGeom prst="rect">
            <a:avLst/>
          </a:prstGeom>
          <a:noFill/>
          <a:ln/>
        </p:spPr>
        <p:txBody>
          <a:bodyPr wrap="square" rtlCol="0" anchor="ctr"/>
          <a:lstStyle/>
          <a:p>
            <a:pPr algn="l" indent="0" marL="0">
              <a:buNone/>
            </a:pPr>
            <a:r>
              <a:rPr lang="en-US" sz="900" dirty="0">
                <a:solidFill>
                  <a:srgbClr val="9A9285"/>
                </a:solidFill>
                <a:latin typeface="Segoe UI" pitchFamily="34" charset="0"/>
                <a:ea typeface="Segoe UI" pitchFamily="34" charset="-122"/>
                <a:cs typeface="Segoe UI" pitchFamily="34" charset="-120"/>
              </a:rPr>
              <a:t>Bubbles  ·  FYP 2022–2026  ·  COMSATS Lahore</a:t>
            </a:r>
            <a:endParaRPr lang="en-US" sz="900" dirty="0"/>
          </a:p>
        </p:txBody>
      </p:sp>
      <p:sp>
        <p:nvSpPr>
          <p:cNvPr id="10" name="Text 7"/>
          <p:cNvSpPr/>
          <p:nvPr/>
        </p:nvSpPr>
        <p:spPr>
          <a:xfrm>
            <a:off x="11002975" y="6473952"/>
            <a:ext cx="640080" cy="274320"/>
          </a:xfrm>
          <a:prstGeom prst="rect">
            <a:avLst/>
          </a:prstGeom>
          <a:noFill/>
          <a:ln/>
        </p:spPr>
        <p:txBody>
          <a:bodyPr wrap="square" rtlCol="0" anchor="ctr"/>
          <a:lstStyle/>
          <a:p>
            <a:pPr algn="r" indent="0" marL="0">
              <a:buNone/>
            </a:pPr>
            <a:r>
              <a:rPr lang="en-US" sz="900" dirty="0">
                <a:solidFill>
                  <a:srgbClr val="9A9285"/>
                </a:solidFill>
                <a:latin typeface="Segoe UI" pitchFamily="34" charset="0"/>
                <a:ea typeface="Segoe UI" pitchFamily="34" charset="-122"/>
                <a:cs typeface="Segoe UI" pitchFamily="34" charset="-120"/>
              </a:rPr>
              <a:t>48</a:t>
            </a:r>
            <a:endParaRPr lang="en-US" sz="9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100" presetID="10" presetClass="entr" presetSubtype="0" fill="hold" grpId="0" nodeType="after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fade">
                          <p:cBhvr>
                            <p:cTn id="102" dur="450"/>
                            <p:tgtEl>
                              <p:spTgt spid="2"/>
                            </p:tgtEl>
                          </p:cBhvr>
                        </p:animEffect>
                      </p:childTnLst>
                    </p:cTn>
                  </p:par>
                  <p:par>
                    <p:cTn id="103" presetID="10" presetClass="entr" presetSubtype="0" fill="hold" grpId="0" nodeType="afterEffect">
                      <p:stCondLst>
                        <p:cond delay="12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450"/>
                            <p:tgtEl>
                              <p:spTgt spid="3"/>
                            </p:tgtEl>
                          </p:cBhvr>
                        </p:animEffect>
                      </p:childTnLst>
                    </p:cTn>
                  </p:par>
                  <p:par>
                    <p:cTn id="106" presetID="10" presetClass="entr" presetSubtype="0" fill="hold" grpId="0" nodeType="afterEffect">
                      <p:stCondLst>
                        <p:cond delay="24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450"/>
                            <p:tgtEl>
                              <p:spTgt spid="4"/>
                            </p:tgtEl>
                          </p:cBhvr>
                        </p:animEffect>
                      </p:childTnLst>
                    </p:cTn>
                  </p:par>
                  <p:par>
                    <p:cTn id="109" presetID="10" presetClass="entr" presetSubtype="0" fill="hold" grpId="0" nodeType="afterEffect">
                      <p:stCondLst>
                        <p:cond delay="360"/>
                      </p:stCondLst>
                      <p:childTnLst>
                        <p:set>
                          <p:cBhvr>
                            <p:cTn id="110" dur="1" fill="hold">
                              <p:stCondLst>
                                <p:cond delay="0"/>
                              </p:stCondLst>
                            </p:cTn>
                            <p:tgtEl>
                              <p:spTgt spid="5"/>
                            </p:tgtEl>
                            <p:attrNameLst>
                              <p:attrName>style.visibility</p:attrName>
                            </p:attrNameLst>
                          </p:cBhvr>
                          <p:to>
                            <p:strVal val="visible"/>
                          </p:to>
                        </p:set>
                        <p:animEffect transition="in" filter="fade">
                          <p:cBhvr>
                            <p:cTn id="111" dur="450"/>
                            <p:tgtEl>
                              <p:spTgt spid="5"/>
                            </p:tgtEl>
                          </p:cBhvr>
                        </p:animEffect>
                      </p:childTnLst>
                    </p:cTn>
                  </p:par>
                  <p:par>
                    <p:cTn id="112" presetID="10" presetClass="entr" presetSubtype="0" fill="hold" grpId="0" nodeType="afterEffect">
                      <p:stCondLst>
                        <p:cond delay="48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450"/>
                            <p:tgtEl>
                              <p:spTgt spid="6"/>
                            </p:tgtEl>
                          </p:cBhvr>
                        </p:animEffect>
                      </p:childTnLst>
                    </p:cTn>
                  </p:par>
                  <p:par>
                    <p:cTn id="115" presetID="10" presetClass="entr" presetSubtype="0" fill="hold" grpId="0" nodeType="afterEffect">
                      <p:stCondLst>
                        <p:cond delay="6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18" presetID="10" presetClass="entr" presetSubtype="0" fill="hold" grpId="0" nodeType="afterEffect">
                      <p:stCondLst>
                        <p:cond delay="720"/>
                      </p:stCondLst>
                      <p:childTnLst>
                        <p:set>
                          <p:cBhvr>
                            <p:cTn id="119" dur="1" fill="hold">
                              <p:stCondLst>
                                <p:cond delay="0"/>
                              </p:stCondLst>
                            </p:cTn>
                            <p:tgtEl>
                              <p:spTgt spid="8"/>
                            </p:tgtEl>
                            <p:attrNameLst>
                              <p:attrName>style.visibility</p:attrName>
                            </p:attrNameLst>
                          </p:cBhvr>
                          <p:to>
                            <p:strVal val="visible"/>
                          </p:to>
                        </p:set>
                        <p:animEffect transition="in" filter="fade">
                          <p:cBhvr>
                            <p:cTn id="120" dur="450"/>
                            <p:tgtEl>
                              <p:spTgt spid="8"/>
                            </p:tgtEl>
                          </p:cBhvr>
                        </p:animEffect>
                      </p:childTnLst>
                    </p:cTn>
                  </p:par>
                  <p:par>
                    <p:cTn id="121" presetID="10" presetClass="entr" presetSubtype="0" fill="hold" grpId="0" nodeType="afterEffect">
                      <p:stCondLst>
                        <p:cond delay="840"/>
                      </p:stCondLst>
                      <p:childTnLst>
                        <p:set>
                          <p:cBhvr>
                            <p:cTn id="122" dur="1" fill="hold">
                              <p:stCondLst>
                                <p:cond delay="0"/>
                              </p:stCondLst>
                            </p:cTn>
                            <p:tgtEl>
                              <p:spTgt spid="9"/>
                            </p:tgtEl>
                            <p:attrNameLst>
                              <p:attrName>style.visibility</p:attrName>
                            </p:attrNameLst>
                          </p:cBhvr>
                          <p:to>
                            <p:strVal val="visible"/>
                          </p:to>
                        </p:set>
                        <p:animEffect transition="in" filter="fade">
                          <p:cBhvr>
                            <p:cTn id="123" dur="450"/>
                            <p:tgtEl>
                              <p:spTgt spid="9"/>
                            </p:tgtEl>
                          </p:cBhvr>
                        </p:animEffect>
                      </p:childTnLst>
                    </p:cTn>
                  </p:par>
                  <p:par>
                    <p:cTn id="124" presetID="10" presetClass="entr" presetSubtype="0" fill="hold" grpId="0" nodeType="afterEffect">
                      <p:stCondLst>
                        <p:cond delay="96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450"/>
                            <p:tgtEl>
                              <p:spTgt spid="10"/>
                            </p:tgtEl>
                          </p:cBhvr>
                        </p:animEffect>
                      </p:childTnLst>
                    </p:cTn>
                  </p:par>
                </p:childTnLst>
              </p:cTn>
              <p:prevCondLst>
                <p:cond evt="onPrev" delay="0">
                  <p:tgtEl>
                    <p:sldTgt/>
                  </p:tgtEl>
                </p:cond>
              </p:prevCondLst>
              <p:nextCondLst>
                <p:cond evt="onNext" delay="0">
                  <p:tgtEl>
                    <p:sldTgt/>
                  </p:tgtEl>
                </p:cond>
              </p:nextCondLst>
            </p:seq>
          </p:childTnLst>
        </p:cTn>
      </p:par>
    </p:tnLst>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COMSATS University Islamabad — Lahore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Bubbles FYP</dc:title>
  <dc:subject>Bubbles — Smarter AI Assistant (FYP)</dc:subject>
  <dc:creator>Muhammad Ahmad &amp; Attique Rehman</dc:creator>
  <cp:lastModifiedBy>Muhammad Ahmad &amp; Attique Rehman</cp:lastModifiedBy>
  <cp:revision>1</cp:revision>
  <dcterms:created xsi:type="dcterms:W3CDTF">2026-06-02T05:03:17Z</dcterms:created>
  <dcterms:modified xsi:type="dcterms:W3CDTF">2026-06-02T05:03:17Z</dcterms:modified>
</cp:coreProperties>
</file>