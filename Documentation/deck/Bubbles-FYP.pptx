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Name the project in one breath: Bubbles is an AI that listens while you talk, whispers what to say next, and remembers everything so you can ask about it later. Two-person FYP. We'll show the problem, the solution, how it's built,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did what. A clean two-person ownership boundary: Ahmad owns the client and architecture, Attique owns the AI brain and memory. R&amp;D project, areas: AI, NLP, mobile. SDG: Quality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with a relatable moment — interview, viva, negotiation, tough call. You freeze, you fumble, and you only spot the mistake afterwards. Bubbles fixes the timing problem: it helps during, and remembers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decides interviews, vivas, deals, relationships. Writing has Grammarly, spell-check, undo. Speech has nothing — the feedback always arrives too late. That asymmetry is the wound the whole project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origin story. We weren't chasing a market — we hit this ourselves and confirmed it with classmates (introspection + peer interviews, our elicitation method). Three recurring failure moments became the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camps. Notetakers transcribe and summarize after the fact. Assistants answer commands but treat each chat as an island. Neither coaches you live, and neither remembers your people and topics across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formal research gap from our literature review. Otter/Gong analyze after the fact. Siri/ChatGPT forget across sessions. Enterprise tools are team-first and data-hungry. Nobody serves one user, improving one skill, privately, in the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Post-hoc notes are good for records, useless for the moment. Once the conversation is over, advice is worth almost nothing. Coaching has to happen during,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once, slowly. It is the single sentence the entire project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to SDG Quality Education. We frame Bubbles as a habit-building skill app: measurable progress, targeted practice, and rewards for improvement — gamified communication growth for a single learner.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product in four verbs. Everything technical that follows hangs off these four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Bubbles listens to the other person, decides if advice is worth giving, and pushes a short tip mid-conversation without breaking your flow. It only advises on what the OTHER person said — never parrots your own sentence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fact, you interrogate your own history. Deep, context-aware Q&amp;A — streaming or batched. This is where the big reasoning model in the router earns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real slip-ups become flashcards; you practice them; the dashboard shows you improving; gamification keeps you coming back. This closes the loop from feedback to measurable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technical claim: a Hybrid Memory Architecture. Vector search finds semantically similar past moments; the knowledge graph stores factual relationships (User knows Asma; Asma manages Project X). We fuse both before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vector RAG is fuzzy — it retrieves text that reads similar, which is how models hallucinate or confuse events. By forcing a graph lookup — a neighbor/ego-graph search around the entities in your question — we anchor answers to hard relationships vectors miss. This directly attacks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keep the phone a thin client — saves battery, keeps models swappable, runs the same on a cheap phone. Trade-off: it needs internet (an explicit constraint). We accepted that because real-time SOTA models don't fit on-device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tiers once, top to bottom. Everything in this section zooms into one box of this picture — tell the panel that up front so they don't get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Layered client: Screens → State (Riverpod/Provider) → Repositories → custom cache → Services. 25+ screens, 11 repositories, 25 services. Offline-first via a stale-while-revalidate cache over local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Two-person team — we can't build and maintain six native apps. Flutter gives one Dart codebase, real desktop targets, and smooth custom UI. React Native's JS bridge and thin desktop story ruled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3.12 + FastAPI on Uvicorn/Gunicorn. Fully async, so one server juggles many live audio streams. 40-plus endpoints under /v1, grouped by feature. Pydantic v2 validates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Django/Flask are sync-first; blocking a worker per audio stream doesn't scale. FastAPI's async lets us await network and LLM calls without freezing the server, and gives typed schemas plus auto-generated OpenAPI docs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task is routed to the model that fits it — fast 8B for live advice, a bigger model for deep Q&amp;A. Per-provider circuit breakers: if a provider starts failing, we trip the breaker and fail over to the next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provider means one outage kills the app, one price hike traps you, one model is wrong for some tasks. Splitting by task lets us use a fast 8B for live advice (latency) and a big model for deep Q&amp;A (quality), with automatic failover for uptime.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Porcupine wake-word runs on-device. LiveKit carries low-latency audio. Groq Whisper transcribes. Speaker enrollment/identification separates you from them. Edge-TTS speaks responses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talk, the fast LLM pulls out people, topics and events as nodes, and their relationships as edges, modeled with NetworkX and persisted in Postgres link tables. You can browse it as an interactive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expensive runs in Redis-backed ARQ workers, idempotent so a retry never double-counts. Only live advice stays on the hot path. The result: rich features without slowing the real-time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naive Wingman chained everything serially: speech-to-text, then vector search, then the LLM, then response. 3 to 5 seconds of dead air — useless in a live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re-architected: only advice generation stays on the hot path; knowledge extraction and memory saving became fire-and-forget background jobs. Switching the live tier to an 8B model on Groq's LPU dropped inference from about 2 seconds to about 300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mic stream merges speakers and confuses the AI. We parse the word-level timestamps to split User from Other, so Wingman reacts to what the other person said — not your own sentence echoing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we force graph facts first and add a strict system prompt that tells the model to admit when it doesn't know. State: HTTP is stateless and forgets mid-conversation, so we hold live context in RAM for speed while persisting it to Supabase for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demo script — it has production guardrails. Failures isolate, retries are safe, jobs never double-fire, abuse is rate-limited, and IDs are sortable and collision-safe.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Breadth shot — every one of these has a real screen and a wired endpoint. We'll deep-dive four that show genuine engineering, not just UI. LIVE DEMO CUE: this is a good point to switch to the app — start a Wingman session, show an insight card, end it, ask the Consultant about it, show the graph, open the dashboard. Keep screenshot fallback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Runs entirely on the phone — counts fillers and hedges over the last 8 seconds, smoothed. The server only stores the per-turn score at session end for the trend chart. Zero added latency to the live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mistakes from your sessions become cards. Correct moves a card up a box and shows it less often; wrong resets to Box 1. XP on every transition (+15 to advance, +5 for showing up), idempotent so the same transition never double-pays. Spaced-repetition science applied to your weak 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endpoint, time-bucketed by range (daily, weekly, monthly). No new tables — pure read-side aggregation over existing data, with previous-window deltas. Mistakes trending down and sentiment up is the entire point of the app, made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Pulls real people, tasks and events from your knowledge graph and generates practice scenarios. Finish one and it's auto-graded against its success criteria; a pass earns 40 XP. The feed never repeats because used topics are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Habit mechanics borrowed from Duolingo, applied to talking: quests, achievements, rewards, streaks. The leaderboard is opt-in, consistent with our privacy-first 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made visible — a navigable map of who and what you talk about, on a timeline. The same nodes and edges the AI uses for grounding, now browsable by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 vector memory (384-dim embeddings for recall), the knowledge graph (nodes and edges), and session logs (verbatim transcript with speaker role). Postgres + pgvector, with versioned, reversible Alembic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Row-Level Security means a user can only ever touch their own graph and memories — enforced at the database, not just the app. This turns the third research gap into a design principle: a personal growth tool, not org surveillance.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day one we can see the system — errors, traces, latency, metrics, structured logs. This is what separates a deployable system from an FYP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judge success: transcription accuracy (WER, target ≥85% in moderate noise), end-to-end glass-to-glass latency, hallucination rate, and retrieval accuracy. On 30+ trial sessions we answered with correct context about 80% of the time — and we're improving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 typing, linting, real test layers, load testing for concurrency, and containerized multi-stage builds. Not vibes —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R&amp;D suits an iterative model — build each hard module (diarization, RAG, knowledge graph) in isolation, test it, then integrate. Ahmad owns client, architecture and data; Attique owns the AI pipeline, memory and backend. Map to the Gantt if the panel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deliberate boundaries of the current build — not a wishlist, just the edges of what we demo today: English-only, cloud-connected, thin client. These are design choices, and examiners respect a clear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this is the roadmap, separate from everything already demoed. Tie each item to something concrete — the ONNX local-embedding fallback already exists, so offline is a continuation not a fantasy; multi-language and tone coaching extend pipelines we already run. Keep it honest: these are next, not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one-sentence pitch from the first slide. Invite questions. If demo wasn't shown earlier, this is the fallback spot to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0E7C86">
              <a:alpha val="14000"/>
            </a:srgbClr>
          </a:solidFill>
          <a:ln/>
        </p:spPr>
      </p:sp>
      <p:sp>
        <p:nvSpPr>
          <p:cNvPr id="3" name="Shape 1"/>
          <p:cNvSpPr/>
          <p:nvPr/>
        </p:nvSpPr>
        <p:spPr>
          <a:xfrm>
            <a:off x="10881360" y="1554480"/>
            <a:ext cx="1371600" cy="1371600"/>
          </a:xfrm>
          <a:prstGeom prst="ellipse">
            <a:avLst/>
          </a:prstGeom>
          <a:solidFill>
            <a:srgbClr val="E08A2B">
              <a:alpha val="16000"/>
            </a:srgbClr>
          </a:solidFill>
          <a:ln/>
        </p:spPr>
      </p:sp>
      <p:sp>
        <p:nvSpPr>
          <p:cNvPr id="4" name="Shape 2"/>
          <p:cNvSpPr/>
          <p:nvPr/>
        </p:nvSpPr>
        <p:spPr>
          <a:xfrm>
            <a:off x="-822960" y="5120640"/>
            <a:ext cx="2743200" cy="2743200"/>
          </a:xfrm>
          <a:prstGeom prst="ellipse">
            <a:avLst/>
          </a:prstGeom>
          <a:solidFill>
            <a:srgbClr val="0E7C86">
              <a:alpha val="10000"/>
            </a:srgbClr>
          </a:solidFill>
          <a:ln/>
        </p:spPr>
      </p:sp>
      <p:pic>
        <p:nvPicPr>
          <p:cNvPr id="5" name="Image 0" descr="assets/logo_dark.png"/>
          <p:cNvPicPr>
            <a:picLocks noChangeAspect="1"/>
          </p:cNvPicPr>
          <p:nvPr/>
        </p:nvPicPr>
        <p:blipFill>
          <a:blip r:embed="rId1"/>
          <a:stretch>
            <a:fillRect/>
          </a:stretch>
        </p:blipFill>
        <p:spPr>
          <a:xfrm>
            <a:off x="566928" y="822960"/>
            <a:ext cx="1371600" cy="1371600"/>
          </a:xfrm>
          <a:prstGeom prst="rect">
            <a:avLst/>
          </a:prstGeom>
        </p:spPr>
      </p:pic>
      <p:sp>
        <p:nvSpPr>
          <p:cNvPr id="6" name="Text 3"/>
          <p:cNvSpPr/>
          <p:nvPr/>
        </p:nvSpPr>
        <p:spPr>
          <a:xfrm>
            <a:off x="566928" y="2331720"/>
            <a:ext cx="9144000" cy="1371600"/>
          </a:xfrm>
          <a:prstGeom prst="rect">
            <a:avLst/>
          </a:prstGeom>
          <a:noFill/>
          <a:ln/>
        </p:spPr>
        <p:txBody>
          <a:bodyPr wrap="square" rtlCol="0" anchor="ctr"/>
          <a:lstStyle/>
          <a:p>
            <a:pPr indent="0" marL="0">
              <a:buNone/>
            </a:pPr>
            <a:r>
              <a:rPr lang="en-US" sz="7800" b="1" dirty="0">
                <a:solidFill>
                  <a:srgbClr val="1A1A1A"/>
                </a:solidFill>
                <a:latin typeface="Segoe UI" pitchFamily="34" charset="0"/>
                <a:ea typeface="Segoe UI" pitchFamily="34" charset="-122"/>
                <a:cs typeface="Segoe UI" pitchFamily="34" charset="-120"/>
              </a:rPr>
              <a:t>Bubbles</a:t>
            </a:r>
            <a:endParaRPr lang="en-US" sz="7800" dirty="0"/>
          </a:p>
        </p:txBody>
      </p:sp>
      <p:sp>
        <p:nvSpPr>
          <p:cNvPr id="7" name="Text 4"/>
          <p:cNvSpPr/>
          <p:nvPr/>
        </p:nvSpPr>
        <p:spPr>
          <a:xfrm>
            <a:off x="566928" y="3703320"/>
            <a:ext cx="8778240" cy="914400"/>
          </a:xfrm>
          <a:prstGeom prst="rect">
            <a:avLst/>
          </a:prstGeom>
          <a:noFill/>
          <a:ln/>
        </p:spPr>
        <p:txBody>
          <a:bodyPr wrap="square" rtlCol="0" anchor="ctr"/>
          <a:lstStyle/>
          <a:p>
            <a:pPr indent="0" marL="0">
              <a:lnSpc>
                <a:spcPct val="105000"/>
              </a:lnSpc>
              <a:buNone/>
            </a:pPr>
            <a:r>
              <a:rPr lang="en-US" sz="2100" dirty="0">
                <a:solidFill>
                  <a:srgbClr val="3A3A3A"/>
                </a:solidFill>
                <a:latin typeface="Segoe UI" pitchFamily="34" charset="0"/>
                <a:ea typeface="Segoe UI" pitchFamily="34" charset="-122"/>
                <a:cs typeface="Segoe UI" pitchFamily="34" charset="-120"/>
              </a:rPr>
              <a:t>Your AI conversation co-pilot — live coaching while you talk,</a:t>
            </a:r>
            <a:endParaRPr lang="en-US" sz="2100" dirty="0"/>
          </a:p>
          <a:p>
            <a:pPr indent="0" marL="0">
              <a:lnSpc>
                <a:spcPct val="105000"/>
              </a:lnSpc>
              <a:buNone/>
            </a:pPr>
            <a:r>
              <a:rPr lang="en-US" sz="2100" dirty="0">
                <a:solidFill>
                  <a:srgbClr val="3A3A3A"/>
                </a:solidFill>
                <a:latin typeface="Segoe UI" pitchFamily="34" charset="0"/>
                <a:ea typeface="Segoe UI" pitchFamily="34" charset="-122"/>
                <a:cs typeface="Segoe UI" pitchFamily="34" charset="-120"/>
              </a:rPr>
              <a:t>and a smart assistant that remembers.</a:t>
            </a:r>
            <a:endParaRPr lang="en-US" sz="2100" dirty="0"/>
          </a:p>
        </p:txBody>
      </p:sp>
      <p:sp>
        <p:nvSpPr>
          <p:cNvPr id="8" name="Shape 5"/>
          <p:cNvSpPr/>
          <p:nvPr/>
        </p:nvSpPr>
        <p:spPr>
          <a:xfrm>
            <a:off x="566928" y="4892040"/>
            <a:ext cx="1371600" cy="45720"/>
          </a:xfrm>
          <a:prstGeom prst="rect">
            <a:avLst/>
          </a:prstGeom>
          <a:solidFill>
            <a:srgbClr val="0E7C86"/>
          </a:solidFill>
          <a:ln/>
        </p:spPr>
      </p:sp>
      <p:sp>
        <p:nvSpPr>
          <p:cNvPr id="9" name="Text 6"/>
          <p:cNvSpPr/>
          <p:nvPr/>
        </p:nvSpPr>
        <p:spPr>
          <a:xfrm>
            <a:off x="566928" y="5074920"/>
            <a:ext cx="10058400" cy="365760"/>
          </a:xfrm>
          <a:prstGeom prst="rect">
            <a:avLst/>
          </a:prstGeom>
          <a:noFill/>
          <a:ln/>
        </p:spPr>
        <p:txBody>
          <a:bodyPr wrap="square" rtlCol="0" anchor="ctr"/>
          <a:lstStyle/>
          <a:p>
            <a:pPr indent="0" marL="0">
              <a:buNone/>
            </a:pPr>
            <a:r>
              <a:rPr lang="en-US" sz="1400" b="1" dirty="0">
                <a:solidFill>
                  <a:srgbClr val="1A1A1A"/>
                </a:solidFill>
                <a:latin typeface="Segoe UI" pitchFamily="34" charset="0"/>
                <a:ea typeface="Segoe UI" pitchFamily="34" charset="-122"/>
                <a:cs typeface="Segoe UI" pitchFamily="34" charset="-120"/>
              </a:rPr>
              <a:t>Muhammad Ahmad</a:t>
            </a:r>
            <a:pPr indent="0" marL="0">
              <a:buNone/>
            </a:pPr>
            <a:r>
              <a:rPr lang="en-US" sz="1400" dirty="0">
                <a:solidFill>
                  <a:srgbClr val="1A1A1A"/>
                </a:solidFill>
                <a:latin typeface="Segoe UI" pitchFamily="34" charset="0"/>
                <a:ea typeface="Segoe UI" pitchFamily="34" charset="-122"/>
                <a:cs typeface="Segoe UI" pitchFamily="34" charset="-120"/>
              </a:rPr>
              <a:t>  FA22-BCS-025      </a:t>
            </a:r>
            <a:pPr indent="0" marL="0">
              <a:buNone/>
            </a:pPr>
            <a:r>
              <a:rPr lang="en-US" sz="1400" b="1" dirty="0">
                <a:solidFill>
                  <a:srgbClr val="1A1A1A"/>
                </a:solidFill>
                <a:latin typeface="Segoe UI" pitchFamily="34" charset="0"/>
                <a:ea typeface="Segoe UI" pitchFamily="34" charset="-122"/>
                <a:cs typeface="Segoe UI" pitchFamily="34" charset="-120"/>
              </a:rPr>
              <a:t>Attique Rehman</a:t>
            </a:r>
            <a:pPr indent="0" marL="0">
              <a:buNone/>
            </a:pPr>
            <a:r>
              <a:rPr lang="en-US" sz="1400" dirty="0">
                <a:solidFill>
                  <a:srgbClr val="1A1A1A"/>
                </a:solidFill>
                <a:latin typeface="Segoe UI" pitchFamily="34" charset="0"/>
                <a:ea typeface="Segoe UI" pitchFamily="34" charset="-122"/>
                <a:cs typeface="Segoe UI" pitchFamily="34" charset="-120"/>
              </a:rPr>
              <a:t>  FA22-BCS-164</a:t>
            </a:r>
            <a:endParaRPr lang="en-US" sz="1400" dirty="0"/>
          </a:p>
        </p:txBody>
      </p:sp>
      <p:sp>
        <p:nvSpPr>
          <p:cNvPr id="10" name="Text 7"/>
          <p:cNvSpPr/>
          <p:nvPr/>
        </p:nvSpPr>
        <p:spPr>
          <a:xfrm>
            <a:off x="566928" y="5532120"/>
            <a:ext cx="10515600" cy="365760"/>
          </a:xfrm>
          <a:prstGeom prst="rect">
            <a:avLst/>
          </a:prstGeom>
          <a:noFill/>
          <a:ln/>
        </p:spPr>
        <p:txBody>
          <a:bodyPr wrap="square" rtlCol="0" anchor="ctr"/>
          <a:lstStyle/>
          <a:p>
            <a:pPr indent="0" marL="0">
              <a:buNone/>
            </a:pPr>
            <a:r>
              <a:rPr lang="en-US" sz="1250" dirty="0">
                <a:solidFill>
                  <a:srgbClr val="9A9285"/>
                </a:solidFill>
                <a:latin typeface="Segoe UI" pitchFamily="34" charset="0"/>
                <a:ea typeface="Segoe UI" pitchFamily="34" charset="-122"/>
                <a:cs typeface="Segoe UI" pitchFamily="34" charset="-120"/>
              </a:rPr>
              <a:t>Final Year Project · Mid Evaluation · BS Computer Science · COMSATS University Islamabad, Lahore Campus</a:t>
            </a:r>
            <a:endParaRPr lang="en-US" sz="125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TEAM &amp; THE BRIEF</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Two people. One split-stack build.</a:t>
            </a:r>
            <a:endParaRPr lang="en-US" sz="3300" dirty="0"/>
          </a:p>
        </p:txBody>
      </p:sp>
      <p:sp>
        <p:nvSpPr>
          <p:cNvPr id="4" name="Shape 2"/>
          <p:cNvSpPr/>
          <p:nvPr/>
        </p:nvSpPr>
        <p:spPr>
          <a:xfrm>
            <a:off x="566928" y="2103120"/>
            <a:ext cx="521208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566928" y="2103120"/>
            <a:ext cx="128016" cy="3017520"/>
          </a:xfrm>
          <a:prstGeom prst="rect">
            <a:avLst/>
          </a:prstGeom>
          <a:solidFill>
            <a:srgbClr val="0E7C86"/>
          </a:solidFill>
          <a:ln/>
        </p:spPr>
      </p:sp>
      <p:sp>
        <p:nvSpPr>
          <p:cNvPr id="6" name="Text 4"/>
          <p:cNvSpPr/>
          <p:nvPr/>
        </p:nvSpPr>
        <p:spPr>
          <a:xfrm>
            <a:off x="978408" y="2359152"/>
            <a:ext cx="4572000" cy="41148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Muhammad Ahmad</a:t>
            </a:r>
            <a:endParaRPr lang="en-US" sz="2200" dirty="0"/>
          </a:p>
        </p:txBody>
      </p:sp>
      <p:sp>
        <p:nvSpPr>
          <p:cNvPr id="7" name="Text 5"/>
          <p:cNvSpPr/>
          <p:nvPr/>
        </p:nvSpPr>
        <p:spPr>
          <a:xfrm>
            <a:off x="978408" y="2798064"/>
            <a:ext cx="4572000" cy="320040"/>
          </a:xfrm>
          <a:prstGeom prst="rect">
            <a:avLst/>
          </a:prstGeom>
          <a:noFill/>
          <a:ln/>
        </p:spPr>
        <p:txBody>
          <a:bodyPr wrap="square" rtlCol="0" anchor="ctr"/>
          <a:lstStyle/>
          <a:p>
            <a:pPr indent="0" marL="0">
              <a:buNone/>
            </a:pPr>
            <a:r>
              <a:rPr lang="en-US" sz="1300" b="1" dirty="0">
                <a:solidFill>
                  <a:srgbClr val="0E7C86"/>
                </a:solidFill>
                <a:latin typeface="Segoe UI" pitchFamily="34" charset="0"/>
                <a:ea typeface="Segoe UI" pitchFamily="34" charset="-122"/>
                <a:cs typeface="Segoe UI" pitchFamily="34" charset="-120"/>
              </a:rPr>
              <a:t>FA22-BCS-025   ·   App · Architecture · Frontend</a:t>
            </a:r>
            <a:endParaRPr lang="en-US" sz="1300" dirty="0"/>
          </a:p>
        </p:txBody>
      </p:sp>
      <p:sp>
        <p:nvSpPr>
          <p:cNvPr id="8" name="Text 6"/>
          <p:cNvSpPr/>
          <p:nvPr/>
        </p:nvSpPr>
        <p:spPr>
          <a:xfrm>
            <a:off x="978408" y="3246120"/>
            <a:ext cx="4526280" cy="1691640"/>
          </a:xfrm>
          <a:prstGeom prst="rect">
            <a:avLst/>
          </a:prstGeom>
          <a:noFill/>
          <a:ln/>
        </p:spPr>
        <p:txBody>
          <a:bodyPr wrap="square" rtlCol="0" anchor="ctr"/>
          <a:lstStyle/>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Flutter client across 6 platforms</a:t>
            </a:r>
            <a:endParaRPr lang="en-US" sz="1500" dirty="0"/>
          </a:p>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System architecture &amp; data model</a:t>
            </a:r>
            <a:endParaRPr lang="en-US" sz="1500" dirty="0"/>
          </a:p>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Auth, UI/UX, caching, releases</a:t>
            </a:r>
            <a:endParaRPr lang="en-US" sz="1500" dirty="0"/>
          </a:p>
        </p:txBody>
      </p:sp>
      <p:sp>
        <p:nvSpPr>
          <p:cNvPr id="9" name="Shape 7"/>
          <p:cNvSpPr/>
          <p:nvPr/>
        </p:nvSpPr>
        <p:spPr>
          <a:xfrm>
            <a:off x="6144768" y="2103120"/>
            <a:ext cx="521208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Shape 8"/>
          <p:cNvSpPr/>
          <p:nvPr/>
        </p:nvSpPr>
        <p:spPr>
          <a:xfrm>
            <a:off x="6144768" y="2103120"/>
            <a:ext cx="128016" cy="3017520"/>
          </a:xfrm>
          <a:prstGeom prst="rect">
            <a:avLst/>
          </a:prstGeom>
          <a:solidFill>
            <a:srgbClr val="E08A2B"/>
          </a:solidFill>
          <a:ln/>
        </p:spPr>
      </p:sp>
      <p:sp>
        <p:nvSpPr>
          <p:cNvPr id="11" name="Text 9"/>
          <p:cNvSpPr/>
          <p:nvPr/>
        </p:nvSpPr>
        <p:spPr>
          <a:xfrm>
            <a:off x="6556248" y="2359152"/>
            <a:ext cx="4572000" cy="41148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Attique Rehman</a:t>
            </a:r>
            <a:endParaRPr lang="en-US" sz="2200" dirty="0"/>
          </a:p>
        </p:txBody>
      </p:sp>
      <p:sp>
        <p:nvSpPr>
          <p:cNvPr id="12" name="Text 10"/>
          <p:cNvSpPr/>
          <p:nvPr/>
        </p:nvSpPr>
        <p:spPr>
          <a:xfrm>
            <a:off x="6556248" y="2798064"/>
            <a:ext cx="4572000" cy="320040"/>
          </a:xfrm>
          <a:prstGeom prst="rect">
            <a:avLst/>
          </a:prstGeom>
          <a:noFill/>
          <a:ln/>
        </p:spPr>
        <p:txBody>
          <a:bodyPr wrap="square" rtlCol="0" anchor="ctr"/>
          <a:lstStyle/>
          <a:p>
            <a:pPr indent="0" marL="0">
              <a:buNone/>
            </a:pPr>
            <a:r>
              <a:rPr lang="en-US" sz="1300" b="1" dirty="0">
                <a:solidFill>
                  <a:srgbClr val="0E7C86"/>
                </a:solidFill>
                <a:latin typeface="Segoe UI" pitchFamily="34" charset="0"/>
                <a:ea typeface="Segoe UI" pitchFamily="34" charset="-122"/>
                <a:cs typeface="Segoe UI" pitchFamily="34" charset="-120"/>
              </a:rPr>
              <a:t>FA22-BCS-164   ·   AI · Backend · Memory systems</a:t>
            </a:r>
            <a:endParaRPr lang="en-US" sz="1300" dirty="0"/>
          </a:p>
        </p:txBody>
      </p:sp>
      <p:sp>
        <p:nvSpPr>
          <p:cNvPr id="13" name="Text 11"/>
          <p:cNvSpPr/>
          <p:nvPr/>
        </p:nvSpPr>
        <p:spPr>
          <a:xfrm>
            <a:off x="6556248" y="3246120"/>
            <a:ext cx="4526280" cy="1691640"/>
          </a:xfrm>
          <a:prstGeom prst="rect">
            <a:avLst/>
          </a:prstGeom>
          <a:noFill/>
          <a:ln/>
        </p:spPr>
        <p:txBody>
          <a:bodyPr wrap="square" rtlCol="0" anchor="ctr"/>
          <a:lstStyle/>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FastAPI brain &amp; LLM router</a:t>
            </a:r>
            <a:endParaRPr lang="en-US" sz="1500" dirty="0"/>
          </a:p>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Knowledge graph + vector memory</a:t>
            </a:r>
            <a:endParaRPr lang="en-US" sz="1500" dirty="0"/>
          </a:p>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Real-time pipeline &amp; workers</a:t>
            </a:r>
            <a:endParaRPr lang="en-US" sz="150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01</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IN PLAIN ENGLISH</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A friend in your ear — and a memory that lasts.</a:t>
            </a:r>
            <a:endParaRPr lang="en-US" sz="3300" dirty="0"/>
          </a:p>
        </p:txBody>
      </p:sp>
      <p:sp>
        <p:nvSpPr>
          <p:cNvPr id="4" name="Shape 2"/>
          <p:cNvSpPr/>
          <p:nvPr/>
        </p:nvSpPr>
        <p:spPr>
          <a:xfrm>
            <a:off x="566928" y="2148840"/>
            <a:ext cx="914400" cy="914400"/>
          </a:xfrm>
          <a:prstGeom prst="ellipse">
            <a:avLst/>
          </a:prstGeom>
          <a:solidFill>
            <a:srgbClr val="E4EFEF"/>
          </a:solidFill>
          <a:ln w="19050">
            <a:solidFill>
              <a:srgbClr val="0E7C86"/>
            </a:solidFill>
            <a:prstDash val="solid"/>
          </a:ln>
        </p:spPr>
      </p:sp>
      <p:sp>
        <p:nvSpPr>
          <p:cNvPr id="5" name="Text 3"/>
          <p:cNvSpPr/>
          <p:nvPr/>
        </p:nvSpPr>
        <p:spPr>
          <a:xfrm>
            <a:off x="566928" y="2148840"/>
            <a:ext cx="914400" cy="91440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1</a:t>
            </a:r>
            <a:endParaRPr lang="en-US" sz="3000" dirty="0"/>
          </a:p>
        </p:txBody>
      </p:sp>
      <p:sp>
        <p:nvSpPr>
          <p:cNvPr id="6" name="Text 4"/>
          <p:cNvSpPr/>
          <p:nvPr/>
        </p:nvSpPr>
        <p:spPr>
          <a:xfrm>
            <a:off x="1755648" y="2167128"/>
            <a:ext cx="3657600" cy="457200"/>
          </a:xfrm>
          <a:prstGeom prst="rect">
            <a:avLst/>
          </a:prstGeom>
          <a:noFill/>
          <a:ln/>
        </p:spPr>
        <p:txBody>
          <a:bodyPr wrap="square" rtlCol="0" anchor="ctr"/>
          <a:lstStyle/>
          <a:p>
            <a:pPr indent="0" marL="0">
              <a:buNone/>
            </a:pPr>
            <a:r>
              <a:rPr lang="en-US" sz="2300" b="1" dirty="0">
                <a:solidFill>
                  <a:srgbClr val="1A1A1A"/>
                </a:solidFill>
                <a:latin typeface="Segoe UI" pitchFamily="34" charset="0"/>
                <a:ea typeface="Segoe UI" pitchFamily="34" charset="-122"/>
                <a:cs typeface="Segoe UI" pitchFamily="34" charset="-120"/>
              </a:rPr>
              <a:t>Listens</a:t>
            </a:r>
            <a:endParaRPr lang="en-US" sz="2300" dirty="0"/>
          </a:p>
        </p:txBody>
      </p:sp>
      <p:sp>
        <p:nvSpPr>
          <p:cNvPr id="7" name="Text 5"/>
          <p:cNvSpPr/>
          <p:nvPr/>
        </p:nvSpPr>
        <p:spPr>
          <a:xfrm>
            <a:off x="1755648" y="2624328"/>
            <a:ext cx="9601200" cy="45720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Hears the conversation as it happens, in real time.</a:t>
            </a:r>
            <a:endParaRPr lang="en-US" sz="1600" dirty="0"/>
          </a:p>
        </p:txBody>
      </p:sp>
      <p:sp>
        <p:nvSpPr>
          <p:cNvPr id="8" name="Shape 6"/>
          <p:cNvSpPr/>
          <p:nvPr/>
        </p:nvSpPr>
        <p:spPr>
          <a:xfrm>
            <a:off x="566928" y="3474720"/>
            <a:ext cx="914400" cy="914400"/>
          </a:xfrm>
          <a:prstGeom prst="ellipse">
            <a:avLst/>
          </a:prstGeom>
          <a:solidFill>
            <a:srgbClr val="E4EFEF"/>
          </a:solidFill>
          <a:ln w="19050">
            <a:solidFill>
              <a:srgbClr val="0E7C86"/>
            </a:solidFill>
            <a:prstDash val="solid"/>
          </a:ln>
        </p:spPr>
      </p:sp>
      <p:sp>
        <p:nvSpPr>
          <p:cNvPr id="9" name="Text 7"/>
          <p:cNvSpPr/>
          <p:nvPr/>
        </p:nvSpPr>
        <p:spPr>
          <a:xfrm>
            <a:off x="566928" y="3474720"/>
            <a:ext cx="914400" cy="91440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2</a:t>
            </a:r>
            <a:endParaRPr lang="en-US" sz="3000" dirty="0"/>
          </a:p>
        </p:txBody>
      </p:sp>
      <p:sp>
        <p:nvSpPr>
          <p:cNvPr id="10" name="Text 8"/>
          <p:cNvSpPr/>
          <p:nvPr/>
        </p:nvSpPr>
        <p:spPr>
          <a:xfrm>
            <a:off x="1755648" y="3493008"/>
            <a:ext cx="3657600" cy="457200"/>
          </a:xfrm>
          <a:prstGeom prst="rect">
            <a:avLst/>
          </a:prstGeom>
          <a:noFill/>
          <a:ln/>
        </p:spPr>
        <p:txBody>
          <a:bodyPr wrap="square" rtlCol="0" anchor="ctr"/>
          <a:lstStyle/>
          <a:p>
            <a:pPr indent="0" marL="0">
              <a:buNone/>
            </a:pPr>
            <a:r>
              <a:rPr lang="en-US" sz="2300" b="1" dirty="0">
                <a:solidFill>
                  <a:srgbClr val="1A1A1A"/>
                </a:solidFill>
                <a:latin typeface="Segoe UI" pitchFamily="34" charset="0"/>
                <a:ea typeface="Segoe UI" pitchFamily="34" charset="-122"/>
                <a:cs typeface="Segoe UI" pitchFamily="34" charset="-120"/>
              </a:rPr>
              <a:t>Suggests</a:t>
            </a:r>
            <a:endParaRPr lang="en-US" sz="2300" dirty="0"/>
          </a:p>
        </p:txBody>
      </p:sp>
      <p:sp>
        <p:nvSpPr>
          <p:cNvPr id="11" name="Text 9"/>
          <p:cNvSpPr/>
          <p:nvPr/>
        </p:nvSpPr>
        <p:spPr>
          <a:xfrm>
            <a:off x="1755648" y="3950208"/>
            <a:ext cx="9601200" cy="45720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Quietly whispers what to say next, so you never freeze.</a:t>
            </a:r>
            <a:endParaRPr lang="en-US" sz="1600" dirty="0"/>
          </a:p>
        </p:txBody>
      </p:sp>
      <p:sp>
        <p:nvSpPr>
          <p:cNvPr id="12" name="Shape 10"/>
          <p:cNvSpPr/>
          <p:nvPr/>
        </p:nvSpPr>
        <p:spPr>
          <a:xfrm>
            <a:off x="566928" y="4800600"/>
            <a:ext cx="914400" cy="914400"/>
          </a:xfrm>
          <a:prstGeom prst="ellipse">
            <a:avLst/>
          </a:prstGeom>
          <a:solidFill>
            <a:srgbClr val="E4EFEF"/>
          </a:solidFill>
          <a:ln w="19050">
            <a:solidFill>
              <a:srgbClr val="0E7C86"/>
            </a:solidFill>
            <a:prstDash val="solid"/>
          </a:ln>
        </p:spPr>
      </p:sp>
      <p:sp>
        <p:nvSpPr>
          <p:cNvPr id="13" name="Text 11"/>
          <p:cNvSpPr/>
          <p:nvPr/>
        </p:nvSpPr>
        <p:spPr>
          <a:xfrm>
            <a:off x="566928" y="4800600"/>
            <a:ext cx="914400" cy="91440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3</a:t>
            </a:r>
            <a:endParaRPr lang="en-US" sz="3000" dirty="0"/>
          </a:p>
        </p:txBody>
      </p:sp>
      <p:sp>
        <p:nvSpPr>
          <p:cNvPr id="14" name="Text 12"/>
          <p:cNvSpPr/>
          <p:nvPr/>
        </p:nvSpPr>
        <p:spPr>
          <a:xfrm>
            <a:off x="1755648" y="4818888"/>
            <a:ext cx="3657600" cy="457200"/>
          </a:xfrm>
          <a:prstGeom prst="rect">
            <a:avLst/>
          </a:prstGeom>
          <a:noFill/>
          <a:ln/>
        </p:spPr>
        <p:txBody>
          <a:bodyPr wrap="square" rtlCol="0" anchor="ctr"/>
          <a:lstStyle/>
          <a:p>
            <a:pPr indent="0" marL="0">
              <a:buNone/>
            </a:pPr>
            <a:r>
              <a:rPr lang="en-US" sz="2300" b="1" dirty="0">
                <a:solidFill>
                  <a:srgbClr val="1A1A1A"/>
                </a:solidFill>
                <a:latin typeface="Segoe UI" pitchFamily="34" charset="0"/>
                <a:ea typeface="Segoe UI" pitchFamily="34" charset="-122"/>
                <a:cs typeface="Segoe UI" pitchFamily="34" charset="-120"/>
              </a:rPr>
              <a:t>Remembers</a:t>
            </a:r>
            <a:endParaRPr lang="en-US" sz="2300" dirty="0"/>
          </a:p>
        </p:txBody>
      </p:sp>
      <p:sp>
        <p:nvSpPr>
          <p:cNvPr id="15" name="Text 13"/>
          <p:cNvSpPr/>
          <p:nvPr/>
        </p:nvSpPr>
        <p:spPr>
          <a:xfrm>
            <a:off x="1755648" y="5276088"/>
            <a:ext cx="9601200" cy="45720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Keeps your people and topics, so you can ask about them later.</a:t>
            </a:r>
            <a:endParaRPr lang="en-US" sz="1600" dirty="0"/>
          </a:p>
        </p:txBody>
      </p:sp>
      <p:sp>
        <p:nvSpPr>
          <p:cNvPr id="16" name="Shape 14"/>
          <p:cNvSpPr/>
          <p:nvPr/>
        </p:nvSpPr>
        <p:spPr>
          <a:xfrm>
            <a:off x="10607040" y="4937760"/>
            <a:ext cx="2377440" cy="2377440"/>
          </a:xfrm>
          <a:prstGeom prst="ellipse">
            <a:avLst/>
          </a:prstGeom>
          <a:solidFill>
            <a:srgbClr val="E08A2B">
              <a:alpha val="12000"/>
            </a:srgbClr>
          </a:solidFill>
          <a:ln/>
        </p:spPr>
      </p:sp>
      <p:sp>
        <p:nvSpPr>
          <p:cNvPr id="17" name="Text 15"/>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8" name="Text 16"/>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02</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HUMAN PROBLEM</a:t>
            </a:r>
            <a:endParaRPr lang="en-US" sz="1250" dirty="0"/>
          </a:p>
        </p:txBody>
      </p:sp>
      <p:sp>
        <p:nvSpPr>
          <p:cNvPr id="3" name="Text 1"/>
          <p:cNvSpPr/>
          <p:nvPr/>
        </p:nvSpPr>
        <p:spPr>
          <a:xfrm>
            <a:off x="566928" y="2194560"/>
            <a:ext cx="10789920" cy="2194560"/>
          </a:xfrm>
          <a:prstGeom prst="rect">
            <a:avLst/>
          </a:prstGeom>
          <a:noFill/>
          <a:ln/>
        </p:spPr>
        <p:txBody>
          <a:bodyPr wrap="square" rtlCol="0" anchor="ctr"/>
          <a:lstStyle/>
          <a:p>
            <a:pPr indent="0" marL="0">
              <a:lnSpc>
                <a:spcPct val="102000"/>
              </a:lnSpc>
              <a:buNone/>
            </a:pPr>
            <a:r>
              <a:rPr lang="en-US" sz="5200" b="1" dirty="0">
                <a:solidFill>
                  <a:srgbClr val="3A3A3A"/>
                </a:solidFill>
                <a:latin typeface="Segoe UI" pitchFamily="34" charset="0"/>
                <a:ea typeface="Segoe UI" pitchFamily="34" charset="-122"/>
                <a:cs typeface="Segoe UI" pitchFamily="34" charset="-120"/>
              </a:rPr>
              <a:t>Writing got autocorrect.
</a:t>
            </a:r>
            <a:pPr indent="0" marL="0">
              <a:lnSpc>
                <a:spcPct val="102000"/>
              </a:lnSpc>
              <a:buNone/>
            </a:pPr>
            <a:r>
              <a:rPr lang="en-US" sz="5200" b="1" dirty="0">
                <a:solidFill>
                  <a:srgbClr val="0E7C86"/>
                </a:solidFill>
                <a:latin typeface="Segoe UI" pitchFamily="34" charset="0"/>
                <a:ea typeface="Segoe UI" pitchFamily="34" charset="-122"/>
                <a:cs typeface="Segoe UI" pitchFamily="34" charset="-120"/>
              </a:rPr>
              <a:t>Speaking never did.</a:t>
            </a:r>
            <a:endParaRPr lang="en-US" sz="5200" dirty="0"/>
          </a:p>
        </p:txBody>
      </p:sp>
      <p:sp>
        <p:nvSpPr>
          <p:cNvPr id="4" name="Text 2"/>
          <p:cNvSpPr/>
          <p:nvPr/>
        </p:nvSpPr>
        <p:spPr>
          <a:xfrm>
            <a:off x="566928" y="4572000"/>
            <a:ext cx="9601200" cy="731520"/>
          </a:xfrm>
          <a:prstGeom prst="rect">
            <a:avLst/>
          </a:prstGeom>
          <a:noFill/>
          <a:ln/>
        </p:spPr>
        <p:txBody>
          <a:bodyPr wrap="square" rtlCol="0" anchor="ctr"/>
          <a:lstStyle/>
          <a:p>
            <a:pPr indent="0" marL="0">
              <a:buNone/>
            </a:pPr>
            <a:r>
              <a:rPr lang="en-US" sz="1800" dirty="0">
                <a:solidFill>
                  <a:srgbClr val="3A3A3A"/>
                </a:solidFill>
                <a:latin typeface="Segoe UI" pitchFamily="34" charset="0"/>
                <a:ea typeface="Segoe UI" pitchFamily="34" charset="-122"/>
                <a:cs typeface="Segoe UI" pitchFamily="34" charset="-120"/>
              </a:rPr>
              <a:t>Speech happens in real time. We notice the wrong word or wrong tone only after the moment is gone.</a:t>
            </a:r>
            <a:endParaRPr lang="en-US" sz="1800" dirty="0"/>
          </a:p>
        </p:txBody>
      </p:sp>
      <p:sp>
        <p:nvSpPr>
          <p:cNvPr id="5" name="Shape 3"/>
          <p:cNvSpPr/>
          <p:nvPr/>
        </p:nvSpPr>
        <p:spPr>
          <a:xfrm>
            <a:off x="9966960" y="182880"/>
            <a:ext cx="2926080" cy="2926080"/>
          </a:xfrm>
          <a:prstGeom prst="ellipse">
            <a:avLst/>
          </a:prstGeom>
          <a:solidFill>
            <a:srgbClr val="0E7C86">
              <a:alpha val="10000"/>
            </a:srgbClr>
          </a:solidFill>
          <a:ln/>
        </p:spPr>
      </p:sp>
      <p:sp>
        <p:nvSpPr>
          <p:cNvPr id="6" name="Text 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7" name="Text 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03</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WHERE THE IDEA CAME FROM</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We kept losing the moment.</a:t>
            </a:r>
            <a:endParaRPr lang="en-US" sz="3300" dirty="0"/>
          </a:p>
        </p:txBody>
      </p:sp>
      <p:sp>
        <p:nvSpPr>
          <p:cNvPr id="4" name="Shape 2"/>
          <p:cNvSpPr/>
          <p:nvPr/>
        </p:nvSpPr>
        <p:spPr>
          <a:xfrm>
            <a:off x="566928" y="2148840"/>
            <a:ext cx="3429000" cy="3017520"/>
          </a:xfrm>
          <a:prstGeom prst="roundRect">
            <a:avLst>
              <a:gd name="adj" fmla="val 363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886968" y="2377440"/>
            <a:ext cx="1828800" cy="548640"/>
          </a:xfrm>
          <a:prstGeom prst="rect">
            <a:avLst/>
          </a:prstGeom>
          <a:noFill/>
          <a:ln/>
        </p:spPr>
        <p:txBody>
          <a:bodyPr wrap="square" rtlCol="0" anchor="ctr"/>
          <a:lstStyle/>
          <a:p>
            <a:pPr indent="0" marL="0">
              <a:buNone/>
            </a:pPr>
            <a:r>
              <a:rPr lang="en-US" sz="3000" b="1" dirty="0">
                <a:solidFill>
                  <a:srgbClr val="0E7C86"/>
                </a:solidFill>
                <a:latin typeface="Segoe UI" pitchFamily="34" charset="0"/>
                <a:ea typeface="Segoe UI" pitchFamily="34" charset="-122"/>
                <a:cs typeface="Segoe UI" pitchFamily="34" charset="-120"/>
              </a:rPr>
              <a:t>01</a:t>
            </a:r>
            <a:endParaRPr lang="en-US" sz="3000" dirty="0"/>
          </a:p>
        </p:txBody>
      </p:sp>
      <p:sp>
        <p:nvSpPr>
          <p:cNvPr id="6" name="Text 4"/>
          <p:cNvSpPr/>
          <p:nvPr/>
        </p:nvSpPr>
        <p:spPr>
          <a:xfrm>
            <a:off x="886968" y="3063240"/>
            <a:ext cx="2834640" cy="548640"/>
          </a:xfrm>
          <a:prstGeom prst="rect">
            <a:avLst/>
          </a:prstGeom>
          <a:noFill/>
          <a:ln/>
        </p:spPr>
        <p:txBody>
          <a:bodyPr wrap="square" rtlCol="0" anchor="ctr"/>
          <a:lstStyle/>
          <a:p>
            <a:pPr indent="0" marL="0">
              <a:buNone/>
            </a:pPr>
            <a:r>
              <a:rPr lang="en-US" sz="1800" b="1" dirty="0">
                <a:solidFill>
                  <a:srgbClr val="1A1A1A"/>
                </a:solidFill>
                <a:latin typeface="Segoe UI" pitchFamily="34" charset="0"/>
                <a:ea typeface="Segoe UI" pitchFamily="34" charset="-122"/>
                <a:cs typeface="Segoe UI" pitchFamily="34" charset="-120"/>
              </a:rPr>
              <a:t>The blank-out</a:t>
            </a:r>
            <a:endParaRPr lang="en-US" sz="1800" dirty="0"/>
          </a:p>
        </p:txBody>
      </p:sp>
      <p:sp>
        <p:nvSpPr>
          <p:cNvPr id="7" name="Text 5"/>
          <p:cNvSpPr/>
          <p:nvPr/>
        </p:nvSpPr>
        <p:spPr>
          <a:xfrm>
            <a:off x="886968" y="3611880"/>
            <a:ext cx="2880360" cy="1371600"/>
          </a:xfrm>
          <a:prstGeom prst="rect">
            <a:avLst/>
          </a:prstGeom>
          <a:noFill/>
          <a:ln/>
        </p:spPr>
        <p:txBody>
          <a:bodyPr wrap="square" rtlCol="0" anchor="ctr"/>
          <a:lstStyle/>
          <a:p>
            <a:pPr indent="0" marL="0">
              <a:lnSpc>
                <a:spcPct val="112000"/>
              </a:lnSpc>
              <a:buNone/>
            </a:pPr>
            <a:r>
              <a:rPr lang="en-US" sz="1450" dirty="0">
                <a:solidFill>
                  <a:srgbClr val="3A3A3A"/>
                </a:solidFill>
                <a:latin typeface="Segoe UI" pitchFamily="34" charset="0"/>
                <a:ea typeface="Segoe UI" pitchFamily="34" charset="-122"/>
                <a:cs typeface="Segoe UI" pitchFamily="34" charset="-120"/>
              </a:rPr>
              <a:t>Froze mid-interview — knew the answer, couldn't get it out.</a:t>
            </a:r>
            <a:endParaRPr lang="en-US" sz="1450" dirty="0"/>
          </a:p>
        </p:txBody>
      </p:sp>
      <p:sp>
        <p:nvSpPr>
          <p:cNvPr id="8" name="Shape 6"/>
          <p:cNvSpPr/>
          <p:nvPr/>
        </p:nvSpPr>
        <p:spPr>
          <a:xfrm>
            <a:off x="4288536" y="2148840"/>
            <a:ext cx="3429000" cy="3017520"/>
          </a:xfrm>
          <a:prstGeom prst="roundRect">
            <a:avLst>
              <a:gd name="adj" fmla="val 363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9" name="Text 7"/>
          <p:cNvSpPr/>
          <p:nvPr/>
        </p:nvSpPr>
        <p:spPr>
          <a:xfrm>
            <a:off x="4608576" y="2377440"/>
            <a:ext cx="1828800" cy="548640"/>
          </a:xfrm>
          <a:prstGeom prst="rect">
            <a:avLst/>
          </a:prstGeom>
          <a:noFill/>
          <a:ln/>
        </p:spPr>
        <p:txBody>
          <a:bodyPr wrap="square" rtlCol="0" anchor="ctr"/>
          <a:lstStyle/>
          <a:p>
            <a:pPr indent="0" marL="0">
              <a:buNone/>
            </a:pPr>
            <a:r>
              <a:rPr lang="en-US" sz="3000" b="1" dirty="0">
                <a:solidFill>
                  <a:srgbClr val="0E7C86"/>
                </a:solidFill>
                <a:latin typeface="Segoe UI" pitchFamily="34" charset="0"/>
                <a:ea typeface="Segoe UI" pitchFamily="34" charset="-122"/>
                <a:cs typeface="Segoe UI" pitchFamily="34" charset="-120"/>
              </a:rPr>
              <a:t>02</a:t>
            </a:r>
            <a:endParaRPr lang="en-US" sz="3000" dirty="0"/>
          </a:p>
        </p:txBody>
      </p:sp>
      <p:sp>
        <p:nvSpPr>
          <p:cNvPr id="10" name="Text 8"/>
          <p:cNvSpPr/>
          <p:nvPr/>
        </p:nvSpPr>
        <p:spPr>
          <a:xfrm>
            <a:off x="4608576" y="3063240"/>
            <a:ext cx="2834640" cy="548640"/>
          </a:xfrm>
          <a:prstGeom prst="rect">
            <a:avLst/>
          </a:prstGeom>
          <a:noFill/>
          <a:ln/>
        </p:spPr>
        <p:txBody>
          <a:bodyPr wrap="square" rtlCol="0" anchor="ctr"/>
          <a:lstStyle/>
          <a:p>
            <a:pPr indent="0" marL="0">
              <a:buNone/>
            </a:pPr>
            <a:r>
              <a:rPr lang="en-US" sz="1800" b="1" dirty="0">
                <a:solidFill>
                  <a:srgbClr val="1A1A1A"/>
                </a:solidFill>
                <a:latin typeface="Segoe UI" pitchFamily="34" charset="0"/>
                <a:ea typeface="Segoe UI" pitchFamily="34" charset="-122"/>
                <a:cs typeface="Segoe UI" pitchFamily="34" charset="-120"/>
              </a:rPr>
              <a:t>The forgotten promise</a:t>
            </a:r>
            <a:endParaRPr lang="en-US" sz="1800" dirty="0"/>
          </a:p>
        </p:txBody>
      </p:sp>
      <p:sp>
        <p:nvSpPr>
          <p:cNvPr id="11" name="Text 9"/>
          <p:cNvSpPr/>
          <p:nvPr/>
        </p:nvSpPr>
        <p:spPr>
          <a:xfrm>
            <a:off x="4608576" y="3611880"/>
            <a:ext cx="2880360" cy="1371600"/>
          </a:xfrm>
          <a:prstGeom prst="rect">
            <a:avLst/>
          </a:prstGeom>
          <a:noFill/>
          <a:ln/>
        </p:spPr>
        <p:txBody>
          <a:bodyPr wrap="square" rtlCol="0" anchor="ctr"/>
          <a:lstStyle/>
          <a:p>
            <a:pPr indent="0" marL="0">
              <a:lnSpc>
                <a:spcPct val="112000"/>
              </a:lnSpc>
              <a:buNone/>
            </a:pPr>
            <a:r>
              <a:rPr lang="en-US" sz="1450" dirty="0">
                <a:solidFill>
                  <a:srgbClr val="3A3A3A"/>
                </a:solidFill>
                <a:latin typeface="Segoe UI" pitchFamily="34" charset="0"/>
                <a:ea typeface="Segoe UI" pitchFamily="34" charset="-122"/>
                <a:cs typeface="Segoe UI" pitchFamily="34" charset="-120"/>
              </a:rPr>
              <a:t>Couldn't recall what a client actually agreed to last week.</a:t>
            </a:r>
            <a:endParaRPr lang="en-US" sz="1450" dirty="0"/>
          </a:p>
        </p:txBody>
      </p:sp>
      <p:sp>
        <p:nvSpPr>
          <p:cNvPr id="12" name="Shape 10"/>
          <p:cNvSpPr/>
          <p:nvPr/>
        </p:nvSpPr>
        <p:spPr>
          <a:xfrm>
            <a:off x="8010144" y="2148840"/>
            <a:ext cx="3429000" cy="3017520"/>
          </a:xfrm>
          <a:prstGeom prst="roundRect">
            <a:avLst>
              <a:gd name="adj" fmla="val 363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3" name="Text 11"/>
          <p:cNvSpPr/>
          <p:nvPr/>
        </p:nvSpPr>
        <p:spPr>
          <a:xfrm>
            <a:off x="8330184" y="2377440"/>
            <a:ext cx="1828800" cy="548640"/>
          </a:xfrm>
          <a:prstGeom prst="rect">
            <a:avLst/>
          </a:prstGeom>
          <a:noFill/>
          <a:ln/>
        </p:spPr>
        <p:txBody>
          <a:bodyPr wrap="square" rtlCol="0" anchor="ctr"/>
          <a:lstStyle/>
          <a:p>
            <a:pPr indent="0" marL="0">
              <a:buNone/>
            </a:pPr>
            <a:r>
              <a:rPr lang="en-US" sz="3000" b="1" dirty="0">
                <a:solidFill>
                  <a:srgbClr val="0E7C86"/>
                </a:solidFill>
                <a:latin typeface="Segoe UI" pitchFamily="34" charset="0"/>
                <a:ea typeface="Segoe UI" pitchFamily="34" charset="-122"/>
                <a:cs typeface="Segoe UI" pitchFamily="34" charset="-120"/>
              </a:rPr>
              <a:t>03</a:t>
            </a:r>
            <a:endParaRPr lang="en-US" sz="3000" dirty="0"/>
          </a:p>
        </p:txBody>
      </p:sp>
      <p:sp>
        <p:nvSpPr>
          <p:cNvPr id="14" name="Text 12"/>
          <p:cNvSpPr/>
          <p:nvPr/>
        </p:nvSpPr>
        <p:spPr>
          <a:xfrm>
            <a:off x="8330184" y="3063240"/>
            <a:ext cx="2834640" cy="548640"/>
          </a:xfrm>
          <a:prstGeom prst="rect">
            <a:avLst/>
          </a:prstGeom>
          <a:noFill/>
          <a:ln/>
        </p:spPr>
        <p:txBody>
          <a:bodyPr wrap="square" rtlCol="0" anchor="ctr"/>
          <a:lstStyle/>
          <a:p>
            <a:pPr indent="0" marL="0">
              <a:buNone/>
            </a:pPr>
            <a:r>
              <a:rPr lang="en-US" sz="1800" b="1" dirty="0">
                <a:solidFill>
                  <a:srgbClr val="1A1A1A"/>
                </a:solidFill>
                <a:latin typeface="Segoe UI" pitchFamily="34" charset="0"/>
                <a:ea typeface="Segoe UI" pitchFamily="34" charset="-122"/>
                <a:cs typeface="Segoe UI" pitchFamily="34" charset="-120"/>
              </a:rPr>
              <a:t>The walk-home regret</a:t>
            </a:r>
            <a:endParaRPr lang="en-US" sz="1800" dirty="0"/>
          </a:p>
        </p:txBody>
      </p:sp>
      <p:sp>
        <p:nvSpPr>
          <p:cNvPr id="15" name="Text 13"/>
          <p:cNvSpPr/>
          <p:nvPr/>
        </p:nvSpPr>
        <p:spPr>
          <a:xfrm>
            <a:off x="8330184" y="3611880"/>
            <a:ext cx="2880360" cy="1371600"/>
          </a:xfrm>
          <a:prstGeom prst="rect">
            <a:avLst/>
          </a:prstGeom>
          <a:noFill/>
          <a:ln/>
        </p:spPr>
        <p:txBody>
          <a:bodyPr wrap="square" rtlCol="0" anchor="ctr"/>
          <a:lstStyle/>
          <a:p>
            <a:pPr indent="0" marL="0">
              <a:lnSpc>
                <a:spcPct val="112000"/>
              </a:lnSpc>
              <a:buNone/>
            </a:pPr>
            <a:r>
              <a:rPr lang="en-US" sz="1450" dirty="0">
                <a:solidFill>
                  <a:srgbClr val="3A3A3A"/>
                </a:solidFill>
                <a:latin typeface="Segoe UI" pitchFamily="34" charset="0"/>
                <a:ea typeface="Segoe UI" pitchFamily="34" charset="-122"/>
                <a:cs typeface="Segoe UI" pitchFamily="34" charset="-120"/>
              </a:rPr>
              <a:t>Realized the better phrasing only hours after it mattered.</a:t>
            </a:r>
            <a:endParaRPr lang="en-US" sz="1450" dirty="0"/>
          </a:p>
        </p:txBody>
      </p:sp>
      <p:sp>
        <p:nvSpPr>
          <p:cNvPr id="16" name="Text 1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7" name="Text 1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04</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WHAT ALREADY EXISTS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Two camps today — neither helps in the moment.</a:t>
            </a:r>
            <a:endParaRPr lang="en-US" sz="3300" dirty="0"/>
          </a:p>
        </p:txBody>
      </p:sp>
      <p:sp>
        <p:nvSpPr>
          <p:cNvPr id="4" name="Shape 2"/>
          <p:cNvSpPr/>
          <p:nvPr/>
        </p:nvSpPr>
        <p:spPr>
          <a:xfrm>
            <a:off x="566928" y="2103120"/>
            <a:ext cx="5212080" cy="3200400"/>
          </a:xfrm>
          <a:prstGeom prst="roundRect">
            <a:avLst>
              <a:gd name="adj" fmla="val 3429"/>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566928" y="2103120"/>
            <a:ext cx="5212080" cy="777240"/>
          </a:xfrm>
          <a:prstGeom prst="rect">
            <a:avLst/>
          </a:prstGeom>
          <a:solidFill>
            <a:srgbClr val="E4EFEF"/>
          </a:solidFill>
          <a:ln/>
        </p:spPr>
      </p:sp>
      <p:sp>
        <p:nvSpPr>
          <p:cNvPr id="6" name="Text 4"/>
          <p:cNvSpPr/>
          <p:nvPr/>
        </p:nvSpPr>
        <p:spPr>
          <a:xfrm>
            <a:off x="932688" y="2194560"/>
            <a:ext cx="4572000" cy="594360"/>
          </a:xfrm>
          <a:prstGeom prst="rect">
            <a:avLst/>
          </a:prstGeom>
          <a:noFill/>
          <a:ln/>
        </p:spPr>
        <p:txBody>
          <a:bodyPr wrap="square" rtlCol="0" anchor="ctr"/>
          <a:lstStyle/>
          <a:p>
            <a:pPr indent="0" marL="0">
              <a:buNone/>
            </a:pPr>
            <a:r>
              <a:rPr lang="en-US" sz="2000" b="1" dirty="0">
                <a:solidFill>
                  <a:srgbClr val="0E7C86"/>
                </a:solidFill>
                <a:latin typeface="Segoe UI" pitchFamily="34" charset="0"/>
                <a:ea typeface="Segoe UI" pitchFamily="34" charset="-122"/>
                <a:cs typeface="Segoe UI" pitchFamily="34" charset="-120"/>
              </a:rPr>
              <a:t>Meeting notetakers</a:t>
            </a:r>
            <a:endParaRPr lang="en-US" sz="2000" dirty="0"/>
          </a:p>
        </p:txBody>
      </p:sp>
      <p:sp>
        <p:nvSpPr>
          <p:cNvPr id="7" name="Text 5"/>
          <p:cNvSpPr/>
          <p:nvPr/>
        </p:nvSpPr>
        <p:spPr>
          <a:xfrm>
            <a:off x="932688" y="3108960"/>
            <a:ext cx="4572000" cy="457200"/>
          </a:xfrm>
          <a:prstGeom prst="rect">
            <a:avLst/>
          </a:prstGeom>
          <a:noFill/>
          <a:ln/>
        </p:spPr>
        <p:txBody>
          <a:bodyPr wrap="square"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Otter · Fathom · Notta · Gong</a:t>
            </a:r>
            <a:endParaRPr lang="en-US" sz="1600" dirty="0"/>
          </a:p>
        </p:txBody>
      </p:sp>
      <p:sp>
        <p:nvSpPr>
          <p:cNvPr id="8" name="Text 6"/>
          <p:cNvSpPr/>
          <p:nvPr/>
        </p:nvSpPr>
        <p:spPr>
          <a:xfrm>
            <a:off x="932688" y="3657600"/>
            <a:ext cx="4572000" cy="1280160"/>
          </a:xfrm>
          <a:prstGeom prst="rect">
            <a:avLst/>
          </a:prstGeom>
          <a:noFill/>
          <a:ln/>
        </p:spPr>
        <p:txBody>
          <a:bodyPr wrap="square" rtlCol="0" anchor="ctr"/>
          <a:lstStyle/>
          <a:p>
            <a:pPr indent="0" marL="0">
              <a:lnSpc>
                <a:spcPct val="115000"/>
              </a:lnSpc>
              <a:buNone/>
            </a:pPr>
            <a:r>
              <a:rPr lang="en-US" sz="1550" dirty="0">
                <a:solidFill>
                  <a:srgbClr val="3A3A3A"/>
                </a:solidFill>
                <a:latin typeface="Segoe UI" pitchFamily="34" charset="0"/>
                <a:ea typeface="Segoe UI" pitchFamily="34" charset="-122"/>
                <a:cs typeface="Segoe UI" pitchFamily="34" charset="-120"/>
              </a:rPr>
              <a:t>Transcribe &amp; summarize — but only after the meeting ends.</a:t>
            </a:r>
            <a:endParaRPr lang="en-US" sz="1550" dirty="0"/>
          </a:p>
        </p:txBody>
      </p:sp>
      <p:sp>
        <p:nvSpPr>
          <p:cNvPr id="9" name="Shape 7"/>
          <p:cNvSpPr/>
          <p:nvPr/>
        </p:nvSpPr>
        <p:spPr>
          <a:xfrm>
            <a:off x="6144768" y="2103120"/>
            <a:ext cx="5212080" cy="3200400"/>
          </a:xfrm>
          <a:prstGeom prst="roundRect">
            <a:avLst>
              <a:gd name="adj" fmla="val 3429"/>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Shape 8"/>
          <p:cNvSpPr/>
          <p:nvPr/>
        </p:nvSpPr>
        <p:spPr>
          <a:xfrm>
            <a:off x="6144768" y="2103120"/>
            <a:ext cx="5212080" cy="777240"/>
          </a:xfrm>
          <a:prstGeom prst="rect">
            <a:avLst/>
          </a:prstGeom>
          <a:solidFill>
            <a:srgbClr val="EFE3D2"/>
          </a:solidFill>
          <a:ln/>
        </p:spPr>
      </p:sp>
      <p:sp>
        <p:nvSpPr>
          <p:cNvPr id="11" name="Text 9"/>
          <p:cNvSpPr/>
          <p:nvPr/>
        </p:nvSpPr>
        <p:spPr>
          <a:xfrm>
            <a:off x="6510528" y="2194560"/>
            <a:ext cx="4572000" cy="594360"/>
          </a:xfrm>
          <a:prstGeom prst="rect">
            <a:avLst/>
          </a:prstGeom>
          <a:noFill/>
          <a:ln/>
        </p:spPr>
        <p:txBody>
          <a:bodyPr wrap="square" rtlCol="0" anchor="ctr"/>
          <a:lstStyle/>
          <a:p>
            <a:pPr indent="0" marL="0">
              <a:buNone/>
            </a:pPr>
            <a:r>
              <a:rPr lang="en-US" sz="2000" b="1" dirty="0">
                <a:solidFill>
                  <a:srgbClr val="E08A2B"/>
                </a:solidFill>
                <a:latin typeface="Segoe UI" pitchFamily="34" charset="0"/>
                <a:ea typeface="Segoe UI" pitchFamily="34" charset="-122"/>
                <a:cs typeface="Segoe UI" pitchFamily="34" charset="-120"/>
              </a:rPr>
              <a:t>General assistants</a:t>
            </a:r>
            <a:endParaRPr lang="en-US" sz="2000" dirty="0"/>
          </a:p>
        </p:txBody>
      </p:sp>
      <p:sp>
        <p:nvSpPr>
          <p:cNvPr id="12" name="Text 10"/>
          <p:cNvSpPr/>
          <p:nvPr/>
        </p:nvSpPr>
        <p:spPr>
          <a:xfrm>
            <a:off x="6510528" y="3108960"/>
            <a:ext cx="4572000" cy="457200"/>
          </a:xfrm>
          <a:prstGeom prst="rect">
            <a:avLst/>
          </a:prstGeom>
          <a:noFill/>
          <a:ln/>
        </p:spPr>
        <p:txBody>
          <a:bodyPr wrap="square"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Siri · Google Assistant · ChatGPT</a:t>
            </a:r>
            <a:endParaRPr lang="en-US" sz="1600" dirty="0"/>
          </a:p>
        </p:txBody>
      </p:sp>
      <p:sp>
        <p:nvSpPr>
          <p:cNvPr id="13" name="Text 11"/>
          <p:cNvSpPr/>
          <p:nvPr/>
        </p:nvSpPr>
        <p:spPr>
          <a:xfrm>
            <a:off x="6510528" y="3657600"/>
            <a:ext cx="4572000" cy="1280160"/>
          </a:xfrm>
          <a:prstGeom prst="rect">
            <a:avLst/>
          </a:prstGeom>
          <a:noFill/>
          <a:ln/>
        </p:spPr>
        <p:txBody>
          <a:bodyPr wrap="square" rtlCol="0" anchor="ctr"/>
          <a:lstStyle/>
          <a:p>
            <a:pPr indent="0" marL="0">
              <a:lnSpc>
                <a:spcPct val="115000"/>
              </a:lnSpc>
              <a:buNone/>
            </a:pPr>
            <a:r>
              <a:rPr lang="en-US" sz="1550" dirty="0">
                <a:solidFill>
                  <a:srgbClr val="3A3A3A"/>
                </a:solidFill>
                <a:latin typeface="Segoe UI" pitchFamily="34" charset="0"/>
                <a:ea typeface="Segoe UI" pitchFamily="34" charset="-122"/>
                <a:cs typeface="Segoe UI" pitchFamily="34" charset="-120"/>
              </a:rPr>
              <a:t>Answer commands — but forget you between sessions.</a:t>
            </a:r>
            <a:endParaRPr lang="en-US" sz="155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05</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RESEARCH GAP</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Three things nobody does together.</a:t>
            </a:r>
            <a:endParaRPr lang="en-US" sz="3300" dirty="0"/>
          </a:p>
        </p:txBody>
      </p:sp>
      <p:sp>
        <p:nvSpPr>
          <p:cNvPr id="4" name="Shape 2"/>
          <p:cNvSpPr/>
          <p:nvPr/>
        </p:nvSpPr>
        <p:spPr>
          <a:xfrm>
            <a:off x="566928" y="2148840"/>
            <a:ext cx="868680" cy="868680"/>
          </a:xfrm>
          <a:prstGeom prst="roundRect">
            <a:avLst>
              <a:gd name="adj" fmla="val 10526"/>
            </a:avLst>
          </a:prstGeom>
          <a:solidFill>
            <a:srgbClr val="F7E2DC"/>
          </a:solidFill>
          <a:ln w="16510">
            <a:solidFill>
              <a:srgbClr val="C0492F"/>
            </a:solidFill>
            <a:prstDash val="solid"/>
          </a:ln>
        </p:spPr>
      </p:sp>
      <p:sp>
        <p:nvSpPr>
          <p:cNvPr id="5" name="Text 3"/>
          <p:cNvSpPr/>
          <p:nvPr/>
        </p:nvSpPr>
        <p:spPr>
          <a:xfrm>
            <a:off x="566928" y="2148840"/>
            <a:ext cx="868680" cy="868680"/>
          </a:xfrm>
          <a:prstGeom prst="rect">
            <a:avLst/>
          </a:prstGeom>
          <a:noFill/>
          <a:ln/>
        </p:spPr>
        <p:txBody>
          <a:bodyPr wrap="square" rtlCol="0" anchor="ctr"/>
          <a:lstStyle/>
          <a:p>
            <a:pPr algn="ctr" indent="0" marL="0">
              <a:buNone/>
            </a:pPr>
            <a:r>
              <a:rPr lang="en-US" sz="3000" b="1" dirty="0">
                <a:solidFill>
                  <a:srgbClr val="C0492F"/>
                </a:solidFill>
                <a:latin typeface="Segoe UI" pitchFamily="34" charset="0"/>
                <a:ea typeface="Segoe UI" pitchFamily="34" charset="-122"/>
                <a:cs typeface="Segoe UI" pitchFamily="34" charset="-120"/>
              </a:rPr>
              <a:t>✕</a:t>
            </a:r>
            <a:endParaRPr lang="en-US" sz="3000" dirty="0"/>
          </a:p>
        </p:txBody>
      </p:sp>
      <p:sp>
        <p:nvSpPr>
          <p:cNvPr id="6" name="Text 4"/>
          <p:cNvSpPr/>
          <p:nvPr/>
        </p:nvSpPr>
        <p:spPr>
          <a:xfrm>
            <a:off x="1709928" y="2167128"/>
            <a:ext cx="10058400" cy="45720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No real-time coaching</a:t>
            </a:r>
            <a:endParaRPr lang="en-US" sz="2200" dirty="0"/>
          </a:p>
        </p:txBody>
      </p:sp>
      <p:sp>
        <p:nvSpPr>
          <p:cNvPr id="7" name="Text 5"/>
          <p:cNvSpPr/>
          <p:nvPr/>
        </p:nvSpPr>
        <p:spPr>
          <a:xfrm>
            <a:off x="1709928" y="2651760"/>
            <a:ext cx="10058400" cy="36576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Everything on the market is post-meeting analysis.</a:t>
            </a:r>
            <a:endParaRPr lang="en-US" sz="1600" dirty="0"/>
          </a:p>
        </p:txBody>
      </p:sp>
      <p:sp>
        <p:nvSpPr>
          <p:cNvPr id="8" name="Shape 6"/>
          <p:cNvSpPr/>
          <p:nvPr/>
        </p:nvSpPr>
        <p:spPr>
          <a:xfrm>
            <a:off x="566928" y="3429000"/>
            <a:ext cx="868680" cy="868680"/>
          </a:xfrm>
          <a:prstGeom prst="roundRect">
            <a:avLst>
              <a:gd name="adj" fmla="val 10526"/>
            </a:avLst>
          </a:prstGeom>
          <a:solidFill>
            <a:srgbClr val="F7E2DC"/>
          </a:solidFill>
          <a:ln w="16510">
            <a:solidFill>
              <a:srgbClr val="C0492F"/>
            </a:solidFill>
            <a:prstDash val="solid"/>
          </a:ln>
        </p:spPr>
      </p:sp>
      <p:sp>
        <p:nvSpPr>
          <p:cNvPr id="9" name="Text 7"/>
          <p:cNvSpPr/>
          <p:nvPr/>
        </p:nvSpPr>
        <p:spPr>
          <a:xfrm>
            <a:off x="566928" y="3429000"/>
            <a:ext cx="868680" cy="868680"/>
          </a:xfrm>
          <a:prstGeom prst="rect">
            <a:avLst/>
          </a:prstGeom>
          <a:noFill/>
          <a:ln/>
        </p:spPr>
        <p:txBody>
          <a:bodyPr wrap="square" rtlCol="0" anchor="ctr"/>
          <a:lstStyle/>
          <a:p>
            <a:pPr algn="ctr" indent="0" marL="0">
              <a:buNone/>
            </a:pPr>
            <a:r>
              <a:rPr lang="en-US" sz="3000" b="1" dirty="0">
                <a:solidFill>
                  <a:srgbClr val="C0492F"/>
                </a:solidFill>
                <a:latin typeface="Segoe UI" pitchFamily="34" charset="0"/>
                <a:ea typeface="Segoe UI" pitchFamily="34" charset="-122"/>
                <a:cs typeface="Segoe UI" pitchFamily="34" charset="-120"/>
              </a:rPr>
              <a:t>✕</a:t>
            </a:r>
            <a:endParaRPr lang="en-US" sz="3000" dirty="0"/>
          </a:p>
        </p:txBody>
      </p:sp>
      <p:sp>
        <p:nvSpPr>
          <p:cNvPr id="10" name="Text 8"/>
          <p:cNvSpPr/>
          <p:nvPr/>
        </p:nvSpPr>
        <p:spPr>
          <a:xfrm>
            <a:off x="1709928" y="3447288"/>
            <a:ext cx="10058400" cy="45720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No long-term context</a:t>
            </a:r>
            <a:endParaRPr lang="en-US" sz="2200" dirty="0"/>
          </a:p>
        </p:txBody>
      </p:sp>
      <p:sp>
        <p:nvSpPr>
          <p:cNvPr id="11" name="Text 9"/>
          <p:cNvSpPr/>
          <p:nvPr/>
        </p:nvSpPr>
        <p:spPr>
          <a:xfrm>
            <a:off x="1709928" y="3931920"/>
            <a:ext cx="10058400" cy="36576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Assistants forget who and what you talked about.</a:t>
            </a:r>
            <a:endParaRPr lang="en-US" sz="1600" dirty="0"/>
          </a:p>
        </p:txBody>
      </p:sp>
      <p:sp>
        <p:nvSpPr>
          <p:cNvPr id="12" name="Shape 10"/>
          <p:cNvSpPr/>
          <p:nvPr/>
        </p:nvSpPr>
        <p:spPr>
          <a:xfrm>
            <a:off x="566928" y="4709160"/>
            <a:ext cx="868680" cy="868680"/>
          </a:xfrm>
          <a:prstGeom prst="roundRect">
            <a:avLst>
              <a:gd name="adj" fmla="val 10526"/>
            </a:avLst>
          </a:prstGeom>
          <a:solidFill>
            <a:srgbClr val="F7E2DC"/>
          </a:solidFill>
          <a:ln w="16510">
            <a:solidFill>
              <a:srgbClr val="C0492F"/>
            </a:solidFill>
            <a:prstDash val="solid"/>
          </a:ln>
        </p:spPr>
      </p:sp>
      <p:sp>
        <p:nvSpPr>
          <p:cNvPr id="13" name="Text 11"/>
          <p:cNvSpPr/>
          <p:nvPr/>
        </p:nvSpPr>
        <p:spPr>
          <a:xfrm>
            <a:off x="566928" y="4709160"/>
            <a:ext cx="868680" cy="868680"/>
          </a:xfrm>
          <a:prstGeom prst="rect">
            <a:avLst/>
          </a:prstGeom>
          <a:noFill/>
          <a:ln/>
        </p:spPr>
        <p:txBody>
          <a:bodyPr wrap="square" rtlCol="0" anchor="ctr"/>
          <a:lstStyle/>
          <a:p>
            <a:pPr algn="ctr" indent="0" marL="0">
              <a:buNone/>
            </a:pPr>
            <a:r>
              <a:rPr lang="en-US" sz="3000" b="1" dirty="0">
                <a:solidFill>
                  <a:srgbClr val="C0492F"/>
                </a:solidFill>
                <a:latin typeface="Segoe UI" pitchFamily="34" charset="0"/>
                <a:ea typeface="Segoe UI" pitchFamily="34" charset="-122"/>
                <a:cs typeface="Segoe UI" pitchFamily="34" charset="-120"/>
              </a:rPr>
              <a:t>✕</a:t>
            </a:r>
            <a:endParaRPr lang="en-US" sz="3000" dirty="0"/>
          </a:p>
        </p:txBody>
      </p:sp>
      <p:sp>
        <p:nvSpPr>
          <p:cNvPr id="14" name="Text 12"/>
          <p:cNvSpPr/>
          <p:nvPr/>
        </p:nvSpPr>
        <p:spPr>
          <a:xfrm>
            <a:off x="1709928" y="4727448"/>
            <a:ext cx="10058400" cy="45720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Not privacy-first</a:t>
            </a:r>
            <a:endParaRPr lang="en-US" sz="2200" dirty="0"/>
          </a:p>
        </p:txBody>
      </p:sp>
      <p:sp>
        <p:nvSpPr>
          <p:cNvPr id="15" name="Text 13"/>
          <p:cNvSpPr/>
          <p:nvPr/>
        </p:nvSpPr>
        <p:spPr>
          <a:xfrm>
            <a:off x="1709928" y="5212080"/>
            <a:ext cx="10058400" cy="36576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Enterprise tools mine your data for the org, not you.</a:t>
            </a:r>
            <a:endParaRPr lang="en-US" sz="1600" dirty="0"/>
          </a:p>
        </p:txBody>
      </p:sp>
      <p:sp>
        <p:nvSpPr>
          <p:cNvPr id="16" name="Text 1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7" name="Text 1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06</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POST-MEETING ISN'T ENOUGH</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The value of advice decays in seconds.</a:t>
            </a:r>
            <a:endParaRPr lang="en-US" sz="3300" dirty="0"/>
          </a:p>
        </p:txBody>
      </p:sp>
      <p:sp>
        <p:nvSpPr>
          <p:cNvPr id="4" name="Shape 2"/>
          <p:cNvSpPr/>
          <p:nvPr/>
        </p:nvSpPr>
        <p:spPr>
          <a:xfrm>
            <a:off x="749808" y="3657600"/>
            <a:ext cx="9966960" cy="0"/>
          </a:xfrm>
          <a:prstGeom prst="line">
            <a:avLst/>
          </a:prstGeom>
          <a:noFill/>
          <a:ln w="31750">
            <a:solidFill>
              <a:srgbClr val="E3DCCF"/>
            </a:solidFill>
            <a:prstDash val="solid"/>
          </a:ln>
        </p:spPr>
      </p:sp>
      <p:sp>
        <p:nvSpPr>
          <p:cNvPr id="5" name="Shape 3"/>
          <p:cNvSpPr/>
          <p:nvPr/>
        </p:nvSpPr>
        <p:spPr>
          <a:xfrm>
            <a:off x="585216" y="3493008"/>
            <a:ext cx="329184" cy="329184"/>
          </a:xfrm>
          <a:prstGeom prst="ellipse">
            <a:avLst/>
          </a:prstGeom>
          <a:solidFill>
            <a:srgbClr val="C0492F"/>
          </a:solidFill>
          <a:ln/>
        </p:spPr>
      </p:sp>
      <p:sp>
        <p:nvSpPr>
          <p:cNvPr id="6" name="Text 4"/>
          <p:cNvSpPr/>
          <p:nvPr/>
        </p:nvSpPr>
        <p:spPr>
          <a:xfrm>
            <a:off x="566928" y="3931920"/>
            <a:ext cx="2926080" cy="548640"/>
          </a:xfrm>
          <a:prstGeom prst="rect">
            <a:avLst/>
          </a:prstGeom>
          <a:noFill/>
          <a:ln/>
        </p:spPr>
        <p:txBody>
          <a:bodyPr wrap="square" rtlCol="0" anchor="ctr"/>
          <a:lstStyle/>
          <a:p>
            <a:pPr algn="l" indent="0" marL="0">
              <a:buNone/>
            </a:pPr>
            <a:r>
              <a:rPr lang="en-US" sz="1400" b="1" dirty="0">
                <a:solidFill>
                  <a:srgbClr val="1A1A1A"/>
                </a:solidFill>
                <a:latin typeface="Segoe UI" pitchFamily="34" charset="0"/>
                <a:ea typeface="Segoe UI" pitchFamily="34" charset="-122"/>
                <a:cs typeface="Segoe UI" pitchFamily="34" charset="-120"/>
              </a:rPr>
              <a:t>Mistake made</a:t>
            </a:r>
            <a:endParaRPr lang="en-US" sz="1400" dirty="0"/>
          </a:p>
        </p:txBody>
      </p:sp>
      <p:sp>
        <p:nvSpPr>
          <p:cNvPr id="7" name="Shape 5"/>
          <p:cNvSpPr/>
          <p:nvPr/>
        </p:nvSpPr>
        <p:spPr>
          <a:xfrm>
            <a:off x="5522976" y="3493008"/>
            <a:ext cx="329184" cy="329184"/>
          </a:xfrm>
          <a:prstGeom prst="ellipse">
            <a:avLst/>
          </a:prstGeom>
          <a:solidFill>
            <a:srgbClr val="9A9285"/>
          </a:solidFill>
          <a:ln/>
        </p:spPr>
      </p:sp>
      <p:sp>
        <p:nvSpPr>
          <p:cNvPr id="8" name="Text 6"/>
          <p:cNvSpPr/>
          <p:nvPr/>
        </p:nvSpPr>
        <p:spPr>
          <a:xfrm>
            <a:off x="4224528" y="3931920"/>
            <a:ext cx="2926080" cy="548640"/>
          </a:xfrm>
          <a:prstGeom prst="rect">
            <a:avLst/>
          </a:prstGeom>
          <a:noFill/>
          <a:ln/>
        </p:spPr>
        <p:txBody>
          <a:bodyPr wrap="square" rtlCol="0" anchor="ctr"/>
          <a:lstStyle/>
          <a:p>
            <a:pPr algn="ctr" indent="0" marL="0">
              <a:buNone/>
            </a:pPr>
            <a:r>
              <a:rPr lang="en-US" sz="1400" b="1" dirty="0">
                <a:solidFill>
                  <a:srgbClr val="1A1A1A"/>
                </a:solidFill>
                <a:latin typeface="Segoe UI" pitchFamily="34" charset="0"/>
                <a:ea typeface="Segoe UI" pitchFamily="34" charset="-122"/>
                <a:cs typeface="Segoe UI" pitchFamily="34" charset="-120"/>
              </a:rPr>
              <a:t>Conversation ends</a:t>
            </a:r>
            <a:endParaRPr lang="en-US" sz="1400" dirty="0"/>
          </a:p>
        </p:txBody>
      </p:sp>
      <p:sp>
        <p:nvSpPr>
          <p:cNvPr id="9" name="Shape 7"/>
          <p:cNvSpPr/>
          <p:nvPr/>
        </p:nvSpPr>
        <p:spPr>
          <a:xfrm>
            <a:off x="10552176" y="3493008"/>
            <a:ext cx="329184" cy="329184"/>
          </a:xfrm>
          <a:prstGeom prst="ellipse">
            <a:avLst/>
          </a:prstGeom>
          <a:solidFill>
            <a:srgbClr val="9A9285"/>
          </a:solidFill>
          <a:ln/>
        </p:spPr>
      </p:sp>
      <p:sp>
        <p:nvSpPr>
          <p:cNvPr id="10" name="Text 8"/>
          <p:cNvSpPr/>
          <p:nvPr/>
        </p:nvSpPr>
        <p:spPr>
          <a:xfrm>
            <a:off x="7973568" y="3931920"/>
            <a:ext cx="2926080" cy="548640"/>
          </a:xfrm>
          <a:prstGeom prst="rect">
            <a:avLst/>
          </a:prstGeom>
          <a:noFill/>
          <a:ln/>
        </p:spPr>
        <p:txBody>
          <a:bodyPr wrap="square" rtlCol="0" anchor="ctr"/>
          <a:lstStyle/>
          <a:p>
            <a:pPr algn="r" indent="0" marL="0">
              <a:buNone/>
            </a:pPr>
            <a:r>
              <a:rPr lang="en-US" sz="1400" b="1" dirty="0">
                <a:solidFill>
                  <a:srgbClr val="1A1A1A"/>
                </a:solidFill>
                <a:latin typeface="Segoe UI" pitchFamily="34" charset="0"/>
                <a:ea typeface="Segoe UI" pitchFamily="34" charset="-122"/>
                <a:cs typeface="Segoe UI" pitchFamily="34" charset="-120"/>
              </a:rPr>
              <a:t>You read the summary</a:t>
            </a:r>
            <a:endParaRPr lang="en-US" sz="1400" dirty="0"/>
          </a:p>
        </p:txBody>
      </p:sp>
      <p:sp>
        <p:nvSpPr>
          <p:cNvPr id="11" name="Text 9"/>
          <p:cNvSpPr/>
          <p:nvPr/>
        </p:nvSpPr>
        <p:spPr>
          <a:xfrm>
            <a:off x="566928" y="4937760"/>
            <a:ext cx="10424160" cy="457200"/>
          </a:xfrm>
          <a:prstGeom prst="rect">
            <a:avLst/>
          </a:prstGeom>
          <a:noFill/>
          <a:ln/>
        </p:spPr>
        <p:txBody>
          <a:bodyPr wrap="square" rtlCol="0" anchor="ctr"/>
          <a:lstStyle/>
          <a:p>
            <a:pPr indent="0" marL="0">
              <a:buNone/>
            </a:pPr>
            <a:r>
              <a:rPr lang="en-US" sz="1700" i="1" dirty="0">
                <a:solidFill>
                  <a:srgbClr val="3A3A3A"/>
                </a:solidFill>
                <a:latin typeface="Segoe UI" pitchFamily="34" charset="0"/>
                <a:ea typeface="Segoe UI" pitchFamily="34" charset="-122"/>
                <a:cs typeface="Segoe UI" pitchFamily="34" charset="-120"/>
              </a:rPr>
              <a:t>Feedback only ever lands here →  too late to change the outcome.</a:t>
            </a:r>
            <a:endParaRPr lang="en-US" sz="1700" dirty="0"/>
          </a:p>
        </p:txBody>
      </p:sp>
      <p:sp>
        <p:nvSpPr>
          <p:cNvPr id="12" name="Text 10"/>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3" name="Text 11"/>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07</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PROBLEM STATEMENT</a:t>
            </a:r>
            <a:endParaRPr lang="en-US" sz="1250" dirty="0"/>
          </a:p>
        </p:txBody>
      </p:sp>
      <p:sp>
        <p:nvSpPr>
          <p:cNvPr id="3" name="Shape 1"/>
          <p:cNvSpPr/>
          <p:nvPr/>
        </p:nvSpPr>
        <p:spPr>
          <a:xfrm>
            <a:off x="566928" y="2103120"/>
            <a:ext cx="146304" cy="2743200"/>
          </a:xfrm>
          <a:prstGeom prst="rect">
            <a:avLst/>
          </a:prstGeom>
          <a:solidFill>
            <a:srgbClr val="0E7C86"/>
          </a:solidFill>
          <a:ln/>
        </p:spPr>
      </p:sp>
      <p:sp>
        <p:nvSpPr>
          <p:cNvPr id="4" name="Text 2"/>
          <p:cNvSpPr/>
          <p:nvPr/>
        </p:nvSpPr>
        <p:spPr>
          <a:xfrm>
            <a:off x="1024128" y="2103120"/>
            <a:ext cx="10058400" cy="2743200"/>
          </a:xfrm>
          <a:prstGeom prst="rect">
            <a:avLst/>
          </a:prstGeom>
          <a:noFill/>
          <a:ln/>
        </p:spPr>
        <p:txBody>
          <a:bodyPr wrap="square" rtlCol="0" anchor="t"/>
          <a:lstStyle/>
          <a:p>
            <a:pPr indent="0" marL="0">
              <a:lnSpc>
                <a:spcPct val="112000"/>
              </a:lnSpc>
              <a:buNone/>
            </a:pPr>
            <a:r>
              <a:rPr lang="en-US" sz="3000" i="1" dirty="0">
                <a:solidFill>
                  <a:srgbClr val="1A1A1A"/>
                </a:solidFill>
                <a:latin typeface="Segoe UI" pitchFamily="34" charset="0"/>
                <a:ea typeface="Segoe UI" pitchFamily="34" charset="-122"/>
                <a:cs typeface="Segoe UI" pitchFamily="34" charset="-120"/>
              </a:rPr>
              <a:t>Success often depends on communication, yet errors are hard to catch while speaking. Existing AI only transcribes or summarizes after the fact — with no live, context-aware, privacy-respecting feedback.</a:t>
            </a:r>
            <a:endParaRPr lang="en-US" sz="3000" dirty="0"/>
          </a:p>
        </p:txBody>
      </p:sp>
      <p:sp>
        <p:nvSpPr>
          <p:cNvPr id="5" name="Shape 3"/>
          <p:cNvSpPr/>
          <p:nvPr/>
        </p:nvSpPr>
        <p:spPr>
          <a:xfrm>
            <a:off x="10424160" y="4754880"/>
            <a:ext cx="2377440" cy="2377440"/>
          </a:xfrm>
          <a:prstGeom prst="ellipse">
            <a:avLst/>
          </a:prstGeom>
          <a:solidFill>
            <a:srgbClr val="E08A2B">
              <a:alpha val="12000"/>
            </a:srgbClr>
          </a:solidFill>
          <a:ln/>
        </p:spPr>
      </p:sp>
      <p:sp>
        <p:nvSpPr>
          <p:cNvPr id="6" name="Text 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7" name="Text 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08</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IT MATTERS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Soft-skills coaching, made a daily habit.</a:t>
            </a:r>
            <a:endParaRPr lang="en-US" sz="3300" dirty="0"/>
          </a:p>
        </p:txBody>
      </p:sp>
      <p:sp>
        <p:nvSpPr>
          <p:cNvPr id="4" name="Text 2"/>
          <p:cNvSpPr/>
          <p:nvPr/>
        </p:nvSpPr>
        <p:spPr>
          <a:xfrm>
            <a:off x="566928" y="1920240"/>
            <a:ext cx="10058400" cy="640080"/>
          </a:xfrm>
          <a:prstGeom prst="rect">
            <a:avLst/>
          </a:prstGeom>
          <a:noFill/>
          <a:ln/>
        </p:spPr>
        <p:txBody>
          <a:bodyPr wrap="square" rtlCol="0" anchor="ctr"/>
          <a:lstStyle/>
          <a:p>
            <a:pPr indent="0" marL="0">
              <a:buNone/>
            </a:pPr>
            <a:r>
              <a:rPr lang="en-US" sz="1900" dirty="0">
                <a:solidFill>
                  <a:srgbClr val="3A3A3A"/>
                </a:solidFill>
                <a:latin typeface="Segoe UI" pitchFamily="34" charset="0"/>
                <a:ea typeface="Segoe UI" pitchFamily="34" charset="-122"/>
                <a:cs typeface="Segoe UI" pitchFamily="34" charset="-120"/>
              </a:rPr>
              <a:t>Like Duolingo — but for talking. Track progress, drill weak spots, reward improvement.</a:t>
            </a:r>
            <a:endParaRPr lang="en-US" sz="1900" dirty="0"/>
          </a:p>
        </p:txBody>
      </p:sp>
      <p:sp>
        <p:nvSpPr>
          <p:cNvPr id="5" name="Shape 3"/>
          <p:cNvSpPr/>
          <p:nvPr/>
        </p:nvSpPr>
        <p:spPr>
          <a:xfrm>
            <a:off x="566928" y="2834640"/>
            <a:ext cx="5029200" cy="2286000"/>
          </a:xfrm>
          <a:prstGeom prst="roundRect">
            <a:avLst>
              <a:gd name="adj" fmla="val 4800"/>
            </a:avLst>
          </a:prstGeom>
          <a:solidFill>
            <a:srgbClr val="E4EFEF"/>
          </a:solidFill>
          <a:ln w="12700">
            <a:solidFill>
              <a:srgbClr val="0E7C86"/>
            </a:solidFill>
            <a:prstDash val="solid"/>
          </a:ln>
          <a:effectLst>
            <a:outerShdw sx="100000" sy="100000" kx="0" ky="0" algn="bl" rotWithShape="0" blurRad="88900" dist="25400" dir="5400000">
              <a:srgbClr val="BBB2A2">
                <a:alpha val="22000"/>
              </a:srgbClr>
            </a:outerShdw>
          </a:effectLst>
        </p:spPr>
      </p:sp>
      <p:sp>
        <p:nvSpPr>
          <p:cNvPr id="6" name="Text 4"/>
          <p:cNvSpPr/>
          <p:nvPr/>
        </p:nvSpPr>
        <p:spPr>
          <a:xfrm>
            <a:off x="932688" y="3108960"/>
            <a:ext cx="3657600" cy="640080"/>
          </a:xfrm>
          <a:prstGeom prst="rect">
            <a:avLst/>
          </a:prstGeom>
          <a:noFill/>
          <a:ln/>
        </p:spPr>
        <p:txBody>
          <a:bodyPr wrap="square" rtlCol="0" anchor="ctr"/>
          <a:lstStyle/>
          <a:p>
            <a:pPr indent="0" marL="0">
              <a:buNone/>
            </a:pPr>
            <a:r>
              <a:rPr lang="en-US" sz="3000" b="1" dirty="0">
                <a:solidFill>
                  <a:srgbClr val="0E7C86"/>
                </a:solidFill>
                <a:latin typeface="Segoe UI" pitchFamily="34" charset="0"/>
                <a:ea typeface="Segoe UI" pitchFamily="34" charset="-122"/>
                <a:cs typeface="Segoe UI" pitchFamily="34" charset="-120"/>
              </a:rPr>
              <a:t>SDG 4</a:t>
            </a:r>
            <a:endParaRPr lang="en-US" sz="3000" dirty="0"/>
          </a:p>
        </p:txBody>
      </p:sp>
      <p:sp>
        <p:nvSpPr>
          <p:cNvPr id="7" name="Text 5"/>
          <p:cNvSpPr/>
          <p:nvPr/>
        </p:nvSpPr>
        <p:spPr>
          <a:xfrm>
            <a:off x="932688" y="3749040"/>
            <a:ext cx="4206240" cy="45720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Quality Education</a:t>
            </a:r>
            <a:endParaRPr lang="en-US" sz="1900" dirty="0"/>
          </a:p>
        </p:txBody>
      </p:sp>
      <p:sp>
        <p:nvSpPr>
          <p:cNvPr id="8" name="Text 6"/>
          <p:cNvSpPr/>
          <p:nvPr/>
        </p:nvSpPr>
        <p:spPr>
          <a:xfrm>
            <a:off x="932688" y="4206240"/>
            <a:ext cx="4297680" cy="822960"/>
          </a:xfrm>
          <a:prstGeom prst="rect">
            <a:avLst/>
          </a:prstGeom>
          <a:noFill/>
          <a:ln/>
        </p:spPr>
        <p:txBody>
          <a:bodyPr wrap="square" rtlCol="0" anchor="ctr"/>
          <a:lstStyle/>
          <a:p>
            <a:pPr indent="0" marL="0">
              <a:lnSpc>
                <a:spcPct val="110000"/>
              </a:lnSpc>
              <a:buNone/>
            </a:pPr>
            <a:r>
              <a:rPr lang="en-US" sz="1350" dirty="0">
                <a:solidFill>
                  <a:srgbClr val="3A3A3A"/>
                </a:solidFill>
                <a:latin typeface="Segoe UI" pitchFamily="34" charset="0"/>
                <a:ea typeface="Segoe UI" pitchFamily="34" charset="-122"/>
                <a:cs typeface="Segoe UI" pitchFamily="34" charset="-120"/>
              </a:rPr>
              <a:t>Aligned to the UN Sustainable Development Goal we mapped this project to.</a:t>
            </a:r>
            <a:endParaRPr lang="en-US" sz="1350" dirty="0"/>
          </a:p>
        </p:txBody>
      </p:sp>
      <p:sp>
        <p:nvSpPr>
          <p:cNvPr id="9" name="Shape 7"/>
          <p:cNvSpPr/>
          <p:nvPr/>
        </p:nvSpPr>
        <p:spPr>
          <a:xfrm>
            <a:off x="6400800" y="2926080"/>
            <a:ext cx="0" cy="2103120"/>
          </a:xfrm>
          <a:prstGeom prst="line">
            <a:avLst/>
          </a:prstGeom>
          <a:noFill/>
          <a:ln w="19050">
            <a:solidFill>
              <a:srgbClr val="E3DCCF"/>
            </a:solidFill>
            <a:prstDash val="solid"/>
          </a:ln>
        </p:spPr>
      </p:sp>
      <p:sp>
        <p:nvSpPr>
          <p:cNvPr id="10" name="Shape 8"/>
          <p:cNvSpPr/>
          <p:nvPr/>
        </p:nvSpPr>
        <p:spPr>
          <a:xfrm>
            <a:off x="6400800" y="5029200"/>
            <a:ext cx="4572000" cy="0"/>
          </a:xfrm>
          <a:prstGeom prst="line">
            <a:avLst/>
          </a:prstGeom>
          <a:noFill/>
          <a:ln w="19050">
            <a:solidFill>
              <a:srgbClr val="E3DCCF"/>
            </a:solidFill>
            <a:prstDash val="solid"/>
          </a:ln>
        </p:spPr>
      </p:sp>
      <p:sp>
        <p:nvSpPr>
          <p:cNvPr id="11" name="Shape 9"/>
          <p:cNvSpPr/>
          <p:nvPr/>
        </p:nvSpPr>
        <p:spPr>
          <a:xfrm flipV="1">
            <a:off x="6492240" y="4389120"/>
            <a:ext cx="1097280" cy="365760"/>
          </a:xfrm>
          <a:prstGeom prst="line">
            <a:avLst/>
          </a:prstGeom>
          <a:noFill/>
          <a:ln w="38100">
            <a:solidFill>
              <a:srgbClr val="0E7C86"/>
            </a:solidFill>
            <a:prstDash val="solid"/>
          </a:ln>
        </p:spPr>
      </p:sp>
      <p:sp>
        <p:nvSpPr>
          <p:cNvPr id="12" name="Shape 10"/>
          <p:cNvSpPr/>
          <p:nvPr/>
        </p:nvSpPr>
        <p:spPr>
          <a:xfrm flipV="1">
            <a:off x="7589520" y="3931920"/>
            <a:ext cx="1097280" cy="457200"/>
          </a:xfrm>
          <a:prstGeom prst="line">
            <a:avLst/>
          </a:prstGeom>
          <a:noFill/>
          <a:ln w="38100">
            <a:solidFill>
              <a:srgbClr val="0E7C86"/>
            </a:solidFill>
            <a:prstDash val="solid"/>
          </a:ln>
        </p:spPr>
      </p:sp>
      <p:sp>
        <p:nvSpPr>
          <p:cNvPr id="13" name="Shape 11"/>
          <p:cNvSpPr/>
          <p:nvPr/>
        </p:nvSpPr>
        <p:spPr>
          <a:xfrm flipV="1">
            <a:off x="8686800" y="3520440"/>
            <a:ext cx="1097280" cy="411480"/>
          </a:xfrm>
          <a:prstGeom prst="line">
            <a:avLst/>
          </a:prstGeom>
          <a:noFill/>
          <a:ln w="38100">
            <a:solidFill>
              <a:srgbClr val="0E7C86"/>
            </a:solidFill>
            <a:prstDash val="solid"/>
          </a:ln>
        </p:spPr>
      </p:sp>
      <p:sp>
        <p:nvSpPr>
          <p:cNvPr id="14" name="Shape 12"/>
          <p:cNvSpPr/>
          <p:nvPr/>
        </p:nvSpPr>
        <p:spPr>
          <a:xfrm flipV="1">
            <a:off x="9784080" y="3063240"/>
            <a:ext cx="1097280" cy="457200"/>
          </a:xfrm>
          <a:prstGeom prst="line">
            <a:avLst/>
          </a:prstGeom>
          <a:noFill/>
          <a:ln w="38100">
            <a:solidFill>
              <a:srgbClr val="0E7C86"/>
            </a:solidFill>
            <a:prstDash val="solid"/>
          </a:ln>
        </p:spPr>
      </p:sp>
      <p:sp>
        <p:nvSpPr>
          <p:cNvPr id="15" name="Shape 13"/>
          <p:cNvSpPr/>
          <p:nvPr/>
        </p:nvSpPr>
        <p:spPr>
          <a:xfrm>
            <a:off x="6428232" y="4690872"/>
            <a:ext cx="128016" cy="128016"/>
          </a:xfrm>
          <a:prstGeom prst="ellipse">
            <a:avLst/>
          </a:prstGeom>
          <a:solidFill>
            <a:srgbClr val="0E7C86"/>
          </a:solidFill>
          <a:ln/>
        </p:spPr>
      </p:sp>
      <p:sp>
        <p:nvSpPr>
          <p:cNvPr id="16" name="Shape 14"/>
          <p:cNvSpPr/>
          <p:nvPr/>
        </p:nvSpPr>
        <p:spPr>
          <a:xfrm>
            <a:off x="7525512" y="4325112"/>
            <a:ext cx="128016" cy="128016"/>
          </a:xfrm>
          <a:prstGeom prst="ellipse">
            <a:avLst/>
          </a:prstGeom>
          <a:solidFill>
            <a:srgbClr val="0E7C86"/>
          </a:solidFill>
          <a:ln/>
        </p:spPr>
      </p:sp>
      <p:sp>
        <p:nvSpPr>
          <p:cNvPr id="17" name="Shape 15"/>
          <p:cNvSpPr/>
          <p:nvPr/>
        </p:nvSpPr>
        <p:spPr>
          <a:xfrm>
            <a:off x="8622792" y="3867912"/>
            <a:ext cx="128016" cy="128016"/>
          </a:xfrm>
          <a:prstGeom prst="ellipse">
            <a:avLst/>
          </a:prstGeom>
          <a:solidFill>
            <a:srgbClr val="0E7C86"/>
          </a:solidFill>
          <a:ln/>
        </p:spPr>
      </p:sp>
      <p:sp>
        <p:nvSpPr>
          <p:cNvPr id="18" name="Shape 16"/>
          <p:cNvSpPr/>
          <p:nvPr/>
        </p:nvSpPr>
        <p:spPr>
          <a:xfrm>
            <a:off x="9720072" y="3456432"/>
            <a:ext cx="128016" cy="128016"/>
          </a:xfrm>
          <a:prstGeom prst="ellipse">
            <a:avLst/>
          </a:prstGeom>
          <a:solidFill>
            <a:srgbClr val="0E7C86"/>
          </a:solidFill>
          <a:ln/>
        </p:spPr>
      </p:sp>
      <p:sp>
        <p:nvSpPr>
          <p:cNvPr id="19" name="Shape 17"/>
          <p:cNvSpPr/>
          <p:nvPr/>
        </p:nvSpPr>
        <p:spPr>
          <a:xfrm>
            <a:off x="10817352" y="2999232"/>
            <a:ext cx="128016" cy="128016"/>
          </a:xfrm>
          <a:prstGeom prst="ellipse">
            <a:avLst/>
          </a:prstGeom>
          <a:solidFill>
            <a:srgbClr val="0E7C86"/>
          </a:solidFill>
          <a:ln/>
        </p:spPr>
      </p:sp>
      <p:sp>
        <p:nvSpPr>
          <p:cNvPr id="20" name="Text 18"/>
          <p:cNvSpPr/>
          <p:nvPr/>
        </p:nvSpPr>
        <p:spPr>
          <a:xfrm>
            <a:off x="6400800" y="5138928"/>
            <a:ext cx="4572000" cy="365760"/>
          </a:xfrm>
          <a:prstGeom prst="rect">
            <a:avLst/>
          </a:prstGeom>
          <a:noFill/>
          <a:ln/>
        </p:spPr>
        <p:txBody>
          <a:bodyPr wrap="square" rtlCol="0" anchor="ctr"/>
          <a:lstStyle/>
          <a:p>
            <a:pPr indent="0" marL="0">
              <a:buNone/>
            </a:pPr>
            <a:r>
              <a:rPr lang="en-US" sz="1300" i="1" dirty="0">
                <a:solidFill>
                  <a:srgbClr val="9A9285"/>
                </a:solidFill>
                <a:latin typeface="Segoe UI" pitchFamily="34" charset="0"/>
                <a:ea typeface="Segoe UI" pitchFamily="34" charset="-122"/>
                <a:cs typeface="Segoe UI" pitchFamily="34" charset="-120"/>
              </a:rPr>
              <a:t>Confidence over time</a:t>
            </a:r>
            <a:endParaRPr lang="en-US" sz="1300" dirty="0"/>
          </a:p>
        </p:txBody>
      </p:sp>
      <p:sp>
        <p:nvSpPr>
          <p:cNvPr id="21" name="Text 1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2" name="Text 2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09</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SOLUTION, IN FOUR VERBS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Listen → Whisper → Remember → Improve</a:t>
            </a:r>
            <a:endParaRPr lang="en-US" sz="3300" dirty="0"/>
          </a:p>
        </p:txBody>
      </p:sp>
      <p:sp>
        <p:nvSpPr>
          <p:cNvPr id="4" name="Shape 2"/>
          <p:cNvSpPr/>
          <p:nvPr/>
        </p:nvSpPr>
        <p:spPr>
          <a:xfrm>
            <a:off x="566928" y="2651760"/>
            <a:ext cx="2468880" cy="1737360"/>
          </a:xfrm>
          <a:prstGeom prst="roundRect">
            <a:avLst>
              <a:gd name="adj" fmla="val 631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1481328" y="2880360"/>
            <a:ext cx="640080" cy="640080"/>
          </a:xfrm>
          <a:prstGeom prst="ellipse">
            <a:avLst/>
          </a:prstGeom>
          <a:solidFill>
            <a:srgbClr val="0E7C86"/>
          </a:solidFill>
          <a:ln/>
        </p:spPr>
      </p:sp>
      <p:sp>
        <p:nvSpPr>
          <p:cNvPr id="6" name="Text 4"/>
          <p:cNvSpPr/>
          <p:nvPr/>
        </p:nvSpPr>
        <p:spPr>
          <a:xfrm>
            <a:off x="1481328" y="2880360"/>
            <a:ext cx="640080" cy="64008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7" name="Text 5"/>
          <p:cNvSpPr/>
          <p:nvPr/>
        </p:nvSpPr>
        <p:spPr>
          <a:xfrm>
            <a:off x="658368" y="3611880"/>
            <a:ext cx="2286000" cy="41148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Listen</a:t>
            </a:r>
            <a:endParaRPr lang="en-US" sz="1800" dirty="0"/>
          </a:p>
        </p:txBody>
      </p:sp>
      <p:sp>
        <p:nvSpPr>
          <p:cNvPr id="8" name="Text 6"/>
          <p:cNvSpPr/>
          <p:nvPr/>
        </p:nvSpPr>
        <p:spPr>
          <a:xfrm>
            <a:off x="704088" y="4005072"/>
            <a:ext cx="2194560" cy="457200"/>
          </a:xfrm>
          <a:prstGeom prst="rect">
            <a:avLst/>
          </a:prstGeom>
          <a:noFill/>
          <a:ln/>
        </p:spPr>
        <p:txBody>
          <a:bodyPr wrap="square" rtlCol="0" anchor="ctr"/>
          <a:lstStyle/>
          <a:p>
            <a:pPr algn="ctr" indent="0" marL="0">
              <a:buNone/>
            </a:pPr>
            <a:r>
              <a:rPr lang="en-US" sz="1200" dirty="0">
                <a:solidFill>
                  <a:srgbClr val="3A3A3A"/>
                </a:solidFill>
                <a:latin typeface="Segoe UI" pitchFamily="34" charset="0"/>
                <a:ea typeface="Segoe UI" pitchFamily="34" charset="-122"/>
                <a:cs typeface="Segoe UI" pitchFamily="34" charset="-120"/>
              </a:rPr>
              <a:t>to the live conversation</a:t>
            </a:r>
            <a:endParaRPr lang="en-US" sz="1200" dirty="0"/>
          </a:p>
        </p:txBody>
      </p:sp>
      <p:sp>
        <p:nvSpPr>
          <p:cNvPr id="9" name="Text 7"/>
          <p:cNvSpPr/>
          <p:nvPr/>
        </p:nvSpPr>
        <p:spPr>
          <a:xfrm>
            <a:off x="2944368" y="2651760"/>
            <a:ext cx="457200" cy="173736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a:t>
            </a:r>
            <a:endParaRPr lang="en-US" sz="3000" dirty="0"/>
          </a:p>
        </p:txBody>
      </p:sp>
      <p:sp>
        <p:nvSpPr>
          <p:cNvPr id="10" name="Shape 8"/>
          <p:cNvSpPr/>
          <p:nvPr/>
        </p:nvSpPr>
        <p:spPr>
          <a:xfrm>
            <a:off x="3355848" y="2651760"/>
            <a:ext cx="2468880" cy="1737360"/>
          </a:xfrm>
          <a:prstGeom prst="roundRect">
            <a:avLst>
              <a:gd name="adj" fmla="val 631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1" name="Shape 9"/>
          <p:cNvSpPr/>
          <p:nvPr/>
        </p:nvSpPr>
        <p:spPr>
          <a:xfrm>
            <a:off x="4270248" y="2880360"/>
            <a:ext cx="640080" cy="640080"/>
          </a:xfrm>
          <a:prstGeom prst="ellipse">
            <a:avLst/>
          </a:prstGeom>
          <a:solidFill>
            <a:srgbClr val="0E7C86"/>
          </a:solidFill>
          <a:ln/>
        </p:spPr>
      </p:sp>
      <p:sp>
        <p:nvSpPr>
          <p:cNvPr id="12" name="Text 10"/>
          <p:cNvSpPr/>
          <p:nvPr/>
        </p:nvSpPr>
        <p:spPr>
          <a:xfrm>
            <a:off x="4270248" y="2880360"/>
            <a:ext cx="640080" cy="64008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3" name="Text 11"/>
          <p:cNvSpPr/>
          <p:nvPr/>
        </p:nvSpPr>
        <p:spPr>
          <a:xfrm>
            <a:off x="3447288" y="3611880"/>
            <a:ext cx="2286000" cy="41148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Whisper</a:t>
            </a:r>
            <a:endParaRPr lang="en-US" sz="1800" dirty="0"/>
          </a:p>
        </p:txBody>
      </p:sp>
      <p:sp>
        <p:nvSpPr>
          <p:cNvPr id="14" name="Text 12"/>
          <p:cNvSpPr/>
          <p:nvPr/>
        </p:nvSpPr>
        <p:spPr>
          <a:xfrm>
            <a:off x="3493008" y="4005072"/>
            <a:ext cx="2194560" cy="457200"/>
          </a:xfrm>
          <a:prstGeom prst="rect">
            <a:avLst/>
          </a:prstGeom>
          <a:noFill/>
          <a:ln/>
        </p:spPr>
        <p:txBody>
          <a:bodyPr wrap="square" rtlCol="0" anchor="ctr"/>
          <a:lstStyle/>
          <a:p>
            <a:pPr algn="ctr" indent="0" marL="0">
              <a:buNone/>
            </a:pPr>
            <a:r>
              <a:rPr lang="en-US" sz="1200" dirty="0">
                <a:solidFill>
                  <a:srgbClr val="3A3A3A"/>
                </a:solidFill>
                <a:latin typeface="Segoe UI" pitchFamily="34" charset="0"/>
                <a:ea typeface="Segoe UI" pitchFamily="34" charset="-122"/>
                <a:cs typeface="Segoe UI" pitchFamily="34" charset="-120"/>
              </a:rPr>
              <a:t>the next thing to say</a:t>
            </a:r>
            <a:endParaRPr lang="en-US" sz="1200" dirty="0"/>
          </a:p>
        </p:txBody>
      </p:sp>
      <p:sp>
        <p:nvSpPr>
          <p:cNvPr id="15" name="Text 13"/>
          <p:cNvSpPr/>
          <p:nvPr/>
        </p:nvSpPr>
        <p:spPr>
          <a:xfrm>
            <a:off x="5733288" y="2651760"/>
            <a:ext cx="457200" cy="173736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a:t>
            </a:r>
            <a:endParaRPr lang="en-US" sz="3000" dirty="0"/>
          </a:p>
        </p:txBody>
      </p:sp>
      <p:sp>
        <p:nvSpPr>
          <p:cNvPr id="16" name="Shape 14"/>
          <p:cNvSpPr/>
          <p:nvPr/>
        </p:nvSpPr>
        <p:spPr>
          <a:xfrm>
            <a:off x="6144768" y="2651760"/>
            <a:ext cx="2468880" cy="1737360"/>
          </a:xfrm>
          <a:prstGeom prst="roundRect">
            <a:avLst>
              <a:gd name="adj" fmla="val 631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7" name="Shape 15"/>
          <p:cNvSpPr/>
          <p:nvPr/>
        </p:nvSpPr>
        <p:spPr>
          <a:xfrm>
            <a:off x="7059168" y="2880360"/>
            <a:ext cx="640080" cy="640080"/>
          </a:xfrm>
          <a:prstGeom prst="ellipse">
            <a:avLst/>
          </a:prstGeom>
          <a:solidFill>
            <a:srgbClr val="0E7C86"/>
          </a:solidFill>
          <a:ln/>
        </p:spPr>
      </p:sp>
      <p:sp>
        <p:nvSpPr>
          <p:cNvPr id="18" name="Text 16"/>
          <p:cNvSpPr/>
          <p:nvPr/>
        </p:nvSpPr>
        <p:spPr>
          <a:xfrm>
            <a:off x="7059168" y="2880360"/>
            <a:ext cx="640080" cy="64008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9" name="Text 17"/>
          <p:cNvSpPr/>
          <p:nvPr/>
        </p:nvSpPr>
        <p:spPr>
          <a:xfrm>
            <a:off x="6236208" y="3611880"/>
            <a:ext cx="2286000" cy="41148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Remember</a:t>
            </a:r>
            <a:endParaRPr lang="en-US" sz="1800" dirty="0"/>
          </a:p>
        </p:txBody>
      </p:sp>
      <p:sp>
        <p:nvSpPr>
          <p:cNvPr id="20" name="Text 18"/>
          <p:cNvSpPr/>
          <p:nvPr/>
        </p:nvSpPr>
        <p:spPr>
          <a:xfrm>
            <a:off x="6281928" y="4005072"/>
            <a:ext cx="2194560" cy="457200"/>
          </a:xfrm>
          <a:prstGeom prst="rect">
            <a:avLst/>
          </a:prstGeom>
          <a:noFill/>
          <a:ln/>
        </p:spPr>
        <p:txBody>
          <a:bodyPr wrap="square" rtlCol="0" anchor="ctr"/>
          <a:lstStyle/>
          <a:p>
            <a:pPr algn="ctr" indent="0" marL="0">
              <a:buNone/>
            </a:pPr>
            <a:r>
              <a:rPr lang="en-US" sz="1200" dirty="0">
                <a:solidFill>
                  <a:srgbClr val="3A3A3A"/>
                </a:solidFill>
                <a:latin typeface="Segoe UI" pitchFamily="34" charset="0"/>
                <a:ea typeface="Segoe UI" pitchFamily="34" charset="-122"/>
                <a:cs typeface="Segoe UI" pitchFamily="34" charset="-120"/>
              </a:rPr>
              <a:t>the people &amp; topics</a:t>
            </a:r>
            <a:endParaRPr lang="en-US" sz="1200" dirty="0"/>
          </a:p>
        </p:txBody>
      </p:sp>
      <p:sp>
        <p:nvSpPr>
          <p:cNvPr id="21" name="Text 19"/>
          <p:cNvSpPr/>
          <p:nvPr/>
        </p:nvSpPr>
        <p:spPr>
          <a:xfrm>
            <a:off x="8522208" y="2651760"/>
            <a:ext cx="457200" cy="173736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a:t>
            </a:r>
            <a:endParaRPr lang="en-US" sz="3000" dirty="0"/>
          </a:p>
        </p:txBody>
      </p:sp>
      <p:sp>
        <p:nvSpPr>
          <p:cNvPr id="22" name="Shape 20"/>
          <p:cNvSpPr/>
          <p:nvPr/>
        </p:nvSpPr>
        <p:spPr>
          <a:xfrm>
            <a:off x="8933688" y="2651760"/>
            <a:ext cx="2468880" cy="1737360"/>
          </a:xfrm>
          <a:prstGeom prst="roundRect">
            <a:avLst>
              <a:gd name="adj" fmla="val 631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3" name="Shape 21"/>
          <p:cNvSpPr/>
          <p:nvPr/>
        </p:nvSpPr>
        <p:spPr>
          <a:xfrm>
            <a:off x="9848088" y="2880360"/>
            <a:ext cx="640080" cy="640080"/>
          </a:xfrm>
          <a:prstGeom prst="ellipse">
            <a:avLst/>
          </a:prstGeom>
          <a:solidFill>
            <a:srgbClr val="0E7C86"/>
          </a:solidFill>
          <a:ln/>
        </p:spPr>
      </p:sp>
      <p:sp>
        <p:nvSpPr>
          <p:cNvPr id="24" name="Text 22"/>
          <p:cNvSpPr/>
          <p:nvPr/>
        </p:nvSpPr>
        <p:spPr>
          <a:xfrm>
            <a:off x="9848088" y="2880360"/>
            <a:ext cx="640080" cy="64008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5" name="Text 23"/>
          <p:cNvSpPr/>
          <p:nvPr/>
        </p:nvSpPr>
        <p:spPr>
          <a:xfrm>
            <a:off x="9025128" y="3611880"/>
            <a:ext cx="2286000" cy="41148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Improve</a:t>
            </a:r>
            <a:endParaRPr lang="en-US" sz="1800" dirty="0"/>
          </a:p>
        </p:txBody>
      </p:sp>
      <p:sp>
        <p:nvSpPr>
          <p:cNvPr id="26" name="Text 24"/>
          <p:cNvSpPr/>
          <p:nvPr/>
        </p:nvSpPr>
        <p:spPr>
          <a:xfrm>
            <a:off x="9070848" y="4005072"/>
            <a:ext cx="2194560" cy="457200"/>
          </a:xfrm>
          <a:prstGeom prst="rect">
            <a:avLst/>
          </a:prstGeom>
          <a:noFill/>
          <a:ln/>
        </p:spPr>
        <p:txBody>
          <a:bodyPr wrap="square" rtlCol="0" anchor="ctr"/>
          <a:lstStyle/>
          <a:p>
            <a:pPr algn="ctr" indent="0" marL="0">
              <a:buNone/>
            </a:pPr>
            <a:r>
              <a:rPr lang="en-US" sz="1200" dirty="0">
                <a:solidFill>
                  <a:srgbClr val="3A3A3A"/>
                </a:solidFill>
                <a:latin typeface="Segoe UI" pitchFamily="34" charset="0"/>
                <a:ea typeface="Segoe UI" pitchFamily="34" charset="-122"/>
                <a:cs typeface="Segoe UI" pitchFamily="34" charset="-120"/>
              </a:rPr>
              <a:t>from your real mistakes</a:t>
            </a:r>
            <a:endParaRPr lang="en-US" sz="1200" dirty="0"/>
          </a:p>
        </p:txBody>
      </p:sp>
      <p:sp>
        <p:nvSpPr>
          <p:cNvPr id="27" name="Text 25"/>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8" name="Text 26"/>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10</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MODE 1</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Live Wingman — coaches you while you talk.</a:t>
            </a:r>
            <a:endParaRPr lang="en-US" sz="3300" dirty="0"/>
          </a:p>
        </p:txBody>
      </p:sp>
      <p:sp>
        <p:nvSpPr>
          <p:cNvPr id="4" name="Text 2"/>
          <p:cNvSpPr/>
          <p:nvPr/>
        </p:nvSpPr>
        <p:spPr>
          <a:xfrm>
            <a:off x="566928" y="2194560"/>
            <a:ext cx="6583680" cy="2743200"/>
          </a:xfrm>
          <a:prstGeom prst="rect">
            <a:avLst/>
          </a:prstGeom>
          <a:noFill/>
          <a:ln/>
        </p:spPr>
        <p:txBody>
          <a:bodyPr wrap="square" rtlCol="0" anchor="ctr"/>
          <a:lstStyle/>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Real-time advice generated from the live transcript</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Clarifying questions when the moment needs one</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Reacts to the other person — never echoes you back</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Pushed to screen over WebSocket, no flow break</a:t>
            </a:r>
            <a:endParaRPr lang="en-US" sz="1750" dirty="0"/>
          </a:p>
        </p:txBody>
      </p:sp>
      <p:sp>
        <p:nvSpPr>
          <p:cNvPr id="5" name="Shape 3"/>
          <p:cNvSpPr/>
          <p:nvPr/>
        </p:nvSpPr>
        <p:spPr>
          <a:xfrm>
            <a:off x="8412480" y="1737360"/>
            <a:ext cx="2926080" cy="4480560"/>
          </a:xfrm>
          <a:prstGeom prst="roundRect">
            <a:avLst>
              <a:gd name="adj" fmla="val 7813"/>
            </a:avLst>
          </a:prstGeom>
          <a:solidFill>
            <a:srgbClr val="0E2A2E"/>
          </a:solidFill>
          <a:ln w="25400">
            <a:solidFill>
              <a:srgbClr val="0A5159"/>
            </a:solidFill>
            <a:prstDash val="solid"/>
          </a:ln>
        </p:spPr>
      </p:sp>
      <p:sp>
        <p:nvSpPr>
          <p:cNvPr id="6" name="Shape 4"/>
          <p:cNvSpPr/>
          <p:nvPr/>
        </p:nvSpPr>
        <p:spPr>
          <a:xfrm>
            <a:off x="8549640" y="1965960"/>
            <a:ext cx="2651760" cy="4023360"/>
          </a:xfrm>
          <a:prstGeom prst="roundRect">
            <a:avLst>
              <a:gd name="adj" fmla="val 5172"/>
            </a:avLst>
          </a:prstGeom>
          <a:solidFill>
            <a:srgbClr val="FAF8F4"/>
          </a:solidFill>
          <a:ln/>
        </p:spPr>
      </p:sp>
      <p:sp>
        <p:nvSpPr>
          <p:cNvPr id="7" name="Text 5"/>
          <p:cNvSpPr/>
          <p:nvPr/>
        </p:nvSpPr>
        <p:spPr>
          <a:xfrm>
            <a:off x="8686800" y="2148840"/>
            <a:ext cx="2377440" cy="365760"/>
          </a:xfrm>
          <a:prstGeom prst="rect">
            <a:avLst/>
          </a:prstGeom>
          <a:noFill/>
          <a:ln/>
        </p:spPr>
        <p:txBody>
          <a:bodyPr wrap="square" rtlCol="0" anchor="ctr"/>
          <a:lstStyle/>
          <a:p>
            <a:pPr indent="0" marL="0">
              <a:buNone/>
            </a:pPr>
            <a:r>
              <a:rPr lang="en-US" sz="1300" b="1" dirty="0">
                <a:solidFill>
                  <a:srgbClr val="0E7C86"/>
                </a:solidFill>
                <a:latin typeface="Segoe UI" pitchFamily="34" charset="0"/>
                <a:ea typeface="Segoe UI" pitchFamily="34" charset="-122"/>
                <a:cs typeface="Segoe UI" pitchFamily="34" charset="-120"/>
              </a:rPr>
              <a:t>Live Wingman</a:t>
            </a:r>
            <a:endParaRPr lang="en-US" sz="1300" dirty="0"/>
          </a:p>
        </p:txBody>
      </p:sp>
      <p:sp>
        <p:nvSpPr>
          <p:cNvPr id="8" name="Shape 6"/>
          <p:cNvSpPr/>
          <p:nvPr/>
        </p:nvSpPr>
        <p:spPr>
          <a:xfrm>
            <a:off x="8686800" y="2697480"/>
            <a:ext cx="1920240" cy="731520"/>
          </a:xfrm>
          <a:prstGeom prst="roundRect">
            <a:avLst>
              <a:gd name="adj" fmla="val 15000"/>
            </a:avLst>
          </a:prstGeom>
          <a:solidFill>
            <a:srgbClr val="F0EBE1"/>
          </a:solidFill>
          <a:ln/>
        </p:spPr>
      </p:sp>
      <p:sp>
        <p:nvSpPr>
          <p:cNvPr id="9" name="Text 7"/>
          <p:cNvSpPr/>
          <p:nvPr/>
        </p:nvSpPr>
        <p:spPr>
          <a:xfrm>
            <a:off x="8778240" y="274320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Other: What do you like in CS?</a:t>
            </a:r>
            <a:endParaRPr lang="en-US" sz="950" dirty="0"/>
          </a:p>
        </p:txBody>
      </p:sp>
      <p:sp>
        <p:nvSpPr>
          <p:cNvPr id="10" name="Shape 8"/>
          <p:cNvSpPr/>
          <p:nvPr/>
        </p:nvSpPr>
        <p:spPr>
          <a:xfrm>
            <a:off x="8686800" y="3566160"/>
            <a:ext cx="1920240" cy="731520"/>
          </a:xfrm>
          <a:prstGeom prst="roundRect">
            <a:avLst>
              <a:gd name="adj" fmla="val 15000"/>
            </a:avLst>
          </a:prstGeom>
          <a:solidFill>
            <a:srgbClr val="E8F4DC"/>
          </a:solidFill>
          <a:ln/>
        </p:spPr>
      </p:sp>
      <p:sp>
        <p:nvSpPr>
          <p:cNvPr id="11" name="Text 9"/>
          <p:cNvSpPr/>
          <p:nvPr/>
        </p:nvSpPr>
        <p:spPr>
          <a:xfrm>
            <a:off x="8778240" y="361188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AI INSIGHT · advice</a:t>
            </a:r>
            <a:endParaRPr lang="en-US" sz="950" dirty="0"/>
          </a:p>
        </p:txBody>
      </p:sp>
      <p:sp>
        <p:nvSpPr>
          <p:cNvPr id="12" name="Shape 10"/>
          <p:cNvSpPr/>
          <p:nvPr/>
        </p:nvSpPr>
        <p:spPr>
          <a:xfrm>
            <a:off x="8686800" y="4434840"/>
            <a:ext cx="1920240" cy="731520"/>
          </a:xfrm>
          <a:prstGeom prst="roundRect">
            <a:avLst>
              <a:gd name="adj" fmla="val 15000"/>
            </a:avLst>
          </a:prstGeom>
          <a:solidFill>
            <a:srgbClr val="E8F4DC"/>
          </a:solidFill>
          <a:ln/>
        </p:spPr>
      </p:sp>
      <p:sp>
        <p:nvSpPr>
          <p:cNvPr id="13" name="Text 11"/>
          <p:cNvSpPr/>
          <p:nvPr/>
        </p:nvSpPr>
        <p:spPr>
          <a:xfrm>
            <a:off x="8778240" y="448056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Ask a follow-up to learn their interest first.</a:t>
            </a:r>
            <a:endParaRPr lang="en-US" sz="950" dirty="0"/>
          </a:p>
        </p:txBody>
      </p:sp>
      <p:sp>
        <p:nvSpPr>
          <p:cNvPr id="14" name="Shape 12"/>
          <p:cNvSpPr/>
          <p:nvPr/>
        </p:nvSpPr>
        <p:spPr>
          <a:xfrm>
            <a:off x="9235440" y="5303520"/>
            <a:ext cx="1828800" cy="731520"/>
          </a:xfrm>
          <a:prstGeom prst="roundRect">
            <a:avLst>
              <a:gd name="adj" fmla="val 15000"/>
            </a:avLst>
          </a:prstGeom>
          <a:solidFill>
            <a:srgbClr val="0E7C86"/>
          </a:solidFill>
          <a:ln/>
        </p:spPr>
      </p:sp>
      <p:sp>
        <p:nvSpPr>
          <p:cNvPr id="15" name="Text 13"/>
          <p:cNvSpPr/>
          <p:nvPr/>
        </p:nvSpPr>
        <p:spPr>
          <a:xfrm>
            <a:off x="9326880" y="5349240"/>
            <a:ext cx="1691640" cy="658368"/>
          </a:xfrm>
          <a:prstGeom prst="rect">
            <a:avLst/>
          </a:prstGeom>
          <a:noFill/>
          <a:ln/>
        </p:spPr>
        <p:txBody>
          <a:bodyPr wrap="square" rtlCol="0" anchor="ctr"/>
          <a:lstStyle/>
          <a:p>
            <a:pPr indent="0" marL="0">
              <a:lnSpc>
                <a:spcPct val="95000"/>
              </a:lnSpc>
              <a:buNone/>
            </a:pPr>
            <a:r>
              <a:rPr lang="en-US" sz="950" dirty="0">
                <a:solidFill>
                  <a:srgbClr val="FFFFFF"/>
                </a:solidFill>
                <a:latin typeface="Segoe UI" pitchFamily="34" charset="0"/>
                <a:ea typeface="Segoe UI" pitchFamily="34" charset="-122"/>
                <a:cs typeface="Segoe UI" pitchFamily="34" charset="-120"/>
              </a:rPr>
              <a:t>I'm doing CS and…</a:t>
            </a:r>
            <a:endParaRPr lang="en-US" sz="950" dirty="0"/>
          </a:p>
        </p:txBody>
      </p:sp>
      <p:sp>
        <p:nvSpPr>
          <p:cNvPr id="16" name="Text 1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7" name="Text 1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11</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MODE 2</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Consultant — ask anything about your past talks.</a:t>
            </a:r>
            <a:endParaRPr lang="en-US" sz="3300" dirty="0"/>
          </a:p>
        </p:txBody>
      </p:sp>
      <p:sp>
        <p:nvSpPr>
          <p:cNvPr id="4" name="Text 2"/>
          <p:cNvSpPr/>
          <p:nvPr/>
        </p:nvSpPr>
        <p:spPr>
          <a:xfrm>
            <a:off x="566928" y="2194560"/>
            <a:ext cx="6583680" cy="2743200"/>
          </a:xfrm>
          <a:prstGeom prst="rect">
            <a:avLst/>
          </a:prstGeom>
          <a:noFill/>
          <a:ln/>
        </p:spPr>
        <p:txBody>
          <a:bodyPr wrap="square" rtlCol="0" anchor="ctr"/>
          <a:lstStyle/>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Deep, context-aware Q&amp;A over your history</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“What did I promise Client X last week?”</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Streaming, blocking, or batched answers</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Backed by the heavy reasoning model</a:t>
            </a:r>
            <a:endParaRPr lang="en-US" sz="1750" dirty="0"/>
          </a:p>
        </p:txBody>
      </p:sp>
      <p:sp>
        <p:nvSpPr>
          <p:cNvPr id="5" name="Shape 3"/>
          <p:cNvSpPr/>
          <p:nvPr/>
        </p:nvSpPr>
        <p:spPr>
          <a:xfrm>
            <a:off x="8412480" y="1737360"/>
            <a:ext cx="2926080" cy="4480560"/>
          </a:xfrm>
          <a:prstGeom prst="roundRect">
            <a:avLst>
              <a:gd name="adj" fmla="val 7813"/>
            </a:avLst>
          </a:prstGeom>
          <a:solidFill>
            <a:srgbClr val="0E2A2E"/>
          </a:solidFill>
          <a:ln w="25400">
            <a:solidFill>
              <a:srgbClr val="0A5159"/>
            </a:solidFill>
            <a:prstDash val="solid"/>
          </a:ln>
        </p:spPr>
      </p:sp>
      <p:sp>
        <p:nvSpPr>
          <p:cNvPr id="6" name="Shape 4"/>
          <p:cNvSpPr/>
          <p:nvPr/>
        </p:nvSpPr>
        <p:spPr>
          <a:xfrm>
            <a:off x="8549640" y="1965960"/>
            <a:ext cx="2651760" cy="4023360"/>
          </a:xfrm>
          <a:prstGeom prst="roundRect">
            <a:avLst>
              <a:gd name="adj" fmla="val 5172"/>
            </a:avLst>
          </a:prstGeom>
          <a:solidFill>
            <a:srgbClr val="FAF8F4"/>
          </a:solidFill>
          <a:ln/>
        </p:spPr>
      </p:sp>
      <p:sp>
        <p:nvSpPr>
          <p:cNvPr id="7" name="Text 5"/>
          <p:cNvSpPr/>
          <p:nvPr/>
        </p:nvSpPr>
        <p:spPr>
          <a:xfrm>
            <a:off x="8686800" y="2148840"/>
            <a:ext cx="2377440" cy="365760"/>
          </a:xfrm>
          <a:prstGeom prst="rect">
            <a:avLst/>
          </a:prstGeom>
          <a:noFill/>
          <a:ln/>
        </p:spPr>
        <p:txBody>
          <a:bodyPr wrap="square" rtlCol="0" anchor="ctr"/>
          <a:lstStyle/>
          <a:p>
            <a:pPr indent="0" marL="0">
              <a:buNone/>
            </a:pPr>
            <a:r>
              <a:rPr lang="en-US" sz="1300" b="1" dirty="0">
                <a:solidFill>
                  <a:srgbClr val="0E7C86"/>
                </a:solidFill>
                <a:latin typeface="Segoe UI" pitchFamily="34" charset="0"/>
                <a:ea typeface="Segoe UI" pitchFamily="34" charset="-122"/>
                <a:cs typeface="Segoe UI" pitchFamily="34" charset="-120"/>
              </a:rPr>
              <a:t>Consultant AI</a:t>
            </a:r>
            <a:endParaRPr lang="en-US" sz="1300" dirty="0"/>
          </a:p>
        </p:txBody>
      </p:sp>
      <p:sp>
        <p:nvSpPr>
          <p:cNvPr id="8" name="Shape 6"/>
          <p:cNvSpPr/>
          <p:nvPr/>
        </p:nvSpPr>
        <p:spPr>
          <a:xfrm>
            <a:off x="9235440" y="2697480"/>
            <a:ext cx="1828800" cy="731520"/>
          </a:xfrm>
          <a:prstGeom prst="roundRect">
            <a:avLst>
              <a:gd name="adj" fmla="val 15000"/>
            </a:avLst>
          </a:prstGeom>
          <a:solidFill>
            <a:srgbClr val="0E7C86"/>
          </a:solidFill>
          <a:ln/>
        </p:spPr>
      </p:sp>
      <p:sp>
        <p:nvSpPr>
          <p:cNvPr id="9" name="Text 7"/>
          <p:cNvSpPr/>
          <p:nvPr/>
        </p:nvSpPr>
        <p:spPr>
          <a:xfrm>
            <a:off x="9326880" y="2743200"/>
            <a:ext cx="1691640" cy="658368"/>
          </a:xfrm>
          <a:prstGeom prst="rect">
            <a:avLst/>
          </a:prstGeom>
          <a:noFill/>
          <a:ln/>
        </p:spPr>
        <p:txBody>
          <a:bodyPr wrap="square" rtlCol="0" anchor="ctr"/>
          <a:lstStyle/>
          <a:p>
            <a:pPr indent="0" marL="0">
              <a:lnSpc>
                <a:spcPct val="95000"/>
              </a:lnSpc>
              <a:buNone/>
            </a:pPr>
            <a:r>
              <a:rPr lang="en-US" sz="950" dirty="0">
                <a:solidFill>
                  <a:srgbClr val="FFFFFF"/>
                </a:solidFill>
                <a:latin typeface="Segoe UI" pitchFamily="34" charset="0"/>
                <a:ea typeface="Segoe UI" pitchFamily="34" charset="-122"/>
                <a:cs typeface="Segoe UI" pitchFamily="34" charset="-120"/>
              </a:rPr>
              <a:t>What more did we talk about?</a:t>
            </a:r>
            <a:endParaRPr lang="en-US" sz="950" dirty="0"/>
          </a:p>
        </p:txBody>
      </p:sp>
      <p:sp>
        <p:nvSpPr>
          <p:cNvPr id="10" name="Shape 8"/>
          <p:cNvSpPr/>
          <p:nvPr/>
        </p:nvSpPr>
        <p:spPr>
          <a:xfrm>
            <a:off x="8686800" y="3566160"/>
            <a:ext cx="1920240" cy="731520"/>
          </a:xfrm>
          <a:prstGeom prst="roundRect">
            <a:avLst>
              <a:gd name="adj" fmla="val 15000"/>
            </a:avLst>
          </a:prstGeom>
          <a:solidFill>
            <a:srgbClr val="F0EBE1"/>
          </a:solidFill>
          <a:ln/>
        </p:spPr>
      </p:sp>
      <p:sp>
        <p:nvSpPr>
          <p:cNvPr id="11" name="Text 9"/>
          <p:cNvSpPr/>
          <p:nvPr/>
        </p:nvSpPr>
        <p:spPr>
          <a:xfrm>
            <a:off x="8778240" y="361188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You agreed to send the report by Friday and to loop in Asma.</a:t>
            </a:r>
            <a:endParaRPr lang="en-US" sz="950" dirty="0"/>
          </a:p>
        </p:txBody>
      </p:sp>
      <p:sp>
        <p:nvSpPr>
          <p:cNvPr id="12" name="Shape 10"/>
          <p:cNvSpPr/>
          <p:nvPr/>
        </p:nvSpPr>
        <p:spPr>
          <a:xfrm>
            <a:off x="9235440" y="4434840"/>
            <a:ext cx="1828800" cy="731520"/>
          </a:xfrm>
          <a:prstGeom prst="roundRect">
            <a:avLst>
              <a:gd name="adj" fmla="val 15000"/>
            </a:avLst>
          </a:prstGeom>
          <a:solidFill>
            <a:srgbClr val="0E7C86"/>
          </a:solidFill>
          <a:ln/>
        </p:spPr>
      </p:sp>
      <p:sp>
        <p:nvSpPr>
          <p:cNvPr id="13" name="Text 11"/>
          <p:cNvSpPr/>
          <p:nvPr/>
        </p:nvSpPr>
        <p:spPr>
          <a:xfrm>
            <a:off x="9326880" y="4480560"/>
            <a:ext cx="1691640" cy="658368"/>
          </a:xfrm>
          <a:prstGeom prst="rect">
            <a:avLst/>
          </a:prstGeom>
          <a:noFill/>
          <a:ln/>
        </p:spPr>
        <p:txBody>
          <a:bodyPr wrap="square" rtlCol="0" anchor="ctr"/>
          <a:lstStyle/>
          <a:p>
            <a:pPr indent="0" marL="0">
              <a:lnSpc>
                <a:spcPct val="95000"/>
              </a:lnSpc>
              <a:buNone/>
            </a:pPr>
            <a:r>
              <a:rPr lang="en-US" sz="950" dirty="0">
                <a:solidFill>
                  <a:srgbClr val="FFFFFF"/>
                </a:solidFill>
                <a:latin typeface="Segoe UI" pitchFamily="34" charset="0"/>
                <a:ea typeface="Segoe UI" pitchFamily="34" charset="-122"/>
                <a:cs typeface="Segoe UI" pitchFamily="34" charset="-120"/>
              </a:rPr>
              <a:t>Remind me who Asma is</a:t>
            </a:r>
            <a:endParaRPr lang="en-US" sz="950" dirty="0"/>
          </a:p>
        </p:txBody>
      </p:sp>
      <p:sp>
        <p:nvSpPr>
          <p:cNvPr id="14" name="Shape 12"/>
          <p:cNvSpPr/>
          <p:nvPr/>
        </p:nvSpPr>
        <p:spPr>
          <a:xfrm>
            <a:off x="8686800" y="5303520"/>
            <a:ext cx="1920240" cy="731520"/>
          </a:xfrm>
          <a:prstGeom prst="roundRect">
            <a:avLst>
              <a:gd name="adj" fmla="val 15000"/>
            </a:avLst>
          </a:prstGeom>
          <a:solidFill>
            <a:srgbClr val="F0EBE1"/>
          </a:solidFill>
          <a:ln/>
        </p:spPr>
      </p:sp>
      <p:sp>
        <p:nvSpPr>
          <p:cNvPr id="15" name="Text 13"/>
          <p:cNvSpPr/>
          <p:nvPr/>
        </p:nvSpPr>
        <p:spPr>
          <a:xfrm>
            <a:off x="8778240" y="534924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Asma — the project manager on Project X.</a:t>
            </a:r>
            <a:endParaRPr lang="en-US" sz="950" dirty="0"/>
          </a:p>
        </p:txBody>
      </p:sp>
      <p:sp>
        <p:nvSpPr>
          <p:cNvPr id="16" name="Text 1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7" name="Text 1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12</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MODE 3</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Speak-Improve — the coaching loop.</a:t>
            </a:r>
            <a:endParaRPr lang="en-US" sz="3300" dirty="0"/>
          </a:p>
        </p:txBody>
      </p:sp>
      <p:sp>
        <p:nvSpPr>
          <p:cNvPr id="4" name="Shape 2"/>
          <p:cNvSpPr/>
          <p:nvPr/>
        </p:nvSpPr>
        <p:spPr>
          <a:xfrm>
            <a:off x="566928" y="3017520"/>
            <a:ext cx="2331720" cy="1371600"/>
          </a:xfrm>
          <a:prstGeom prst="roundRect">
            <a:avLst>
              <a:gd name="adj" fmla="val 8000"/>
            </a:avLst>
          </a:prstGeom>
          <a:solidFill>
            <a:srgbClr val="E4EFEF"/>
          </a:solidFill>
          <a:ln w="12700">
            <a:solidFill>
              <a:srgbClr val="0E7C86"/>
            </a:solidFill>
            <a:prstDash val="solid"/>
          </a:ln>
        </p:spPr>
      </p:sp>
      <p:sp>
        <p:nvSpPr>
          <p:cNvPr id="5" name="Text 3"/>
          <p:cNvSpPr/>
          <p:nvPr/>
        </p:nvSpPr>
        <p:spPr>
          <a:xfrm>
            <a:off x="704088" y="3108960"/>
            <a:ext cx="2057400" cy="41148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1</a:t>
            </a:r>
            <a:endParaRPr lang="en-US" sz="1800" dirty="0"/>
          </a:p>
        </p:txBody>
      </p:sp>
      <p:sp>
        <p:nvSpPr>
          <p:cNvPr id="6" name="Text 4"/>
          <p:cNvSpPr/>
          <p:nvPr/>
        </p:nvSpPr>
        <p:spPr>
          <a:xfrm>
            <a:off x="658368" y="3520440"/>
            <a:ext cx="2148840" cy="77724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Mistakes</a:t>
            </a:r>
            <a:endParaRPr lang="en-US" sz="1450" dirty="0"/>
          </a:p>
          <a:p>
            <a:pPr algn="ctr" indent="0" marL="0">
              <a:buNone/>
            </a:pPr>
            <a:r>
              <a:rPr lang="en-US" sz="1450" b="1" dirty="0">
                <a:solidFill>
                  <a:srgbClr val="1A1A1A"/>
                </a:solidFill>
                <a:latin typeface="Segoe UI" pitchFamily="34" charset="0"/>
                <a:ea typeface="Segoe UI" pitchFamily="34" charset="-122"/>
                <a:cs typeface="Segoe UI" pitchFamily="34" charset="-120"/>
              </a:rPr>
              <a:t>captured</a:t>
            </a:r>
            <a:endParaRPr lang="en-US" sz="1450" dirty="0"/>
          </a:p>
        </p:txBody>
      </p:sp>
      <p:sp>
        <p:nvSpPr>
          <p:cNvPr id="7" name="Text 5"/>
          <p:cNvSpPr/>
          <p:nvPr/>
        </p:nvSpPr>
        <p:spPr>
          <a:xfrm>
            <a:off x="2898648" y="3017520"/>
            <a:ext cx="502920" cy="1371600"/>
          </a:xfrm>
          <a:prstGeom prst="rect">
            <a:avLst/>
          </a:prstGeom>
          <a:noFill/>
          <a:ln/>
        </p:spPr>
        <p:txBody>
          <a:bodyPr wrap="square" rtlCol="0" anchor="ctr"/>
          <a:lstStyle/>
          <a:p>
            <a:pPr algn="ctr" indent="0" marL="0">
              <a:buNone/>
            </a:pPr>
            <a:r>
              <a:rPr lang="en-US" sz="2600" b="1" dirty="0">
                <a:solidFill>
                  <a:srgbClr val="0E7C86"/>
                </a:solidFill>
                <a:latin typeface="Segoe UI" pitchFamily="34" charset="0"/>
                <a:ea typeface="Segoe UI" pitchFamily="34" charset="-122"/>
                <a:cs typeface="Segoe UI" pitchFamily="34" charset="-120"/>
              </a:rPr>
              <a:t>›</a:t>
            </a:r>
            <a:endParaRPr lang="en-US" sz="2600" dirty="0"/>
          </a:p>
        </p:txBody>
      </p:sp>
      <p:sp>
        <p:nvSpPr>
          <p:cNvPr id="8" name="Shape 6"/>
          <p:cNvSpPr/>
          <p:nvPr/>
        </p:nvSpPr>
        <p:spPr>
          <a:xfrm>
            <a:off x="3401568" y="3017520"/>
            <a:ext cx="2331720" cy="1371600"/>
          </a:xfrm>
          <a:prstGeom prst="roundRect">
            <a:avLst>
              <a:gd name="adj" fmla="val 8000"/>
            </a:avLst>
          </a:prstGeom>
          <a:solidFill>
            <a:srgbClr val="F0EBE1"/>
          </a:solidFill>
          <a:ln w="12700">
            <a:solidFill>
              <a:srgbClr val="0E7C86"/>
            </a:solidFill>
            <a:prstDash val="solid"/>
          </a:ln>
        </p:spPr>
      </p:sp>
      <p:sp>
        <p:nvSpPr>
          <p:cNvPr id="9" name="Text 7"/>
          <p:cNvSpPr/>
          <p:nvPr/>
        </p:nvSpPr>
        <p:spPr>
          <a:xfrm>
            <a:off x="3538728" y="3108960"/>
            <a:ext cx="2057400" cy="41148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2</a:t>
            </a:r>
            <a:endParaRPr lang="en-US" sz="1800" dirty="0"/>
          </a:p>
        </p:txBody>
      </p:sp>
      <p:sp>
        <p:nvSpPr>
          <p:cNvPr id="10" name="Text 8"/>
          <p:cNvSpPr/>
          <p:nvPr/>
        </p:nvSpPr>
        <p:spPr>
          <a:xfrm>
            <a:off x="3493008" y="3520440"/>
            <a:ext cx="2148840" cy="77724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Turned into</a:t>
            </a:r>
            <a:endParaRPr lang="en-US" sz="1450" dirty="0"/>
          </a:p>
          <a:p>
            <a:pPr algn="ctr" indent="0" marL="0">
              <a:buNone/>
            </a:pPr>
            <a:r>
              <a:rPr lang="en-US" sz="1450" b="1" dirty="0">
                <a:solidFill>
                  <a:srgbClr val="1A1A1A"/>
                </a:solidFill>
                <a:latin typeface="Segoe UI" pitchFamily="34" charset="0"/>
                <a:ea typeface="Segoe UI" pitchFamily="34" charset="-122"/>
                <a:cs typeface="Segoe UI" pitchFamily="34" charset="-120"/>
              </a:rPr>
              <a:t>drills</a:t>
            </a:r>
            <a:endParaRPr lang="en-US" sz="1450" dirty="0"/>
          </a:p>
        </p:txBody>
      </p:sp>
      <p:sp>
        <p:nvSpPr>
          <p:cNvPr id="11" name="Text 9"/>
          <p:cNvSpPr/>
          <p:nvPr/>
        </p:nvSpPr>
        <p:spPr>
          <a:xfrm>
            <a:off x="5733288" y="3017520"/>
            <a:ext cx="502920" cy="1371600"/>
          </a:xfrm>
          <a:prstGeom prst="rect">
            <a:avLst/>
          </a:prstGeom>
          <a:noFill/>
          <a:ln/>
        </p:spPr>
        <p:txBody>
          <a:bodyPr wrap="square" rtlCol="0" anchor="ctr"/>
          <a:lstStyle/>
          <a:p>
            <a:pPr algn="ctr" indent="0" marL="0">
              <a:buNone/>
            </a:pPr>
            <a:r>
              <a:rPr lang="en-US" sz="2600" b="1" dirty="0">
                <a:solidFill>
                  <a:srgbClr val="0E7C86"/>
                </a:solidFill>
                <a:latin typeface="Segoe UI" pitchFamily="34" charset="0"/>
                <a:ea typeface="Segoe UI" pitchFamily="34" charset="-122"/>
                <a:cs typeface="Segoe UI" pitchFamily="34" charset="-120"/>
              </a:rPr>
              <a:t>›</a:t>
            </a:r>
            <a:endParaRPr lang="en-US" sz="2600" dirty="0"/>
          </a:p>
        </p:txBody>
      </p:sp>
      <p:sp>
        <p:nvSpPr>
          <p:cNvPr id="12" name="Shape 10"/>
          <p:cNvSpPr/>
          <p:nvPr/>
        </p:nvSpPr>
        <p:spPr>
          <a:xfrm>
            <a:off x="6236208" y="3017520"/>
            <a:ext cx="2331720" cy="1371600"/>
          </a:xfrm>
          <a:prstGeom prst="roundRect">
            <a:avLst>
              <a:gd name="adj" fmla="val 8000"/>
            </a:avLst>
          </a:prstGeom>
          <a:solidFill>
            <a:srgbClr val="E4EFEF"/>
          </a:solidFill>
          <a:ln w="12700">
            <a:solidFill>
              <a:srgbClr val="0E7C86"/>
            </a:solidFill>
            <a:prstDash val="solid"/>
          </a:ln>
        </p:spPr>
      </p:sp>
      <p:sp>
        <p:nvSpPr>
          <p:cNvPr id="13" name="Text 11"/>
          <p:cNvSpPr/>
          <p:nvPr/>
        </p:nvSpPr>
        <p:spPr>
          <a:xfrm>
            <a:off x="6373368" y="3108960"/>
            <a:ext cx="2057400" cy="41148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3</a:t>
            </a:r>
            <a:endParaRPr lang="en-US" sz="1800" dirty="0"/>
          </a:p>
        </p:txBody>
      </p:sp>
      <p:sp>
        <p:nvSpPr>
          <p:cNvPr id="14" name="Text 12"/>
          <p:cNvSpPr/>
          <p:nvPr/>
        </p:nvSpPr>
        <p:spPr>
          <a:xfrm>
            <a:off x="6327648" y="3520440"/>
            <a:ext cx="2148840" cy="77724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Progress</a:t>
            </a:r>
            <a:endParaRPr lang="en-US" sz="1450" dirty="0"/>
          </a:p>
          <a:p>
            <a:pPr algn="ctr" indent="0" marL="0">
              <a:buNone/>
            </a:pPr>
            <a:r>
              <a:rPr lang="en-US" sz="1450" b="1" dirty="0">
                <a:solidFill>
                  <a:srgbClr val="1A1A1A"/>
                </a:solidFill>
                <a:latin typeface="Segoe UI" pitchFamily="34" charset="0"/>
                <a:ea typeface="Segoe UI" pitchFamily="34" charset="-122"/>
                <a:cs typeface="Segoe UI" pitchFamily="34" charset="-120"/>
              </a:rPr>
              <a:t>tracked</a:t>
            </a:r>
            <a:endParaRPr lang="en-US" sz="1450" dirty="0"/>
          </a:p>
        </p:txBody>
      </p:sp>
      <p:sp>
        <p:nvSpPr>
          <p:cNvPr id="15" name="Text 13"/>
          <p:cNvSpPr/>
          <p:nvPr/>
        </p:nvSpPr>
        <p:spPr>
          <a:xfrm>
            <a:off x="8567928" y="3017520"/>
            <a:ext cx="502920" cy="1371600"/>
          </a:xfrm>
          <a:prstGeom prst="rect">
            <a:avLst/>
          </a:prstGeom>
          <a:noFill/>
          <a:ln/>
        </p:spPr>
        <p:txBody>
          <a:bodyPr wrap="square" rtlCol="0" anchor="ctr"/>
          <a:lstStyle/>
          <a:p>
            <a:pPr algn="ctr" indent="0" marL="0">
              <a:buNone/>
            </a:pPr>
            <a:r>
              <a:rPr lang="en-US" sz="2600" b="1" dirty="0">
                <a:solidFill>
                  <a:srgbClr val="0E7C86"/>
                </a:solidFill>
                <a:latin typeface="Segoe UI" pitchFamily="34" charset="0"/>
                <a:ea typeface="Segoe UI" pitchFamily="34" charset="-122"/>
                <a:cs typeface="Segoe UI" pitchFamily="34" charset="-120"/>
              </a:rPr>
              <a:t>›</a:t>
            </a:r>
            <a:endParaRPr lang="en-US" sz="2600" dirty="0"/>
          </a:p>
        </p:txBody>
      </p:sp>
      <p:sp>
        <p:nvSpPr>
          <p:cNvPr id="16" name="Shape 14"/>
          <p:cNvSpPr/>
          <p:nvPr/>
        </p:nvSpPr>
        <p:spPr>
          <a:xfrm>
            <a:off x="9070848" y="3017520"/>
            <a:ext cx="2331720" cy="1371600"/>
          </a:xfrm>
          <a:prstGeom prst="roundRect">
            <a:avLst>
              <a:gd name="adj" fmla="val 8000"/>
            </a:avLst>
          </a:prstGeom>
          <a:solidFill>
            <a:srgbClr val="F0EBE1"/>
          </a:solidFill>
          <a:ln w="12700">
            <a:solidFill>
              <a:srgbClr val="0E7C86"/>
            </a:solidFill>
            <a:prstDash val="solid"/>
          </a:ln>
        </p:spPr>
      </p:sp>
      <p:sp>
        <p:nvSpPr>
          <p:cNvPr id="17" name="Text 15"/>
          <p:cNvSpPr/>
          <p:nvPr/>
        </p:nvSpPr>
        <p:spPr>
          <a:xfrm>
            <a:off x="9208008" y="3108960"/>
            <a:ext cx="2057400" cy="41148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4</a:t>
            </a:r>
            <a:endParaRPr lang="en-US" sz="1800" dirty="0"/>
          </a:p>
        </p:txBody>
      </p:sp>
      <p:sp>
        <p:nvSpPr>
          <p:cNvPr id="18" name="Text 16"/>
          <p:cNvSpPr/>
          <p:nvPr/>
        </p:nvSpPr>
        <p:spPr>
          <a:xfrm>
            <a:off x="9162288" y="3520440"/>
            <a:ext cx="2148840" cy="77724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Improvement</a:t>
            </a:r>
            <a:endParaRPr lang="en-US" sz="1450" dirty="0"/>
          </a:p>
          <a:p>
            <a:pPr algn="ctr" indent="0" marL="0">
              <a:buNone/>
            </a:pPr>
            <a:r>
              <a:rPr lang="en-US" sz="1450" b="1" dirty="0">
                <a:solidFill>
                  <a:srgbClr val="1A1A1A"/>
                </a:solidFill>
                <a:latin typeface="Segoe UI" pitchFamily="34" charset="0"/>
                <a:ea typeface="Segoe UI" pitchFamily="34" charset="-122"/>
                <a:cs typeface="Segoe UI" pitchFamily="34" charset="-120"/>
              </a:rPr>
              <a:t>rewarded</a:t>
            </a:r>
            <a:endParaRPr lang="en-US" sz="1450" dirty="0"/>
          </a:p>
        </p:txBody>
      </p:sp>
      <p:sp>
        <p:nvSpPr>
          <p:cNvPr id="19" name="Text 17"/>
          <p:cNvSpPr/>
          <p:nvPr/>
        </p:nvSpPr>
        <p:spPr>
          <a:xfrm>
            <a:off x="566928" y="4754880"/>
            <a:ext cx="10972800" cy="457200"/>
          </a:xfrm>
          <a:prstGeom prst="rect">
            <a:avLst/>
          </a:prstGeom>
          <a:noFill/>
          <a:ln/>
        </p:spPr>
        <p:txBody>
          <a:bodyPr wrap="square" rtlCol="0" anchor="ctr"/>
          <a:lstStyle/>
          <a:p>
            <a:pPr indent="0" marL="0">
              <a:buNone/>
            </a:pPr>
            <a:r>
              <a:rPr lang="en-US" sz="1600" i="1" dirty="0">
                <a:solidFill>
                  <a:srgbClr val="0A5159"/>
                </a:solidFill>
                <a:latin typeface="Segoe UI" pitchFamily="34" charset="0"/>
                <a:ea typeface="Segoe UI" pitchFamily="34" charset="-122"/>
                <a:cs typeface="Segoe UI" pitchFamily="34" charset="-120"/>
              </a:rPr>
              <a:t>↺  and the loop repeats — every session feeds the next.</a:t>
            </a:r>
            <a:endParaRPr lang="en-US" sz="1600" dirty="0"/>
          </a:p>
        </p:txBody>
      </p:sp>
      <p:sp>
        <p:nvSpPr>
          <p:cNvPr id="20" name="Text 1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1" name="Text 1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13</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DIFFERENTIATOR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Two memories, not one.</a:t>
            </a:r>
            <a:endParaRPr lang="en-US" sz="3300" dirty="0"/>
          </a:p>
        </p:txBody>
      </p:sp>
      <p:sp>
        <p:nvSpPr>
          <p:cNvPr id="4" name="Shape 2"/>
          <p:cNvSpPr/>
          <p:nvPr/>
        </p:nvSpPr>
        <p:spPr>
          <a:xfrm>
            <a:off x="566928" y="2103120"/>
            <a:ext cx="512064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331720"/>
            <a:ext cx="4572000" cy="457200"/>
          </a:xfrm>
          <a:prstGeom prst="rect">
            <a:avLst/>
          </a:prstGeom>
          <a:noFill/>
          <a:ln/>
        </p:spPr>
        <p:txBody>
          <a:bodyPr wrap="square" rtlCol="0" anchor="ctr"/>
          <a:lstStyle/>
          <a:p>
            <a:pPr indent="0" marL="0">
              <a:buNone/>
            </a:pPr>
            <a:r>
              <a:rPr lang="en-US" sz="2100" b="1" dirty="0">
                <a:solidFill>
                  <a:srgbClr val="0E7C86"/>
                </a:solidFill>
                <a:latin typeface="Segoe UI" pitchFamily="34" charset="0"/>
                <a:ea typeface="Segoe UI" pitchFamily="34" charset="-122"/>
                <a:cs typeface="Segoe UI" pitchFamily="34" charset="-120"/>
              </a:rPr>
              <a:t>Vector memory</a:t>
            </a:r>
            <a:endParaRPr lang="en-US" sz="2100" dirty="0"/>
          </a:p>
        </p:txBody>
      </p:sp>
      <p:sp>
        <p:nvSpPr>
          <p:cNvPr id="6" name="Text 4"/>
          <p:cNvSpPr/>
          <p:nvPr/>
        </p:nvSpPr>
        <p:spPr>
          <a:xfrm>
            <a:off x="932688" y="2880360"/>
            <a:ext cx="4572000" cy="914400"/>
          </a:xfrm>
          <a:prstGeom prst="rect">
            <a:avLst/>
          </a:prstGeom>
          <a:noFill/>
          <a:ln/>
        </p:spPr>
        <p:txBody>
          <a:bodyPr wrap="square" rtlCol="0" anchor="ctr"/>
          <a:lstStyle/>
          <a:p>
            <a:pPr indent="0" marL="0">
              <a:lnSpc>
                <a:spcPct val="115000"/>
              </a:lnSpc>
              <a:buNone/>
            </a:pPr>
            <a:r>
              <a:rPr lang="en-US" sz="1600" dirty="0">
                <a:solidFill>
                  <a:srgbClr val="3A3A3A"/>
                </a:solidFill>
                <a:latin typeface="Segoe UI" pitchFamily="34" charset="0"/>
                <a:ea typeface="Segoe UI" pitchFamily="34" charset="-122"/>
                <a:cs typeface="Segoe UI" pitchFamily="34" charset="-120"/>
              </a:rPr>
              <a:t>Finds semantically similar past moments — fuzzy recall.</a:t>
            </a:r>
            <a:endParaRPr lang="en-US" sz="1600" dirty="0"/>
          </a:p>
        </p:txBody>
      </p:sp>
      <p:sp>
        <p:nvSpPr>
          <p:cNvPr id="7" name="Shape 5"/>
          <p:cNvSpPr/>
          <p:nvPr/>
        </p:nvSpPr>
        <p:spPr>
          <a:xfrm>
            <a:off x="932688" y="4023360"/>
            <a:ext cx="4389120" cy="731520"/>
          </a:xfrm>
          <a:prstGeom prst="roundRect">
            <a:avLst>
              <a:gd name="adj" fmla="val 12500"/>
            </a:avLst>
          </a:prstGeom>
          <a:solidFill>
            <a:srgbClr val="F0EBE1"/>
          </a:solidFill>
          <a:ln/>
        </p:spPr>
      </p:sp>
      <p:sp>
        <p:nvSpPr>
          <p:cNvPr id="8" name="Text 6"/>
          <p:cNvSpPr/>
          <p:nvPr/>
        </p:nvSpPr>
        <p:spPr>
          <a:xfrm>
            <a:off x="932688" y="4023360"/>
            <a:ext cx="4389120" cy="731520"/>
          </a:xfrm>
          <a:prstGeom prst="rect">
            <a:avLst/>
          </a:prstGeom>
          <a:noFill/>
          <a:ln/>
        </p:spPr>
        <p:txBody>
          <a:bodyPr wrap="square" rtlCol="0" anchor="ctr"/>
          <a:lstStyle/>
          <a:p>
            <a:pPr algn="ctr" indent="0" marL="0">
              <a:buNone/>
            </a:pPr>
            <a:r>
              <a:rPr lang="en-US" sz="1600" b="1" i="1" dirty="0">
                <a:solidFill>
                  <a:srgbClr val="1A1A1A"/>
                </a:solidFill>
                <a:latin typeface="Segoe UI" pitchFamily="34" charset="0"/>
                <a:ea typeface="Segoe UI" pitchFamily="34" charset="-122"/>
                <a:cs typeface="Segoe UI" pitchFamily="34" charset="-120"/>
              </a:rPr>
              <a:t>“sounds related”</a:t>
            </a:r>
            <a:endParaRPr lang="en-US" sz="1600" dirty="0"/>
          </a:p>
        </p:txBody>
      </p:sp>
      <p:sp>
        <p:nvSpPr>
          <p:cNvPr id="9" name="Shape 7"/>
          <p:cNvSpPr/>
          <p:nvPr/>
        </p:nvSpPr>
        <p:spPr>
          <a:xfrm>
            <a:off x="6144768" y="2103120"/>
            <a:ext cx="512064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Text 8"/>
          <p:cNvSpPr/>
          <p:nvPr/>
        </p:nvSpPr>
        <p:spPr>
          <a:xfrm>
            <a:off x="6510528" y="2331720"/>
            <a:ext cx="4572000" cy="457200"/>
          </a:xfrm>
          <a:prstGeom prst="rect">
            <a:avLst/>
          </a:prstGeom>
          <a:noFill/>
          <a:ln/>
        </p:spPr>
        <p:txBody>
          <a:bodyPr wrap="square" rtlCol="0" anchor="ctr"/>
          <a:lstStyle/>
          <a:p>
            <a:pPr indent="0" marL="0">
              <a:buNone/>
            </a:pPr>
            <a:r>
              <a:rPr lang="en-US" sz="2100" b="1" dirty="0">
                <a:solidFill>
                  <a:srgbClr val="E08A2B"/>
                </a:solidFill>
                <a:latin typeface="Segoe UI" pitchFamily="34" charset="0"/>
                <a:ea typeface="Segoe UI" pitchFamily="34" charset="-122"/>
                <a:cs typeface="Segoe UI" pitchFamily="34" charset="-120"/>
              </a:rPr>
              <a:t>Knowledge graph</a:t>
            </a:r>
            <a:endParaRPr lang="en-US" sz="2100" dirty="0"/>
          </a:p>
        </p:txBody>
      </p:sp>
      <p:sp>
        <p:nvSpPr>
          <p:cNvPr id="11" name="Text 9"/>
          <p:cNvSpPr/>
          <p:nvPr/>
        </p:nvSpPr>
        <p:spPr>
          <a:xfrm>
            <a:off x="6510528" y="2880360"/>
            <a:ext cx="4572000" cy="914400"/>
          </a:xfrm>
          <a:prstGeom prst="rect">
            <a:avLst/>
          </a:prstGeom>
          <a:noFill/>
          <a:ln/>
        </p:spPr>
        <p:txBody>
          <a:bodyPr wrap="square" rtlCol="0" anchor="ctr"/>
          <a:lstStyle/>
          <a:p>
            <a:pPr indent="0" marL="0">
              <a:lnSpc>
                <a:spcPct val="115000"/>
              </a:lnSpc>
              <a:buNone/>
            </a:pPr>
            <a:r>
              <a:rPr lang="en-US" sz="1600" dirty="0">
                <a:solidFill>
                  <a:srgbClr val="3A3A3A"/>
                </a:solidFill>
                <a:latin typeface="Segoe UI" pitchFamily="34" charset="0"/>
                <a:ea typeface="Segoe UI" pitchFamily="34" charset="-122"/>
                <a:cs typeface="Segoe UI" pitchFamily="34" charset="-120"/>
              </a:rPr>
              <a:t>Stores factual relationships between people &amp; topics.</a:t>
            </a:r>
            <a:endParaRPr lang="en-US" sz="1600" dirty="0"/>
          </a:p>
        </p:txBody>
      </p:sp>
      <p:sp>
        <p:nvSpPr>
          <p:cNvPr id="12" name="Shape 10"/>
          <p:cNvSpPr/>
          <p:nvPr/>
        </p:nvSpPr>
        <p:spPr>
          <a:xfrm>
            <a:off x="6510528" y="4023360"/>
            <a:ext cx="4389120" cy="731520"/>
          </a:xfrm>
          <a:prstGeom prst="roundRect">
            <a:avLst>
              <a:gd name="adj" fmla="val 12500"/>
            </a:avLst>
          </a:prstGeom>
          <a:solidFill>
            <a:srgbClr val="F0EBE1"/>
          </a:solidFill>
          <a:ln/>
        </p:spPr>
      </p:sp>
      <p:sp>
        <p:nvSpPr>
          <p:cNvPr id="13" name="Text 11"/>
          <p:cNvSpPr/>
          <p:nvPr/>
        </p:nvSpPr>
        <p:spPr>
          <a:xfrm>
            <a:off x="6510528" y="4023360"/>
            <a:ext cx="4389120" cy="731520"/>
          </a:xfrm>
          <a:prstGeom prst="rect">
            <a:avLst/>
          </a:prstGeom>
          <a:noFill/>
          <a:ln/>
        </p:spPr>
        <p:txBody>
          <a:bodyPr wrap="square" rtlCol="0" anchor="ctr"/>
          <a:lstStyle/>
          <a:p>
            <a:pPr algn="ctr" indent="0" marL="0">
              <a:buNone/>
            </a:pPr>
            <a:r>
              <a:rPr lang="en-US" sz="1600" b="1" i="1" dirty="0">
                <a:solidFill>
                  <a:srgbClr val="1A1A1A"/>
                </a:solidFill>
                <a:latin typeface="Segoe UI" pitchFamily="34" charset="0"/>
                <a:ea typeface="Segoe UI" pitchFamily="34" charset="-122"/>
                <a:cs typeface="Segoe UI" pitchFamily="34" charset="-120"/>
              </a:rPr>
              <a:t>User → knows → Asma</a:t>
            </a:r>
            <a:endParaRPr lang="en-US" sz="1600" dirty="0"/>
          </a:p>
        </p:txBody>
      </p:sp>
      <p:sp>
        <p:nvSpPr>
          <p:cNvPr id="14" name="Text 12"/>
          <p:cNvSpPr/>
          <p:nvPr/>
        </p:nvSpPr>
        <p:spPr>
          <a:xfrm>
            <a:off x="566928" y="5440680"/>
            <a:ext cx="10424160" cy="365760"/>
          </a:xfrm>
          <a:prstGeom prst="rect">
            <a:avLst/>
          </a:prstGeom>
          <a:noFill/>
          <a:ln/>
        </p:spPr>
        <p:txBody>
          <a:bodyPr wrap="square" rtlCol="0" anchor="ctr"/>
          <a:lstStyle/>
          <a:p>
            <a:pPr algn="ctr" indent="0" marL="0">
              <a:buNone/>
            </a:pPr>
            <a:r>
              <a:rPr lang="en-US" sz="1400" i="1" dirty="0">
                <a:solidFill>
                  <a:srgbClr val="9A9285"/>
                </a:solidFill>
                <a:latin typeface="Segoe UI" pitchFamily="34" charset="0"/>
                <a:ea typeface="Segoe UI" pitchFamily="34" charset="-122"/>
                <a:cs typeface="Segoe UI" pitchFamily="34" charset="-120"/>
              </a:rPr>
              <a:t>Fused before every answer</a:t>
            </a:r>
            <a:endParaRPr lang="en-US" sz="1400" dirty="0"/>
          </a:p>
        </p:txBody>
      </p:sp>
      <p:sp>
        <p:nvSpPr>
          <p:cNvPr id="15" name="Text 1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6" name="Text 1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14</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GRAPHRAG, NOT PLAIN RAG</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Plain RAG sounds right. GraphRAG is right.</a:t>
            </a:r>
            <a:endParaRPr lang="en-US" sz="3300" dirty="0"/>
          </a:p>
        </p:txBody>
      </p:sp>
      <p:sp>
        <p:nvSpPr>
          <p:cNvPr id="4" name="Shape 2"/>
          <p:cNvSpPr/>
          <p:nvPr/>
        </p:nvSpPr>
        <p:spPr>
          <a:xfrm>
            <a:off x="566928" y="2148840"/>
            <a:ext cx="5120640" cy="2834640"/>
          </a:xfrm>
          <a:prstGeom prst="roundRect">
            <a:avLst>
              <a:gd name="adj" fmla="val 3871"/>
            </a:avLst>
          </a:prstGeom>
          <a:solidFill>
            <a:srgbClr val="F8ECE8"/>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377440"/>
            <a:ext cx="4572000" cy="457200"/>
          </a:xfrm>
          <a:prstGeom prst="rect">
            <a:avLst/>
          </a:prstGeom>
          <a:noFill/>
          <a:ln/>
        </p:spPr>
        <p:txBody>
          <a:bodyPr wrap="square" rtlCol="0" anchor="ctr"/>
          <a:lstStyle/>
          <a:p>
            <a:pPr indent="0" marL="0">
              <a:buNone/>
            </a:pPr>
            <a:r>
              <a:rPr lang="en-US" sz="2000" b="1" dirty="0">
                <a:solidFill>
                  <a:srgbClr val="C0492F"/>
                </a:solidFill>
                <a:latin typeface="Segoe UI" pitchFamily="34" charset="0"/>
                <a:ea typeface="Segoe UI" pitchFamily="34" charset="-122"/>
                <a:cs typeface="Segoe UI" pitchFamily="34" charset="-120"/>
              </a:rPr>
              <a:t>✕  Plain vector RAG</a:t>
            </a:r>
            <a:endParaRPr lang="en-US" sz="2000" dirty="0"/>
          </a:p>
        </p:txBody>
      </p:sp>
      <p:sp>
        <p:nvSpPr>
          <p:cNvPr id="6" name="Text 4"/>
          <p:cNvSpPr/>
          <p:nvPr/>
        </p:nvSpPr>
        <p:spPr>
          <a:xfrm>
            <a:off x="932688" y="297180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Retrieves text that reads similar — can confuse two similar events and invent facts.</a:t>
            </a:r>
            <a:endParaRPr lang="en-US" sz="1650" dirty="0"/>
          </a:p>
        </p:txBody>
      </p:sp>
      <p:sp>
        <p:nvSpPr>
          <p:cNvPr id="7" name="Shape 5"/>
          <p:cNvSpPr/>
          <p:nvPr/>
        </p:nvSpPr>
        <p:spPr>
          <a:xfrm>
            <a:off x="6144768" y="2148840"/>
            <a:ext cx="5120640" cy="2834640"/>
          </a:xfrm>
          <a:prstGeom prst="roundRect">
            <a:avLst>
              <a:gd name="adj" fmla="val 3871"/>
            </a:avLst>
          </a:prstGeom>
          <a:solidFill>
            <a:srgbClr val="E9F3EC"/>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6510528" y="2377440"/>
            <a:ext cx="4572000" cy="457200"/>
          </a:xfrm>
          <a:prstGeom prst="rect">
            <a:avLst/>
          </a:prstGeom>
          <a:noFill/>
          <a:ln/>
        </p:spPr>
        <p:txBody>
          <a:bodyPr wrap="square" rtlCol="0" anchor="ctr"/>
          <a:lstStyle/>
          <a:p>
            <a:pPr indent="0" marL="0">
              <a:buNone/>
            </a:pPr>
            <a:r>
              <a:rPr lang="en-US" sz="2000" b="1" dirty="0">
                <a:solidFill>
                  <a:srgbClr val="2F8F5B"/>
                </a:solidFill>
                <a:latin typeface="Segoe UI" pitchFamily="34" charset="0"/>
                <a:ea typeface="Segoe UI" pitchFamily="34" charset="-122"/>
                <a:cs typeface="Segoe UI" pitchFamily="34" charset="-120"/>
              </a:rPr>
              <a:t>✓  Graph-augmented RAG</a:t>
            </a:r>
            <a:endParaRPr lang="en-US" sz="2000" dirty="0"/>
          </a:p>
        </p:txBody>
      </p:sp>
      <p:sp>
        <p:nvSpPr>
          <p:cNvPr id="9" name="Text 7"/>
          <p:cNvSpPr/>
          <p:nvPr/>
        </p:nvSpPr>
        <p:spPr>
          <a:xfrm>
            <a:off x="6510528" y="297180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Looks up hard relationships first (ego-graph around your entities) — anchors the answer.</a:t>
            </a:r>
            <a:endParaRPr lang="en-US" sz="1650" dirty="0"/>
          </a:p>
        </p:txBody>
      </p:sp>
      <p:sp>
        <p:nvSpPr>
          <p:cNvPr id="10" name="Text 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1" name="Text 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15</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A DELIBERATE TRADE-OFF</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Thin client. Heavy brain.</a:t>
            </a:r>
            <a:endParaRPr lang="en-US" sz="3300" dirty="0"/>
          </a:p>
        </p:txBody>
      </p:sp>
      <p:sp>
        <p:nvSpPr>
          <p:cNvPr id="4" name="Shape 2"/>
          <p:cNvSpPr/>
          <p:nvPr/>
        </p:nvSpPr>
        <p:spPr>
          <a:xfrm>
            <a:off x="566928" y="2148840"/>
            <a:ext cx="3840480" cy="3200400"/>
          </a:xfrm>
          <a:prstGeom prst="roundRect">
            <a:avLst>
              <a:gd name="adj" fmla="val 3429"/>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423160"/>
            <a:ext cx="3200400" cy="457200"/>
          </a:xfrm>
          <a:prstGeom prst="rect">
            <a:avLst/>
          </a:prstGeom>
          <a:noFill/>
          <a:ln/>
        </p:spPr>
        <p:txBody>
          <a:bodyPr wrap="square" rtlCol="0" anchor="ctr"/>
          <a:lstStyle/>
          <a:p>
            <a:pPr indent="0" marL="0">
              <a:buNone/>
            </a:pPr>
            <a:r>
              <a:rPr lang="en-US" sz="1800" b="1" dirty="0">
                <a:solidFill>
                  <a:srgbClr val="1A1A1A"/>
                </a:solidFill>
                <a:latin typeface="Segoe UI" pitchFamily="34" charset="0"/>
                <a:ea typeface="Segoe UI" pitchFamily="34" charset="-122"/>
                <a:cs typeface="Segoe UI" pitchFamily="34" charset="-120"/>
              </a:rPr>
              <a:t>📱  The phone</a:t>
            </a:r>
            <a:endParaRPr lang="en-US" sz="1800" dirty="0"/>
          </a:p>
        </p:txBody>
      </p:sp>
      <p:sp>
        <p:nvSpPr>
          <p:cNvPr id="6" name="Text 4"/>
          <p:cNvSpPr/>
          <p:nvPr/>
        </p:nvSpPr>
        <p:spPr>
          <a:xfrm>
            <a:off x="932688" y="3063240"/>
            <a:ext cx="3108960" cy="2103120"/>
          </a:xfrm>
          <a:prstGeom prst="rect">
            <a:avLst/>
          </a:prstGeom>
          <a:noFill/>
          <a:ln/>
        </p:spPr>
        <p:txBody>
          <a:bodyPr wrap="square" rtlCol="0" anchor="ctr"/>
          <a:lstStyle/>
          <a:p>
            <a:pPr marL="342900" indent="-342900">
              <a:lnSpc>
                <a:spcPct val="135000"/>
              </a:lnSpc>
              <a:spcAft>
                <a:spcPts val="600"/>
              </a:spcAft>
              <a:buSzPct val="100000"/>
              <a:buChar char="•"/>
            </a:pPr>
            <a:r>
              <a:rPr lang="en-US" sz="1600" dirty="0">
                <a:solidFill>
                  <a:srgbClr val="3A3A3A"/>
                </a:solidFill>
                <a:latin typeface="Segoe UI" pitchFamily="34" charset="0"/>
                <a:ea typeface="Segoe UI" pitchFamily="34" charset="-122"/>
                <a:cs typeface="Segoe UI" pitchFamily="34" charset="-120"/>
              </a:rPr>
              <a:t>Microphone</a:t>
            </a:r>
            <a:endParaRPr lang="en-US" sz="1600" dirty="0"/>
          </a:p>
          <a:p>
            <a:pPr marL="342900" indent="-342900">
              <a:lnSpc>
                <a:spcPct val="135000"/>
              </a:lnSpc>
              <a:spcAft>
                <a:spcPts val="600"/>
              </a:spcAft>
              <a:buSzPct val="100000"/>
              <a:buChar char="•"/>
            </a:pPr>
            <a:r>
              <a:rPr lang="en-US" sz="1600" dirty="0">
                <a:solidFill>
                  <a:srgbClr val="3A3A3A"/>
                </a:solidFill>
                <a:latin typeface="Segoe UI" pitchFamily="34" charset="0"/>
                <a:ea typeface="Segoe UI" pitchFamily="34" charset="-122"/>
                <a:cs typeface="Segoe UI" pitchFamily="34" charset="-120"/>
              </a:rPr>
              <a:t>Screen</a:t>
            </a:r>
            <a:endParaRPr lang="en-US" sz="1600" dirty="0"/>
          </a:p>
          <a:p>
            <a:pPr marL="342900" indent="-342900">
              <a:lnSpc>
                <a:spcPct val="135000"/>
              </a:lnSpc>
              <a:spcAft>
                <a:spcPts val="600"/>
              </a:spcAft>
              <a:buSzPct val="100000"/>
              <a:buChar char="•"/>
            </a:pPr>
            <a:r>
              <a:rPr lang="en-US" sz="1600" dirty="0">
                <a:solidFill>
                  <a:srgbClr val="3A3A3A"/>
                </a:solidFill>
                <a:latin typeface="Segoe UI" pitchFamily="34" charset="0"/>
                <a:ea typeface="Segoe UI" pitchFamily="34" charset="-122"/>
                <a:cs typeface="Segoe UI" pitchFamily="34" charset="-120"/>
              </a:rPr>
              <a:t>Battery-light</a:t>
            </a:r>
            <a:endParaRPr lang="en-US" sz="1600" dirty="0"/>
          </a:p>
        </p:txBody>
      </p:sp>
      <p:sp>
        <p:nvSpPr>
          <p:cNvPr id="7" name="Text 5"/>
          <p:cNvSpPr/>
          <p:nvPr/>
        </p:nvSpPr>
        <p:spPr>
          <a:xfrm>
            <a:off x="4572000" y="3383280"/>
            <a:ext cx="914400" cy="731520"/>
          </a:xfrm>
          <a:prstGeom prst="rect">
            <a:avLst/>
          </a:prstGeom>
          <a:noFill/>
          <a:ln/>
        </p:spPr>
        <p:txBody>
          <a:bodyPr wrap="square" rtlCol="0" anchor="ctr"/>
          <a:lstStyle/>
          <a:p>
            <a:pPr algn="ctr" indent="0" marL="0">
              <a:buNone/>
            </a:pPr>
            <a:r>
              <a:rPr lang="en-US" sz="3600" b="1" dirty="0">
                <a:solidFill>
                  <a:srgbClr val="0E7C86"/>
                </a:solidFill>
                <a:latin typeface="Segoe UI" pitchFamily="34" charset="0"/>
                <a:ea typeface="Segoe UI" pitchFamily="34" charset="-122"/>
                <a:cs typeface="Segoe UI" pitchFamily="34" charset="-120"/>
              </a:rPr>
              <a:t>→</a:t>
            </a:r>
            <a:endParaRPr lang="en-US" sz="3600" dirty="0"/>
          </a:p>
        </p:txBody>
      </p:sp>
      <p:sp>
        <p:nvSpPr>
          <p:cNvPr id="8" name="Shape 6"/>
          <p:cNvSpPr/>
          <p:nvPr/>
        </p:nvSpPr>
        <p:spPr>
          <a:xfrm>
            <a:off x="5577840" y="2148840"/>
            <a:ext cx="5943600" cy="3200400"/>
          </a:xfrm>
          <a:prstGeom prst="roundRect">
            <a:avLst>
              <a:gd name="adj" fmla="val 3429"/>
            </a:avLst>
          </a:prstGeom>
          <a:solidFill>
            <a:srgbClr val="E4EFEF"/>
          </a:solidFill>
          <a:ln w="12700">
            <a:solidFill>
              <a:srgbClr val="0E7C86"/>
            </a:solidFill>
            <a:prstDash val="solid"/>
          </a:ln>
          <a:effectLst>
            <a:outerShdw sx="100000" sy="100000" kx="0" ky="0" algn="bl" rotWithShape="0" blurRad="88900" dist="25400" dir="5400000">
              <a:srgbClr val="BBB2A2">
                <a:alpha val="22000"/>
              </a:srgbClr>
            </a:outerShdw>
          </a:effectLst>
        </p:spPr>
      </p:sp>
      <p:sp>
        <p:nvSpPr>
          <p:cNvPr id="9" name="Text 7"/>
          <p:cNvSpPr/>
          <p:nvPr/>
        </p:nvSpPr>
        <p:spPr>
          <a:xfrm>
            <a:off x="5943600" y="2423160"/>
            <a:ext cx="5029200" cy="45720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  The cloud brain</a:t>
            </a:r>
            <a:endParaRPr lang="en-US" sz="1800" dirty="0"/>
          </a:p>
        </p:txBody>
      </p:sp>
      <p:sp>
        <p:nvSpPr>
          <p:cNvPr id="10" name="Text 8"/>
          <p:cNvSpPr/>
          <p:nvPr/>
        </p:nvSpPr>
        <p:spPr>
          <a:xfrm>
            <a:off x="5943600" y="3063240"/>
            <a:ext cx="5303520" cy="2103120"/>
          </a:xfrm>
          <a:prstGeom prst="rect">
            <a:avLst/>
          </a:prstGeom>
          <a:noFill/>
          <a:ln/>
        </p:spPr>
        <p:txBody>
          <a:bodyPr wrap="square" rtlCol="0" anchor="ctr"/>
          <a:lstStyle/>
          <a:p>
            <a:pPr marL="342900" indent="-342900">
              <a:lnSpc>
                <a:spcPct val="135000"/>
              </a:lnSpc>
              <a:spcAft>
                <a:spcPts val="600"/>
              </a:spcAft>
              <a:buSzPct val="100000"/>
              <a:buChar char="•"/>
            </a:pPr>
            <a:r>
              <a:rPr lang="en-US" sz="1650" dirty="0">
                <a:solidFill>
                  <a:srgbClr val="3A3A3A"/>
                </a:solidFill>
                <a:latin typeface="Segoe UI" pitchFamily="34" charset="0"/>
                <a:ea typeface="Segoe UI" pitchFamily="34" charset="-122"/>
                <a:cs typeface="Segoe UI" pitchFamily="34" charset="-120"/>
              </a:rPr>
              <a:t>All AI: STT, LLM router, memory, graph</a:t>
            </a:r>
            <a:endParaRPr lang="en-US" sz="1650" dirty="0"/>
          </a:p>
          <a:p>
            <a:pPr marL="342900" indent="-342900">
              <a:lnSpc>
                <a:spcPct val="135000"/>
              </a:lnSpc>
              <a:spcAft>
                <a:spcPts val="600"/>
              </a:spcAft>
              <a:buSzPct val="100000"/>
              <a:buChar char="•"/>
            </a:pPr>
            <a:r>
              <a:rPr lang="en-US" sz="1650" dirty="0">
                <a:solidFill>
                  <a:srgbClr val="3A3A3A"/>
                </a:solidFill>
                <a:latin typeface="Segoe UI" pitchFamily="34" charset="0"/>
                <a:ea typeface="Segoe UI" pitchFamily="34" charset="-122"/>
                <a:cs typeface="Segoe UI" pitchFamily="34" charset="-120"/>
              </a:rPr>
              <a:t>Models stay swappable, not baked into the app</a:t>
            </a:r>
            <a:endParaRPr lang="en-US" sz="1650" dirty="0"/>
          </a:p>
          <a:p>
            <a:pPr marL="342900" indent="-342900">
              <a:lnSpc>
                <a:spcPct val="135000"/>
              </a:lnSpc>
              <a:spcAft>
                <a:spcPts val="600"/>
              </a:spcAft>
              <a:buSzPct val="100000"/>
              <a:buChar char="•"/>
            </a:pPr>
            <a:r>
              <a:rPr lang="en-US" sz="1650" dirty="0">
                <a:solidFill>
                  <a:srgbClr val="3A3A3A"/>
                </a:solidFill>
                <a:latin typeface="Segoe UI" pitchFamily="34" charset="0"/>
                <a:ea typeface="Segoe UI" pitchFamily="34" charset="-122"/>
                <a:cs typeface="Segoe UI" pitchFamily="34" charset="-120"/>
              </a:rPr>
              <a:t>Same experience on a cheap phone</a:t>
            </a:r>
            <a:endParaRPr lang="en-US" sz="1650" dirty="0"/>
          </a:p>
        </p:txBody>
      </p:sp>
      <p:sp>
        <p:nvSpPr>
          <p:cNvPr id="11" name="Text 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2" name="Text 1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16</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5159"/>
        </a:solidFill>
      </p:bgPr>
    </p:bg>
    <p:spTree>
      <p:nvGrpSpPr>
        <p:cNvPr id="1" name=""/>
        <p:cNvGrpSpPr/>
        <p:nvPr/>
      </p:nvGrpSpPr>
      <p:grpSpPr>
        <a:xfrm>
          <a:off x="0" y="0"/>
          <a:ext cx="0" cy="0"/>
          <a:chOff x="0" y="0"/>
          <a:chExt cx="0" cy="0"/>
        </a:xfrm>
      </p:grpSpPr>
      <p:sp>
        <p:nvSpPr>
          <p:cNvPr id="2" name="Shape 0"/>
          <p:cNvSpPr/>
          <p:nvPr/>
        </p:nvSpPr>
        <p:spPr>
          <a:xfrm>
            <a:off x="9509760" y="-1280160"/>
            <a:ext cx="4206240" cy="4206240"/>
          </a:xfrm>
          <a:prstGeom prst="ellipse">
            <a:avLst/>
          </a:prstGeom>
          <a:solidFill>
            <a:srgbClr val="FFFFFF">
              <a:alpha val="8000"/>
            </a:srgbClr>
          </a:solidFill>
          <a:ln/>
        </p:spPr>
      </p:sp>
      <p:sp>
        <p:nvSpPr>
          <p:cNvPr id="3" name="Shape 1"/>
          <p:cNvSpPr/>
          <p:nvPr/>
        </p:nvSpPr>
        <p:spPr>
          <a:xfrm>
            <a:off x="-914400" y="4572000"/>
            <a:ext cx="3108960" cy="3108960"/>
          </a:xfrm>
          <a:prstGeom prst="ellipse">
            <a:avLst/>
          </a:prstGeom>
          <a:solidFill>
            <a:srgbClr val="E08A2B">
              <a:alpha val="20000"/>
            </a:srgbClr>
          </a:solidFill>
          <a:ln/>
        </p:spPr>
      </p:sp>
      <p:sp>
        <p:nvSpPr>
          <p:cNvPr id="4" name="Text 2"/>
          <p:cNvSpPr/>
          <p:nvPr/>
        </p:nvSpPr>
        <p:spPr>
          <a:xfrm>
            <a:off x="566928" y="2468880"/>
            <a:ext cx="5486400" cy="457200"/>
          </a:xfrm>
          <a:prstGeom prst="rect">
            <a:avLst/>
          </a:prstGeom>
          <a:noFill/>
          <a:ln/>
        </p:spPr>
        <p:txBody>
          <a:bodyPr wrap="square" rtlCol="0" anchor="ctr"/>
          <a:lstStyle/>
          <a:p>
            <a:pPr indent="0" marL="0">
              <a:buNone/>
            </a:pPr>
            <a:r>
              <a:rPr lang="en-US" sz="1600" b="1" spc="300" kern="0" dirty="0">
                <a:solidFill>
                  <a:srgbClr val="9FD0D4"/>
                </a:solidFill>
                <a:latin typeface="Segoe UI" pitchFamily="34" charset="0"/>
                <a:ea typeface="Segoe UI" pitchFamily="34" charset="-122"/>
                <a:cs typeface="Segoe UI" pitchFamily="34" charset="-120"/>
              </a:rPr>
              <a:t>PART 04</a:t>
            </a:r>
            <a:endParaRPr lang="en-US" sz="1600" dirty="0"/>
          </a:p>
        </p:txBody>
      </p:sp>
      <p:sp>
        <p:nvSpPr>
          <p:cNvPr id="5" name="Text 3"/>
          <p:cNvSpPr/>
          <p:nvPr/>
        </p:nvSpPr>
        <p:spPr>
          <a:xfrm>
            <a:off x="566928" y="2926080"/>
            <a:ext cx="10515600" cy="1463040"/>
          </a:xfrm>
          <a:prstGeom prst="rect">
            <a:avLst/>
          </a:prstGeom>
          <a:noFill/>
          <a:ln/>
        </p:spPr>
        <p:txBody>
          <a:bodyPr wrap="square" rtlCol="0" anchor="ctr"/>
          <a:lstStyle/>
          <a:p>
            <a:pPr indent="0" marL="0">
              <a:lnSpc>
                <a:spcPct val="100000"/>
              </a:lnSpc>
              <a:buNone/>
            </a:pPr>
            <a:r>
              <a:rPr lang="en-US" sz="4600" b="1" dirty="0">
                <a:solidFill>
                  <a:srgbClr val="FFFFFF"/>
                </a:solidFill>
                <a:latin typeface="Segoe UI" pitchFamily="34" charset="0"/>
                <a:ea typeface="Segoe UI" pitchFamily="34" charset="-122"/>
                <a:cs typeface="Segoe UI" pitchFamily="34" charset="-120"/>
              </a:rPr>
              <a:t>How it actually works.</a:t>
            </a:r>
            <a:endParaRPr lang="en-US" sz="4600" dirty="0"/>
          </a:p>
        </p:txBody>
      </p:sp>
      <p:sp>
        <p:nvSpPr>
          <p:cNvPr id="6" name="Text 4"/>
          <p:cNvSpPr/>
          <p:nvPr/>
        </p:nvSpPr>
        <p:spPr>
          <a:xfrm>
            <a:off x="566928" y="4389120"/>
            <a:ext cx="9601200" cy="548640"/>
          </a:xfrm>
          <a:prstGeom prst="rect">
            <a:avLst/>
          </a:prstGeom>
          <a:noFill/>
          <a:ln/>
        </p:spPr>
        <p:txBody>
          <a:bodyPr wrap="square" rtlCol="0" anchor="ctr"/>
          <a:lstStyle/>
          <a:p>
            <a:pPr indent="0" marL="0">
              <a:buNone/>
            </a:pPr>
            <a:r>
              <a:rPr lang="en-US" sz="1800" b="1" dirty="0">
                <a:solidFill>
                  <a:srgbClr val="EAF6F7"/>
                </a:solidFill>
                <a:latin typeface="Segoe UI" pitchFamily="34" charset="0"/>
                <a:ea typeface="Segoe UI" pitchFamily="34" charset="-122"/>
                <a:cs typeface="Segoe UI" pitchFamily="34" charset="-120"/>
              </a:rPr>
              <a:t>Three tiers, one clean data path.</a:t>
            </a:r>
            <a:endParaRPr lang="en-US" sz="1800" dirty="0"/>
          </a:p>
        </p:txBody>
      </p:sp>
      <p:sp>
        <p:nvSpPr>
          <p:cNvPr id="7" name="Text 5"/>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BFD8DB"/>
                </a:solidFill>
                <a:latin typeface="Segoe UI" pitchFamily="34" charset="0"/>
                <a:ea typeface="Segoe UI" pitchFamily="34" charset="-122"/>
                <a:cs typeface="Segoe UI" pitchFamily="34" charset="-120"/>
              </a:rPr>
              <a:t>Bubbles  ·  FYP 2022–2026  ·  COMSATS Lahore</a:t>
            </a:r>
            <a:endParaRPr lang="en-US" sz="900" dirty="0"/>
          </a:p>
        </p:txBody>
      </p:sp>
      <p:sp>
        <p:nvSpPr>
          <p:cNvPr id="8" name="Text 6"/>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BFD8DB"/>
                </a:solidFill>
                <a:latin typeface="Segoe UI" pitchFamily="34" charset="0"/>
                <a:ea typeface="Segoe UI" pitchFamily="34" charset="-122"/>
                <a:cs typeface="Segoe UI" pitchFamily="34" charset="-120"/>
              </a:rPr>
              <a:t>17</a:t>
            </a:r>
            <a:endParaRPr lang="en-US" sz="9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ARCHITECTURE AT A GLANCE</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Three tiers, top to bottom.</a:t>
            </a:r>
            <a:endParaRPr lang="en-US" sz="3300" dirty="0"/>
          </a:p>
        </p:txBody>
      </p:sp>
      <p:sp>
        <p:nvSpPr>
          <p:cNvPr id="4" name="Shape 2"/>
          <p:cNvSpPr/>
          <p:nvPr/>
        </p:nvSpPr>
        <p:spPr>
          <a:xfrm>
            <a:off x="566928" y="2148840"/>
            <a:ext cx="10424160" cy="1097280"/>
          </a:xfrm>
          <a:prstGeom prst="roundRect">
            <a:avLst>
              <a:gd name="adj" fmla="val 10000"/>
            </a:avLst>
          </a:prstGeom>
          <a:solidFill>
            <a:srgbClr val="E4EFEF"/>
          </a:solidFill>
          <a:ln w="17780">
            <a:solidFill>
              <a:srgbClr val="0E7C86"/>
            </a:solidFill>
            <a:prstDash val="solid"/>
          </a:ln>
        </p:spPr>
      </p:sp>
      <p:sp>
        <p:nvSpPr>
          <p:cNvPr id="5" name="Shape 3"/>
          <p:cNvSpPr/>
          <p:nvPr/>
        </p:nvSpPr>
        <p:spPr>
          <a:xfrm>
            <a:off x="566928" y="2148840"/>
            <a:ext cx="146304" cy="1097280"/>
          </a:xfrm>
          <a:prstGeom prst="rect">
            <a:avLst/>
          </a:prstGeom>
          <a:solidFill>
            <a:srgbClr val="0E7C86"/>
          </a:solidFill>
          <a:ln/>
        </p:spPr>
      </p:sp>
      <p:sp>
        <p:nvSpPr>
          <p:cNvPr id="6" name="Text 4"/>
          <p:cNvSpPr/>
          <p:nvPr/>
        </p:nvSpPr>
        <p:spPr>
          <a:xfrm>
            <a:off x="978408" y="2313432"/>
            <a:ext cx="10058400" cy="45720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Client — Flutter</a:t>
            </a:r>
            <a:endParaRPr lang="en-US" sz="1900" dirty="0"/>
          </a:p>
        </p:txBody>
      </p:sp>
      <p:sp>
        <p:nvSpPr>
          <p:cNvPr id="7" name="Text 5"/>
          <p:cNvSpPr/>
          <p:nvPr/>
        </p:nvSpPr>
        <p:spPr>
          <a:xfrm>
            <a:off x="978408" y="2752344"/>
            <a:ext cx="10058400" cy="365760"/>
          </a:xfrm>
          <a:prstGeom prst="rect">
            <a:avLst/>
          </a:prstGeom>
          <a:noFill/>
          <a:ln/>
        </p:spPr>
        <p:txBody>
          <a:bodyPr wrap="square" rtlCol="0" anchor="ctr"/>
          <a:lstStyle/>
          <a:p>
            <a:pPr indent="0" marL="0">
              <a:buNone/>
            </a:pPr>
            <a:r>
              <a:rPr lang="en-US" sz="1500" dirty="0">
                <a:solidFill>
                  <a:srgbClr val="3A3A3A"/>
                </a:solidFill>
                <a:latin typeface="Segoe UI" pitchFamily="34" charset="0"/>
                <a:ea typeface="Segoe UI" pitchFamily="34" charset="-122"/>
                <a:cs typeface="Segoe UI" pitchFamily="34" charset="-120"/>
              </a:rPr>
              <a:t>Screens · State · Repositories · Cache · Services</a:t>
            </a:r>
            <a:endParaRPr lang="en-US" sz="1500" dirty="0"/>
          </a:p>
        </p:txBody>
      </p:sp>
      <p:sp>
        <p:nvSpPr>
          <p:cNvPr id="8" name="Text 6"/>
          <p:cNvSpPr/>
          <p:nvPr/>
        </p:nvSpPr>
        <p:spPr>
          <a:xfrm>
            <a:off x="5943600" y="3227832"/>
            <a:ext cx="457200" cy="274320"/>
          </a:xfrm>
          <a:prstGeom prst="rect">
            <a:avLst/>
          </a:prstGeom>
          <a:noFill/>
          <a:ln/>
        </p:spPr>
        <p:txBody>
          <a:bodyPr wrap="square" rtlCol="0" anchor="ctr"/>
          <a:lstStyle/>
          <a:p>
            <a:pPr algn="ctr" indent="0" marL="0">
              <a:buNone/>
            </a:pPr>
            <a:r>
              <a:rPr lang="en-US" sz="1300" dirty="0">
                <a:solidFill>
                  <a:srgbClr val="9A9285"/>
                </a:solidFill>
                <a:latin typeface="Segoe UI" pitchFamily="34" charset="0"/>
                <a:ea typeface="Segoe UI" pitchFamily="34" charset="-122"/>
                <a:cs typeface="Segoe UI" pitchFamily="34" charset="-120"/>
              </a:rPr>
              <a:t>▼</a:t>
            </a:r>
            <a:endParaRPr lang="en-US" sz="1300" dirty="0"/>
          </a:p>
        </p:txBody>
      </p:sp>
      <p:sp>
        <p:nvSpPr>
          <p:cNvPr id="9" name="Shape 7"/>
          <p:cNvSpPr/>
          <p:nvPr/>
        </p:nvSpPr>
        <p:spPr>
          <a:xfrm>
            <a:off x="566928" y="3474720"/>
            <a:ext cx="10424160" cy="1097280"/>
          </a:xfrm>
          <a:prstGeom prst="roundRect">
            <a:avLst>
              <a:gd name="adj" fmla="val 10000"/>
            </a:avLst>
          </a:prstGeom>
          <a:solidFill>
            <a:srgbClr val="F0EBE1"/>
          </a:solidFill>
          <a:ln w="17780">
            <a:solidFill>
              <a:srgbClr val="E08A2B"/>
            </a:solidFill>
            <a:prstDash val="solid"/>
          </a:ln>
        </p:spPr>
      </p:sp>
      <p:sp>
        <p:nvSpPr>
          <p:cNvPr id="10" name="Shape 8"/>
          <p:cNvSpPr/>
          <p:nvPr/>
        </p:nvSpPr>
        <p:spPr>
          <a:xfrm>
            <a:off x="566928" y="3474720"/>
            <a:ext cx="146304" cy="1097280"/>
          </a:xfrm>
          <a:prstGeom prst="rect">
            <a:avLst/>
          </a:prstGeom>
          <a:solidFill>
            <a:srgbClr val="E08A2B"/>
          </a:solidFill>
          <a:ln/>
        </p:spPr>
      </p:sp>
      <p:sp>
        <p:nvSpPr>
          <p:cNvPr id="11" name="Text 9"/>
          <p:cNvSpPr/>
          <p:nvPr/>
        </p:nvSpPr>
        <p:spPr>
          <a:xfrm>
            <a:off x="978408" y="3639312"/>
            <a:ext cx="10058400" cy="45720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Backend — Brain API (FastAPI)</a:t>
            </a:r>
            <a:endParaRPr lang="en-US" sz="1900" dirty="0"/>
          </a:p>
        </p:txBody>
      </p:sp>
      <p:sp>
        <p:nvSpPr>
          <p:cNvPr id="12" name="Text 10"/>
          <p:cNvSpPr/>
          <p:nvPr/>
        </p:nvSpPr>
        <p:spPr>
          <a:xfrm>
            <a:off x="978408" y="4078224"/>
            <a:ext cx="10058400" cy="365760"/>
          </a:xfrm>
          <a:prstGeom prst="rect">
            <a:avLst/>
          </a:prstGeom>
          <a:noFill/>
          <a:ln/>
        </p:spPr>
        <p:txBody>
          <a:bodyPr wrap="square" rtlCol="0" anchor="ctr"/>
          <a:lstStyle/>
          <a:p>
            <a:pPr indent="0" marL="0">
              <a:buNone/>
            </a:pPr>
            <a:r>
              <a:rPr lang="en-US" sz="1500" dirty="0">
                <a:solidFill>
                  <a:srgbClr val="3A3A3A"/>
                </a:solidFill>
                <a:latin typeface="Segoe UI" pitchFamily="34" charset="0"/>
                <a:ea typeface="Segoe UI" pitchFamily="34" charset="-122"/>
                <a:cs typeface="Segoe UI" pitchFamily="34" charset="-120"/>
              </a:rPr>
              <a:t>Auth · LLM Router · Endpoints · ARQ Workers</a:t>
            </a:r>
            <a:endParaRPr lang="en-US" sz="1500" dirty="0"/>
          </a:p>
        </p:txBody>
      </p:sp>
      <p:sp>
        <p:nvSpPr>
          <p:cNvPr id="13" name="Text 11"/>
          <p:cNvSpPr/>
          <p:nvPr/>
        </p:nvSpPr>
        <p:spPr>
          <a:xfrm>
            <a:off x="5943600" y="4553712"/>
            <a:ext cx="457200" cy="274320"/>
          </a:xfrm>
          <a:prstGeom prst="rect">
            <a:avLst/>
          </a:prstGeom>
          <a:noFill/>
          <a:ln/>
        </p:spPr>
        <p:txBody>
          <a:bodyPr wrap="square" rtlCol="0" anchor="ctr"/>
          <a:lstStyle/>
          <a:p>
            <a:pPr algn="ctr" indent="0" marL="0">
              <a:buNone/>
            </a:pPr>
            <a:r>
              <a:rPr lang="en-US" sz="1300" dirty="0">
                <a:solidFill>
                  <a:srgbClr val="9A9285"/>
                </a:solidFill>
                <a:latin typeface="Segoe UI" pitchFamily="34" charset="0"/>
                <a:ea typeface="Segoe UI" pitchFamily="34" charset="-122"/>
                <a:cs typeface="Segoe UI" pitchFamily="34" charset="-120"/>
              </a:rPr>
              <a:t>▼</a:t>
            </a:r>
            <a:endParaRPr lang="en-US" sz="1300" dirty="0"/>
          </a:p>
        </p:txBody>
      </p:sp>
      <p:sp>
        <p:nvSpPr>
          <p:cNvPr id="14" name="Shape 12"/>
          <p:cNvSpPr/>
          <p:nvPr/>
        </p:nvSpPr>
        <p:spPr>
          <a:xfrm>
            <a:off x="566928" y="4800600"/>
            <a:ext cx="10424160" cy="1097280"/>
          </a:xfrm>
          <a:prstGeom prst="roundRect">
            <a:avLst>
              <a:gd name="adj" fmla="val 10000"/>
            </a:avLst>
          </a:prstGeom>
          <a:solidFill>
            <a:srgbClr val="E9EEEC"/>
          </a:solidFill>
          <a:ln w="17780">
            <a:solidFill>
              <a:srgbClr val="0A5159"/>
            </a:solidFill>
            <a:prstDash val="solid"/>
          </a:ln>
        </p:spPr>
      </p:sp>
      <p:sp>
        <p:nvSpPr>
          <p:cNvPr id="15" name="Shape 13"/>
          <p:cNvSpPr/>
          <p:nvPr/>
        </p:nvSpPr>
        <p:spPr>
          <a:xfrm>
            <a:off x="566928" y="4800600"/>
            <a:ext cx="146304" cy="1097280"/>
          </a:xfrm>
          <a:prstGeom prst="rect">
            <a:avLst/>
          </a:prstGeom>
          <a:solidFill>
            <a:srgbClr val="0A5159"/>
          </a:solidFill>
          <a:ln/>
        </p:spPr>
      </p:sp>
      <p:sp>
        <p:nvSpPr>
          <p:cNvPr id="16" name="Text 14"/>
          <p:cNvSpPr/>
          <p:nvPr/>
        </p:nvSpPr>
        <p:spPr>
          <a:xfrm>
            <a:off x="978408" y="4965192"/>
            <a:ext cx="10058400" cy="45720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Data &amp; AI</a:t>
            </a:r>
            <a:endParaRPr lang="en-US" sz="1900" dirty="0"/>
          </a:p>
        </p:txBody>
      </p:sp>
      <p:sp>
        <p:nvSpPr>
          <p:cNvPr id="17" name="Text 15"/>
          <p:cNvSpPr/>
          <p:nvPr/>
        </p:nvSpPr>
        <p:spPr>
          <a:xfrm>
            <a:off x="978408" y="5404104"/>
            <a:ext cx="10058400" cy="365760"/>
          </a:xfrm>
          <a:prstGeom prst="rect">
            <a:avLst/>
          </a:prstGeom>
          <a:noFill/>
          <a:ln/>
        </p:spPr>
        <p:txBody>
          <a:bodyPr wrap="square" rtlCol="0" anchor="ctr"/>
          <a:lstStyle/>
          <a:p>
            <a:pPr indent="0" marL="0">
              <a:buNone/>
            </a:pPr>
            <a:r>
              <a:rPr lang="en-US" sz="1500" dirty="0">
                <a:solidFill>
                  <a:srgbClr val="3A3A3A"/>
                </a:solidFill>
                <a:latin typeface="Segoe UI" pitchFamily="34" charset="0"/>
                <a:ea typeface="Segoe UI" pitchFamily="34" charset="-122"/>
                <a:cs typeface="Segoe UI" pitchFamily="34" charset="-120"/>
              </a:rPr>
              <a:t>Postgres + pgvector · Redis · Gemini/Cerebras/Groq · LiveKit</a:t>
            </a:r>
            <a:endParaRPr lang="en-US" sz="1500" dirty="0"/>
          </a:p>
        </p:txBody>
      </p:sp>
      <p:sp>
        <p:nvSpPr>
          <p:cNvPr id="18" name="Text 1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9" name="Text 1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18</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CLIENT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One codebase → six platforms.</a:t>
            </a:r>
            <a:endParaRPr lang="en-US" sz="3300" dirty="0"/>
          </a:p>
        </p:txBody>
      </p:sp>
      <p:sp>
        <p:nvSpPr>
          <p:cNvPr id="4" name="Shape 2"/>
          <p:cNvSpPr/>
          <p:nvPr/>
        </p:nvSpPr>
        <p:spPr>
          <a:xfrm>
            <a:off x="566928" y="2468880"/>
            <a:ext cx="2377440" cy="1280160"/>
          </a:xfrm>
          <a:prstGeom prst="roundRect">
            <a:avLst>
              <a:gd name="adj" fmla="val 8571"/>
            </a:avLst>
          </a:prstGeom>
          <a:solidFill>
            <a:srgbClr val="0E7C86"/>
          </a:solidFill>
          <a:ln/>
        </p:spPr>
      </p:sp>
      <p:sp>
        <p:nvSpPr>
          <p:cNvPr id="5" name="Text 3"/>
          <p:cNvSpPr/>
          <p:nvPr/>
        </p:nvSpPr>
        <p:spPr>
          <a:xfrm>
            <a:off x="566928" y="2468880"/>
            <a:ext cx="2377440" cy="128016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Flutter</a:t>
            </a:r>
            <a:endParaRPr lang="en-US" sz="2000" dirty="0"/>
          </a:p>
          <a:p>
            <a:pPr algn="ctr" indent="0" marL="0">
              <a:buNone/>
            </a:pPr>
            <a:r>
              <a:rPr lang="en-US" sz="2000" b="1" dirty="0">
                <a:solidFill>
                  <a:srgbClr val="FFFFFF"/>
                </a:solidFill>
                <a:latin typeface="Segoe UI" pitchFamily="34" charset="0"/>
                <a:ea typeface="Segoe UI" pitchFamily="34" charset="-122"/>
                <a:cs typeface="Segoe UI" pitchFamily="34" charset="-120"/>
              </a:rPr>
              <a:t>· Dart ·</a:t>
            </a:r>
            <a:endParaRPr lang="en-US" sz="2000" dirty="0"/>
          </a:p>
        </p:txBody>
      </p:sp>
      <p:sp>
        <p:nvSpPr>
          <p:cNvPr id="6" name="Shape 4"/>
          <p:cNvSpPr/>
          <p:nvPr/>
        </p:nvSpPr>
        <p:spPr>
          <a:xfrm>
            <a:off x="3840480" y="2240280"/>
            <a:ext cx="2468880" cy="1188720"/>
          </a:xfrm>
          <a:prstGeom prst="roundRect">
            <a:avLst>
              <a:gd name="adj" fmla="val 7692"/>
            </a:avLst>
          </a:prstGeom>
          <a:solidFill>
            <a:srgbClr val="FFFFFF"/>
          </a:solidFill>
          <a:ln w="12700">
            <a:solidFill>
              <a:srgbClr val="E3DCCF"/>
            </a:solidFill>
            <a:prstDash val="solid"/>
          </a:ln>
        </p:spPr>
      </p:sp>
      <p:sp>
        <p:nvSpPr>
          <p:cNvPr id="7" name="Text 5"/>
          <p:cNvSpPr/>
          <p:nvPr/>
        </p:nvSpPr>
        <p:spPr>
          <a:xfrm>
            <a:off x="3840480" y="224028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Android</a:t>
            </a:r>
            <a:endParaRPr lang="en-US" sz="1800" dirty="0"/>
          </a:p>
        </p:txBody>
      </p:sp>
      <p:sp>
        <p:nvSpPr>
          <p:cNvPr id="8" name="Shape 6"/>
          <p:cNvSpPr/>
          <p:nvPr/>
        </p:nvSpPr>
        <p:spPr>
          <a:xfrm>
            <a:off x="6583680" y="2240280"/>
            <a:ext cx="2468880" cy="1188720"/>
          </a:xfrm>
          <a:prstGeom prst="roundRect">
            <a:avLst>
              <a:gd name="adj" fmla="val 7692"/>
            </a:avLst>
          </a:prstGeom>
          <a:solidFill>
            <a:srgbClr val="FFFFFF"/>
          </a:solidFill>
          <a:ln w="12700">
            <a:solidFill>
              <a:srgbClr val="E3DCCF"/>
            </a:solidFill>
            <a:prstDash val="solid"/>
          </a:ln>
        </p:spPr>
      </p:sp>
      <p:sp>
        <p:nvSpPr>
          <p:cNvPr id="9" name="Text 7"/>
          <p:cNvSpPr/>
          <p:nvPr/>
        </p:nvSpPr>
        <p:spPr>
          <a:xfrm>
            <a:off x="6583680" y="224028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iOS</a:t>
            </a:r>
            <a:endParaRPr lang="en-US" sz="1800" dirty="0"/>
          </a:p>
        </p:txBody>
      </p:sp>
      <p:sp>
        <p:nvSpPr>
          <p:cNvPr id="10" name="Shape 8"/>
          <p:cNvSpPr/>
          <p:nvPr/>
        </p:nvSpPr>
        <p:spPr>
          <a:xfrm>
            <a:off x="9326880" y="2240280"/>
            <a:ext cx="2468880" cy="1188720"/>
          </a:xfrm>
          <a:prstGeom prst="roundRect">
            <a:avLst>
              <a:gd name="adj" fmla="val 7692"/>
            </a:avLst>
          </a:prstGeom>
          <a:solidFill>
            <a:srgbClr val="FFFFFF"/>
          </a:solidFill>
          <a:ln w="12700">
            <a:solidFill>
              <a:srgbClr val="E3DCCF"/>
            </a:solidFill>
            <a:prstDash val="solid"/>
          </a:ln>
        </p:spPr>
      </p:sp>
      <p:sp>
        <p:nvSpPr>
          <p:cNvPr id="11" name="Text 9"/>
          <p:cNvSpPr/>
          <p:nvPr/>
        </p:nvSpPr>
        <p:spPr>
          <a:xfrm>
            <a:off x="9326880" y="224028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Web</a:t>
            </a:r>
            <a:endParaRPr lang="en-US" sz="1800" dirty="0"/>
          </a:p>
        </p:txBody>
      </p:sp>
      <p:sp>
        <p:nvSpPr>
          <p:cNvPr id="12" name="Shape 10"/>
          <p:cNvSpPr/>
          <p:nvPr/>
        </p:nvSpPr>
        <p:spPr>
          <a:xfrm>
            <a:off x="3840480" y="3703320"/>
            <a:ext cx="2468880" cy="1188720"/>
          </a:xfrm>
          <a:prstGeom prst="roundRect">
            <a:avLst>
              <a:gd name="adj" fmla="val 7692"/>
            </a:avLst>
          </a:prstGeom>
          <a:solidFill>
            <a:srgbClr val="FFFFFF"/>
          </a:solidFill>
          <a:ln w="12700">
            <a:solidFill>
              <a:srgbClr val="E3DCCF"/>
            </a:solidFill>
            <a:prstDash val="solid"/>
          </a:ln>
        </p:spPr>
      </p:sp>
      <p:sp>
        <p:nvSpPr>
          <p:cNvPr id="13" name="Text 11"/>
          <p:cNvSpPr/>
          <p:nvPr/>
        </p:nvSpPr>
        <p:spPr>
          <a:xfrm>
            <a:off x="3840480" y="370332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Windows</a:t>
            </a:r>
            <a:endParaRPr lang="en-US" sz="1800" dirty="0"/>
          </a:p>
        </p:txBody>
      </p:sp>
      <p:sp>
        <p:nvSpPr>
          <p:cNvPr id="14" name="Shape 12"/>
          <p:cNvSpPr/>
          <p:nvPr/>
        </p:nvSpPr>
        <p:spPr>
          <a:xfrm>
            <a:off x="6583680" y="3703320"/>
            <a:ext cx="2468880" cy="1188720"/>
          </a:xfrm>
          <a:prstGeom prst="roundRect">
            <a:avLst>
              <a:gd name="adj" fmla="val 7692"/>
            </a:avLst>
          </a:prstGeom>
          <a:solidFill>
            <a:srgbClr val="FFFFFF"/>
          </a:solidFill>
          <a:ln w="12700">
            <a:solidFill>
              <a:srgbClr val="E3DCCF"/>
            </a:solidFill>
            <a:prstDash val="solid"/>
          </a:ln>
        </p:spPr>
      </p:sp>
      <p:sp>
        <p:nvSpPr>
          <p:cNvPr id="15" name="Text 13"/>
          <p:cNvSpPr/>
          <p:nvPr/>
        </p:nvSpPr>
        <p:spPr>
          <a:xfrm>
            <a:off x="6583680" y="370332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macOS</a:t>
            </a:r>
            <a:endParaRPr lang="en-US" sz="1800" dirty="0"/>
          </a:p>
        </p:txBody>
      </p:sp>
      <p:sp>
        <p:nvSpPr>
          <p:cNvPr id="16" name="Shape 14"/>
          <p:cNvSpPr/>
          <p:nvPr/>
        </p:nvSpPr>
        <p:spPr>
          <a:xfrm>
            <a:off x="9326880" y="3703320"/>
            <a:ext cx="2468880" cy="1188720"/>
          </a:xfrm>
          <a:prstGeom prst="roundRect">
            <a:avLst>
              <a:gd name="adj" fmla="val 7692"/>
            </a:avLst>
          </a:prstGeom>
          <a:solidFill>
            <a:srgbClr val="FFFFFF"/>
          </a:solidFill>
          <a:ln w="12700">
            <a:solidFill>
              <a:srgbClr val="E3DCCF"/>
            </a:solidFill>
            <a:prstDash val="solid"/>
          </a:ln>
        </p:spPr>
      </p:sp>
      <p:sp>
        <p:nvSpPr>
          <p:cNvPr id="17" name="Text 15"/>
          <p:cNvSpPr/>
          <p:nvPr/>
        </p:nvSpPr>
        <p:spPr>
          <a:xfrm>
            <a:off x="9326880" y="370332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Linux</a:t>
            </a:r>
            <a:endParaRPr lang="en-US" sz="1800" dirty="0"/>
          </a:p>
        </p:txBody>
      </p:sp>
      <p:sp>
        <p:nvSpPr>
          <p:cNvPr id="18" name="Text 16"/>
          <p:cNvSpPr/>
          <p:nvPr/>
        </p:nvSpPr>
        <p:spPr>
          <a:xfrm>
            <a:off x="566928" y="5486400"/>
            <a:ext cx="10972800" cy="45720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25+ screens · 11 repositories · 25 services · offline-first stale-while-revalidate cache over SQLite</a:t>
            </a:r>
            <a:endParaRPr lang="en-US" sz="14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19</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FLUTTER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Why not native or React Native?</a:t>
            </a:r>
            <a:endParaRPr lang="en-US" sz="3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64240" cy="914400"/>
        </p:xfrm>
        <a:graphic>
          <a:graphicData uri="http://schemas.openxmlformats.org/drawingml/2006/table">
            <a:tbl>
              <a:tblPr/>
              <a:tblGrid>
                <a:gridCol w="2743200"/>
                <a:gridCol w="1828800"/>
                <a:gridCol w="6492240"/>
              </a:tblGrid>
              <a:tr h="548640">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Approach</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Verdict</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Why</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r>
              <a:tr h="777240">
                <a:tc>
                  <a:txBody>
                    <a:bodyPr/>
                    <a:lstStyle/>
                    <a:p>
                      <a:pPr algn="l" indent="0" marL="0">
                        <a:buNone/>
                      </a:pPr>
                      <a:r>
                        <a:rPr lang="en-US" sz="1550" b="1" dirty="0">
                          <a:solidFill>
                            <a:srgbClr val="1A1A1A"/>
                          </a:solidFill>
                          <a:latin typeface="Segoe UI" pitchFamily="34" charset="0"/>
                          <a:ea typeface="Segoe UI" pitchFamily="34" charset="-122"/>
                          <a:cs typeface="Segoe UI" pitchFamily="34" charset="-120"/>
                        </a:rPr>
                        <a:t>Flutter</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algn="ctr" indent="0" marL="0">
                        <a:buNone/>
                      </a:pPr>
                      <a:r>
                        <a:rPr lang="en-US" sz="1550" dirty="0">
                          <a:solidFill>
                            <a:srgbClr val="2F8F5B"/>
                          </a:solidFill>
                          <a:latin typeface="Segoe UI" pitchFamily="34" charset="0"/>
                          <a:ea typeface="Segoe UI" pitchFamily="34" charset="-122"/>
                          <a:cs typeface="Segoe UI" pitchFamily="34" charset="-120"/>
                        </a:rPr>
                        <a:t>✓ Chosen</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algn="l" indent="0" marL="0">
                        <a:buNone/>
                      </a:pPr>
                      <a:r>
                        <a:rPr lang="en-US" sz="1550" dirty="0">
                          <a:solidFill>
                            <a:srgbClr val="1A1A1A"/>
                          </a:solidFill>
                          <a:latin typeface="Segoe UI" pitchFamily="34" charset="0"/>
                          <a:ea typeface="Segoe UI" pitchFamily="34" charset="-122"/>
                          <a:cs typeface="Segoe UI" pitchFamily="34" charset="-120"/>
                        </a:rPr>
                        <a:t>One Dart codebase, true desktop, 60fps custom UI</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r>
              <a:tr h="777240">
                <a:tc>
                  <a:txBody>
                    <a:bodyPr/>
                    <a:lstStyle/>
                    <a:p>
                      <a:pPr algn="l" indent="0" marL="0">
                        <a:buNone/>
                      </a:pPr>
                      <a:r>
                        <a:rPr lang="en-US" sz="1550" b="1" dirty="0">
                          <a:solidFill>
                            <a:srgbClr val="1A1A1A"/>
                          </a:solidFill>
                          <a:latin typeface="Segoe UI" pitchFamily="34" charset="0"/>
                          <a:ea typeface="Segoe UI" pitchFamily="34" charset="-122"/>
                          <a:cs typeface="Segoe UI" pitchFamily="34" charset="-120"/>
                        </a:rPr>
                        <a:t>Native (×2)</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C0492F"/>
                          </a:solidFill>
                          <a:latin typeface="Segoe UI" pitchFamily="34" charset="0"/>
                          <a:ea typeface="Segoe UI" pitchFamily="34" charset="-122"/>
                          <a:cs typeface="Segoe UI" pitchFamily="34" charset="-120"/>
                        </a:rPr>
                        <a:t>✕</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A1A1A"/>
                          </a:solidFill>
                          <a:latin typeface="Segoe UI" pitchFamily="34" charset="0"/>
                          <a:ea typeface="Segoe UI" pitchFamily="34" charset="-122"/>
                          <a:cs typeface="Segoe UI" pitchFamily="34" charset="-120"/>
                        </a:rPr>
                        <a:t>Two-person team can't build &amp; maintain 6 native apps</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r>
              <a:tr h="777240">
                <a:tc>
                  <a:txBody>
                    <a:bodyPr/>
                    <a:lstStyle/>
                    <a:p>
                      <a:pPr algn="l" indent="0" marL="0">
                        <a:buNone/>
                      </a:pPr>
                      <a:r>
                        <a:rPr lang="en-US" sz="1550" b="1" dirty="0">
                          <a:solidFill>
                            <a:srgbClr val="1A1A1A"/>
                          </a:solidFill>
                          <a:latin typeface="Segoe UI" pitchFamily="34" charset="0"/>
                          <a:ea typeface="Segoe UI" pitchFamily="34" charset="-122"/>
                          <a:cs typeface="Segoe UI" pitchFamily="34" charset="-120"/>
                        </a:rPr>
                        <a:t>React Native</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algn="ctr" indent="0" marL="0">
                        <a:buNone/>
                      </a:pPr>
                      <a:r>
                        <a:rPr lang="en-US" sz="1550" dirty="0">
                          <a:solidFill>
                            <a:srgbClr val="C0492F"/>
                          </a:solidFill>
                          <a:latin typeface="Segoe UI" pitchFamily="34" charset="0"/>
                          <a:ea typeface="Segoe UI" pitchFamily="34" charset="-122"/>
                          <a:cs typeface="Segoe UI" pitchFamily="34" charset="-120"/>
                        </a:rPr>
                        <a:t>✕</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algn="l" indent="0" marL="0">
                        <a:buNone/>
                      </a:pPr>
                      <a:r>
                        <a:rPr lang="en-US" sz="1550" dirty="0">
                          <a:solidFill>
                            <a:srgbClr val="1A1A1A"/>
                          </a:solidFill>
                          <a:latin typeface="Segoe UI" pitchFamily="34" charset="0"/>
                          <a:ea typeface="Segoe UI" pitchFamily="34" charset="-122"/>
                          <a:cs typeface="Segoe UI" pitchFamily="34" charset="-120"/>
                        </a:rPr>
                        <a:t>JS-bridge overhead, weak desktop story</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r>
            </a:tbl>
          </a:graphicData>
        </a:graphic>
      </p:graphicFrame>
      <p:sp>
        <p:nvSpPr>
          <p:cNvPr id="5" name="Text 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6" name="Text 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20</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BACKEND BRAIN</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Async, top to bottom — 40+ endpoints under /v1.</a:t>
            </a:r>
            <a:endParaRPr lang="en-US" sz="3300" dirty="0"/>
          </a:p>
        </p:txBody>
      </p:sp>
      <p:sp>
        <p:nvSpPr>
          <p:cNvPr id="4" name="Shape 2"/>
          <p:cNvSpPr/>
          <p:nvPr/>
        </p:nvSpPr>
        <p:spPr>
          <a:xfrm>
            <a:off x="566928" y="2286000"/>
            <a:ext cx="2560320" cy="594360"/>
          </a:xfrm>
          <a:prstGeom prst="roundRect">
            <a:avLst>
              <a:gd name="adj" fmla="val 49231"/>
            </a:avLst>
          </a:prstGeom>
          <a:solidFill>
            <a:srgbClr val="FFFFFF"/>
          </a:solidFill>
          <a:ln w="12700">
            <a:solidFill>
              <a:srgbClr val="0E7C86"/>
            </a:solidFill>
            <a:prstDash val="solid"/>
          </a:ln>
        </p:spPr>
      </p:sp>
      <p:sp>
        <p:nvSpPr>
          <p:cNvPr id="5" name="Text 3"/>
          <p:cNvSpPr/>
          <p:nvPr/>
        </p:nvSpPr>
        <p:spPr>
          <a:xfrm>
            <a:off x="566928" y="228600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Sessions</a:t>
            </a:r>
            <a:endParaRPr lang="en-US" sz="1450" dirty="0"/>
          </a:p>
        </p:txBody>
      </p:sp>
      <p:sp>
        <p:nvSpPr>
          <p:cNvPr id="6" name="Shape 4"/>
          <p:cNvSpPr/>
          <p:nvPr/>
        </p:nvSpPr>
        <p:spPr>
          <a:xfrm>
            <a:off x="3310128" y="2286000"/>
            <a:ext cx="2560320" cy="594360"/>
          </a:xfrm>
          <a:prstGeom prst="roundRect">
            <a:avLst>
              <a:gd name="adj" fmla="val 49231"/>
            </a:avLst>
          </a:prstGeom>
          <a:solidFill>
            <a:srgbClr val="E4EFEF"/>
          </a:solidFill>
          <a:ln w="12700">
            <a:solidFill>
              <a:srgbClr val="0E7C86"/>
            </a:solidFill>
            <a:prstDash val="solid"/>
          </a:ln>
        </p:spPr>
      </p:sp>
      <p:sp>
        <p:nvSpPr>
          <p:cNvPr id="7" name="Text 5"/>
          <p:cNvSpPr/>
          <p:nvPr/>
        </p:nvSpPr>
        <p:spPr>
          <a:xfrm>
            <a:off x="3310128" y="228600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Wingman</a:t>
            </a:r>
            <a:endParaRPr lang="en-US" sz="1450" dirty="0"/>
          </a:p>
        </p:txBody>
      </p:sp>
      <p:sp>
        <p:nvSpPr>
          <p:cNvPr id="8" name="Shape 6"/>
          <p:cNvSpPr/>
          <p:nvPr/>
        </p:nvSpPr>
        <p:spPr>
          <a:xfrm>
            <a:off x="6053328" y="2286000"/>
            <a:ext cx="2560320" cy="594360"/>
          </a:xfrm>
          <a:prstGeom prst="roundRect">
            <a:avLst>
              <a:gd name="adj" fmla="val 49231"/>
            </a:avLst>
          </a:prstGeom>
          <a:solidFill>
            <a:srgbClr val="FFFFFF"/>
          </a:solidFill>
          <a:ln w="12700">
            <a:solidFill>
              <a:srgbClr val="0E7C86"/>
            </a:solidFill>
            <a:prstDash val="solid"/>
          </a:ln>
        </p:spPr>
      </p:sp>
      <p:sp>
        <p:nvSpPr>
          <p:cNvPr id="9" name="Text 7"/>
          <p:cNvSpPr/>
          <p:nvPr/>
        </p:nvSpPr>
        <p:spPr>
          <a:xfrm>
            <a:off x="6053328" y="228600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Consultant</a:t>
            </a:r>
            <a:endParaRPr lang="en-US" sz="1450" dirty="0"/>
          </a:p>
        </p:txBody>
      </p:sp>
      <p:sp>
        <p:nvSpPr>
          <p:cNvPr id="10" name="Shape 8"/>
          <p:cNvSpPr/>
          <p:nvPr/>
        </p:nvSpPr>
        <p:spPr>
          <a:xfrm>
            <a:off x="8796528" y="2286000"/>
            <a:ext cx="2560320" cy="594360"/>
          </a:xfrm>
          <a:prstGeom prst="roundRect">
            <a:avLst>
              <a:gd name="adj" fmla="val 49231"/>
            </a:avLst>
          </a:prstGeom>
          <a:solidFill>
            <a:srgbClr val="E4EFEF"/>
          </a:solidFill>
          <a:ln w="12700">
            <a:solidFill>
              <a:srgbClr val="0E7C86"/>
            </a:solidFill>
            <a:prstDash val="solid"/>
          </a:ln>
        </p:spPr>
      </p:sp>
      <p:sp>
        <p:nvSpPr>
          <p:cNvPr id="11" name="Text 9"/>
          <p:cNvSpPr/>
          <p:nvPr/>
        </p:nvSpPr>
        <p:spPr>
          <a:xfrm>
            <a:off x="8796528" y="228600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Voice</a:t>
            </a:r>
            <a:endParaRPr lang="en-US" sz="1450" dirty="0"/>
          </a:p>
        </p:txBody>
      </p:sp>
      <p:sp>
        <p:nvSpPr>
          <p:cNvPr id="12" name="Shape 10"/>
          <p:cNvSpPr/>
          <p:nvPr/>
        </p:nvSpPr>
        <p:spPr>
          <a:xfrm>
            <a:off x="566928" y="3063240"/>
            <a:ext cx="2560320" cy="594360"/>
          </a:xfrm>
          <a:prstGeom prst="roundRect">
            <a:avLst>
              <a:gd name="adj" fmla="val 49231"/>
            </a:avLst>
          </a:prstGeom>
          <a:solidFill>
            <a:srgbClr val="FFFFFF"/>
          </a:solidFill>
          <a:ln w="12700">
            <a:solidFill>
              <a:srgbClr val="0E7C86"/>
            </a:solidFill>
            <a:prstDash val="solid"/>
          </a:ln>
        </p:spPr>
      </p:sp>
      <p:sp>
        <p:nvSpPr>
          <p:cNvPr id="13" name="Text 11"/>
          <p:cNvSpPr/>
          <p:nvPr/>
        </p:nvSpPr>
        <p:spPr>
          <a:xfrm>
            <a:off x="566928" y="306324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Speaker ID</a:t>
            </a:r>
            <a:endParaRPr lang="en-US" sz="1450" dirty="0"/>
          </a:p>
        </p:txBody>
      </p:sp>
      <p:sp>
        <p:nvSpPr>
          <p:cNvPr id="14" name="Shape 12"/>
          <p:cNvSpPr/>
          <p:nvPr/>
        </p:nvSpPr>
        <p:spPr>
          <a:xfrm>
            <a:off x="3310128" y="3063240"/>
            <a:ext cx="2560320" cy="594360"/>
          </a:xfrm>
          <a:prstGeom prst="roundRect">
            <a:avLst>
              <a:gd name="adj" fmla="val 49231"/>
            </a:avLst>
          </a:prstGeom>
          <a:solidFill>
            <a:srgbClr val="E4EFEF"/>
          </a:solidFill>
          <a:ln w="12700">
            <a:solidFill>
              <a:srgbClr val="0E7C86"/>
            </a:solidFill>
            <a:prstDash val="solid"/>
          </a:ln>
        </p:spPr>
      </p:sp>
      <p:sp>
        <p:nvSpPr>
          <p:cNvPr id="15" name="Text 13"/>
          <p:cNvSpPr/>
          <p:nvPr/>
        </p:nvSpPr>
        <p:spPr>
          <a:xfrm>
            <a:off x="3310128" y="306324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Grammar</a:t>
            </a:r>
            <a:endParaRPr lang="en-US" sz="1450" dirty="0"/>
          </a:p>
        </p:txBody>
      </p:sp>
      <p:sp>
        <p:nvSpPr>
          <p:cNvPr id="16" name="Shape 14"/>
          <p:cNvSpPr/>
          <p:nvPr/>
        </p:nvSpPr>
        <p:spPr>
          <a:xfrm>
            <a:off x="6053328" y="3063240"/>
            <a:ext cx="2560320" cy="594360"/>
          </a:xfrm>
          <a:prstGeom prst="roundRect">
            <a:avLst>
              <a:gd name="adj" fmla="val 49231"/>
            </a:avLst>
          </a:prstGeom>
          <a:solidFill>
            <a:srgbClr val="FFFFFF"/>
          </a:solidFill>
          <a:ln w="12700">
            <a:solidFill>
              <a:srgbClr val="0E7C86"/>
            </a:solidFill>
            <a:prstDash val="solid"/>
          </a:ln>
        </p:spPr>
      </p:sp>
      <p:sp>
        <p:nvSpPr>
          <p:cNvPr id="17" name="Text 15"/>
          <p:cNvSpPr/>
          <p:nvPr/>
        </p:nvSpPr>
        <p:spPr>
          <a:xfrm>
            <a:off x="6053328" y="306324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Drills</a:t>
            </a:r>
            <a:endParaRPr lang="en-US" sz="1450" dirty="0"/>
          </a:p>
        </p:txBody>
      </p:sp>
      <p:sp>
        <p:nvSpPr>
          <p:cNvPr id="18" name="Shape 16"/>
          <p:cNvSpPr/>
          <p:nvPr/>
        </p:nvSpPr>
        <p:spPr>
          <a:xfrm>
            <a:off x="8796528" y="3063240"/>
            <a:ext cx="2560320" cy="594360"/>
          </a:xfrm>
          <a:prstGeom prst="roundRect">
            <a:avLst>
              <a:gd name="adj" fmla="val 49231"/>
            </a:avLst>
          </a:prstGeom>
          <a:solidFill>
            <a:srgbClr val="E4EFEF"/>
          </a:solidFill>
          <a:ln w="12700">
            <a:solidFill>
              <a:srgbClr val="0E7C86"/>
            </a:solidFill>
            <a:prstDash val="solid"/>
          </a:ln>
        </p:spPr>
      </p:sp>
      <p:sp>
        <p:nvSpPr>
          <p:cNvPr id="19" name="Text 17"/>
          <p:cNvSpPr/>
          <p:nvPr/>
        </p:nvSpPr>
        <p:spPr>
          <a:xfrm>
            <a:off x="8796528" y="306324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Scenarios</a:t>
            </a:r>
            <a:endParaRPr lang="en-US" sz="1450" dirty="0"/>
          </a:p>
        </p:txBody>
      </p:sp>
      <p:sp>
        <p:nvSpPr>
          <p:cNvPr id="20" name="Shape 18"/>
          <p:cNvSpPr/>
          <p:nvPr/>
        </p:nvSpPr>
        <p:spPr>
          <a:xfrm>
            <a:off x="566928" y="3840480"/>
            <a:ext cx="2560320" cy="594360"/>
          </a:xfrm>
          <a:prstGeom prst="roundRect">
            <a:avLst>
              <a:gd name="adj" fmla="val 49231"/>
            </a:avLst>
          </a:prstGeom>
          <a:solidFill>
            <a:srgbClr val="FFFFFF"/>
          </a:solidFill>
          <a:ln w="12700">
            <a:solidFill>
              <a:srgbClr val="0E7C86"/>
            </a:solidFill>
            <a:prstDash val="solid"/>
          </a:ln>
        </p:spPr>
      </p:sp>
      <p:sp>
        <p:nvSpPr>
          <p:cNvPr id="21" name="Text 19"/>
          <p:cNvSpPr/>
          <p:nvPr/>
        </p:nvSpPr>
        <p:spPr>
          <a:xfrm>
            <a:off x="566928" y="384048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Gamification</a:t>
            </a:r>
            <a:endParaRPr lang="en-US" sz="1450" dirty="0"/>
          </a:p>
        </p:txBody>
      </p:sp>
      <p:sp>
        <p:nvSpPr>
          <p:cNvPr id="22" name="Shape 20"/>
          <p:cNvSpPr/>
          <p:nvPr/>
        </p:nvSpPr>
        <p:spPr>
          <a:xfrm>
            <a:off x="3310128" y="3840480"/>
            <a:ext cx="2560320" cy="594360"/>
          </a:xfrm>
          <a:prstGeom prst="roundRect">
            <a:avLst>
              <a:gd name="adj" fmla="val 49231"/>
            </a:avLst>
          </a:prstGeom>
          <a:solidFill>
            <a:srgbClr val="E4EFEF"/>
          </a:solidFill>
          <a:ln w="12700">
            <a:solidFill>
              <a:srgbClr val="0E7C86"/>
            </a:solidFill>
            <a:prstDash val="solid"/>
          </a:ln>
        </p:spPr>
      </p:sp>
      <p:sp>
        <p:nvSpPr>
          <p:cNvPr id="23" name="Text 21"/>
          <p:cNvSpPr/>
          <p:nvPr/>
        </p:nvSpPr>
        <p:spPr>
          <a:xfrm>
            <a:off x="3310128" y="384048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Dashboard</a:t>
            </a:r>
            <a:endParaRPr lang="en-US" sz="1450" dirty="0"/>
          </a:p>
        </p:txBody>
      </p:sp>
      <p:sp>
        <p:nvSpPr>
          <p:cNvPr id="24" name="Shape 22"/>
          <p:cNvSpPr/>
          <p:nvPr/>
        </p:nvSpPr>
        <p:spPr>
          <a:xfrm>
            <a:off x="6053328" y="3840480"/>
            <a:ext cx="2560320" cy="594360"/>
          </a:xfrm>
          <a:prstGeom prst="roundRect">
            <a:avLst>
              <a:gd name="adj" fmla="val 49231"/>
            </a:avLst>
          </a:prstGeom>
          <a:solidFill>
            <a:srgbClr val="FFFFFF"/>
          </a:solidFill>
          <a:ln w="12700">
            <a:solidFill>
              <a:srgbClr val="0E7C86"/>
            </a:solidFill>
            <a:prstDash val="solid"/>
          </a:ln>
        </p:spPr>
      </p:sp>
      <p:sp>
        <p:nvSpPr>
          <p:cNvPr id="25" name="Text 23"/>
          <p:cNvSpPr/>
          <p:nvPr/>
        </p:nvSpPr>
        <p:spPr>
          <a:xfrm>
            <a:off x="6053328" y="384048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Entities</a:t>
            </a:r>
            <a:endParaRPr lang="en-US" sz="1450" dirty="0"/>
          </a:p>
        </p:txBody>
      </p:sp>
      <p:sp>
        <p:nvSpPr>
          <p:cNvPr id="26" name="Shape 24"/>
          <p:cNvSpPr/>
          <p:nvPr/>
        </p:nvSpPr>
        <p:spPr>
          <a:xfrm>
            <a:off x="8796528" y="3840480"/>
            <a:ext cx="2560320" cy="594360"/>
          </a:xfrm>
          <a:prstGeom prst="roundRect">
            <a:avLst>
              <a:gd name="adj" fmla="val 49231"/>
            </a:avLst>
          </a:prstGeom>
          <a:solidFill>
            <a:srgbClr val="E4EFEF"/>
          </a:solidFill>
          <a:ln w="12700">
            <a:solidFill>
              <a:srgbClr val="0E7C86"/>
            </a:solidFill>
            <a:prstDash val="solid"/>
          </a:ln>
        </p:spPr>
      </p:sp>
      <p:sp>
        <p:nvSpPr>
          <p:cNvPr id="27" name="Text 25"/>
          <p:cNvSpPr/>
          <p:nvPr/>
        </p:nvSpPr>
        <p:spPr>
          <a:xfrm>
            <a:off x="8796528" y="384048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Memory</a:t>
            </a:r>
            <a:endParaRPr lang="en-US" sz="1450" dirty="0"/>
          </a:p>
        </p:txBody>
      </p:sp>
      <p:sp>
        <p:nvSpPr>
          <p:cNvPr id="28" name="Shape 26"/>
          <p:cNvSpPr/>
          <p:nvPr/>
        </p:nvSpPr>
        <p:spPr>
          <a:xfrm>
            <a:off x="566928" y="4617720"/>
            <a:ext cx="2560320" cy="594360"/>
          </a:xfrm>
          <a:prstGeom prst="roundRect">
            <a:avLst>
              <a:gd name="adj" fmla="val 49231"/>
            </a:avLst>
          </a:prstGeom>
          <a:solidFill>
            <a:srgbClr val="FFFFFF"/>
          </a:solidFill>
          <a:ln w="12700">
            <a:solidFill>
              <a:srgbClr val="0E7C86"/>
            </a:solidFill>
            <a:prstDash val="solid"/>
          </a:ln>
        </p:spPr>
      </p:sp>
      <p:sp>
        <p:nvSpPr>
          <p:cNvPr id="29" name="Text 27"/>
          <p:cNvSpPr/>
          <p:nvPr/>
        </p:nvSpPr>
        <p:spPr>
          <a:xfrm>
            <a:off x="566928" y="461772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Persona</a:t>
            </a:r>
            <a:endParaRPr lang="en-US" sz="1450" dirty="0"/>
          </a:p>
        </p:txBody>
      </p:sp>
      <p:sp>
        <p:nvSpPr>
          <p:cNvPr id="30" name="Text 28"/>
          <p:cNvSpPr/>
          <p:nvPr/>
        </p:nvSpPr>
        <p:spPr>
          <a:xfrm>
            <a:off x="566928" y="5577840"/>
            <a:ext cx="10972800" cy="45720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Python 3.12 · FastAPI on Uvicorn/Gunicorn · Pydantic v2 validates every request &amp; response</a:t>
            </a:r>
            <a:endParaRPr lang="en-US" sz="1400" dirty="0"/>
          </a:p>
        </p:txBody>
      </p:sp>
      <p:sp>
        <p:nvSpPr>
          <p:cNvPr id="31" name="Text 2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32" name="Text 3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21</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FASTAPI ASYNC</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Real-time audio needs non-blocking I/O.</a:t>
            </a:r>
            <a:endParaRPr lang="en-US" sz="3300" dirty="0"/>
          </a:p>
        </p:txBody>
      </p:sp>
      <p:sp>
        <p:nvSpPr>
          <p:cNvPr id="4" name="Shape 2"/>
          <p:cNvSpPr/>
          <p:nvPr/>
        </p:nvSpPr>
        <p:spPr>
          <a:xfrm>
            <a:off x="566928" y="2194560"/>
            <a:ext cx="5120640" cy="2743200"/>
          </a:xfrm>
          <a:prstGeom prst="roundRect">
            <a:avLst>
              <a:gd name="adj" fmla="val 4000"/>
            </a:avLst>
          </a:prstGeom>
          <a:solidFill>
            <a:srgbClr val="F8ECE8"/>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423160"/>
            <a:ext cx="4572000" cy="457200"/>
          </a:xfrm>
          <a:prstGeom prst="rect">
            <a:avLst/>
          </a:prstGeom>
          <a:noFill/>
          <a:ln/>
        </p:spPr>
        <p:txBody>
          <a:bodyPr wrap="square" rtlCol="0" anchor="ctr"/>
          <a:lstStyle/>
          <a:p>
            <a:pPr indent="0" marL="0">
              <a:buNone/>
            </a:pPr>
            <a:r>
              <a:rPr lang="en-US" sz="1900" b="1" dirty="0">
                <a:solidFill>
                  <a:srgbClr val="C0492F"/>
                </a:solidFill>
                <a:latin typeface="Segoe UI" pitchFamily="34" charset="0"/>
                <a:ea typeface="Segoe UI" pitchFamily="34" charset="-122"/>
                <a:cs typeface="Segoe UI" pitchFamily="34" charset="-120"/>
              </a:rPr>
              <a:t>✕  Sync (Flask/Django)</a:t>
            </a:r>
            <a:endParaRPr lang="en-US" sz="1900" dirty="0"/>
          </a:p>
        </p:txBody>
      </p:sp>
      <p:sp>
        <p:nvSpPr>
          <p:cNvPr id="6" name="Text 4"/>
          <p:cNvSpPr/>
          <p:nvPr/>
        </p:nvSpPr>
        <p:spPr>
          <a:xfrm>
            <a:off x="932688" y="301752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One worker blocks per audio stream → doesn't scale.</a:t>
            </a:r>
            <a:endParaRPr lang="en-US" sz="1650" dirty="0"/>
          </a:p>
        </p:txBody>
      </p:sp>
      <p:sp>
        <p:nvSpPr>
          <p:cNvPr id="7" name="Shape 5"/>
          <p:cNvSpPr/>
          <p:nvPr/>
        </p:nvSpPr>
        <p:spPr>
          <a:xfrm>
            <a:off x="6144768" y="2194560"/>
            <a:ext cx="5120640" cy="2743200"/>
          </a:xfrm>
          <a:prstGeom prst="roundRect">
            <a:avLst>
              <a:gd name="adj" fmla="val 4000"/>
            </a:avLst>
          </a:prstGeom>
          <a:solidFill>
            <a:srgbClr val="E9F3EC"/>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6510528" y="2423160"/>
            <a:ext cx="4572000" cy="457200"/>
          </a:xfrm>
          <a:prstGeom prst="rect">
            <a:avLst/>
          </a:prstGeom>
          <a:noFill/>
          <a:ln/>
        </p:spPr>
        <p:txBody>
          <a:bodyPr wrap="square" rtlCol="0" anchor="ctr"/>
          <a:lstStyle/>
          <a:p>
            <a:pPr indent="0" marL="0">
              <a:buNone/>
            </a:pPr>
            <a:r>
              <a:rPr lang="en-US" sz="1900" b="1" dirty="0">
                <a:solidFill>
                  <a:srgbClr val="2F8F5B"/>
                </a:solidFill>
                <a:latin typeface="Segoe UI" pitchFamily="34" charset="0"/>
                <a:ea typeface="Segoe UI" pitchFamily="34" charset="-122"/>
                <a:cs typeface="Segoe UI" pitchFamily="34" charset="-120"/>
              </a:rPr>
              <a:t>✓  Async (FastAPI)</a:t>
            </a:r>
            <a:endParaRPr lang="en-US" sz="1900" dirty="0"/>
          </a:p>
        </p:txBody>
      </p:sp>
      <p:sp>
        <p:nvSpPr>
          <p:cNvPr id="9" name="Text 7"/>
          <p:cNvSpPr/>
          <p:nvPr/>
        </p:nvSpPr>
        <p:spPr>
          <a:xfrm>
            <a:off x="6510528" y="301752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Await network/LLM calls without freezing the server. Typed schemas + auto OpenAPI for free.</a:t>
            </a:r>
            <a:endParaRPr lang="en-US" sz="1650" dirty="0"/>
          </a:p>
        </p:txBody>
      </p:sp>
      <p:sp>
        <p:nvSpPr>
          <p:cNvPr id="10" name="Text 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1" name="Text 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22</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LLM ROUTER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Each task → the model that fits it.</a:t>
            </a:r>
            <a:endParaRPr lang="en-US" sz="3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64240" cy="914400"/>
        </p:xfrm>
        <a:graphic>
          <a:graphicData uri="http://schemas.openxmlformats.org/drawingml/2006/table">
            <a:tbl>
              <a:tblPr/>
              <a:tblGrid>
                <a:gridCol w="3200400"/>
                <a:gridCol w="3291840"/>
                <a:gridCol w="4572000"/>
              </a:tblGrid>
              <a:tr h="548640">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Task</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Model</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Provider chain</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r>
              <a:tr h="685800">
                <a:tc>
                  <a:txBody>
                    <a:bodyPr/>
                    <a:lstStyle/>
                    <a:p>
                      <a:pPr indent="0" marL="0">
                        <a:buNone/>
                      </a:pPr>
                      <a:r>
                        <a:rPr lang="en-US" sz="1500" b="1" dirty="0">
                          <a:solidFill>
                            <a:srgbClr val="1A1A1A"/>
                          </a:solidFill>
                          <a:latin typeface="Segoe UI" pitchFamily="34" charset="0"/>
                          <a:ea typeface="Segoe UI" pitchFamily="34" charset="-122"/>
                          <a:cs typeface="Segoe UI" pitchFamily="34" charset="-120"/>
                        </a:rPr>
                        <a:t>Consultant Q&amp;A</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gemini-2.5-flash</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Gemini → Cerebras → Groq</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r>
              <a:tr h="685800">
                <a:tc>
                  <a:txBody>
                    <a:bodyPr/>
                    <a:lstStyle/>
                    <a:p>
                      <a:pPr indent="0" marL="0">
                        <a:buNone/>
                      </a:pPr>
                      <a:r>
                        <a:rPr lang="en-US" sz="1500" b="1" dirty="0">
                          <a:solidFill>
                            <a:srgbClr val="1A1A1A"/>
                          </a:solidFill>
                          <a:latin typeface="Segoe UI" pitchFamily="34" charset="0"/>
                          <a:ea typeface="Segoe UI" pitchFamily="34" charset="-122"/>
                          <a:cs typeface="Segoe UI" pitchFamily="34" charset="-120"/>
                        </a:rPr>
                        <a:t>Wingman (live advice)</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llama-3.1-8b</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Cerebras → Groq → Gemini</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1A1A1A"/>
                          </a:solidFill>
                          <a:latin typeface="Segoe UI" pitchFamily="34" charset="0"/>
                          <a:ea typeface="Segoe UI" pitchFamily="34" charset="-122"/>
                          <a:cs typeface="Segoe UI" pitchFamily="34" charset="-120"/>
                        </a:rPr>
                        <a:t>Speech-to-text</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whisper-large-v3-turbo</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Groq</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r>
              <a:tr h="685800">
                <a:tc>
                  <a:txBody>
                    <a:bodyPr/>
                    <a:lstStyle/>
                    <a:p>
                      <a:pPr indent="0" marL="0">
                        <a:buNone/>
                      </a:pPr>
                      <a:r>
                        <a:rPr lang="en-US" sz="1500" b="1" dirty="0">
                          <a:solidFill>
                            <a:srgbClr val="1A1A1A"/>
                          </a:solidFill>
                          <a:latin typeface="Segoe UI" pitchFamily="34" charset="0"/>
                          <a:ea typeface="Segoe UI" pitchFamily="34" charset="-122"/>
                          <a:cs typeface="Segoe UI" pitchFamily="34" charset="-120"/>
                        </a:rPr>
                        <a:t>Embeddings</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text-embedding-004</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Gemini (ONNX fallback)</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577840"/>
            <a:ext cx="10972800" cy="457200"/>
          </a:xfrm>
          <a:prstGeom prst="rect">
            <a:avLst/>
          </a:prstGeom>
          <a:noFill/>
          <a:ln/>
        </p:spPr>
        <p:txBody>
          <a:bodyPr wrap="square" rtlCol="0" anchor="ctr"/>
          <a:lstStyle/>
          <a:p>
            <a:pPr indent="0" marL="0">
              <a:buNone/>
            </a:pPr>
            <a:r>
              <a:rPr lang="en-US" sz="1400" i="1" dirty="0">
                <a:solidFill>
                  <a:srgbClr val="0A5159"/>
                </a:solidFill>
                <a:latin typeface="Segoe UI" pitchFamily="34" charset="0"/>
                <a:ea typeface="Segoe UI" pitchFamily="34" charset="-122"/>
                <a:cs typeface="Segoe UI" pitchFamily="34" charset="-120"/>
              </a:rPr>
              <a:t>Per-provider circuit breakers: a failing provider trips its breaker and we fail over instantly.</a:t>
            </a:r>
            <a:endParaRPr lang="en-US" sz="1400" dirty="0"/>
          </a:p>
        </p:txBody>
      </p:sp>
      <p:sp>
        <p:nvSpPr>
          <p:cNvPr id="6" name="Text 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7" name="Text 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23</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MULTI-PROVIDER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No single point of failure.</a:t>
            </a:r>
            <a:endParaRPr lang="en-US" sz="3300" dirty="0"/>
          </a:p>
        </p:txBody>
      </p:sp>
      <p:sp>
        <p:nvSpPr>
          <p:cNvPr id="4" name="Shape 2"/>
          <p:cNvSpPr/>
          <p:nvPr/>
        </p:nvSpPr>
        <p:spPr>
          <a:xfrm>
            <a:off x="566928" y="2194560"/>
            <a:ext cx="5120640" cy="2743200"/>
          </a:xfrm>
          <a:prstGeom prst="roundRect">
            <a:avLst>
              <a:gd name="adj" fmla="val 4000"/>
            </a:avLst>
          </a:prstGeom>
          <a:solidFill>
            <a:srgbClr val="F8ECE8"/>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423160"/>
            <a:ext cx="4572000" cy="457200"/>
          </a:xfrm>
          <a:prstGeom prst="rect">
            <a:avLst/>
          </a:prstGeom>
          <a:noFill/>
          <a:ln/>
        </p:spPr>
        <p:txBody>
          <a:bodyPr wrap="square" rtlCol="0" anchor="ctr"/>
          <a:lstStyle/>
          <a:p>
            <a:pPr indent="0" marL="0">
              <a:buNone/>
            </a:pPr>
            <a:r>
              <a:rPr lang="en-US" sz="1900" b="1" dirty="0">
                <a:solidFill>
                  <a:srgbClr val="C0492F"/>
                </a:solidFill>
                <a:latin typeface="Segoe UI" pitchFamily="34" charset="0"/>
                <a:ea typeface="Segoe UI" pitchFamily="34" charset="-122"/>
                <a:cs typeface="Segoe UI" pitchFamily="34" charset="-120"/>
              </a:rPr>
              <a:t>✕  One provider</a:t>
            </a:r>
            <a:endParaRPr lang="en-US" sz="1900" dirty="0"/>
          </a:p>
        </p:txBody>
      </p:sp>
      <p:sp>
        <p:nvSpPr>
          <p:cNvPr id="6" name="Text 4"/>
          <p:cNvSpPr/>
          <p:nvPr/>
        </p:nvSpPr>
        <p:spPr>
          <a:xfrm>
            <a:off x="932688" y="301752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One outage kills the app. One price hike traps you. One model is wrong for some tasks.</a:t>
            </a:r>
            <a:endParaRPr lang="en-US" sz="1650" dirty="0"/>
          </a:p>
        </p:txBody>
      </p:sp>
      <p:sp>
        <p:nvSpPr>
          <p:cNvPr id="7" name="Shape 5"/>
          <p:cNvSpPr/>
          <p:nvPr/>
        </p:nvSpPr>
        <p:spPr>
          <a:xfrm>
            <a:off x="6144768" y="2194560"/>
            <a:ext cx="5120640" cy="2743200"/>
          </a:xfrm>
          <a:prstGeom prst="roundRect">
            <a:avLst>
              <a:gd name="adj" fmla="val 4000"/>
            </a:avLst>
          </a:prstGeom>
          <a:solidFill>
            <a:srgbClr val="E9F3EC"/>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6510528" y="2423160"/>
            <a:ext cx="4572000" cy="457200"/>
          </a:xfrm>
          <a:prstGeom prst="rect">
            <a:avLst/>
          </a:prstGeom>
          <a:noFill/>
          <a:ln/>
        </p:spPr>
        <p:txBody>
          <a:bodyPr wrap="square" rtlCol="0" anchor="ctr"/>
          <a:lstStyle/>
          <a:p>
            <a:pPr indent="0" marL="0">
              <a:buNone/>
            </a:pPr>
            <a:r>
              <a:rPr lang="en-US" sz="1900" b="1" dirty="0">
                <a:solidFill>
                  <a:srgbClr val="2F8F5B"/>
                </a:solidFill>
                <a:latin typeface="Segoe UI" pitchFamily="34" charset="0"/>
                <a:ea typeface="Segoe UI" pitchFamily="34" charset="-122"/>
                <a:cs typeface="Segoe UI" pitchFamily="34" charset="-120"/>
              </a:rPr>
              <a:t>✓  Three providers, routed</a:t>
            </a:r>
            <a:endParaRPr lang="en-US" sz="1900" dirty="0"/>
          </a:p>
        </p:txBody>
      </p:sp>
      <p:sp>
        <p:nvSpPr>
          <p:cNvPr id="9" name="Text 7"/>
          <p:cNvSpPr/>
          <p:nvPr/>
        </p:nvSpPr>
        <p:spPr>
          <a:xfrm>
            <a:off x="6510528" y="301752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Right model per job, automatic failover, no vendor lock-in.</a:t>
            </a:r>
            <a:endParaRPr lang="en-US" sz="1650" dirty="0"/>
          </a:p>
        </p:txBody>
      </p:sp>
      <p:sp>
        <p:nvSpPr>
          <p:cNvPr id="10" name="Text 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1" name="Text 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24</a:t>
            </a:r>
            <a:endParaRPr lang="en-US" sz="9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VOICE PIPELINE</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Wake-word → speech → advice → voice.</a:t>
            </a:r>
            <a:endParaRPr lang="en-US" sz="3300" dirty="0"/>
          </a:p>
        </p:txBody>
      </p:sp>
      <p:sp>
        <p:nvSpPr>
          <p:cNvPr id="4" name="Shape 2"/>
          <p:cNvSpPr/>
          <p:nvPr/>
        </p:nvSpPr>
        <p:spPr>
          <a:xfrm>
            <a:off x="566928"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704088"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1</a:t>
            </a:r>
            <a:endParaRPr lang="en-US" sz="2200" dirty="0"/>
          </a:p>
        </p:txBody>
      </p:sp>
      <p:sp>
        <p:nvSpPr>
          <p:cNvPr id="6" name="Text 4"/>
          <p:cNvSpPr/>
          <p:nvPr/>
        </p:nvSpPr>
        <p:spPr>
          <a:xfrm>
            <a:off x="704088"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Wake-word</a:t>
            </a:r>
            <a:endParaRPr lang="en-US" sz="1550" dirty="0"/>
          </a:p>
        </p:txBody>
      </p:sp>
      <p:sp>
        <p:nvSpPr>
          <p:cNvPr id="7" name="Text 5"/>
          <p:cNvSpPr/>
          <p:nvPr/>
        </p:nvSpPr>
        <p:spPr>
          <a:xfrm>
            <a:off x="704088"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Porcupine, on-device</a:t>
            </a:r>
            <a:endParaRPr lang="en-US" sz="1200" dirty="0"/>
          </a:p>
        </p:txBody>
      </p:sp>
      <p:sp>
        <p:nvSpPr>
          <p:cNvPr id="8" name="Text 6"/>
          <p:cNvSpPr/>
          <p:nvPr/>
        </p:nvSpPr>
        <p:spPr>
          <a:xfrm>
            <a:off x="2450592"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9" name="Shape 7"/>
          <p:cNvSpPr/>
          <p:nvPr/>
        </p:nvSpPr>
        <p:spPr>
          <a:xfrm>
            <a:off x="2862072" y="2743200"/>
            <a:ext cx="1883664" cy="1828800"/>
          </a:xfrm>
          <a:prstGeom prst="roundRect">
            <a:avLst>
              <a:gd name="adj" fmla="val 6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Text 8"/>
          <p:cNvSpPr/>
          <p:nvPr/>
        </p:nvSpPr>
        <p:spPr>
          <a:xfrm>
            <a:off x="2999232"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2</a:t>
            </a:r>
            <a:endParaRPr lang="en-US" sz="2200" dirty="0"/>
          </a:p>
        </p:txBody>
      </p:sp>
      <p:sp>
        <p:nvSpPr>
          <p:cNvPr id="11" name="Text 9"/>
          <p:cNvSpPr/>
          <p:nvPr/>
        </p:nvSpPr>
        <p:spPr>
          <a:xfrm>
            <a:off x="2999232"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Transport</a:t>
            </a:r>
            <a:endParaRPr lang="en-US" sz="1550" dirty="0"/>
          </a:p>
        </p:txBody>
      </p:sp>
      <p:sp>
        <p:nvSpPr>
          <p:cNvPr id="12" name="Text 10"/>
          <p:cNvSpPr/>
          <p:nvPr/>
        </p:nvSpPr>
        <p:spPr>
          <a:xfrm>
            <a:off x="2999232"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LiveKit low-latency audio</a:t>
            </a:r>
            <a:endParaRPr lang="en-US" sz="1200" dirty="0"/>
          </a:p>
        </p:txBody>
      </p:sp>
      <p:sp>
        <p:nvSpPr>
          <p:cNvPr id="13" name="Text 11"/>
          <p:cNvSpPr/>
          <p:nvPr/>
        </p:nvSpPr>
        <p:spPr>
          <a:xfrm>
            <a:off x="4745736"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14" name="Shape 12"/>
          <p:cNvSpPr/>
          <p:nvPr/>
        </p:nvSpPr>
        <p:spPr>
          <a:xfrm>
            <a:off x="5157216"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5" name="Text 13"/>
          <p:cNvSpPr/>
          <p:nvPr/>
        </p:nvSpPr>
        <p:spPr>
          <a:xfrm>
            <a:off x="5294376"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3</a:t>
            </a:r>
            <a:endParaRPr lang="en-US" sz="2200" dirty="0"/>
          </a:p>
        </p:txBody>
      </p:sp>
      <p:sp>
        <p:nvSpPr>
          <p:cNvPr id="16" name="Text 14"/>
          <p:cNvSpPr/>
          <p:nvPr/>
        </p:nvSpPr>
        <p:spPr>
          <a:xfrm>
            <a:off x="5294376"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STT</a:t>
            </a:r>
            <a:endParaRPr lang="en-US" sz="1550" dirty="0"/>
          </a:p>
        </p:txBody>
      </p:sp>
      <p:sp>
        <p:nvSpPr>
          <p:cNvPr id="17" name="Text 15"/>
          <p:cNvSpPr/>
          <p:nvPr/>
        </p:nvSpPr>
        <p:spPr>
          <a:xfrm>
            <a:off x="5294376"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Groq Whisper turbo</a:t>
            </a:r>
            <a:endParaRPr lang="en-US" sz="1200" dirty="0"/>
          </a:p>
        </p:txBody>
      </p:sp>
      <p:sp>
        <p:nvSpPr>
          <p:cNvPr id="18" name="Text 16"/>
          <p:cNvSpPr/>
          <p:nvPr/>
        </p:nvSpPr>
        <p:spPr>
          <a:xfrm>
            <a:off x="7040880"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19" name="Shape 17"/>
          <p:cNvSpPr/>
          <p:nvPr/>
        </p:nvSpPr>
        <p:spPr>
          <a:xfrm>
            <a:off x="7452360" y="2743200"/>
            <a:ext cx="1883664" cy="1828800"/>
          </a:xfrm>
          <a:prstGeom prst="roundRect">
            <a:avLst>
              <a:gd name="adj" fmla="val 6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0" name="Text 18"/>
          <p:cNvSpPr/>
          <p:nvPr/>
        </p:nvSpPr>
        <p:spPr>
          <a:xfrm>
            <a:off x="7589520"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4</a:t>
            </a:r>
            <a:endParaRPr lang="en-US" sz="2200" dirty="0"/>
          </a:p>
        </p:txBody>
      </p:sp>
      <p:sp>
        <p:nvSpPr>
          <p:cNvPr id="21" name="Text 19"/>
          <p:cNvSpPr/>
          <p:nvPr/>
        </p:nvSpPr>
        <p:spPr>
          <a:xfrm>
            <a:off x="7589520"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Speaker ID</a:t>
            </a:r>
            <a:endParaRPr lang="en-US" sz="1550" dirty="0"/>
          </a:p>
        </p:txBody>
      </p:sp>
      <p:sp>
        <p:nvSpPr>
          <p:cNvPr id="22" name="Text 20"/>
          <p:cNvSpPr/>
          <p:nvPr/>
        </p:nvSpPr>
        <p:spPr>
          <a:xfrm>
            <a:off x="7589520"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you vs. them</a:t>
            </a:r>
            <a:endParaRPr lang="en-US" sz="1200" dirty="0"/>
          </a:p>
        </p:txBody>
      </p:sp>
      <p:sp>
        <p:nvSpPr>
          <p:cNvPr id="23" name="Text 21"/>
          <p:cNvSpPr/>
          <p:nvPr/>
        </p:nvSpPr>
        <p:spPr>
          <a:xfrm>
            <a:off x="9336024"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24" name="Shape 22"/>
          <p:cNvSpPr/>
          <p:nvPr/>
        </p:nvSpPr>
        <p:spPr>
          <a:xfrm>
            <a:off x="9747504"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5" name="Text 23"/>
          <p:cNvSpPr/>
          <p:nvPr/>
        </p:nvSpPr>
        <p:spPr>
          <a:xfrm>
            <a:off x="9884664"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5</a:t>
            </a:r>
            <a:endParaRPr lang="en-US" sz="2200" dirty="0"/>
          </a:p>
        </p:txBody>
      </p:sp>
      <p:sp>
        <p:nvSpPr>
          <p:cNvPr id="26" name="Text 24"/>
          <p:cNvSpPr/>
          <p:nvPr/>
        </p:nvSpPr>
        <p:spPr>
          <a:xfrm>
            <a:off x="9884664"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TTS</a:t>
            </a:r>
            <a:endParaRPr lang="en-US" sz="1550" dirty="0"/>
          </a:p>
        </p:txBody>
      </p:sp>
      <p:sp>
        <p:nvSpPr>
          <p:cNvPr id="27" name="Text 25"/>
          <p:cNvSpPr/>
          <p:nvPr/>
        </p:nvSpPr>
        <p:spPr>
          <a:xfrm>
            <a:off x="9884664"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Edge-TTS speaks back</a:t>
            </a:r>
            <a:endParaRPr lang="en-US" sz="1200" dirty="0"/>
          </a:p>
        </p:txBody>
      </p:sp>
      <p:sp>
        <p:nvSpPr>
          <p:cNvPr id="28" name="Text 2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9" name="Text 2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25</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KNOWLEDGE GRAPH</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Transcript → entities → relationships → graph.</a:t>
            </a:r>
            <a:endParaRPr lang="en-US" sz="3300" dirty="0"/>
          </a:p>
        </p:txBody>
      </p:sp>
      <p:sp>
        <p:nvSpPr>
          <p:cNvPr id="4" name="Shape 2"/>
          <p:cNvSpPr/>
          <p:nvPr/>
        </p:nvSpPr>
        <p:spPr>
          <a:xfrm>
            <a:off x="566928"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704088"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1</a:t>
            </a:r>
            <a:endParaRPr lang="en-US" sz="2200" dirty="0"/>
          </a:p>
        </p:txBody>
      </p:sp>
      <p:sp>
        <p:nvSpPr>
          <p:cNvPr id="6" name="Text 4"/>
          <p:cNvSpPr/>
          <p:nvPr/>
        </p:nvSpPr>
        <p:spPr>
          <a:xfrm>
            <a:off x="704088"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Transcript</a:t>
            </a:r>
            <a:endParaRPr lang="en-US" sz="1550" dirty="0"/>
          </a:p>
        </p:txBody>
      </p:sp>
      <p:sp>
        <p:nvSpPr>
          <p:cNvPr id="7" name="Text 5"/>
          <p:cNvSpPr/>
          <p:nvPr/>
        </p:nvSpPr>
        <p:spPr>
          <a:xfrm>
            <a:off x="704088"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live text</a:t>
            </a:r>
            <a:endParaRPr lang="en-US" sz="1200" dirty="0"/>
          </a:p>
        </p:txBody>
      </p:sp>
      <p:sp>
        <p:nvSpPr>
          <p:cNvPr id="8" name="Text 6"/>
          <p:cNvSpPr/>
          <p:nvPr/>
        </p:nvSpPr>
        <p:spPr>
          <a:xfrm>
            <a:off x="2450592"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9" name="Shape 7"/>
          <p:cNvSpPr/>
          <p:nvPr/>
        </p:nvSpPr>
        <p:spPr>
          <a:xfrm>
            <a:off x="2862072" y="2743200"/>
            <a:ext cx="1883664" cy="1828800"/>
          </a:xfrm>
          <a:prstGeom prst="roundRect">
            <a:avLst>
              <a:gd name="adj" fmla="val 6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Text 8"/>
          <p:cNvSpPr/>
          <p:nvPr/>
        </p:nvSpPr>
        <p:spPr>
          <a:xfrm>
            <a:off x="2999232"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2</a:t>
            </a:r>
            <a:endParaRPr lang="en-US" sz="2200" dirty="0"/>
          </a:p>
        </p:txBody>
      </p:sp>
      <p:sp>
        <p:nvSpPr>
          <p:cNvPr id="11" name="Text 9"/>
          <p:cNvSpPr/>
          <p:nvPr/>
        </p:nvSpPr>
        <p:spPr>
          <a:xfrm>
            <a:off x="2999232"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Extract</a:t>
            </a:r>
            <a:endParaRPr lang="en-US" sz="1550" dirty="0"/>
          </a:p>
        </p:txBody>
      </p:sp>
      <p:sp>
        <p:nvSpPr>
          <p:cNvPr id="12" name="Text 10"/>
          <p:cNvSpPr/>
          <p:nvPr/>
        </p:nvSpPr>
        <p:spPr>
          <a:xfrm>
            <a:off x="2999232"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fast LLM finds people/topics</a:t>
            </a:r>
            <a:endParaRPr lang="en-US" sz="1200" dirty="0"/>
          </a:p>
        </p:txBody>
      </p:sp>
      <p:sp>
        <p:nvSpPr>
          <p:cNvPr id="13" name="Text 11"/>
          <p:cNvSpPr/>
          <p:nvPr/>
        </p:nvSpPr>
        <p:spPr>
          <a:xfrm>
            <a:off x="4745736"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14" name="Shape 12"/>
          <p:cNvSpPr/>
          <p:nvPr/>
        </p:nvSpPr>
        <p:spPr>
          <a:xfrm>
            <a:off x="5157216"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5" name="Text 13"/>
          <p:cNvSpPr/>
          <p:nvPr/>
        </p:nvSpPr>
        <p:spPr>
          <a:xfrm>
            <a:off x="5294376"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3</a:t>
            </a:r>
            <a:endParaRPr lang="en-US" sz="2200" dirty="0"/>
          </a:p>
        </p:txBody>
      </p:sp>
      <p:sp>
        <p:nvSpPr>
          <p:cNvPr id="16" name="Text 14"/>
          <p:cNvSpPr/>
          <p:nvPr/>
        </p:nvSpPr>
        <p:spPr>
          <a:xfrm>
            <a:off x="5294376"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Model</a:t>
            </a:r>
            <a:endParaRPr lang="en-US" sz="1550" dirty="0"/>
          </a:p>
        </p:txBody>
      </p:sp>
      <p:sp>
        <p:nvSpPr>
          <p:cNvPr id="17" name="Text 15"/>
          <p:cNvSpPr/>
          <p:nvPr/>
        </p:nvSpPr>
        <p:spPr>
          <a:xfrm>
            <a:off x="5294376"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NetworkX nodes + edges</a:t>
            </a:r>
            <a:endParaRPr lang="en-US" sz="1200" dirty="0"/>
          </a:p>
        </p:txBody>
      </p:sp>
      <p:sp>
        <p:nvSpPr>
          <p:cNvPr id="18" name="Text 16"/>
          <p:cNvSpPr/>
          <p:nvPr/>
        </p:nvSpPr>
        <p:spPr>
          <a:xfrm>
            <a:off x="7040880"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19" name="Shape 17"/>
          <p:cNvSpPr/>
          <p:nvPr/>
        </p:nvSpPr>
        <p:spPr>
          <a:xfrm>
            <a:off x="7452360" y="2743200"/>
            <a:ext cx="1883664" cy="1828800"/>
          </a:xfrm>
          <a:prstGeom prst="roundRect">
            <a:avLst>
              <a:gd name="adj" fmla="val 6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0" name="Text 18"/>
          <p:cNvSpPr/>
          <p:nvPr/>
        </p:nvSpPr>
        <p:spPr>
          <a:xfrm>
            <a:off x="7589520"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4</a:t>
            </a:r>
            <a:endParaRPr lang="en-US" sz="2200" dirty="0"/>
          </a:p>
        </p:txBody>
      </p:sp>
      <p:sp>
        <p:nvSpPr>
          <p:cNvPr id="21" name="Text 19"/>
          <p:cNvSpPr/>
          <p:nvPr/>
        </p:nvSpPr>
        <p:spPr>
          <a:xfrm>
            <a:off x="7589520"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Persist</a:t>
            </a:r>
            <a:endParaRPr lang="en-US" sz="1550" dirty="0"/>
          </a:p>
        </p:txBody>
      </p:sp>
      <p:sp>
        <p:nvSpPr>
          <p:cNvPr id="22" name="Text 20"/>
          <p:cNvSpPr/>
          <p:nvPr/>
        </p:nvSpPr>
        <p:spPr>
          <a:xfrm>
            <a:off x="7589520"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Postgres link tables</a:t>
            </a:r>
            <a:endParaRPr lang="en-US" sz="1200" dirty="0"/>
          </a:p>
        </p:txBody>
      </p:sp>
      <p:sp>
        <p:nvSpPr>
          <p:cNvPr id="23" name="Text 21"/>
          <p:cNvSpPr/>
          <p:nvPr/>
        </p:nvSpPr>
        <p:spPr>
          <a:xfrm>
            <a:off x="9336024"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24" name="Shape 22"/>
          <p:cNvSpPr/>
          <p:nvPr/>
        </p:nvSpPr>
        <p:spPr>
          <a:xfrm>
            <a:off x="9747504"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5" name="Text 23"/>
          <p:cNvSpPr/>
          <p:nvPr/>
        </p:nvSpPr>
        <p:spPr>
          <a:xfrm>
            <a:off x="9884664"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5</a:t>
            </a:r>
            <a:endParaRPr lang="en-US" sz="2200" dirty="0"/>
          </a:p>
        </p:txBody>
      </p:sp>
      <p:sp>
        <p:nvSpPr>
          <p:cNvPr id="26" name="Text 24"/>
          <p:cNvSpPr/>
          <p:nvPr/>
        </p:nvSpPr>
        <p:spPr>
          <a:xfrm>
            <a:off x="9884664"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Explore</a:t>
            </a:r>
            <a:endParaRPr lang="en-US" sz="1550" dirty="0"/>
          </a:p>
        </p:txBody>
      </p:sp>
      <p:sp>
        <p:nvSpPr>
          <p:cNvPr id="27" name="Text 25"/>
          <p:cNvSpPr/>
          <p:nvPr/>
        </p:nvSpPr>
        <p:spPr>
          <a:xfrm>
            <a:off x="9884664"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interactive timeline</a:t>
            </a:r>
            <a:endParaRPr lang="en-US" sz="1200" dirty="0"/>
          </a:p>
        </p:txBody>
      </p:sp>
      <p:sp>
        <p:nvSpPr>
          <p:cNvPr id="28" name="Text 2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9" name="Text 2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26</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BACKGROUND WORKERS (ARQ)</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Heavy work happens off the critical path.</a:t>
            </a:r>
            <a:endParaRPr lang="en-US" sz="3300" dirty="0"/>
          </a:p>
        </p:txBody>
      </p:sp>
      <p:sp>
        <p:nvSpPr>
          <p:cNvPr id="4" name="Shape 2"/>
          <p:cNvSpPr/>
          <p:nvPr/>
        </p:nvSpPr>
        <p:spPr>
          <a:xfrm>
            <a:off x="566928" y="2240280"/>
            <a:ext cx="10424160" cy="1143000"/>
          </a:xfrm>
          <a:prstGeom prst="roundRect">
            <a:avLst>
              <a:gd name="adj" fmla="val 9600"/>
            </a:avLst>
          </a:prstGeom>
          <a:solidFill>
            <a:srgbClr val="E9F3EC"/>
          </a:solidFill>
          <a:ln w="12700">
            <a:solidFill>
              <a:srgbClr val="2F8F5B"/>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377440"/>
            <a:ext cx="5486400" cy="365760"/>
          </a:xfrm>
          <a:prstGeom prst="rect">
            <a:avLst/>
          </a:prstGeom>
          <a:noFill/>
          <a:ln/>
        </p:spPr>
        <p:txBody>
          <a:bodyPr wrap="square" rtlCol="0" anchor="ctr"/>
          <a:lstStyle/>
          <a:p>
            <a:pPr indent="0" marL="0">
              <a:buNone/>
            </a:pPr>
            <a:r>
              <a:rPr lang="en-US" sz="1400" b="1" dirty="0">
                <a:solidFill>
                  <a:srgbClr val="2F8F5B"/>
                </a:solidFill>
                <a:latin typeface="Segoe UI" pitchFamily="34" charset="0"/>
                <a:ea typeface="Segoe UI" pitchFamily="34" charset="-122"/>
                <a:cs typeface="Segoe UI" pitchFamily="34" charset="-120"/>
              </a:rPr>
              <a:t>HOT PATH  ·  stays fast</a:t>
            </a:r>
            <a:endParaRPr lang="en-US" sz="1400" dirty="0"/>
          </a:p>
        </p:txBody>
      </p:sp>
      <p:sp>
        <p:nvSpPr>
          <p:cNvPr id="6" name="Text 4"/>
          <p:cNvSpPr/>
          <p:nvPr/>
        </p:nvSpPr>
        <p:spPr>
          <a:xfrm>
            <a:off x="932688" y="2788920"/>
            <a:ext cx="9144000" cy="45720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Live advice generation — the only thing on the main thread.</a:t>
            </a:r>
            <a:endParaRPr lang="en-US" sz="1600" dirty="0"/>
          </a:p>
        </p:txBody>
      </p:sp>
      <p:sp>
        <p:nvSpPr>
          <p:cNvPr id="7" name="Shape 5"/>
          <p:cNvSpPr/>
          <p:nvPr/>
        </p:nvSpPr>
        <p:spPr>
          <a:xfrm>
            <a:off x="566928" y="3703320"/>
            <a:ext cx="10424160" cy="1783080"/>
          </a:xfrm>
          <a:prstGeom prst="roundRect">
            <a:avLst>
              <a:gd name="adj" fmla="val 6154"/>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932688" y="3858768"/>
            <a:ext cx="7315200" cy="365760"/>
          </a:xfrm>
          <a:prstGeom prst="rect">
            <a:avLst/>
          </a:prstGeom>
          <a:noFill/>
          <a:ln/>
        </p:spPr>
        <p:txBody>
          <a:bodyPr wrap="square" rtlCol="0" anchor="ctr"/>
          <a:lstStyle/>
          <a:p>
            <a:pPr indent="0" marL="0">
              <a:buNone/>
            </a:pPr>
            <a:r>
              <a:rPr lang="en-US" sz="1400" b="1" dirty="0">
                <a:solidFill>
                  <a:srgbClr val="E08A2B"/>
                </a:solidFill>
                <a:latin typeface="Segoe UI" pitchFamily="34" charset="0"/>
                <a:ea typeface="Segoe UI" pitchFamily="34" charset="-122"/>
                <a:cs typeface="Segoe UI" pitchFamily="34" charset="-120"/>
              </a:rPr>
              <a:t>BACKGROUND  ·  12 idempotent jobs</a:t>
            </a:r>
            <a:endParaRPr lang="en-US" sz="1400" dirty="0"/>
          </a:p>
        </p:txBody>
      </p:sp>
      <p:sp>
        <p:nvSpPr>
          <p:cNvPr id="9" name="Text 7"/>
          <p:cNvSpPr/>
          <p:nvPr/>
        </p:nvSpPr>
        <p:spPr>
          <a:xfrm>
            <a:off x="932688" y="4279392"/>
            <a:ext cx="9784080" cy="1097280"/>
          </a:xfrm>
          <a:prstGeom prst="rect">
            <a:avLst/>
          </a:prstGeom>
          <a:noFill/>
          <a:ln/>
        </p:spPr>
        <p:txBody>
          <a:bodyPr wrap="square" rtlCol="0" anchor="ctr"/>
          <a:lstStyle/>
          <a:p>
            <a:pPr indent="0" marL="0">
              <a:lnSpc>
                <a:spcPct val="120000"/>
              </a:lnSpc>
              <a:buNone/>
            </a:pPr>
            <a:r>
              <a:rPr lang="en-US" sz="1550" dirty="0">
                <a:solidFill>
                  <a:srgbClr val="3A3A3A"/>
                </a:solidFill>
                <a:latin typeface="Segoe UI" pitchFamily="34" charset="0"/>
                <a:ea typeface="Segoe UI" pitchFamily="34" charset="-122"/>
                <a:cs typeface="Segoe UI" pitchFamily="34" charset="-120"/>
              </a:rPr>
              <a:t>Embeddings · grammar scan · sentiment · knowledge extraction · rolling summaries · session analytics · drill cards · scenarios · achievements · reminders</a:t>
            </a:r>
            <a:endParaRPr lang="en-US" sz="1550" dirty="0"/>
          </a:p>
        </p:txBody>
      </p:sp>
      <p:sp>
        <p:nvSpPr>
          <p:cNvPr id="10" name="Text 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1" name="Text 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27</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REAL-TIME CHALLENGE</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Chained, it took 3–5 seconds.</a:t>
            </a:r>
            <a:endParaRPr lang="en-US" sz="3300" dirty="0"/>
          </a:p>
        </p:txBody>
      </p:sp>
      <p:sp>
        <p:nvSpPr>
          <p:cNvPr id="4" name="Shape 2"/>
          <p:cNvSpPr/>
          <p:nvPr/>
        </p:nvSpPr>
        <p:spPr>
          <a:xfrm>
            <a:off x="566928" y="2926080"/>
            <a:ext cx="2377440" cy="914400"/>
          </a:xfrm>
          <a:prstGeom prst="roundRect">
            <a:avLst>
              <a:gd name="adj" fmla="val 10000"/>
            </a:avLst>
          </a:prstGeom>
          <a:solidFill>
            <a:srgbClr val="F8ECE8"/>
          </a:solidFill>
          <a:ln w="15240">
            <a:solidFill>
              <a:srgbClr val="C0492F"/>
            </a:solidFill>
            <a:prstDash val="solid"/>
          </a:ln>
        </p:spPr>
      </p:sp>
      <p:sp>
        <p:nvSpPr>
          <p:cNvPr id="5" name="Text 3"/>
          <p:cNvSpPr/>
          <p:nvPr/>
        </p:nvSpPr>
        <p:spPr>
          <a:xfrm>
            <a:off x="566928" y="2926080"/>
            <a:ext cx="2377440" cy="9144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STT</a:t>
            </a:r>
            <a:endParaRPr lang="en-US" sz="1600" dirty="0"/>
          </a:p>
        </p:txBody>
      </p:sp>
      <p:sp>
        <p:nvSpPr>
          <p:cNvPr id="6" name="Text 4"/>
          <p:cNvSpPr/>
          <p:nvPr/>
        </p:nvSpPr>
        <p:spPr>
          <a:xfrm>
            <a:off x="2898648" y="2926080"/>
            <a:ext cx="457200" cy="914400"/>
          </a:xfrm>
          <a:prstGeom prst="rect">
            <a:avLst/>
          </a:prstGeom>
          <a:noFill/>
          <a:ln/>
        </p:spPr>
        <p:txBody>
          <a:bodyPr wrap="square" rtlCol="0" anchor="ctr"/>
          <a:lstStyle/>
          <a:p>
            <a:pPr algn="ctr" indent="0" marL="0">
              <a:buNone/>
            </a:pPr>
            <a:r>
              <a:rPr lang="en-US" sz="2200" b="1" dirty="0">
                <a:solidFill>
                  <a:srgbClr val="C0492F"/>
                </a:solidFill>
                <a:latin typeface="Segoe UI" pitchFamily="34" charset="0"/>
                <a:ea typeface="Segoe UI" pitchFamily="34" charset="-122"/>
                <a:cs typeface="Segoe UI" pitchFamily="34" charset="-120"/>
              </a:rPr>
              <a:t>→</a:t>
            </a:r>
            <a:endParaRPr lang="en-US" sz="2200" dirty="0"/>
          </a:p>
        </p:txBody>
      </p:sp>
      <p:sp>
        <p:nvSpPr>
          <p:cNvPr id="7" name="Shape 5"/>
          <p:cNvSpPr/>
          <p:nvPr/>
        </p:nvSpPr>
        <p:spPr>
          <a:xfrm>
            <a:off x="3310128" y="2926080"/>
            <a:ext cx="2377440" cy="914400"/>
          </a:xfrm>
          <a:prstGeom prst="roundRect">
            <a:avLst>
              <a:gd name="adj" fmla="val 10000"/>
            </a:avLst>
          </a:prstGeom>
          <a:solidFill>
            <a:srgbClr val="F8ECE8"/>
          </a:solidFill>
          <a:ln w="15240">
            <a:solidFill>
              <a:srgbClr val="C0492F"/>
            </a:solidFill>
            <a:prstDash val="solid"/>
          </a:ln>
        </p:spPr>
      </p:sp>
      <p:sp>
        <p:nvSpPr>
          <p:cNvPr id="8" name="Text 6"/>
          <p:cNvSpPr/>
          <p:nvPr/>
        </p:nvSpPr>
        <p:spPr>
          <a:xfrm>
            <a:off x="3310128" y="2926080"/>
            <a:ext cx="2377440" cy="9144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Vector search</a:t>
            </a:r>
            <a:endParaRPr lang="en-US" sz="1600" dirty="0"/>
          </a:p>
        </p:txBody>
      </p:sp>
      <p:sp>
        <p:nvSpPr>
          <p:cNvPr id="9" name="Text 7"/>
          <p:cNvSpPr/>
          <p:nvPr/>
        </p:nvSpPr>
        <p:spPr>
          <a:xfrm>
            <a:off x="5641848" y="2926080"/>
            <a:ext cx="457200" cy="914400"/>
          </a:xfrm>
          <a:prstGeom prst="rect">
            <a:avLst/>
          </a:prstGeom>
          <a:noFill/>
          <a:ln/>
        </p:spPr>
        <p:txBody>
          <a:bodyPr wrap="square" rtlCol="0" anchor="ctr"/>
          <a:lstStyle/>
          <a:p>
            <a:pPr algn="ctr" indent="0" marL="0">
              <a:buNone/>
            </a:pPr>
            <a:r>
              <a:rPr lang="en-US" sz="2200" b="1" dirty="0">
                <a:solidFill>
                  <a:srgbClr val="C0492F"/>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6053328" y="2926080"/>
            <a:ext cx="2377440" cy="914400"/>
          </a:xfrm>
          <a:prstGeom prst="roundRect">
            <a:avLst>
              <a:gd name="adj" fmla="val 10000"/>
            </a:avLst>
          </a:prstGeom>
          <a:solidFill>
            <a:srgbClr val="F8ECE8"/>
          </a:solidFill>
          <a:ln w="15240">
            <a:solidFill>
              <a:srgbClr val="C0492F"/>
            </a:solidFill>
            <a:prstDash val="solid"/>
          </a:ln>
        </p:spPr>
      </p:sp>
      <p:sp>
        <p:nvSpPr>
          <p:cNvPr id="11" name="Text 9"/>
          <p:cNvSpPr/>
          <p:nvPr/>
        </p:nvSpPr>
        <p:spPr>
          <a:xfrm>
            <a:off x="6053328" y="2926080"/>
            <a:ext cx="2377440" cy="9144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LLM</a:t>
            </a:r>
            <a:endParaRPr lang="en-US" sz="1600" dirty="0"/>
          </a:p>
        </p:txBody>
      </p:sp>
      <p:sp>
        <p:nvSpPr>
          <p:cNvPr id="12" name="Text 10"/>
          <p:cNvSpPr/>
          <p:nvPr/>
        </p:nvSpPr>
        <p:spPr>
          <a:xfrm>
            <a:off x="8385048" y="2926080"/>
            <a:ext cx="457200" cy="914400"/>
          </a:xfrm>
          <a:prstGeom prst="rect">
            <a:avLst/>
          </a:prstGeom>
          <a:noFill/>
          <a:ln/>
        </p:spPr>
        <p:txBody>
          <a:bodyPr wrap="square" rtlCol="0" anchor="ctr"/>
          <a:lstStyle/>
          <a:p>
            <a:pPr algn="ctr" indent="0" marL="0">
              <a:buNone/>
            </a:pPr>
            <a:r>
              <a:rPr lang="en-US" sz="2200" b="1" dirty="0">
                <a:solidFill>
                  <a:srgbClr val="C0492F"/>
                </a:solidFill>
                <a:latin typeface="Segoe UI" pitchFamily="34" charset="0"/>
                <a:ea typeface="Segoe UI" pitchFamily="34" charset="-122"/>
                <a:cs typeface="Segoe UI" pitchFamily="34" charset="-120"/>
              </a:rPr>
              <a:t>→</a:t>
            </a:r>
            <a:endParaRPr lang="en-US" sz="2200" dirty="0"/>
          </a:p>
        </p:txBody>
      </p:sp>
      <p:sp>
        <p:nvSpPr>
          <p:cNvPr id="13" name="Shape 11"/>
          <p:cNvSpPr/>
          <p:nvPr/>
        </p:nvSpPr>
        <p:spPr>
          <a:xfrm>
            <a:off x="8796528" y="2926080"/>
            <a:ext cx="2377440" cy="914400"/>
          </a:xfrm>
          <a:prstGeom prst="roundRect">
            <a:avLst>
              <a:gd name="adj" fmla="val 10000"/>
            </a:avLst>
          </a:prstGeom>
          <a:solidFill>
            <a:srgbClr val="F8ECE8"/>
          </a:solidFill>
          <a:ln w="15240">
            <a:solidFill>
              <a:srgbClr val="C0492F"/>
            </a:solidFill>
            <a:prstDash val="solid"/>
          </a:ln>
        </p:spPr>
      </p:sp>
      <p:sp>
        <p:nvSpPr>
          <p:cNvPr id="14" name="Text 12"/>
          <p:cNvSpPr/>
          <p:nvPr/>
        </p:nvSpPr>
        <p:spPr>
          <a:xfrm>
            <a:off x="8796528" y="2926080"/>
            <a:ext cx="2377440" cy="9144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Response</a:t>
            </a:r>
            <a:endParaRPr lang="en-US" sz="1600" dirty="0"/>
          </a:p>
        </p:txBody>
      </p:sp>
      <p:sp>
        <p:nvSpPr>
          <p:cNvPr id="15" name="Text 13"/>
          <p:cNvSpPr/>
          <p:nvPr/>
        </p:nvSpPr>
        <p:spPr>
          <a:xfrm>
            <a:off x="566928" y="4480560"/>
            <a:ext cx="4114800" cy="548640"/>
          </a:xfrm>
          <a:prstGeom prst="rect">
            <a:avLst/>
          </a:prstGeom>
          <a:noFill/>
          <a:ln/>
        </p:spPr>
        <p:txBody>
          <a:bodyPr wrap="square" rtlCol="0" anchor="ctr"/>
          <a:lstStyle/>
          <a:p>
            <a:pPr indent="0" marL="0">
              <a:buNone/>
            </a:pPr>
            <a:r>
              <a:rPr lang="en-US" sz="2000" dirty="0">
                <a:solidFill>
                  <a:srgbClr val="3A3A3A"/>
                </a:solidFill>
                <a:latin typeface="Segoe UI" pitchFamily="34" charset="0"/>
                <a:ea typeface="Segoe UI" pitchFamily="34" charset="-122"/>
                <a:cs typeface="Segoe UI" pitchFamily="34" charset="-120"/>
              </a:rPr>
              <a:t>Conversation needs </a:t>
            </a:r>
            <a:endParaRPr lang="en-US" sz="2000" dirty="0"/>
          </a:p>
        </p:txBody>
      </p:sp>
      <p:sp>
        <p:nvSpPr>
          <p:cNvPr id="16" name="Text 14"/>
          <p:cNvSpPr/>
          <p:nvPr/>
        </p:nvSpPr>
        <p:spPr>
          <a:xfrm>
            <a:off x="4023360" y="4434840"/>
            <a:ext cx="2743200" cy="640080"/>
          </a:xfrm>
          <a:prstGeom prst="rect">
            <a:avLst/>
          </a:prstGeom>
          <a:noFill/>
          <a:ln/>
        </p:spPr>
        <p:txBody>
          <a:bodyPr wrap="square" rtlCol="0" anchor="ctr"/>
          <a:lstStyle/>
          <a:p>
            <a:pPr indent="0" marL="0">
              <a:buNone/>
            </a:pPr>
            <a:r>
              <a:rPr lang="en-US" sz="2600" b="1" dirty="0">
                <a:solidFill>
                  <a:srgbClr val="C0492F"/>
                </a:solidFill>
                <a:latin typeface="Segoe UI" pitchFamily="34" charset="0"/>
                <a:ea typeface="Segoe UI" pitchFamily="34" charset="-122"/>
                <a:cs typeface="Segoe UI" pitchFamily="34" charset="-120"/>
              </a:rPr>
              <a:t>&lt; 1 second.</a:t>
            </a:r>
            <a:endParaRPr lang="en-US" sz="2600" dirty="0"/>
          </a:p>
        </p:txBody>
      </p:sp>
      <p:sp>
        <p:nvSpPr>
          <p:cNvPr id="17" name="Text 15"/>
          <p:cNvSpPr/>
          <p:nvPr/>
        </p:nvSpPr>
        <p:spPr>
          <a:xfrm>
            <a:off x="6035040" y="4480560"/>
            <a:ext cx="5486400" cy="548640"/>
          </a:xfrm>
          <a:prstGeom prst="rect">
            <a:avLst/>
          </a:prstGeom>
          <a:noFill/>
          <a:ln/>
        </p:spPr>
        <p:txBody>
          <a:bodyPr wrap="square" rtlCol="0" anchor="ctr"/>
          <a:lstStyle/>
          <a:p>
            <a:pPr indent="0" marL="0">
              <a:buNone/>
            </a:pPr>
            <a:r>
              <a:rPr lang="en-US" sz="1600" i="1" dirty="0">
                <a:solidFill>
                  <a:srgbClr val="9A9285"/>
                </a:solidFill>
                <a:latin typeface="Segoe UI" pitchFamily="34" charset="0"/>
                <a:ea typeface="Segoe UI" pitchFamily="34" charset="-122"/>
                <a:cs typeface="Segoe UI" pitchFamily="34" charset="-120"/>
              </a:rPr>
              <a:t>3–5 s of dead air is useless mid-talk.</a:t>
            </a:r>
            <a:endParaRPr lang="en-US" sz="1600" dirty="0"/>
          </a:p>
        </p:txBody>
      </p:sp>
      <p:sp>
        <p:nvSpPr>
          <p:cNvPr id="18" name="Text 1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9" name="Text 1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28</a:t>
            </a:r>
            <a:endParaRPr lang="en-US" sz="9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HOW WE BEAT IT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Parallel pipeline + Groq LPU.</a:t>
            </a:r>
            <a:endParaRPr lang="en-US" sz="3300" dirty="0"/>
          </a:p>
        </p:txBody>
      </p:sp>
      <p:sp>
        <p:nvSpPr>
          <p:cNvPr id="4" name="Shape 2"/>
          <p:cNvSpPr/>
          <p:nvPr/>
        </p:nvSpPr>
        <p:spPr>
          <a:xfrm>
            <a:off x="566928" y="2286000"/>
            <a:ext cx="5029200" cy="2194560"/>
          </a:xfrm>
          <a:prstGeom prst="roundRect">
            <a:avLst>
              <a:gd name="adj" fmla="val 5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468880"/>
            <a:ext cx="3657600" cy="365760"/>
          </a:xfrm>
          <a:prstGeom prst="rect">
            <a:avLst/>
          </a:prstGeom>
          <a:noFill/>
          <a:ln/>
        </p:spPr>
        <p:txBody>
          <a:bodyPr wrap="square" rtlCol="0" anchor="ctr"/>
          <a:lstStyle/>
          <a:p>
            <a:pPr indent="0" marL="0">
              <a:buNone/>
            </a:pPr>
            <a:r>
              <a:rPr lang="en-US" sz="1500" b="1" dirty="0">
                <a:solidFill>
                  <a:srgbClr val="9A9285"/>
                </a:solidFill>
                <a:latin typeface="Segoe UI" pitchFamily="34" charset="0"/>
                <a:ea typeface="Segoe UI" pitchFamily="34" charset="-122"/>
                <a:cs typeface="Segoe UI" pitchFamily="34" charset="-120"/>
              </a:rPr>
              <a:t>Before</a:t>
            </a:r>
            <a:endParaRPr lang="en-US" sz="1500" dirty="0"/>
          </a:p>
        </p:txBody>
      </p:sp>
      <p:sp>
        <p:nvSpPr>
          <p:cNvPr id="6" name="Text 4"/>
          <p:cNvSpPr/>
          <p:nvPr/>
        </p:nvSpPr>
        <p:spPr>
          <a:xfrm>
            <a:off x="932688" y="2834640"/>
            <a:ext cx="4297680" cy="1097280"/>
          </a:xfrm>
          <a:prstGeom prst="rect">
            <a:avLst/>
          </a:prstGeom>
          <a:noFill/>
          <a:ln/>
        </p:spPr>
        <p:txBody>
          <a:bodyPr wrap="square" rtlCol="0" anchor="ctr"/>
          <a:lstStyle/>
          <a:p>
            <a:pPr indent="0" marL="0">
              <a:buNone/>
            </a:pPr>
            <a:r>
              <a:rPr lang="en-US" sz="6000" b="1" dirty="0">
                <a:solidFill>
                  <a:srgbClr val="C0492F"/>
                </a:solidFill>
                <a:latin typeface="Segoe UI" pitchFamily="34" charset="0"/>
                <a:ea typeface="Segoe UI" pitchFamily="34" charset="-122"/>
                <a:cs typeface="Segoe UI" pitchFamily="34" charset="-120"/>
              </a:rPr>
              <a:t>~2 s</a:t>
            </a:r>
            <a:endParaRPr lang="en-US" sz="6000" dirty="0"/>
          </a:p>
        </p:txBody>
      </p:sp>
      <p:sp>
        <p:nvSpPr>
          <p:cNvPr id="7" name="Text 5"/>
          <p:cNvSpPr/>
          <p:nvPr/>
        </p:nvSpPr>
        <p:spPr>
          <a:xfrm>
            <a:off x="932688" y="3977640"/>
            <a:ext cx="4297680" cy="36576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serial chain, big model</a:t>
            </a:r>
            <a:endParaRPr lang="en-US" sz="1300" dirty="0"/>
          </a:p>
        </p:txBody>
      </p:sp>
      <p:sp>
        <p:nvSpPr>
          <p:cNvPr id="8" name="Text 6"/>
          <p:cNvSpPr/>
          <p:nvPr/>
        </p:nvSpPr>
        <p:spPr>
          <a:xfrm>
            <a:off x="5760720" y="2926080"/>
            <a:ext cx="822960" cy="914400"/>
          </a:xfrm>
          <a:prstGeom prst="rect">
            <a:avLst/>
          </a:prstGeom>
          <a:noFill/>
          <a:ln/>
        </p:spPr>
        <p:txBody>
          <a:bodyPr wrap="square" rtlCol="0" anchor="ctr"/>
          <a:lstStyle/>
          <a:p>
            <a:pPr algn="ctr" indent="0" marL="0">
              <a:buNone/>
            </a:pPr>
            <a:r>
              <a:rPr lang="en-US" sz="4000" b="1" dirty="0">
                <a:solidFill>
                  <a:srgbClr val="0E7C86"/>
                </a:solidFill>
                <a:latin typeface="Segoe UI" pitchFamily="34" charset="0"/>
                <a:ea typeface="Segoe UI" pitchFamily="34" charset="-122"/>
                <a:cs typeface="Segoe UI" pitchFamily="34" charset="-120"/>
              </a:rPr>
              <a:t>→</a:t>
            </a:r>
            <a:endParaRPr lang="en-US" sz="4000" dirty="0"/>
          </a:p>
        </p:txBody>
      </p:sp>
      <p:sp>
        <p:nvSpPr>
          <p:cNvPr id="9" name="Shape 7"/>
          <p:cNvSpPr/>
          <p:nvPr/>
        </p:nvSpPr>
        <p:spPr>
          <a:xfrm>
            <a:off x="6675120" y="2286000"/>
            <a:ext cx="4937760" cy="2194560"/>
          </a:xfrm>
          <a:prstGeom prst="roundRect">
            <a:avLst>
              <a:gd name="adj" fmla="val 5000"/>
            </a:avLst>
          </a:prstGeom>
          <a:solidFill>
            <a:srgbClr val="E9F3EC"/>
          </a:solidFill>
          <a:ln w="12700">
            <a:solidFill>
              <a:srgbClr val="2F8F5B"/>
            </a:solidFill>
            <a:prstDash val="solid"/>
          </a:ln>
          <a:effectLst>
            <a:outerShdw sx="100000" sy="100000" kx="0" ky="0" algn="bl" rotWithShape="0" blurRad="88900" dist="25400" dir="5400000">
              <a:srgbClr val="BBB2A2">
                <a:alpha val="22000"/>
              </a:srgbClr>
            </a:outerShdw>
          </a:effectLst>
        </p:spPr>
      </p:sp>
      <p:sp>
        <p:nvSpPr>
          <p:cNvPr id="10" name="Text 8"/>
          <p:cNvSpPr/>
          <p:nvPr/>
        </p:nvSpPr>
        <p:spPr>
          <a:xfrm>
            <a:off x="7040880" y="2468880"/>
            <a:ext cx="3657600" cy="365760"/>
          </a:xfrm>
          <a:prstGeom prst="rect">
            <a:avLst/>
          </a:prstGeom>
          <a:noFill/>
          <a:ln/>
        </p:spPr>
        <p:txBody>
          <a:bodyPr wrap="square" rtlCol="0" anchor="ctr"/>
          <a:lstStyle/>
          <a:p>
            <a:pPr indent="0" marL="0">
              <a:buNone/>
            </a:pPr>
            <a:r>
              <a:rPr lang="en-US" sz="1500" b="1" dirty="0">
                <a:solidFill>
                  <a:srgbClr val="2F8F5B"/>
                </a:solidFill>
                <a:latin typeface="Segoe UI" pitchFamily="34" charset="0"/>
                <a:ea typeface="Segoe UI" pitchFamily="34" charset="-122"/>
                <a:cs typeface="Segoe UI" pitchFamily="34" charset="-120"/>
              </a:rPr>
              <a:t>After</a:t>
            </a:r>
            <a:endParaRPr lang="en-US" sz="1500" dirty="0"/>
          </a:p>
        </p:txBody>
      </p:sp>
      <p:sp>
        <p:nvSpPr>
          <p:cNvPr id="11" name="Text 9"/>
          <p:cNvSpPr/>
          <p:nvPr/>
        </p:nvSpPr>
        <p:spPr>
          <a:xfrm>
            <a:off x="7040880" y="2834640"/>
            <a:ext cx="4297680" cy="1097280"/>
          </a:xfrm>
          <a:prstGeom prst="rect">
            <a:avLst/>
          </a:prstGeom>
          <a:noFill/>
          <a:ln/>
        </p:spPr>
        <p:txBody>
          <a:bodyPr wrap="square" rtlCol="0" anchor="ctr"/>
          <a:lstStyle/>
          <a:p>
            <a:pPr indent="0" marL="0">
              <a:buNone/>
            </a:pPr>
            <a:r>
              <a:rPr lang="en-US" sz="6000" b="1" dirty="0">
                <a:solidFill>
                  <a:srgbClr val="2F8F5B"/>
                </a:solidFill>
                <a:latin typeface="Segoe UI" pitchFamily="34" charset="0"/>
                <a:ea typeface="Segoe UI" pitchFamily="34" charset="-122"/>
                <a:cs typeface="Segoe UI" pitchFamily="34" charset="-120"/>
              </a:rPr>
              <a:t>~300 ms</a:t>
            </a:r>
            <a:endParaRPr lang="en-US" sz="6000" dirty="0"/>
          </a:p>
        </p:txBody>
      </p:sp>
      <p:sp>
        <p:nvSpPr>
          <p:cNvPr id="12" name="Text 10"/>
          <p:cNvSpPr/>
          <p:nvPr/>
        </p:nvSpPr>
        <p:spPr>
          <a:xfrm>
            <a:off x="7040880" y="3977640"/>
            <a:ext cx="4297680" cy="36576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hot path only + 8B on Groq LPU</a:t>
            </a:r>
            <a:endParaRPr lang="en-US" sz="1300" dirty="0"/>
          </a:p>
        </p:txBody>
      </p:sp>
      <p:sp>
        <p:nvSpPr>
          <p:cNvPr id="13" name="Text 11"/>
          <p:cNvSpPr/>
          <p:nvPr/>
        </p:nvSpPr>
        <p:spPr>
          <a:xfrm>
            <a:off x="566928" y="4846320"/>
            <a:ext cx="10972800" cy="54864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Only advice stays on the main thread; knowledge extraction &amp; memory-saving become fire-and-forget.</a:t>
            </a:r>
            <a:endParaRPr lang="en-US" sz="160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29</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CHALLENGE: WHO SAID WHAT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Advise on their words — not yours.</a:t>
            </a:r>
            <a:endParaRPr lang="en-US" sz="3300" dirty="0"/>
          </a:p>
        </p:txBody>
      </p:sp>
      <p:sp>
        <p:nvSpPr>
          <p:cNvPr id="4" name="Shape 2"/>
          <p:cNvSpPr/>
          <p:nvPr/>
        </p:nvSpPr>
        <p:spPr>
          <a:xfrm>
            <a:off x="566928" y="2377440"/>
            <a:ext cx="5212080" cy="685800"/>
          </a:xfrm>
          <a:prstGeom prst="roundRect">
            <a:avLst>
              <a:gd name="adj" fmla="val 16000"/>
            </a:avLst>
          </a:prstGeom>
          <a:solidFill>
            <a:srgbClr val="F0EBE1"/>
          </a:solidFill>
          <a:ln/>
        </p:spPr>
      </p:sp>
      <p:sp>
        <p:nvSpPr>
          <p:cNvPr id="5" name="Text 3"/>
          <p:cNvSpPr/>
          <p:nvPr/>
        </p:nvSpPr>
        <p:spPr>
          <a:xfrm>
            <a:off x="841248" y="2377440"/>
            <a:ext cx="4663440" cy="685800"/>
          </a:xfrm>
          <a:prstGeom prst="rect">
            <a:avLst/>
          </a:prstGeom>
          <a:noFill/>
          <a:ln/>
        </p:spPr>
        <p:txBody>
          <a:bodyPr wrap="square" rtlCol="0" anchor="ctr"/>
          <a:lstStyle/>
          <a:p>
            <a:pPr indent="0" marL="0">
              <a:buNone/>
            </a:pPr>
            <a:r>
              <a:rPr lang="en-US" sz="1600" b="1" dirty="0">
                <a:solidFill>
                  <a:srgbClr val="0E7C86"/>
                </a:solidFill>
                <a:latin typeface="Segoe UI" pitchFamily="34" charset="0"/>
                <a:ea typeface="Segoe UI" pitchFamily="34" charset="-122"/>
                <a:cs typeface="Segoe UI" pitchFamily="34" charset="-120"/>
              </a:rPr>
              <a:t>Other  </a:t>
            </a:r>
            <a:pPr indent="0" marL="0">
              <a:buNone/>
            </a:pPr>
            <a:r>
              <a:rPr lang="en-US" sz="1600" dirty="0">
                <a:solidFill>
                  <a:srgbClr val="1A1A1A"/>
                </a:solidFill>
                <a:latin typeface="Segoe UI" pitchFamily="34" charset="0"/>
                <a:ea typeface="Segoe UI" pitchFamily="34" charset="-122"/>
                <a:cs typeface="Segoe UI" pitchFamily="34" charset="-120"/>
              </a:rPr>
              <a:t>Can you explain your hobbies?</a:t>
            </a:r>
            <a:endParaRPr lang="en-US" sz="1600" dirty="0"/>
          </a:p>
        </p:txBody>
      </p:sp>
      <p:sp>
        <p:nvSpPr>
          <p:cNvPr id="6" name="Shape 4"/>
          <p:cNvSpPr/>
          <p:nvPr/>
        </p:nvSpPr>
        <p:spPr>
          <a:xfrm>
            <a:off x="6217920" y="3246120"/>
            <a:ext cx="5212080" cy="685800"/>
          </a:xfrm>
          <a:prstGeom prst="roundRect">
            <a:avLst>
              <a:gd name="adj" fmla="val 16000"/>
            </a:avLst>
          </a:prstGeom>
          <a:solidFill>
            <a:srgbClr val="0E7C86"/>
          </a:solidFill>
          <a:ln/>
        </p:spPr>
      </p:sp>
      <p:sp>
        <p:nvSpPr>
          <p:cNvPr id="7" name="Text 5"/>
          <p:cNvSpPr/>
          <p:nvPr/>
        </p:nvSpPr>
        <p:spPr>
          <a:xfrm>
            <a:off x="6492240" y="3246120"/>
            <a:ext cx="4663440" cy="685800"/>
          </a:xfrm>
          <a:prstGeom prst="rect">
            <a:avLst/>
          </a:prstGeom>
          <a:noFill/>
          <a:ln/>
        </p:spPr>
        <p:txBody>
          <a:bodyPr wrap="square" rtlCol="0" anchor="ctr"/>
          <a:lstStyle/>
          <a:p>
            <a:pPr indent="0" marL="0">
              <a:buNone/>
            </a:pPr>
            <a:r>
              <a:rPr lang="en-US" sz="1600" b="1" dirty="0">
                <a:solidFill>
                  <a:srgbClr val="CFE6E8"/>
                </a:solidFill>
                <a:latin typeface="Segoe UI" pitchFamily="34" charset="0"/>
                <a:ea typeface="Segoe UI" pitchFamily="34" charset="-122"/>
                <a:cs typeface="Segoe UI" pitchFamily="34" charset="-120"/>
              </a:rPr>
              <a:t>You  </a:t>
            </a:r>
            <a:pPr indent="0" marL="0">
              <a:buNone/>
            </a:pPr>
            <a:r>
              <a:rPr lang="en-US" sz="1600" dirty="0">
                <a:solidFill>
                  <a:srgbClr val="FFFFFF"/>
                </a:solidFill>
                <a:latin typeface="Segoe UI" pitchFamily="34" charset="0"/>
                <a:ea typeface="Segoe UI" pitchFamily="34" charset="-122"/>
                <a:cs typeface="Segoe UI" pitchFamily="34" charset="-120"/>
              </a:rPr>
              <a:t>I'm doing CS and… stuff.</a:t>
            </a:r>
            <a:endParaRPr lang="en-US" sz="1600" dirty="0"/>
          </a:p>
        </p:txBody>
      </p:sp>
      <p:sp>
        <p:nvSpPr>
          <p:cNvPr id="8" name="Shape 6"/>
          <p:cNvSpPr/>
          <p:nvPr/>
        </p:nvSpPr>
        <p:spPr>
          <a:xfrm>
            <a:off x="566928" y="4114800"/>
            <a:ext cx="5212080" cy="685800"/>
          </a:xfrm>
          <a:prstGeom prst="roundRect">
            <a:avLst>
              <a:gd name="adj" fmla="val 16000"/>
            </a:avLst>
          </a:prstGeom>
          <a:solidFill>
            <a:srgbClr val="F0EBE1"/>
          </a:solidFill>
          <a:ln/>
        </p:spPr>
      </p:sp>
      <p:sp>
        <p:nvSpPr>
          <p:cNvPr id="9" name="Text 7"/>
          <p:cNvSpPr/>
          <p:nvPr/>
        </p:nvSpPr>
        <p:spPr>
          <a:xfrm>
            <a:off x="841248" y="4114800"/>
            <a:ext cx="4663440" cy="685800"/>
          </a:xfrm>
          <a:prstGeom prst="rect">
            <a:avLst/>
          </a:prstGeom>
          <a:noFill/>
          <a:ln/>
        </p:spPr>
        <p:txBody>
          <a:bodyPr wrap="square" rtlCol="0" anchor="ctr"/>
          <a:lstStyle/>
          <a:p>
            <a:pPr indent="0" marL="0">
              <a:buNone/>
            </a:pPr>
            <a:r>
              <a:rPr lang="en-US" sz="1600" b="1" dirty="0">
                <a:solidFill>
                  <a:srgbClr val="0E7C86"/>
                </a:solidFill>
                <a:latin typeface="Segoe UI" pitchFamily="34" charset="0"/>
                <a:ea typeface="Segoe UI" pitchFamily="34" charset="-122"/>
                <a:cs typeface="Segoe UI" pitchFamily="34" charset="-120"/>
              </a:rPr>
              <a:t>Other  </a:t>
            </a:r>
            <a:pPr indent="0" marL="0">
              <a:buNone/>
            </a:pPr>
            <a:r>
              <a:rPr lang="en-US" sz="1600" dirty="0">
                <a:solidFill>
                  <a:srgbClr val="1A1A1A"/>
                </a:solidFill>
                <a:latin typeface="Segoe UI" pitchFamily="34" charset="0"/>
                <a:ea typeface="Segoe UI" pitchFamily="34" charset="-122"/>
                <a:cs typeface="Segoe UI" pitchFamily="34" charset="-120"/>
              </a:rPr>
              <a:t>What do you like in CS?</a:t>
            </a:r>
            <a:endParaRPr lang="en-US" sz="1600" dirty="0"/>
          </a:p>
        </p:txBody>
      </p:sp>
      <p:sp>
        <p:nvSpPr>
          <p:cNvPr id="10" name="Text 8"/>
          <p:cNvSpPr/>
          <p:nvPr/>
        </p:nvSpPr>
        <p:spPr>
          <a:xfrm>
            <a:off x="566928" y="5212080"/>
            <a:ext cx="10972800" cy="548640"/>
          </a:xfrm>
          <a:prstGeom prst="rect">
            <a:avLst/>
          </a:prstGeom>
          <a:noFill/>
          <a:ln/>
        </p:spPr>
        <p:txBody>
          <a:bodyPr wrap="square" rtlCol="0" anchor="ctr"/>
          <a:lstStyle/>
          <a:p>
            <a:pPr indent="0" marL="0">
              <a:buNone/>
            </a:pPr>
            <a:r>
              <a:rPr lang="en-US" sz="1600" i="1" dirty="0">
                <a:solidFill>
                  <a:srgbClr val="3A3A3A"/>
                </a:solidFill>
                <a:latin typeface="Segoe UI" pitchFamily="34" charset="0"/>
                <a:ea typeface="Segoe UI" pitchFamily="34" charset="-122"/>
                <a:cs typeface="Segoe UI" pitchFamily="34" charset="-120"/>
              </a:rPr>
              <a:t>We parse word-level timestamps to split User vs. Other — Wingman reacts to the other person only.</a:t>
            </a:r>
            <a:endParaRPr lang="en-US" sz="1600" dirty="0"/>
          </a:p>
        </p:txBody>
      </p:sp>
      <p:sp>
        <p:nvSpPr>
          <p:cNvPr id="11" name="Text 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2" name="Text 1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30</a:t>
            </a:r>
            <a:endParaRPr lang="en-US" sz="9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TWO MORE HARD PROBLEMS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Hallucination &amp; lost state.</a:t>
            </a:r>
            <a:endParaRPr lang="en-US" sz="3300" dirty="0"/>
          </a:p>
        </p:txBody>
      </p:sp>
      <p:sp>
        <p:nvSpPr>
          <p:cNvPr id="4" name="Shape 2"/>
          <p:cNvSpPr/>
          <p:nvPr/>
        </p:nvSpPr>
        <p:spPr>
          <a:xfrm>
            <a:off x="566928" y="2286000"/>
            <a:ext cx="5120640" cy="2743200"/>
          </a:xfrm>
          <a:prstGeom prst="roundRect">
            <a:avLst>
              <a:gd name="adj" fmla="val 4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566928" y="2286000"/>
            <a:ext cx="5120640" cy="109728"/>
          </a:xfrm>
          <a:prstGeom prst="rect">
            <a:avLst/>
          </a:prstGeom>
          <a:solidFill>
            <a:srgbClr val="0E7C86"/>
          </a:solidFill>
          <a:ln/>
        </p:spPr>
      </p:sp>
      <p:sp>
        <p:nvSpPr>
          <p:cNvPr id="6" name="Text 4"/>
          <p:cNvSpPr/>
          <p:nvPr/>
        </p:nvSpPr>
        <p:spPr>
          <a:xfrm>
            <a:off x="932688" y="2560320"/>
            <a:ext cx="4572000" cy="457200"/>
          </a:xfrm>
          <a:prstGeom prst="rect">
            <a:avLst/>
          </a:prstGeom>
          <a:noFill/>
          <a:ln/>
        </p:spPr>
        <p:txBody>
          <a:bodyPr wrap="square" rtlCol="0" anchor="ctr"/>
          <a:lstStyle/>
          <a:p>
            <a:pPr indent="0" marL="0">
              <a:buNone/>
            </a:pPr>
            <a:r>
              <a:rPr lang="en-US" sz="2100" b="1" dirty="0">
                <a:solidFill>
                  <a:srgbClr val="1A1A1A"/>
                </a:solidFill>
                <a:latin typeface="Segoe UI" pitchFamily="34" charset="0"/>
                <a:ea typeface="Segoe UI" pitchFamily="34" charset="-122"/>
                <a:cs typeface="Segoe UI" pitchFamily="34" charset="-120"/>
              </a:rPr>
              <a:t>Hallucination</a:t>
            </a:r>
            <a:endParaRPr lang="en-US" sz="2100" dirty="0"/>
          </a:p>
        </p:txBody>
      </p:sp>
      <p:sp>
        <p:nvSpPr>
          <p:cNvPr id="7" name="Text 5"/>
          <p:cNvSpPr/>
          <p:nvPr/>
        </p:nvSpPr>
        <p:spPr>
          <a:xfrm>
            <a:off x="932688" y="315468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Force graph facts first, plus a strict prompt: “If it's not in the context, say you don't know.”</a:t>
            </a:r>
            <a:endParaRPr lang="en-US" sz="1650" dirty="0"/>
          </a:p>
        </p:txBody>
      </p:sp>
      <p:sp>
        <p:nvSpPr>
          <p:cNvPr id="8" name="Shape 6"/>
          <p:cNvSpPr/>
          <p:nvPr/>
        </p:nvSpPr>
        <p:spPr>
          <a:xfrm>
            <a:off x="6144768" y="2286000"/>
            <a:ext cx="5120640" cy="2743200"/>
          </a:xfrm>
          <a:prstGeom prst="roundRect">
            <a:avLst>
              <a:gd name="adj" fmla="val 4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9" name="Shape 7"/>
          <p:cNvSpPr/>
          <p:nvPr/>
        </p:nvSpPr>
        <p:spPr>
          <a:xfrm>
            <a:off x="6144768" y="2286000"/>
            <a:ext cx="5120640" cy="109728"/>
          </a:xfrm>
          <a:prstGeom prst="rect">
            <a:avLst/>
          </a:prstGeom>
          <a:solidFill>
            <a:srgbClr val="E08A2B"/>
          </a:solidFill>
          <a:ln/>
        </p:spPr>
      </p:sp>
      <p:sp>
        <p:nvSpPr>
          <p:cNvPr id="10" name="Text 8"/>
          <p:cNvSpPr/>
          <p:nvPr/>
        </p:nvSpPr>
        <p:spPr>
          <a:xfrm>
            <a:off x="6510528" y="2560320"/>
            <a:ext cx="4572000" cy="457200"/>
          </a:xfrm>
          <a:prstGeom prst="rect">
            <a:avLst/>
          </a:prstGeom>
          <a:noFill/>
          <a:ln/>
        </p:spPr>
        <p:txBody>
          <a:bodyPr wrap="square" rtlCol="0" anchor="ctr"/>
          <a:lstStyle/>
          <a:p>
            <a:pPr indent="0" marL="0">
              <a:buNone/>
            </a:pPr>
            <a:r>
              <a:rPr lang="en-US" sz="2100" b="1" dirty="0">
                <a:solidFill>
                  <a:srgbClr val="1A1A1A"/>
                </a:solidFill>
                <a:latin typeface="Segoe UI" pitchFamily="34" charset="0"/>
                <a:ea typeface="Segoe UI" pitchFamily="34" charset="-122"/>
                <a:cs typeface="Segoe UI" pitchFamily="34" charset="-120"/>
              </a:rPr>
              <a:t>Lost state</a:t>
            </a:r>
            <a:endParaRPr lang="en-US" sz="2100" dirty="0"/>
          </a:p>
        </p:txBody>
      </p:sp>
      <p:sp>
        <p:nvSpPr>
          <p:cNvPr id="11" name="Text 9"/>
          <p:cNvSpPr/>
          <p:nvPr/>
        </p:nvSpPr>
        <p:spPr>
          <a:xfrm>
            <a:off x="6510528" y="315468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Stateless HTTP forgets mid-talk. Hold live context in RAM (fast) and persist to Supabase (reliable).</a:t>
            </a:r>
            <a:endParaRPr lang="en-US" sz="1650" dirty="0"/>
          </a:p>
        </p:txBody>
      </p:sp>
      <p:sp>
        <p:nvSpPr>
          <p:cNvPr id="12" name="Text 10"/>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3" name="Text 11"/>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31</a:t>
            </a:r>
            <a:endParaRPr lang="en-US" sz="9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BUILT FOR RELIABILITY</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Production guardrails, not a demo script.</a:t>
            </a:r>
            <a:endParaRPr lang="en-US" sz="3300" dirty="0"/>
          </a:p>
        </p:txBody>
      </p:sp>
      <p:sp>
        <p:nvSpPr>
          <p:cNvPr id="4" name="Shape 2"/>
          <p:cNvSpPr/>
          <p:nvPr/>
        </p:nvSpPr>
        <p:spPr>
          <a:xfrm>
            <a:off x="566928" y="2194560"/>
            <a:ext cx="548640" cy="548640"/>
          </a:xfrm>
          <a:prstGeom prst="ellipse">
            <a:avLst/>
          </a:prstGeom>
          <a:solidFill>
            <a:srgbClr val="E4EFEF"/>
          </a:solidFill>
          <a:ln w="16510">
            <a:solidFill>
              <a:srgbClr val="0E7C86"/>
            </a:solidFill>
            <a:prstDash val="solid"/>
          </a:ln>
        </p:spPr>
      </p:sp>
      <p:sp>
        <p:nvSpPr>
          <p:cNvPr id="5" name="Text 3"/>
          <p:cNvSpPr/>
          <p:nvPr/>
        </p:nvSpPr>
        <p:spPr>
          <a:xfrm>
            <a:off x="566928" y="2194560"/>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6" name="Text 4"/>
          <p:cNvSpPr/>
          <p:nvPr/>
        </p:nvSpPr>
        <p:spPr>
          <a:xfrm>
            <a:off x="1389888" y="2194560"/>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Circuit breakers  —  </a:t>
            </a:r>
            <a:pPr indent="0" marL="0">
              <a:buNone/>
            </a:pPr>
            <a:r>
              <a:rPr lang="en-US" sz="1700" dirty="0">
                <a:solidFill>
                  <a:srgbClr val="3A3A3A"/>
                </a:solidFill>
                <a:latin typeface="Segoe UI" pitchFamily="34" charset="0"/>
                <a:ea typeface="Segoe UI" pitchFamily="34" charset="-122"/>
                <a:cs typeface="Segoe UI" pitchFamily="34" charset="-120"/>
              </a:rPr>
              <a:t>isolate a failing provider</a:t>
            </a:r>
            <a:endParaRPr lang="en-US" sz="1700" dirty="0"/>
          </a:p>
        </p:txBody>
      </p:sp>
      <p:sp>
        <p:nvSpPr>
          <p:cNvPr id="7" name="Shape 5"/>
          <p:cNvSpPr/>
          <p:nvPr/>
        </p:nvSpPr>
        <p:spPr>
          <a:xfrm>
            <a:off x="566928" y="2944368"/>
            <a:ext cx="548640" cy="548640"/>
          </a:xfrm>
          <a:prstGeom prst="ellipse">
            <a:avLst/>
          </a:prstGeom>
          <a:solidFill>
            <a:srgbClr val="E4EFEF"/>
          </a:solidFill>
          <a:ln w="16510">
            <a:solidFill>
              <a:srgbClr val="0E7C86"/>
            </a:solidFill>
            <a:prstDash val="solid"/>
          </a:ln>
        </p:spPr>
      </p:sp>
      <p:sp>
        <p:nvSpPr>
          <p:cNvPr id="8" name="Text 6"/>
          <p:cNvSpPr/>
          <p:nvPr/>
        </p:nvSpPr>
        <p:spPr>
          <a:xfrm>
            <a:off x="566928" y="2944368"/>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9" name="Text 7"/>
          <p:cNvSpPr/>
          <p:nvPr/>
        </p:nvSpPr>
        <p:spPr>
          <a:xfrm>
            <a:off x="1389888" y="2944368"/>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Token-bucket rate limiting  —  </a:t>
            </a:r>
            <a:pPr indent="0" marL="0">
              <a:buNone/>
            </a:pPr>
            <a:r>
              <a:rPr lang="en-US" sz="1700" dirty="0">
                <a:solidFill>
                  <a:srgbClr val="3A3A3A"/>
                </a:solidFill>
                <a:latin typeface="Segoe UI" pitchFamily="34" charset="0"/>
                <a:ea typeface="Segoe UI" pitchFamily="34" charset="-122"/>
                <a:cs typeface="Segoe UI" pitchFamily="34" charset="-120"/>
              </a:rPr>
              <a:t>Redis Lua, per user</a:t>
            </a:r>
            <a:endParaRPr lang="en-US" sz="1700" dirty="0"/>
          </a:p>
        </p:txBody>
      </p:sp>
      <p:sp>
        <p:nvSpPr>
          <p:cNvPr id="10" name="Shape 8"/>
          <p:cNvSpPr/>
          <p:nvPr/>
        </p:nvSpPr>
        <p:spPr>
          <a:xfrm>
            <a:off x="566928" y="3694176"/>
            <a:ext cx="548640" cy="548640"/>
          </a:xfrm>
          <a:prstGeom prst="ellipse">
            <a:avLst/>
          </a:prstGeom>
          <a:solidFill>
            <a:srgbClr val="E4EFEF"/>
          </a:solidFill>
          <a:ln w="16510">
            <a:solidFill>
              <a:srgbClr val="0E7C86"/>
            </a:solidFill>
            <a:prstDash val="solid"/>
          </a:ln>
        </p:spPr>
      </p:sp>
      <p:sp>
        <p:nvSpPr>
          <p:cNvPr id="11" name="Text 9"/>
          <p:cNvSpPr/>
          <p:nvPr/>
        </p:nvSpPr>
        <p:spPr>
          <a:xfrm>
            <a:off x="566928" y="3694176"/>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12" name="Text 10"/>
          <p:cNvSpPr/>
          <p:nvPr/>
        </p:nvSpPr>
        <p:spPr>
          <a:xfrm>
            <a:off x="1389888" y="3694176"/>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Retries with back-off  —  </a:t>
            </a:r>
            <a:pPr indent="0" marL="0">
              <a:buNone/>
            </a:pPr>
            <a:r>
              <a:rPr lang="en-US" sz="1700" dirty="0">
                <a:solidFill>
                  <a:srgbClr val="3A3A3A"/>
                </a:solidFill>
                <a:latin typeface="Segoe UI" pitchFamily="34" charset="0"/>
                <a:ea typeface="Segoe UI" pitchFamily="34" charset="-122"/>
                <a:cs typeface="Segoe UI" pitchFamily="34" charset="-120"/>
              </a:rPr>
              <a:t>Tenacity on transient faults</a:t>
            </a:r>
            <a:endParaRPr lang="en-US" sz="1700" dirty="0"/>
          </a:p>
        </p:txBody>
      </p:sp>
      <p:sp>
        <p:nvSpPr>
          <p:cNvPr id="13" name="Shape 11"/>
          <p:cNvSpPr/>
          <p:nvPr/>
        </p:nvSpPr>
        <p:spPr>
          <a:xfrm>
            <a:off x="566928" y="4443984"/>
            <a:ext cx="548640" cy="548640"/>
          </a:xfrm>
          <a:prstGeom prst="ellipse">
            <a:avLst/>
          </a:prstGeom>
          <a:solidFill>
            <a:srgbClr val="E4EFEF"/>
          </a:solidFill>
          <a:ln w="16510">
            <a:solidFill>
              <a:srgbClr val="0E7C86"/>
            </a:solidFill>
            <a:prstDash val="solid"/>
          </a:ln>
        </p:spPr>
      </p:sp>
      <p:sp>
        <p:nvSpPr>
          <p:cNvPr id="14" name="Text 12"/>
          <p:cNvSpPr/>
          <p:nvPr/>
        </p:nvSpPr>
        <p:spPr>
          <a:xfrm>
            <a:off x="566928" y="4443984"/>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15" name="Text 13"/>
          <p:cNvSpPr/>
          <p:nvPr/>
        </p:nvSpPr>
        <p:spPr>
          <a:xfrm>
            <a:off x="1389888" y="4443984"/>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Idempotent jobs  —  </a:t>
            </a:r>
            <a:pPr indent="0" marL="0">
              <a:buNone/>
            </a:pPr>
            <a:r>
              <a:rPr lang="en-US" sz="1700" dirty="0">
                <a:solidFill>
                  <a:srgbClr val="3A3A3A"/>
                </a:solidFill>
                <a:latin typeface="Segoe UI" pitchFamily="34" charset="0"/>
                <a:ea typeface="Segoe UI" pitchFamily="34" charset="-122"/>
                <a:cs typeface="Segoe UI" pitchFamily="34" charset="-120"/>
              </a:rPr>
              <a:t>a retry never double-fires</a:t>
            </a:r>
            <a:endParaRPr lang="en-US" sz="1700" dirty="0"/>
          </a:p>
        </p:txBody>
      </p:sp>
      <p:sp>
        <p:nvSpPr>
          <p:cNvPr id="16" name="Shape 14"/>
          <p:cNvSpPr/>
          <p:nvPr/>
        </p:nvSpPr>
        <p:spPr>
          <a:xfrm>
            <a:off x="566928" y="5193792"/>
            <a:ext cx="548640" cy="548640"/>
          </a:xfrm>
          <a:prstGeom prst="ellipse">
            <a:avLst/>
          </a:prstGeom>
          <a:solidFill>
            <a:srgbClr val="E4EFEF"/>
          </a:solidFill>
          <a:ln w="16510">
            <a:solidFill>
              <a:srgbClr val="0E7C86"/>
            </a:solidFill>
            <a:prstDash val="solid"/>
          </a:ln>
        </p:spPr>
      </p:sp>
      <p:sp>
        <p:nvSpPr>
          <p:cNvPr id="17" name="Text 15"/>
          <p:cNvSpPr/>
          <p:nvPr/>
        </p:nvSpPr>
        <p:spPr>
          <a:xfrm>
            <a:off x="566928" y="5193792"/>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18" name="Text 16"/>
          <p:cNvSpPr/>
          <p:nvPr/>
        </p:nvSpPr>
        <p:spPr>
          <a:xfrm>
            <a:off x="1389888" y="5193792"/>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ULID IDs  —  </a:t>
            </a:r>
            <a:pPr indent="0" marL="0">
              <a:buNone/>
            </a:pPr>
            <a:r>
              <a:rPr lang="en-US" sz="1700" dirty="0">
                <a:solidFill>
                  <a:srgbClr val="3A3A3A"/>
                </a:solidFill>
                <a:latin typeface="Segoe UI" pitchFamily="34" charset="0"/>
                <a:ea typeface="Segoe UI" pitchFamily="34" charset="-122"/>
                <a:cs typeface="Segoe UI" pitchFamily="34" charset="-120"/>
              </a:rPr>
              <a:t>sortable, collision-safe</a:t>
            </a:r>
            <a:endParaRPr lang="en-US" sz="17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32</a:t>
            </a:r>
            <a:endParaRPr lang="en-US" sz="9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WHAT'S BUILT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Ten features — all live in the app.</a:t>
            </a:r>
            <a:endParaRPr lang="en-US" sz="3300" dirty="0"/>
          </a:p>
        </p:txBody>
      </p:sp>
      <p:sp>
        <p:nvSpPr>
          <p:cNvPr id="4" name="Shape 2"/>
          <p:cNvSpPr/>
          <p:nvPr/>
        </p:nvSpPr>
        <p:spPr>
          <a:xfrm>
            <a:off x="566928" y="2377440"/>
            <a:ext cx="2057400" cy="1097280"/>
          </a:xfrm>
          <a:prstGeom prst="roundRect">
            <a:avLst>
              <a:gd name="adj" fmla="val 8333"/>
            </a:avLst>
          </a:prstGeom>
          <a:solidFill>
            <a:srgbClr val="FFFFFF"/>
          </a:solidFill>
          <a:ln w="12700">
            <a:solidFill>
              <a:srgbClr val="0E7C86"/>
            </a:solidFill>
            <a:prstDash val="solid"/>
          </a:ln>
        </p:spPr>
      </p:sp>
      <p:sp>
        <p:nvSpPr>
          <p:cNvPr id="5" name="Text 3"/>
          <p:cNvSpPr/>
          <p:nvPr/>
        </p:nvSpPr>
        <p:spPr>
          <a:xfrm>
            <a:off x="658368"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Live Wingman</a:t>
            </a:r>
            <a:endParaRPr lang="en-US" sz="1350" dirty="0"/>
          </a:p>
        </p:txBody>
      </p:sp>
      <p:sp>
        <p:nvSpPr>
          <p:cNvPr id="6" name="Shape 4"/>
          <p:cNvSpPr/>
          <p:nvPr/>
        </p:nvSpPr>
        <p:spPr>
          <a:xfrm>
            <a:off x="2779776" y="2377440"/>
            <a:ext cx="2057400" cy="1097280"/>
          </a:xfrm>
          <a:prstGeom prst="roundRect">
            <a:avLst>
              <a:gd name="adj" fmla="val 8333"/>
            </a:avLst>
          </a:prstGeom>
          <a:solidFill>
            <a:srgbClr val="E4EFEF"/>
          </a:solidFill>
          <a:ln w="12700">
            <a:solidFill>
              <a:srgbClr val="0E7C86"/>
            </a:solidFill>
            <a:prstDash val="solid"/>
          </a:ln>
        </p:spPr>
      </p:sp>
      <p:sp>
        <p:nvSpPr>
          <p:cNvPr id="7" name="Text 5"/>
          <p:cNvSpPr/>
          <p:nvPr/>
        </p:nvSpPr>
        <p:spPr>
          <a:xfrm>
            <a:off x="2871216"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Consultant</a:t>
            </a:r>
            <a:endParaRPr lang="en-US" sz="1350" dirty="0"/>
          </a:p>
        </p:txBody>
      </p:sp>
      <p:sp>
        <p:nvSpPr>
          <p:cNvPr id="8" name="Shape 6"/>
          <p:cNvSpPr/>
          <p:nvPr/>
        </p:nvSpPr>
        <p:spPr>
          <a:xfrm>
            <a:off x="4992624" y="2377440"/>
            <a:ext cx="2057400" cy="1097280"/>
          </a:xfrm>
          <a:prstGeom prst="roundRect">
            <a:avLst>
              <a:gd name="adj" fmla="val 8333"/>
            </a:avLst>
          </a:prstGeom>
          <a:solidFill>
            <a:srgbClr val="FFFFFF"/>
          </a:solidFill>
          <a:ln w="12700">
            <a:solidFill>
              <a:srgbClr val="0E7C86"/>
            </a:solidFill>
            <a:prstDash val="solid"/>
          </a:ln>
        </p:spPr>
      </p:sp>
      <p:sp>
        <p:nvSpPr>
          <p:cNvPr id="9" name="Text 7"/>
          <p:cNvSpPr/>
          <p:nvPr/>
        </p:nvSpPr>
        <p:spPr>
          <a:xfrm>
            <a:off x="5084064"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Confidence meter</a:t>
            </a:r>
            <a:endParaRPr lang="en-US" sz="1350" dirty="0"/>
          </a:p>
        </p:txBody>
      </p:sp>
      <p:sp>
        <p:nvSpPr>
          <p:cNvPr id="10" name="Shape 8"/>
          <p:cNvSpPr/>
          <p:nvPr/>
        </p:nvSpPr>
        <p:spPr>
          <a:xfrm>
            <a:off x="7205472" y="2377440"/>
            <a:ext cx="2057400" cy="1097280"/>
          </a:xfrm>
          <a:prstGeom prst="roundRect">
            <a:avLst>
              <a:gd name="adj" fmla="val 8333"/>
            </a:avLst>
          </a:prstGeom>
          <a:solidFill>
            <a:srgbClr val="E4EFEF"/>
          </a:solidFill>
          <a:ln w="12700">
            <a:solidFill>
              <a:srgbClr val="0E7C86"/>
            </a:solidFill>
            <a:prstDash val="solid"/>
          </a:ln>
        </p:spPr>
      </p:sp>
      <p:sp>
        <p:nvSpPr>
          <p:cNvPr id="11" name="Text 9"/>
          <p:cNvSpPr/>
          <p:nvPr/>
        </p:nvSpPr>
        <p:spPr>
          <a:xfrm>
            <a:off x="7296912"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Spaced-repetition drills</a:t>
            </a:r>
            <a:endParaRPr lang="en-US" sz="1350" dirty="0"/>
          </a:p>
        </p:txBody>
      </p:sp>
      <p:sp>
        <p:nvSpPr>
          <p:cNvPr id="12" name="Shape 10"/>
          <p:cNvSpPr/>
          <p:nvPr/>
        </p:nvSpPr>
        <p:spPr>
          <a:xfrm>
            <a:off x="9418320" y="2377440"/>
            <a:ext cx="2057400" cy="1097280"/>
          </a:xfrm>
          <a:prstGeom prst="roundRect">
            <a:avLst>
              <a:gd name="adj" fmla="val 8333"/>
            </a:avLst>
          </a:prstGeom>
          <a:solidFill>
            <a:srgbClr val="FFFFFF"/>
          </a:solidFill>
          <a:ln w="12700">
            <a:solidFill>
              <a:srgbClr val="0E7C86"/>
            </a:solidFill>
            <a:prstDash val="solid"/>
          </a:ln>
        </p:spPr>
      </p:sp>
      <p:sp>
        <p:nvSpPr>
          <p:cNvPr id="13" name="Text 11"/>
          <p:cNvSpPr/>
          <p:nvPr/>
        </p:nvSpPr>
        <p:spPr>
          <a:xfrm>
            <a:off x="9509760"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Progress dashboard</a:t>
            </a:r>
            <a:endParaRPr lang="en-US" sz="1350" dirty="0"/>
          </a:p>
        </p:txBody>
      </p:sp>
      <p:sp>
        <p:nvSpPr>
          <p:cNvPr id="14" name="Shape 12"/>
          <p:cNvSpPr/>
          <p:nvPr/>
        </p:nvSpPr>
        <p:spPr>
          <a:xfrm>
            <a:off x="566928" y="3657600"/>
            <a:ext cx="2057400" cy="1097280"/>
          </a:xfrm>
          <a:prstGeom prst="roundRect">
            <a:avLst>
              <a:gd name="adj" fmla="val 8333"/>
            </a:avLst>
          </a:prstGeom>
          <a:solidFill>
            <a:srgbClr val="E4EFEF"/>
          </a:solidFill>
          <a:ln w="12700">
            <a:solidFill>
              <a:srgbClr val="0E7C86"/>
            </a:solidFill>
            <a:prstDash val="solid"/>
          </a:ln>
        </p:spPr>
      </p:sp>
      <p:sp>
        <p:nvSpPr>
          <p:cNvPr id="15" name="Text 13"/>
          <p:cNvSpPr/>
          <p:nvPr/>
        </p:nvSpPr>
        <p:spPr>
          <a:xfrm>
            <a:off x="658368"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Roleplay scenarios</a:t>
            </a:r>
            <a:endParaRPr lang="en-US" sz="1350" dirty="0"/>
          </a:p>
        </p:txBody>
      </p:sp>
      <p:sp>
        <p:nvSpPr>
          <p:cNvPr id="16" name="Shape 14"/>
          <p:cNvSpPr/>
          <p:nvPr/>
        </p:nvSpPr>
        <p:spPr>
          <a:xfrm>
            <a:off x="2779776" y="3657600"/>
            <a:ext cx="2057400" cy="1097280"/>
          </a:xfrm>
          <a:prstGeom prst="roundRect">
            <a:avLst>
              <a:gd name="adj" fmla="val 8333"/>
            </a:avLst>
          </a:prstGeom>
          <a:solidFill>
            <a:srgbClr val="FFFFFF"/>
          </a:solidFill>
          <a:ln w="12700">
            <a:solidFill>
              <a:srgbClr val="0E7C86"/>
            </a:solidFill>
            <a:prstDash val="solid"/>
          </a:ln>
        </p:spPr>
      </p:sp>
      <p:sp>
        <p:nvSpPr>
          <p:cNvPr id="17" name="Text 15"/>
          <p:cNvSpPr/>
          <p:nvPr/>
        </p:nvSpPr>
        <p:spPr>
          <a:xfrm>
            <a:off x="2871216"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Gamification</a:t>
            </a:r>
            <a:endParaRPr lang="en-US" sz="1350" dirty="0"/>
          </a:p>
        </p:txBody>
      </p:sp>
      <p:sp>
        <p:nvSpPr>
          <p:cNvPr id="18" name="Shape 16"/>
          <p:cNvSpPr/>
          <p:nvPr/>
        </p:nvSpPr>
        <p:spPr>
          <a:xfrm>
            <a:off x="4992624" y="3657600"/>
            <a:ext cx="2057400" cy="1097280"/>
          </a:xfrm>
          <a:prstGeom prst="roundRect">
            <a:avLst>
              <a:gd name="adj" fmla="val 8333"/>
            </a:avLst>
          </a:prstGeom>
          <a:solidFill>
            <a:srgbClr val="E4EFEF"/>
          </a:solidFill>
          <a:ln w="12700">
            <a:solidFill>
              <a:srgbClr val="0E7C86"/>
            </a:solidFill>
            <a:prstDash val="solid"/>
          </a:ln>
        </p:spPr>
      </p:sp>
      <p:sp>
        <p:nvSpPr>
          <p:cNvPr id="19" name="Text 17"/>
          <p:cNvSpPr/>
          <p:nvPr/>
        </p:nvSpPr>
        <p:spPr>
          <a:xfrm>
            <a:off x="5084064"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Knowledge-graph explorer</a:t>
            </a:r>
            <a:endParaRPr lang="en-US" sz="1350" dirty="0"/>
          </a:p>
        </p:txBody>
      </p:sp>
      <p:sp>
        <p:nvSpPr>
          <p:cNvPr id="20" name="Shape 18"/>
          <p:cNvSpPr/>
          <p:nvPr/>
        </p:nvSpPr>
        <p:spPr>
          <a:xfrm>
            <a:off x="7205472" y="3657600"/>
            <a:ext cx="2057400" cy="1097280"/>
          </a:xfrm>
          <a:prstGeom prst="roundRect">
            <a:avLst>
              <a:gd name="adj" fmla="val 8333"/>
            </a:avLst>
          </a:prstGeom>
          <a:solidFill>
            <a:srgbClr val="FFFFFF"/>
          </a:solidFill>
          <a:ln w="12700">
            <a:solidFill>
              <a:srgbClr val="0E7C86"/>
            </a:solidFill>
            <a:prstDash val="solid"/>
          </a:ln>
        </p:spPr>
      </p:sp>
      <p:sp>
        <p:nvSpPr>
          <p:cNvPr id="21" name="Text 19"/>
          <p:cNvSpPr/>
          <p:nvPr/>
        </p:nvSpPr>
        <p:spPr>
          <a:xfrm>
            <a:off x="7296912"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Grammar &amp; sentiment</a:t>
            </a:r>
            <a:endParaRPr lang="en-US" sz="1350" dirty="0"/>
          </a:p>
        </p:txBody>
      </p:sp>
      <p:sp>
        <p:nvSpPr>
          <p:cNvPr id="22" name="Shape 20"/>
          <p:cNvSpPr/>
          <p:nvPr/>
        </p:nvSpPr>
        <p:spPr>
          <a:xfrm>
            <a:off x="9418320" y="3657600"/>
            <a:ext cx="2057400" cy="1097280"/>
          </a:xfrm>
          <a:prstGeom prst="roundRect">
            <a:avLst>
              <a:gd name="adj" fmla="val 8333"/>
            </a:avLst>
          </a:prstGeom>
          <a:solidFill>
            <a:srgbClr val="E4EFEF"/>
          </a:solidFill>
          <a:ln w="12700">
            <a:solidFill>
              <a:srgbClr val="0E7C86"/>
            </a:solidFill>
            <a:prstDash val="solid"/>
          </a:ln>
        </p:spPr>
      </p:sp>
      <p:sp>
        <p:nvSpPr>
          <p:cNvPr id="23" name="Text 21"/>
          <p:cNvSpPr/>
          <p:nvPr/>
        </p:nvSpPr>
        <p:spPr>
          <a:xfrm>
            <a:off x="9509760"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Voice &amp; speaker ID</a:t>
            </a:r>
            <a:endParaRPr lang="en-US" sz="1350" dirty="0"/>
          </a:p>
        </p:txBody>
      </p:sp>
      <p:sp>
        <p:nvSpPr>
          <p:cNvPr id="24" name="Text 22"/>
          <p:cNvSpPr/>
          <p:nvPr/>
        </p:nvSpPr>
        <p:spPr>
          <a:xfrm>
            <a:off x="566928" y="5212080"/>
            <a:ext cx="10972800" cy="457200"/>
          </a:xfrm>
          <a:prstGeom prst="rect">
            <a:avLst/>
          </a:prstGeom>
          <a:noFill/>
          <a:ln/>
        </p:spPr>
        <p:txBody>
          <a:bodyPr wrap="square" rtlCol="0" anchor="ctr"/>
          <a:lstStyle/>
          <a:p>
            <a:pPr indent="0" marL="0">
              <a:buNone/>
            </a:pPr>
            <a:r>
              <a:rPr lang="en-US" sz="1500" i="1" dirty="0">
                <a:solidFill>
                  <a:srgbClr val="9A9285"/>
                </a:solidFill>
                <a:latin typeface="Segoe UI" pitchFamily="34" charset="0"/>
                <a:ea typeface="Segoe UI" pitchFamily="34" charset="-122"/>
                <a:cs typeface="Segoe UI" pitchFamily="34" charset="-120"/>
              </a:rPr>
              <a:t>We'll deep-dive four that show real engineering — then a live demo.</a:t>
            </a:r>
            <a:endParaRPr lang="en-US" sz="1500" dirty="0"/>
          </a:p>
        </p:txBody>
      </p:sp>
      <p:sp>
        <p:nvSpPr>
          <p:cNvPr id="25" name="Text 2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6" name="Text 2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33</a:t>
            </a:r>
            <a:endParaRPr lang="en-US" sz="9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LIVE CONFIDENCE METER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On-device, zero added latency.</a:t>
            </a:r>
            <a:endParaRPr lang="en-US" sz="3300" dirty="0"/>
          </a:p>
        </p:txBody>
      </p:sp>
      <p:sp>
        <p:nvSpPr>
          <p:cNvPr id="4" name="Text 2"/>
          <p:cNvSpPr/>
          <p:nvPr/>
        </p:nvSpPr>
        <p:spPr>
          <a:xfrm>
            <a:off x="566928" y="2103120"/>
            <a:ext cx="10972800" cy="914400"/>
          </a:xfrm>
          <a:prstGeom prst="rect">
            <a:avLst/>
          </a:prstGeom>
          <a:noFill/>
          <a:ln/>
        </p:spPr>
        <p:txBody>
          <a:bodyPr wrap="square" rtlCol="0" anchor="ctr"/>
          <a:lstStyle/>
          <a:p>
            <a:pPr indent="0" marL="0">
              <a:lnSpc>
                <a:spcPct val="120000"/>
              </a:lnSpc>
              <a:buNone/>
            </a:pPr>
            <a:r>
              <a:rPr lang="en-US" sz="1700" dirty="0">
                <a:solidFill>
                  <a:srgbClr val="3A3A3A"/>
                </a:solidFill>
                <a:latin typeface="Segoe UI" pitchFamily="34" charset="0"/>
                <a:ea typeface="Segoe UI" pitchFamily="34" charset="-122"/>
                <a:cs typeface="Segoe UI" pitchFamily="34" charset="-120"/>
              </a:rPr>
              <a:t>Counts filler words (“um”, “uh”, “like”) and hedges (“sort of”, “I guess”) over a rolling 8 seconds — smoothed so it doesn't jitter.</a:t>
            </a:r>
            <a:endParaRPr lang="en-US" sz="1700" dirty="0"/>
          </a:p>
        </p:txBody>
      </p:sp>
      <p:sp>
        <p:nvSpPr>
          <p:cNvPr id="5" name="Shape 3"/>
          <p:cNvSpPr/>
          <p:nvPr/>
        </p:nvSpPr>
        <p:spPr>
          <a:xfrm>
            <a:off x="566928" y="3383280"/>
            <a:ext cx="3429000" cy="1280160"/>
          </a:xfrm>
          <a:prstGeom prst="roundRect">
            <a:avLst>
              <a:gd name="adj" fmla="val 8571"/>
            </a:avLst>
          </a:prstGeom>
          <a:solidFill>
            <a:srgbClr val="F7DAD2"/>
          </a:solidFill>
          <a:ln w="17780">
            <a:solidFill>
              <a:srgbClr val="C0492F"/>
            </a:solidFill>
            <a:prstDash val="solid"/>
          </a:ln>
        </p:spPr>
      </p:sp>
      <p:sp>
        <p:nvSpPr>
          <p:cNvPr id="6" name="Text 4"/>
          <p:cNvSpPr/>
          <p:nvPr/>
        </p:nvSpPr>
        <p:spPr>
          <a:xfrm>
            <a:off x="566928" y="3611880"/>
            <a:ext cx="3429000" cy="548640"/>
          </a:xfrm>
          <a:prstGeom prst="rect">
            <a:avLst/>
          </a:prstGeom>
          <a:noFill/>
          <a:ln/>
        </p:spPr>
        <p:txBody>
          <a:bodyPr wrap="square" rtlCol="0" anchor="ctr"/>
          <a:lstStyle/>
          <a:p>
            <a:pPr algn="ctr" indent="0" marL="0">
              <a:buNone/>
            </a:pPr>
            <a:r>
              <a:rPr lang="en-US" sz="2200" b="1" dirty="0">
                <a:solidFill>
                  <a:srgbClr val="C0492F"/>
                </a:solidFill>
                <a:latin typeface="Segoe UI" pitchFamily="34" charset="0"/>
                <a:ea typeface="Segoe UI" pitchFamily="34" charset="-122"/>
                <a:cs typeface="Segoe UI" pitchFamily="34" charset="-120"/>
              </a:rPr>
              <a:t>Low</a:t>
            </a:r>
            <a:endParaRPr lang="en-US" sz="2200" dirty="0"/>
          </a:p>
        </p:txBody>
      </p:sp>
      <p:sp>
        <p:nvSpPr>
          <p:cNvPr id="7" name="Text 5"/>
          <p:cNvSpPr/>
          <p:nvPr/>
        </p:nvSpPr>
        <p:spPr>
          <a:xfrm>
            <a:off x="566928" y="4160520"/>
            <a:ext cx="3429000" cy="365760"/>
          </a:xfrm>
          <a:prstGeom prst="rect">
            <a:avLst/>
          </a:prstGeom>
          <a:noFill/>
          <a:ln/>
        </p:spPr>
        <p:txBody>
          <a:bodyPr wrap="square" rtlCol="0" anchor="ctr"/>
          <a:lstStyle/>
          <a:p>
            <a:pPr algn="ctr" indent="0" marL="0">
              <a:buNone/>
            </a:pPr>
            <a:r>
              <a:rPr lang="en-US" sz="1400" dirty="0">
                <a:solidFill>
                  <a:srgbClr val="3A3A3A"/>
                </a:solidFill>
                <a:latin typeface="Segoe UI" pitchFamily="34" charset="0"/>
                <a:ea typeface="Segoe UI" pitchFamily="34" charset="-122"/>
                <a:cs typeface="Segoe UI" pitchFamily="34" charset="-120"/>
              </a:rPr>
              <a:t>0.0 – 0.4</a:t>
            </a:r>
            <a:endParaRPr lang="en-US" sz="1400" dirty="0"/>
          </a:p>
        </p:txBody>
      </p:sp>
      <p:sp>
        <p:nvSpPr>
          <p:cNvPr id="8" name="Shape 6"/>
          <p:cNvSpPr/>
          <p:nvPr/>
        </p:nvSpPr>
        <p:spPr>
          <a:xfrm>
            <a:off x="4270248" y="3383280"/>
            <a:ext cx="3429000" cy="1280160"/>
          </a:xfrm>
          <a:prstGeom prst="roundRect">
            <a:avLst>
              <a:gd name="adj" fmla="val 8571"/>
            </a:avLst>
          </a:prstGeom>
          <a:solidFill>
            <a:srgbClr val="F7E9CF"/>
          </a:solidFill>
          <a:ln w="17780">
            <a:solidFill>
              <a:srgbClr val="E08A2B"/>
            </a:solidFill>
            <a:prstDash val="solid"/>
          </a:ln>
        </p:spPr>
      </p:sp>
      <p:sp>
        <p:nvSpPr>
          <p:cNvPr id="9" name="Text 7"/>
          <p:cNvSpPr/>
          <p:nvPr/>
        </p:nvSpPr>
        <p:spPr>
          <a:xfrm>
            <a:off x="4270248" y="3611880"/>
            <a:ext cx="3429000" cy="548640"/>
          </a:xfrm>
          <a:prstGeom prst="rect">
            <a:avLst/>
          </a:prstGeom>
          <a:noFill/>
          <a:ln/>
        </p:spPr>
        <p:txBody>
          <a:bodyPr wrap="square" rtlCol="0" anchor="ctr"/>
          <a:lstStyle/>
          <a:p>
            <a:pPr algn="ctr" indent="0" marL="0">
              <a:buNone/>
            </a:pPr>
            <a:r>
              <a:rPr lang="en-US" sz="2200" b="1" dirty="0">
                <a:solidFill>
                  <a:srgbClr val="E08A2B"/>
                </a:solidFill>
                <a:latin typeface="Segoe UI" pitchFamily="34" charset="0"/>
                <a:ea typeface="Segoe UI" pitchFamily="34" charset="-122"/>
                <a:cs typeface="Segoe UI" pitchFamily="34" charset="-120"/>
              </a:rPr>
              <a:t>Building</a:t>
            </a:r>
            <a:endParaRPr lang="en-US" sz="2200" dirty="0"/>
          </a:p>
        </p:txBody>
      </p:sp>
      <p:sp>
        <p:nvSpPr>
          <p:cNvPr id="10" name="Text 8"/>
          <p:cNvSpPr/>
          <p:nvPr/>
        </p:nvSpPr>
        <p:spPr>
          <a:xfrm>
            <a:off x="4270248" y="4160520"/>
            <a:ext cx="3429000" cy="365760"/>
          </a:xfrm>
          <a:prstGeom prst="rect">
            <a:avLst/>
          </a:prstGeom>
          <a:noFill/>
          <a:ln/>
        </p:spPr>
        <p:txBody>
          <a:bodyPr wrap="square" rtlCol="0" anchor="ctr"/>
          <a:lstStyle/>
          <a:p>
            <a:pPr algn="ctr" indent="0" marL="0">
              <a:buNone/>
            </a:pPr>
            <a:r>
              <a:rPr lang="en-US" sz="1400" dirty="0">
                <a:solidFill>
                  <a:srgbClr val="3A3A3A"/>
                </a:solidFill>
                <a:latin typeface="Segoe UI" pitchFamily="34" charset="0"/>
                <a:ea typeface="Segoe UI" pitchFamily="34" charset="-122"/>
                <a:cs typeface="Segoe UI" pitchFamily="34" charset="-120"/>
              </a:rPr>
              <a:t>0.4 – 0.7</a:t>
            </a:r>
            <a:endParaRPr lang="en-US" sz="1400" dirty="0"/>
          </a:p>
        </p:txBody>
      </p:sp>
      <p:sp>
        <p:nvSpPr>
          <p:cNvPr id="11" name="Shape 9"/>
          <p:cNvSpPr/>
          <p:nvPr/>
        </p:nvSpPr>
        <p:spPr>
          <a:xfrm>
            <a:off x="7973568" y="3383280"/>
            <a:ext cx="3429000" cy="1280160"/>
          </a:xfrm>
          <a:prstGeom prst="roundRect">
            <a:avLst>
              <a:gd name="adj" fmla="val 8571"/>
            </a:avLst>
          </a:prstGeom>
          <a:solidFill>
            <a:srgbClr val="D8EEDF"/>
          </a:solidFill>
          <a:ln w="17780">
            <a:solidFill>
              <a:srgbClr val="2F8F5B"/>
            </a:solidFill>
            <a:prstDash val="solid"/>
          </a:ln>
        </p:spPr>
      </p:sp>
      <p:sp>
        <p:nvSpPr>
          <p:cNvPr id="12" name="Text 10"/>
          <p:cNvSpPr/>
          <p:nvPr/>
        </p:nvSpPr>
        <p:spPr>
          <a:xfrm>
            <a:off x="7973568" y="3611880"/>
            <a:ext cx="3429000" cy="548640"/>
          </a:xfrm>
          <a:prstGeom prst="rect">
            <a:avLst/>
          </a:prstGeom>
          <a:noFill/>
          <a:ln/>
        </p:spPr>
        <p:txBody>
          <a:bodyPr wrap="square" rtlCol="0" anchor="ctr"/>
          <a:lstStyle/>
          <a:p>
            <a:pPr algn="ctr" indent="0" marL="0">
              <a:buNone/>
            </a:pPr>
            <a:r>
              <a:rPr lang="en-US" sz="2200" b="1" dirty="0">
                <a:solidFill>
                  <a:srgbClr val="2F8F5B"/>
                </a:solidFill>
                <a:latin typeface="Segoe UI" pitchFamily="34" charset="0"/>
                <a:ea typeface="Segoe UI" pitchFamily="34" charset="-122"/>
                <a:cs typeface="Segoe UI" pitchFamily="34" charset="-120"/>
              </a:rPr>
              <a:t>Confident</a:t>
            </a:r>
            <a:endParaRPr lang="en-US" sz="2200" dirty="0"/>
          </a:p>
        </p:txBody>
      </p:sp>
      <p:sp>
        <p:nvSpPr>
          <p:cNvPr id="13" name="Text 11"/>
          <p:cNvSpPr/>
          <p:nvPr/>
        </p:nvSpPr>
        <p:spPr>
          <a:xfrm>
            <a:off x="7973568" y="4160520"/>
            <a:ext cx="3429000" cy="365760"/>
          </a:xfrm>
          <a:prstGeom prst="rect">
            <a:avLst/>
          </a:prstGeom>
          <a:noFill/>
          <a:ln/>
        </p:spPr>
        <p:txBody>
          <a:bodyPr wrap="square" rtlCol="0" anchor="ctr"/>
          <a:lstStyle/>
          <a:p>
            <a:pPr algn="ctr" indent="0" marL="0">
              <a:buNone/>
            </a:pPr>
            <a:r>
              <a:rPr lang="en-US" sz="1400" dirty="0">
                <a:solidFill>
                  <a:srgbClr val="3A3A3A"/>
                </a:solidFill>
                <a:latin typeface="Segoe UI" pitchFamily="34" charset="0"/>
                <a:ea typeface="Segoe UI" pitchFamily="34" charset="-122"/>
                <a:cs typeface="Segoe UI" pitchFamily="34" charset="-120"/>
              </a:rPr>
              <a:t>0.7 – 1.0</a:t>
            </a:r>
            <a:endParaRPr lang="en-US" sz="1400" dirty="0"/>
          </a:p>
        </p:txBody>
      </p:sp>
      <p:sp>
        <p:nvSpPr>
          <p:cNvPr id="14" name="Text 12"/>
          <p:cNvSpPr/>
          <p:nvPr/>
        </p:nvSpPr>
        <p:spPr>
          <a:xfrm>
            <a:off x="566928" y="5029200"/>
            <a:ext cx="10972800" cy="45720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Server only stores the per-turn score at session end — for the confidence-trend chart.</a:t>
            </a:r>
            <a:endParaRPr lang="en-US" sz="1400" dirty="0"/>
          </a:p>
        </p:txBody>
      </p:sp>
      <p:sp>
        <p:nvSpPr>
          <p:cNvPr id="15" name="Text 1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6" name="Text 1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34</a:t>
            </a:r>
            <a:endParaRPr lang="en-US" sz="9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SPACED-REPETITION DRILLS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Your mistakes → flashcards → 5 Leitner boxes.</a:t>
            </a:r>
            <a:endParaRPr lang="en-US" sz="3300" dirty="0"/>
          </a:p>
        </p:txBody>
      </p:sp>
      <p:sp>
        <p:nvSpPr>
          <p:cNvPr id="4" name="Shape 2"/>
          <p:cNvSpPr/>
          <p:nvPr/>
        </p:nvSpPr>
        <p:spPr>
          <a:xfrm>
            <a:off x="566928" y="2743200"/>
            <a:ext cx="2011680" cy="1554480"/>
          </a:xfrm>
          <a:prstGeom prst="roundRect">
            <a:avLst>
              <a:gd name="adj" fmla="val 5882"/>
            </a:avLst>
          </a:prstGeom>
          <a:solidFill>
            <a:srgbClr val="E4EFEF"/>
          </a:solidFill>
          <a:ln w="15240">
            <a:solidFill>
              <a:srgbClr val="0E7C86"/>
            </a:solidFill>
            <a:prstDash val="solid"/>
          </a:ln>
        </p:spPr>
      </p:sp>
      <p:sp>
        <p:nvSpPr>
          <p:cNvPr id="5" name="Text 3"/>
          <p:cNvSpPr/>
          <p:nvPr/>
        </p:nvSpPr>
        <p:spPr>
          <a:xfrm>
            <a:off x="566928"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1</a:t>
            </a:r>
            <a:endParaRPr lang="en-US" sz="1700" dirty="0"/>
          </a:p>
        </p:txBody>
      </p:sp>
      <p:sp>
        <p:nvSpPr>
          <p:cNvPr id="6" name="Text 4"/>
          <p:cNvSpPr/>
          <p:nvPr/>
        </p:nvSpPr>
        <p:spPr>
          <a:xfrm>
            <a:off x="566928"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7" name="Text 5"/>
          <p:cNvSpPr/>
          <p:nvPr/>
        </p:nvSpPr>
        <p:spPr>
          <a:xfrm>
            <a:off x="566928"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1 d</a:t>
            </a:r>
            <a:endParaRPr lang="en-US" sz="2200" dirty="0"/>
          </a:p>
        </p:txBody>
      </p:sp>
      <p:sp>
        <p:nvSpPr>
          <p:cNvPr id="8" name="Shape 6"/>
          <p:cNvSpPr/>
          <p:nvPr/>
        </p:nvSpPr>
        <p:spPr>
          <a:xfrm>
            <a:off x="2779776" y="2743200"/>
            <a:ext cx="2011680" cy="1554480"/>
          </a:xfrm>
          <a:prstGeom prst="roundRect">
            <a:avLst>
              <a:gd name="adj" fmla="val 5882"/>
            </a:avLst>
          </a:prstGeom>
          <a:solidFill>
            <a:srgbClr val="F0EBE1"/>
          </a:solidFill>
          <a:ln w="15240">
            <a:solidFill>
              <a:srgbClr val="0E7C86"/>
            </a:solidFill>
            <a:prstDash val="solid"/>
          </a:ln>
        </p:spPr>
      </p:sp>
      <p:sp>
        <p:nvSpPr>
          <p:cNvPr id="9" name="Text 7"/>
          <p:cNvSpPr/>
          <p:nvPr/>
        </p:nvSpPr>
        <p:spPr>
          <a:xfrm>
            <a:off x="2779776"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2</a:t>
            </a:r>
            <a:endParaRPr lang="en-US" sz="1700" dirty="0"/>
          </a:p>
        </p:txBody>
      </p:sp>
      <p:sp>
        <p:nvSpPr>
          <p:cNvPr id="10" name="Text 8"/>
          <p:cNvSpPr/>
          <p:nvPr/>
        </p:nvSpPr>
        <p:spPr>
          <a:xfrm>
            <a:off x="2779776"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11" name="Text 9"/>
          <p:cNvSpPr/>
          <p:nvPr/>
        </p:nvSpPr>
        <p:spPr>
          <a:xfrm>
            <a:off x="2779776"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3 d</a:t>
            </a:r>
            <a:endParaRPr lang="en-US" sz="2200" dirty="0"/>
          </a:p>
        </p:txBody>
      </p:sp>
      <p:sp>
        <p:nvSpPr>
          <p:cNvPr id="12" name="Shape 10"/>
          <p:cNvSpPr/>
          <p:nvPr/>
        </p:nvSpPr>
        <p:spPr>
          <a:xfrm>
            <a:off x="4992624" y="2743200"/>
            <a:ext cx="2011680" cy="1554480"/>
          </a:xfrm>
          <a:prstGeom prst="roundRect">
            <a:avLst>
              <a:gd name="adj" fmla="val 5882"/>
            </a:avLst>
          </a:prstGeom>
          <a:solidFill>
            <a:srgbClr val="E4EFEF"/>
          </a:solidFill>
          <a:ln w="15240">
            <a:solidFill>
              <a:srgbClr val="0E7C86"/>
            </a:solidFill>
            <a:prstDash val="solid"/>
          </a:ln>
        </p:spPr>
      </p:sp>
      <p:sp>
        <p:nvSpPr>
          <p:cNvPr id="13" name="Text 11"/>
          <p:cNvSpPr/>
          <p:nvPr/>
        </p:nvSpPr>
        <p:spPr>
          <a:xfrm>
            <a:off x="4992624"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3</a:t>
            </a:r>
            <a:endParaRPr lang="en-US" sz="1700" dirty="0"/>
          </a:p>
        </p:txBody>
      </p:sp>
      <p:sp>
        <p:nvSpPr>
          <p:cNvPr id="14" name="Text 12"/>
          <p:cNvSpPr/>
          <p:nvPr/>
        </p:nvSpPr>
        <p:spPr>
          <a:xfrm>
            <a:off x="4992624"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15" name="Text 13"/>
          <p:cNvSpPr/>
          <p:nvPr/>
        </p:nvSpPr>
        <p:spPr>
          <a:xfrm>
            <a:off x="4992624"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7 d</a:t>
            </a:r>
            <a:endParaRPr lang="en-US" sz="2200" dirty="0"/>
          </a:p>
        </p:txBody>
      </p:sp>
      <p:sp>
        <p:nvSpPr>
          <p:cNvPr id="16" name="Shape 14"/>
          <p:cNvSpPr/>
          <p:nvPr/>
        </p:nvSpPr>
        <p:spPr>
          <a:xfrm>
            <a:off x="7205472" y="2743200"/>
            <a:ext cx="2011680" cy="1554480"/>
          </a:xfrm>
          <a:prstGeom prst="roundRect">
            <a:avLst>
              <a:gd name="adj" fmla="val 5882"/>
            </a:avLst>
          </a:prstGeom>
          <a:solidFill>
            <a:srgbClr val="F0EBE1"/>
          </a:solidFill>
          <a:ln w="15240">
            <a:solidFill>
              <a:srgbClr val="0E7C86"/>
            </a:solidFill>
            <a:prstDash val="solid"/>
          </a:ln>
        </p:spPr>
      </p:sp>
      <p:sp>
        <p:nvSpPr>
          <p:cNvPr id="17" name="Text 15"/>
          <p:cNvSpPr/>
          <p:nvPr/>
        </p:nvSpPr>
        <p:spPr>
          <a:xfrm>
            <a:off x="7205472"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4</a:t>
            </a:r>
            <a:endParaRPr lang="en-US" sz="1700" dirty="0"/>
          </a:p>
        </p:txBody>
      </p:sp>
      <p:sp>
        <p:nvSpPr>
          <p:cNvPr id="18" name="Text 16"/>
          <p:cNvSpPr/>
          <p:nvPr/>
        </p:nvSpPr>
        <p:spPr>
          <a:xfrm>
            <a:off x="7205472"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19" name="Text 17"/>
          <p:cNvSpPr/>
          <p:nvPr/>
        </p:nvSpPr>
        <p:spPr>
          <a:xfrm>
            <a:off x="7205472"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14 d</a:t>
            </a:r>
            <a:endParaRPr lang="en-US" sz="2200" dirty="0"/>
          </a:p>
        </p:txBody>
      </p:sp>
      <p:sp>
        <p:nvSpPr>
          <p:cNvPr id="20" name="Shape 18"/>
          <p:cNvSpPr/>
          <p:nvPr/>
        </p:nvSpPr>
        <p:spPr>
          <a:xfrm>
            <a:off x="9418320" y="2743200"/>
            <a:ext cx="2011680" cy="1554480"/>
          </a:xfrm>
          <a:prstGeom prst="roundRect">
            <a:avLst>
              <a:gd name="adj" fmla="val 5882"/>
            </a:avLst>
          </a:prstGeom>
          <a:solidFill>
            <a:srgbClr val="E4EFEF"/>
          </a:solidFill>
          <a:ln w="15240">
            <a:solidFill>
              <a:srgbClr val="0E7C86"/>
            </a:solidFill>
            <a:prstDash val="solid"/>
          </a:ln>
        </p:spPr>
      </p:sp>
      <p:sp>
        <p:nvSpPr>
          <p:cNvPr id="21" name="Text 19"/>
          <p:cNvSpPr/>
          <p:nvPr/>
        </p:nvSpPr>
        <p:spPr>
          <a:xfrm>
            <a:off x="9418320"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5</a:t>
            </a:r>
            <a:endParaRPr lang="en-US" sz="1700" dirty="0"/>
          </a:p>
        </p:txBody>
      </p:sp>
      <p:sp>
        <p:nvSpPr>
          <p:cNvPr id="22" name="Text 20"/>
          <p:cNvSpPr/>
          <p:nvPr/>
        </p:nvSpPr>
        <p:spPr>
          <a:xfrm>
            <a:off x="9418320"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23" name="Text 21"/>
          <p:cNvSpPr/>
          <p:nvPr/>
        </p:nvSpPr>
        <p:spPr>
          <a:xfrm>
            <a:off x="9418320"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30 d</a:t>
            </a:r>
            <a:endParaRPr lang="en-US" sz="2200" dirty="0"/>
          </a:p>
        </p:txBody>
      </p:sp>
      <p:sp>
        <p:nvSpPr>
          <p:cNvPr id="24" name="Text 22"/>
          <p:cNvSpPr/>
          <p:nvPr/>
        </p:nvSpPr>
        <p:spPr>
          <a:xfrm>
            <a:off x="566928" y="4663440"/>
            <a:ext cx="10972800" cy="548640"/>
          </a:xfrm>
          <a:prstGeom prst="rect">
            <a:avLst/>
          </a:prstGeom>
          <a:noFill/>
          <a:ln/>
        </p:spPr>
        <p:txBody>
          <a:bodyPr wrap="square" rtlCol="0" anchor="ctr"/>
          <a:lstStyle/>
          <a:p>
            <a:pPr indent="0" marL="0">
              <a:buNone/>
            </a:pPr>
            <a:r>
              <a:rPr lang="en-US" sz="1500" dirty="0">
                <a:solidFill>
                  <a:srgbClr val="3A3A3A"/>
                </a:solidFill>
                <a:latin typeface="Segoe UI" pitchFamily="34" charset="0"/>
                <a:ea typeface="Segoe UI" pitchFamily="34" charset="-122"/>
                <a:cs typeface="Segoe UI" pitchFamily="34" charset="-120"/>
              </a:rPr>
              <a:t>Correct → up a box (seen less often).   Wrong → back to Box 1.   XP on every transition (+15 / +5), idempotent.</a:t>
            </a:r>
            <a:endParaRPr lang="en-US" sz="1500" dirty="0"/>
          </a:p>
        </p:txBody>
      </p:sp>
      <p:sp>
        <p:nvSpPr>
          <p:cNvPr id="25" name="Text 2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6" name="Text 2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35</a:t>
            </a:r>
            <a:endParaRPr lang="en-US" sz="9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PROGRESS DASHBOARD</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“Am I actually improving?”</a:t>
            </a:r>
            <a:endParaRPr lang="en-US" sz="3300" dirty="0"/>
          </a:p>
        </p:txBody>
      </p:sp>
      <p:sp>
        <p:nvSpPr>
          <p:cNvPr id="4" name="Shape 2"/>
          <p:cNvSpPr/>
          <p:nvPr/>
        </p:nvSpPr>
        <p:spPr>
          <a:xfrm>
            <a:off x="566928" y="2377440"/>
            <a:ext cx="2560320" cy="1828800"/>
          </a:xfrm>
          <a:prstGeom prst="roundRect">
            <a:avLst>
              <a:gd name="adj" fmla="val 6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566928" y="2606040"/>
            <a:ext cx="2560320" cy="822960"/>
          </a:xfrm>
          <a:prstGeom prst="rect">
            <a:avLst/>
          </a:prstGeom>
          <a:noFill/>
          <a:ln/>
        </p:spPr>
        <p:txBody>
          <a:bodyPr wrap="square" rtlCol="0" anchor="ctr"/>
          <a:lstStyle/>
          <a:p>
            <a:pPr algn="ctr" indent="0" marL="0">
              <a:buNone/>
            </a:pPr>
            <a:r>
              <a:rPr lang="en-US" sz="4000" b="1" dirty="0">
                <a:solidFill>
                  <a:srgbClr val="2F8F5B"/>
                </a:solidFill>
                <a:latin typeface="Segoe UI" pitchFamily="34" charset="0"/>
                <a:ea typeface="Segoe UI" pitchFamily="34" charset="-122"/>
                <a:cs typeface="Segoe UI" pitchFamily="34" charset="-120"/>
              </a:rPr>
              <a:t>↓ 34%</a:t>
            </a:r>
            <a:endParaRPr lang="en-US" sz="4000" dirty="0"/>
          </a:p>
        </p:txBody>
      </p:sp>
      <p:sp>
        <p:nvSpPr>
          <p:cNvPr id="6" name="Text 4"/>
          <p:cNvSpPr/>
          <p:nvPr/>
        </p:nvSpPr>
        <p:spPr>
          <a:xfrm>
            <a:off x="566928" y="3474720"/>
            <a:ext cx="2560320" cy="4572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Mistakes</a:t>
            </a:r>
            <a:endParaRPr lang="en-US" sz="1600" dirty="0"/>
          </a:p>
        </p:txBody>
      </p:sp>
      <p:sp>
        <p:nvSpPr>
          <p:cNvPr id="7" name="Text 5"/>
          <p:cNvSpPr/>
          <p:nvPr/>
        </p:nvSpPr>
        <p:spPr>
          <a:xfrm>
            <a:off x="566928" y="3840480"/>
            <a:ext cx="256032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vs previous window</a:t>
            </a:r>
            <a:endParaRPr lang="en-US" sz="1100" dirty="0"/>
          </a:p>
        </p:txBody>
      </p:sp>
      <p:sp>
        <p:nvSpPr>
          <p:cNvPr id="8" name="Shape 6"/>
          <p:cNvSpPr/>
          <p:nvPr/>
        </p:nvSpPr>
        <p:spPr>
          <a:xfrm>
            <a:off x="3310128" y="2377440"/>
            <a:ext cx="2560320" cy="1828800"/>
          </a:xfrm>
          <a:prstGeom prst="roundRect">
            <a:avLst>
              <a:gd name="adj" fmla="val 6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9" name="Text 7"/>
          <p:cNvSpPr/>
          <p:nvPr/>
        </p:nvSpPr>
        <p:spPr>
          <a:xfrm>
            <a:off x="3310128" y="2606040"/>
            <a:ext cx="2560320" cy="822960"/>
          </a:xfrm>
          <a:prstGeom prst="rect">
            <a:avLst/>
          </a:prstGeom>
          <a:noFill/>
          <a:ln/>
        </p:spPr>
        <p:txBody>
          <a:bodyPr wrap="square" rtlCol="0" anchor="ctr"/>
          <a:lstStyle/>
          <a:p>
            <a:pPr algn="ctr" indent="0" marL="0">
              <a:buNone/>
            </a:pPr>
            <a:r>
              <a:rPr lang="en-US" sz="4000" b="1" dirty="0">
                <a:solidFill>
                  <a:srgbClr val="2F8F5B"/>
                </a:solidFill>
                <a:latin typeface="Segoe UI" pitchFamily="34" charset="0"/>
                <a:ea typeface="Segoe UI" pitchFamily="34" charset="-122"/>
                <a:cs typeface="Segoe UI" pitchFamily="34" charset="-120"/>
              </a:rPr>
              <a:t>↑ 35%</a:t>
            </a:r>
            <a:endParaRPr lang="en-US" sz="4000" dirty="0"/>
          </a:p>
        </p:txBody>
      </p:sp>
      <p:sp>
        <p:nvSpPr>
          <p:cNvPr id="10" name="Text 8"/>
          <p:cNvSpPr/>
          <p:nvPr/>
        </p:nvSpPr>
        <p:spPr>
          <a:xfrm>
            <a:off x="3310128" y="3474720"/>
            <a:ext cx="2560320" cy="4572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Sentiment</a:t>
            </a:r>
            <a:endParaRPr lang="en-US" sz="1600" dirty="0"/>
          </a:p>
        </p:txBody>
      </p:sp>
      <p:sp>
        <p:nvSpPr>
          <p:cNvPr id="11" name="Text 9"/>
          <p:cNvSpPr/>
          <p:nvPr/>
        </p:nvSpPr>
        <p:spPr>
          <a:xfrm>
            <a:off x="3310128" y="3840480"/>
            <a:ext cx="256032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vs previous window</a:t>
            </a:r>
            <a:endParaRPr lang="en-US" sz="1100" dirty="0"/>
          </a:p>
        </p:txBody>
      </p:sp>
      <p:sp>
        <p:nvSpPr>
          <p:cNvPr id="12" name="Shape 10"/>
          <p:cNvSpPr/>
          <p:nvPr/>
        </p:nvSpPr>
        <p:spPr>
          <a:xfrm>
            <a:off x="6053328" y="2377440"/>
            <a:ext cx="2560320" cy="1828800"/>
          </a:xfrm>
          <a:prstGeom prst="roundRect">
            <a:avLst>
              <a:gd name="adj" fmla="val 6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3" name="Text 11"/>
          <p:cNvSpPr/>
          <p:nvPr/>
        </p:nvSpPr>
        <p:spPr>
          <a:xfrm>
            <a:off x="6053328" y="2606040"/>
            <a:ext cx="2560320" cy="822960"/>
          </a:xfrm>
          <a:prstGeom prst="rect">
            <a:avLst/>
          </a:prstGeom>
          <a:noFill/>
          <a:ln/>
        </p:spPr>
        <p:txBody>
          <a:bodyPr wrap="square" rtlCol="0" anchor="ctr"/>
          <a:lstStyle/>
          <a:p>
            <a:pPr algn="ctr" indent="0" marL="0">
              <a:buNone/>
            </a:pPr>
            <a:r>
              <a:rPr lang="en-US" sz="4000" b="1" dirty="0">
                <a:solidFill>
                  <a:srgbClr val="0E7C86"/>
                </a:solidFill>
                <a:latin typeface="Segoe UI" pitchFamily="34" charset="0"/>
                <a:ea typeface="Segoe UI" pitchFamily="34" charset="-122"/>
                <a:cs typeface="Segoe UI" pitchFamily="34" charset="-120"/>
              </a:rPr>
              <a:t>+33%</a:t>
            </a:r>
            <a:endParaRPr lang="en-US" sz="4000" dirty="0"/>
          </a:p>
        </p:txBody>
      </p:sp>
      <p:sp>
        <p:nvSpPr>
          <p:cNvPr id="14" name="Text 12"/>
          <p:cNvSpPr/>
          <p:nvPr/>
        </p:nvSpPr>
        <p:spPr>
          <a:xfrm>
            <a:off x="6053328" y="3474720"/>
            <a:ext cx="2560320" cy="4572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Sessions</a:t>
            </a:r>
            <a:endParaRPr lang="en-US" sz="1600" dirty="0"/>
          </a:p>
        </p:txBody>
      </p:sp>
      <p:sp>
        <p:nvSpPr>
          <p:cNvPr id="15" name="Text 13"/>
          <p:cNvSpPr/>
          <p:nvPr/>
        </p:nvSpPr>
        <p:spPr>
          <a:xfrm>
            <a:off x="6053328" y="3840480"/>
            <a:ext cx="256032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vs previous window</a:t>
            </a:r>
            <a:endParaRPr lang="en-US" sz="1100" dirty="0"/>
          </a:p>
        </p:txBody>
      </p:sp>
      <p:sp>
        <p:nvSpPr>
          <p:cNvPr id="16" name="Shape 14"/>
          <p:cNvSpPr/>
          <p:nvPr/>
        </p:nvSpPr>
        <p:spPr>
          <a:xfrm>
            <a:off x="8796528" y="2377440"/>
            <a:ext cx="2560320" cy="1828800"/>
          </a:xfrm>
          <a:prstGeom prst="roundRect">
            <a:avLst>
              <a:gd name="adj" fmla="val 6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7" name="Text 15"/>
          <p:cNvSpPr/>
          <p:nvPr/>
        </p:nvSpPr>
        <p:spPr>
          <a:xfrm>
            <a:off x="8796528" y="2606040"/>
            <a:ext cx="2560320" cy="822960"/>
          </a:xfrm>
          <a:prstGeom prst="rect">
            <a:avLst/>
          </a:prstGeom>
          <a:noFill/>
          <a:ln/>
        </p:spPr>
        <p:txBody>
          <a:bodyPr wrap="square" rtlCol="0" anchor="ctr"/>
          <a:lstStyle/>
          <a:p>
            <a:pPr algn="ctr" indent="0" marL="0">
              <a:buNone/>
            </a:pPr>
            <a:r>
              <a:rPr lang="en-US" sz="4000" b="1" dirty="0">
                <a:solidFill>
                  <a:srgbClr val="0E7C86"/>
                </a:solidFill>
                <a:latin typeface="Segoe UI" pitchFamily="34" charset="0"/>
                <a:ea typeface="Segoe UI" pitchFamily="34" charset="-122"/>
                <a:cs typeface="Segoe UI" pitchFamily="34" charset="-120"/>
              </a:rPr>
              <a:t>+23%</a:t>
            </a:r>
            <a:endParaRPr lang="en-US" sz="4000" dirty="0"/>
          </a:p>
        </p:txBody>
      </p:sp>
      <p:sp>
        <p:nvSpPr>
          <p:cNvPr id="18" name="Text 16"/>
          <p:cNvSpPr/>
          <p:nvPr/>
        </p:nvSpPr>
        <p:spPr>
          <a:xfrm>
            <a:off x="8796528" y="3474720"/>
            <a:ext cx="2560320" cy="4572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XP</a:t>
            </a:r>
            <a:endParaRPr lang="en-US" sz="1600" dirty="0"/>
          </a:p>
        </p:txBody>
      </p:sp>
      <p:sp>
        <p:nvSpPr>
          <p:cNvPr id="19" name="Text 17"/>
          <p:cNvSpPr/>
          <p:nvPr/>
        </p:nvSpPr>
        <p:spPr>
          <a:xfrm>
            <a:off x="8796528" y="3840480"/>
            <a:ext cx="256032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vs previous window</a:t>
            </a:r>
            <a:endParaRPr lang="en-US" sz="1100" dirty="0"/>
          </a:p>
        </p:txBody>
      </p:sp>
      <p:sp>
        <p:nvSpPr>
          <p:cNvPr id="20" name="Text 18"/>
          <p:cNvSpPr/>
          <p:nvPr/>
        </p:nvSpPr>
        <p:spPr>
          <a:xfrm>
            <a:off x="566928" y="4663440"/>
            <a:ext cx="10972800" cy="457200"/>
          </a:xfrm>
          <a:prstGeom prst="rect">
            <a:avLst/>
          </a:prstGeom>
          <a:noFill/>
          <a:ln/>
        </p:spPr>
        <p:txBody>
          <a:bodyPr wrap="square" rtlCol="0" anchor="ctr"/>
          <a:lstStyle/>
          <a:p>
            <a:pPr indent="0" marL="0">
              <a:buNone/>
            </a:pPr>
            <a:r>
              <a:rPr lang="en-US" sz="1500" i="1" dirty="0">
                <a:solidFill>
                  <a:srgbClr val="9A9285"/>
                </a:solidFill>
                <a:latin typeface="Segoe UI" pitchFamily="34" charset="0"/>
                <a:ea typeface="Segoe UI" pitchFamily="34" charset="-122"/>
                <a:cs typeface="Segoe UI" pitchFamily="34" charset="-120"/>
              </a:rPr>
              <a:t>One endpoint, time-bucketed daily / weekly / monthly — pure read-side aggregation, no new tables.</a:t>
            </a:r>
            <a:endParaRPr lang="en-US" sz="1500" dirty="0"/>
          </a:p>
        </p:txBody>
      </p:sp>
      <p:sp>
        <p:nvSpPr>
          <p:cNvPr id="21" name="Text 1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2" name="Text 2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36</a:t>
            </a:r>
            <a:endParaRPr lang="en-US" sz="9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ROLEPLAY SCENARIO GENERATOR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Practice the conversation before you have it.</a:t>
            </a:r>
            <a:endParaRPr lang="en-US" sz="3300" dirty="0"/>
          </a:p>
        </p:txBody>
      </p:sp>
      <p:sp>
        <p:nvSpPr>
          <p:cNvPr id="4" name="Shape 2"/>
          <p:cNvSpPr/>
          <p:nvPr/>
        </p:nvSpPr>
        <p:spPr>
          <a:xfrm>
            <a:off x="566928" y="2286000"/>
            <a:ext cx="640080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566928" y="2286000"/>
            <a:ext cx="6400800" cy="109728"/>
          </a:xfrm>
          <a:prstGeom prst="rect">
            <a:avLst/>
          </a:prstGeom>
          <a:solidFill>
            <a:srgbClr val="E08A2B"/>
          </a:solidFill>
          <a:ln/>
        </p:spPr>
      </p:sp>
      <p:sp>
        <p:nvSpPr>
          <p:cNvPr id="6" name="Text 4"/>
          <p:cNvSpPr/>
          <p:nvPr/>
        </p:nvSpPr>
        <p:spPr>
          <a:xfrm>
            <a:off x="978408" y="2560320"/>
            <a:ext cx="5669280" cy="548640"/>
          </a:xfrm>
          <a:prstGeom prst="rect">
            <a:avLst/>
          </a:prstGeom>
          <a:noFill/>
          <a:ln/>
        </p:spPr>
        <p:txBody>
          <a:bodyPr wrap="square" rtlCol="0" anchor="ctr"/>
          <a:lstStyle/>
          <a:p>
            <a:pPr indent="0" marL="0">
              <a:buNone/>
            </a:pPr>
            <a:r>
              <a:rPr lang="en-US" sz="2100" b="1" dirty="0">
                <a:solidFill>
                  <a:srgbClr val="1A1A1A"/>
                </a:solidFill>
                <a:latin typeface="Segoe UI" pitchFamily="34" charset="0"/>
                <a:ea typeface="Segoe UI" pitchFamily="34" charset="-122"/>
                <a:cs typeface="Segoe UI" pitchFamily="34" charset="-120"/>
              </a:rPr>
              <a:t>Salary review with your manager</a:t>
            </a:r>
            <a:endParaRPr lang="en-US" sz="2100" dirty="0"/>
          </a:p>
        </p:txBody>
      </p:sp>
      <p:sp>
        <p:nvSpPr>
          <p:cNvPr id="7" name="Text 5"/>
          <p:cNvSpPr/>
          <p:nvPr/>
        </p:nvSpPr>
        <p:spPr>
          <a:xfrm>
            <a:off x="978408" y="3200400"/>
            <a:ext cx="5669280" cy="365760"/>
          </a:xfrm>
          <a:prstGeom prst="rect">
            <a:avLst/>
          </a:prstGeom>
          <a:noFill/>
          <a:ln/>
        </p:spPr>
        <p:txBody>
          <a:bodyPr wrap="square" rtlCol="0" anchor="ctr"/>
          <a:lstStyle/>
          <a:p>
            <a:pPr indent="0" marL="0">
              <a:buNone/>
            </a:pPr>
            <a:r>
              <a:rPr lang="en-US" sz="1500" b="1" dirty="0">
                <a:solidFill>
                  <a:srgbClr val="3A3A3A"/>
                </a:solidFill>
                <a:latin typeface="Segoe UI" pitchFamily="34" charset="0"/>
                <a:ea typeface="Segoe UI" pitchFamily="34" charset="-122"/>
                <a:cs typeface="Segoe UI" pitchFamily="34" charset="-120"/>
              </a:rPr>
              <a:t>Person:  </a:t>
            </a:r>
            <a:pPr indent="0" marL="0">
              <a:buNone/>
            </a:pPr>
            <a:r>
              <a:rPr lang="en-US" sz="1500" dirty="0">
                <a:solidFill>
                  <a:srgbClr val="3A3A3A"/>
                </a:solidFill>
                <a:latin typeface="Segoe UI" pitchFamily="34" charset="0"/>
                <a:ea typeface="Segoe UI" pitchFamily="34" charset="-122"/>
                <a:cs typeface="Segoe UI" pitchFamily="34" charset="-120"/>
              </a:rPr>
              <a:t>Asma (Project Manager)</a:t>
            </a:r>
            <a:endParaRPr lang="en-US" sz="1500" dirty="0"/>
          </a:p>
        </p:txBody>
      </p:sp>
      <p:sp>
        <p:nvSpPr>
          <p:cNvPr id="8" name="Text 6"/>
          <p:cNvSpPr/>
          <p:nvPr/>
        </p:nvSpPr>
        <p:spPr>
          <a:xfrm>
            <a:off x="978408" y="3566160"/>
            <a:ext cx="5669280" cy="365760"/>
          </a:xfrm>
          <a:prstGeom prst="rect">
            <a:avLst/>
          </a:prstGeom>
          <a:noFill/>
          <a:ln/>
        </p:spPr>
        <p:txBody>
          <a:bodyPr wrap="square" rtlCol="0" anchor="ctr"/>
          <a:lstStyle/>
          <a:p>
            <a:pPr indent="0" marL="0">
              <a:buNone/>
            </a:pPr>
            <a:r>
              <a:rPr lang="en-US" sz="1500" b="1" dirty="0">
                <a:solidFill>
                  <a:srgbClr val="3A3A3A"/>
                </a:solidFill>
                <a:latin typeface="Segoe UI" pitchFamily="34" charset="0"/>
                <a:ea typeface="Segoe UI" pitchFamily="34" charset="-122"/>
                <a:cs typeface="Segoe UI" pitchFamily="34" charset="-120"/>
              </a:rPr>
              <a:t>Difficulty:  </a:t>
            </a:r>
            <a:pPr indent="0" marL="0">
              <a:buNone/>
            </a:pPr>
            <a:r>
              <a:rPr lang="en-US" sz="1500" dirty="0">
                <a:solidFill>
                  <a:srgbClr val="3A3A3A"/>
                </a:solidFill>
                <a:latin typeface="Segoe UI" pitchFamily="34" charset="0"/>
                <a:ea typeface="Segoe UI" pitchFamily="34" charset="-122"/>
                <a:cs typeface="Segoe UI" pitchFamily="34" charset="-120"/>
              </a:rPr>
              <a:t>Hard</a:t>
            </a:r>
            <a:endParaRPr lang="en-US" sz="1500" dirty="0"/>
          </a:p>
        </p:txBody>
      </p:sp>
      <p:sp>
        <p:nvSpPr>
          <p:cNvPr id="9" name="Text 7"/>
          <p:cNvSpPr/>
          <p:nvPr/>
        </p:nvSpPr>
        <p:spPr>
          <a:xfrm>
            <a:off x="978408" y="3931920"/>
            <a:ext cx="5760720" cy="822960"/>
          </a:xfrm>
          <a:prstGeom prst="rect">
            <a:avLst/>
          </a:prstGeom>
          <a:noFill/>
          <a:ln/>
        </p:spPr>
        <p:txBody>
          <a:bodyPr wrap="square" rtlCol="0" anchor="ctr"/>
          <a:lstStyle/>
          <a:p>
            <a:pPr indent="0" marL="0">
              <a:lnSpc>
                <a:spcPct val="110000"/>
              </a:lnSpc>
              <a:buNone/>
            </a:pPr>
            <a:r>
              <a:rPr lang="en-US" sz="1450" b="1" i="1" dirty="0">
                <a:solidFill>
                  <a:srgbClr val="3A3A3A"/>
                </a:solidFill>
                <a:latin typeface="Segoe UI" pitchFamily="34" charset="0"/>
                <a:ea typeface="Segoe UI" pitchFamily="34" charset="-122"/>
                <a:cs typeface="Segoe UI" pitchFamily="34" charset="-120"/>
              </a:rPr>
              <a:t>Opening:  </a:t>
            </a:r>
            <a:pPr indent="0" marL="0">
              <a:lnSpc>
                <a:spcPct val="110000"/>
              </a:lnSpc>
              <a:buNone/>
            </a:pPr>
            <a:r>
              <a:rPr lang="en-US" sz="1450" i="1" dirty="0">
                <a:solidFill>
                  <a:srgbClr val="3A3A3A"/>
                </a:solidFill>
                <a:latin typeface="Segoe UI" pitchFamily="34" charset="0"/>
                <a:ea typeface="Segoe UI" pitchFamily="34" charset="-122"/>
                <a:cs typeface="Segoe UI" pitchFamily="34" charset="-120"/>
              </a:rPr>
              <a:t>“Thanks for making time — I'd like to talk about my role.”</a:t>
            </a:r>
            <a:endParaRPr lang="en-US" sz="1450" dirty="0"/>
          </a:p>
        </p:txBody>
      </p:sp>
      <p:sp>
        <p:nvSpPr>
          <p:cNvPr id="10" name="Text 8"/>
          <p:cNvSpPr/>
          <p:nvPr/>
        </p:nvSpPr>
        <p:spPr>
          <a:xfrm>
            <a:off x="7315200" y="2560320"/>
            <a:ext cx="4206240" cy="2743200"/>
          </a:xfrm>
          <a:prstGeom prst="rect">
            <a:avLst/>
          </a:prstGeom>
          <a:noFill/>
          <a:ln/>
        </p:spPr>
        <p:txBody>
          <a:bodyPr wrap="square" rtlCol="0" anchor="ctr"/>
          <a:lstStyle/>
          <a:p>
            <a:pPr indent="0" marL="0">
              <a:lnSpc>
                <a:spcPct val="120000"/>
              </a:lnSpc>
              <a:buNone/>
            </a:pPr>
            <a:r>
              <a:rPr lang="en-US" sz="1550" b="1" dirty="0">
                <a:solidFill>
                  <a:srgbClr val="0E7C86"/>
                </a:solidFill>
                <a:latin typeface="Segoe UI" pitchFamily="34" charset="0"/>
                <a:ea typeface="Segoe UI" pitchFamily="34" charset="-122"/>
                <a:cs typeface="Segoe UI" pitchFamily="34" charset="-120"/>
              </a:rPr>
              <a:t>Generated from your graph
</a:t>
            </a:r>
            <a:pPr indent="0" marL="0">
              <a:lnSpc>
                <a:spcPct val="120000"/>
              </a:lnSpc>
              <a:buNone/>
            </a:pPr>
            <a:r>
              <a:rPr lang="en-US" sz="1550" dirty="0">
                <a:solidFill>
                  <a:srgbClr val="3A3A3A"/>
                </a:solidFill>
                <a:latin typeface="Segoe UI" pitchFamily="34" charset="0"/>
                <a:ea typeface="Segoe UI" pitchFamily="34" charset="-122"/>
                <a:cs typeface="Segoe UI" pitchFamily="34" charset="-120"/>
              </a:rPr>
              <a:t>Pass it → auto-graded against its success criteria → +40 XP. The feed never repeats — used topics are excluded.</a:t>
            </a:r>
            <a:endParaRPr lang="en-US" sz="1550" dirty="0"/>
          </a:p>
        </p:txBody>
      </p:sp>
      <p:sp>
        <p:nvSpPr>
          <p:cNvPr id="11" name="Text 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2" name="Text 1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37</a:t>
            </a:r>
            <a:endParaRPr lang="en-US" sz="90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GAMIFICATION</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Habit mechanics — for talking.</a:t>
            </a:r>
            <a:endParaRPr lang="en-US" sz="3300" dirty="0"/>
          </a:p>
        </p:txBody>
      </p:sp>
      <p:sp>
        <p:nvSpPr>
          <p:cNvPr id="4" name="Shape 2"/>
          <p:cNvSpPr/>
          <p:nvPr/>
        </p:nvSpPr>
        <p:spPr>
          <a:xfrm>
            <a:off x="566928" y="2240280"/>
            <a:ext cx="530352" cy="530352"/>
          </a:xfrm>
          <a:prstGeom prst="ellipse">
            <a:avLst/>
          </a:prstGeom>
          <a:solidFill>
            <a:srgbClr val="E4EFEF"/>
          </a:solidFill>
          <a:ln w="16510">
            <a:solidFill>
              <a:srgbClr val="0E7C86"/>
            </a:solidFill>
            <a:prstDash val="solid"/>
          </a:ln>
        </p:spPr>
      </p:sp>
      <p:sp>
        <p:nvSpPr>
          <p:cNvPr id="5" name="Text 3"/>
          <p:cNvSpPr/>
          <p:nvPr/>
        </p:nvSpPr>
        <p:spPr>
          <a:xfrm>
            <a:off x="566928" y="2240280"/>
            <a:ext cx="530352" cy="530352"/>
          </a:xfrm>
          <a:prstGeom prst="rect">
            <a:avLst/>
          </a:prstGeom>
          <a:noFill/>
          <a:ln/>
        </p:spPr>
        <p:txBody>
          <a:bodyPr wrap="square" rtlCol="0" anchor="ctr"/>
          <a:lstStyle/>
          <a:p>
            <a:pPr algn="ctr" indent="0" marL="0">
              <a:buNone/>
            </a:pPr>
            <a:r>
              <a:rPr lang="en-US" sz="1500" b="1" dirty="0">
                <a:solidFill>
                  <a:srgbClr val="0E7C86"/>
                </a:solidFill>
                <a:latin typeface="Segoe UI" pitchFamily="34" charset="0"/>
                <a:ea typeface="Segoe UI" pitchFamily="34" charset="-122"/>
                <a:cs typeface="Segoe UI" pitchFamily="34" charset="-120"/>
              </a:rPr>
              <a:t>★</a:t>
            </a:r>
            <a:endParaRPr lang="en-US" sz="1500" dirty="0"/>
          </a:p>
        </p:txBody>
      </p:sp>
      <p:sp>
        <p:nvSpPr>
          <p:cNvPr id="6" name="Text 4"/>
          <p:cNvSpPr/>
          <p:nvPr/>
        </p:nvSpPr>
        <p:spPr>
          <a:xfrm>
            <a:off x="1389888" y="2240280"/>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Quests  —  </a:t>
            </a:r>
            <a:pPr indent="0" marL="0">
              <a:buNone/>
            </a:pPr>
            <a:r>
              <a:rPr lang="en-US" sz="1700" dirty="0">
                <a:solidFill>
                  <a:srgbClr val="3A3A3A"/>
                </a:solidFill>
                <a:latin typeface="Segoe UI" pitchFamily="34" charset="0"/>
                <a:ea typeface="Segoe UI" pitchFamily="34" charset="-122"/>
                <a:cs typeface="Segoe UI" pitchFamily="34" charset="-120"/>
              </a:rPr>
              <a:t>small daily goals</a:t>
            </a:r>
            <a:endParaRPr lang="en-US" sz="1700" dirty="0"/>
          </a:p>
        </p:txBody>
      </p:sp>
      <p:sp>
        <p:nvSpPr>
          <p:cNvPr id="7" name="Shape 5"/>
          <p:cNvSpPr/>
          <p:nvPr/>
        </p:nvSpPr>
        <p:spPr>
          <a:xfrm>
            <a:off x="566928" y="2953512"/>
            <a:ext cx="530352" cy="530352"/>
          </a:xfrm>
          <a:prstGeom prst="ellipse">
            <a:avLst/>
          </a:prstGeom>
          <a:solidFill>
            <a:srgbClr val="E4EFEF"/>
          </a:solidFill>
          <a:ln w="16510">
            <a:solidFill>
              <a:srgbClr val="0E7C86"/>
            </a:solidFill>
            <a:prstDash val="solid"/>
          </a:ln>
        </p:spPr>
      </p:sp>
      <p:sp>
        <p:nvSpPr>
          <p:cNvPr id="8" name="Text 6"/>
          <p:cNvSpPr/>
          <p:nvPr/>
        </p:nvSpPr>
        <p:spPr>
          <a:xfrm>
            <a:off x="566928" y="2953512"/>
            <a:ext cx="530352" cy="530352"/>
          </a:xfrm>
          <a:prstGeom prst="rect">
            <a:avLst/>
          </a:prstGeom>
          <a:noFill/>
          <a:ln/>
        </p:spPr>
        <p:txBody>
          <a:bodyPr wrap="square" rtlCol="0" anchor="ctr"/>
          <a:lstStyle/>
          <a:p>
            <a:pPr algn="ctr" indent="0" marL="0">
              <a:buNone/>
            </a:pPr>
            <a:r>
              <a:rPr lang="en-US" sz="1500" b="1" dirty="0">
                <a:solidFill>
                  <a:srgbClr val="0E7C86"/>
                </a:solidFill>
                <a:latin typeface="Segoe UI" pitchFamily="34" charset="0"/>
                <a:ea typeface="Segoe UI" pitchFamily="34" charset="-122"/>
                <a:cs typeface="Segoe UI" pitchFamily="34" charset="-120"/>
              </a:rPr>
              <a:t>★</a:t>
            </a:r>
            <a:endParaRPr lang="en-US" sz="1500" dirty="0"/>
          </a:p>
        </p:txBody>
      </p:sp>
      <p:sp>
        <p:nvSpPr>
          <p:cNvPr id="9" name="Text 7"/>
          <p:cNvSpPr/>
          <p:nvPr/>
        </p:nvSpPr>
        <p:spPr>
          <a:xfrm>
            <a:off x="1389888" y="2953512"/>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Achievements  —  </a:t>
            </a:r>
            <a:pPr indent="0" marL="0">
              <a:buNone/>
            </a:pPr>
            <a:r>
              <a:rPr lang="en-US" sz="1700" dirty="0">
                <a:solidFill>
                  <a:srgbClr val="3A3A3A"/>
                </a:solidFill>
                <a:latin typeface="Segoe UI" pitchFamily="34" charset="0"/>
                <a:ea typeface="Segoe UI" pitchFamily="34" charset="-122"/>
                <a:cs typeface="Segoe UI" pitchFamily="34" charset="-120"/>
              </a:rPr>
              <a:t>milestone badges</a:t>
            </a:r>
            <a:endParaRPr lang="en-US" sz="1700" dirty="0"/>
          </a:p>
        </p:txBody>
      </p:sp>
      <p:sp>
        <p:nvSpPr>
          <p:cNvPr id="10" name="Shape 8"/>
          <p:cNvSpPr/>
          <p:nvPr/>
        </p:nvSpPr>
        <p:spPr>
          <a:xfrm>
            <a:off x="566928" y="3666744"/>
            <a:ext cx="530352" cy="530352"/>
          </a:xfrm>
          <a:prstGeom prst="ellipse">
            <a:avLst/>
          </a:prstGeom>
          <a:solidFill>
            <a:srgbClr val="E4EFEF"/>
          </a:solidFill>
          <a:ln w="16510">
            <a:solidFill>
              <a:srgbClr val="0E7C86"/>
            </a:solidFill>
            <a:prstDash val="solid"/>
          </a:ln>
        </p:spPr>
      </p:sp>
      <p:sp>
        <p:nvSpPr>
          <p:cNvPr id="11" name="Text 9"/>
          <p:cNvSpPr/>
          <p:nvPr/>
        </p:nvSpPr>
        <p:spPr>
          <a:xfrm>
            <a:off x="566928" y="3666744"/>
            <a:ext cx="530352" cy="530352"/>
          </a:xfrm>
          <a:prstGeom prst="rect">
            <a:avLst/>
          </a:prstGeom>
          <a:noFill/>
          <a:ln/>
        </p:spPr>
        <p:txBody>
          <a:bodyPr wrap="square" rtlCol="0" anchor="ctr"/>
          <a:lstStyle/>
          <a:p>
            <a:pPr algn="ctr" indent="0" marL="0">
              <a:buNone/>
            </a:pPr>
            <a:r>
              <a:rPr lang="en-US" sz="1500" b="1" dirty="0">
                <a:solidFill>
                  <a:srgbClr val="0E7C86"/>
                </a:solidFill>
                <a:latin typeface="Segoe UI" pitchFamily="34" charset="0"/>
                <a:ea typeface="Segoe UI" pitchFamily="34" charset="-122"/>
                <a:cs typeface="Segoe UI" pitchFamily="34" charset="-120"/>
              </a:rPr>
              <a:t>★</a:t>
            </a:r>
            <a:endParaRPr lang="en-US" sz="1500" dirty="0"/>
          </a:p>
        </p:txBody>
      </p:sp>
      <p:sp>
        <p:nvSpPr>
          <p:cNvPr id="12" name="Text 10"/>
          <p:cNvSpPr/>
          <p:nvPr/>
        </p:nvSpPr>
        <p:spPr>
          <a:xfrm>
            <a:off x="1389888" y="3666744"/>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Rewards  —  </a:t>
            </a:r>
            <a:pPr indent="0" marL="0">
              <a:buNone/>
            </a:pPr>
            <a:r>
              <a:rPr lang="en-US" sz="1700" dirty="0">
                <a:solidFill>
                  <a:srgbClr val="3A3A3A"/>
                </a:solidFill>
                <a:latin typeface="Segoe UI" pitchFamily="34" charset="0"/>
                <a:ea typeface="Segoe UI" pitchFamily="34" charset="-122"/>
                <a:cs typeface="Segoe UI" pitchFamily="34" charset="-120"/>
              </a:rPr>
              <a:t>redeemable points</a:t>
            </a:r>
            <a:endParaRPr lang="en-US" sz="1700" dirty="0"/>
          </a:p>
        </p:txBody>
      </p:sp>
      <p:sp>
        <p:nvSpPr>
          <p:cNvPr id="13" name="Shape 11"/>
          <p:cNvSpPr/>
          <p:nvPr/>
        </p:nvSpPr>
        <p:spPr>
          <a:xfrm>
            <a:off x="566928" y="4379976"/>
            <a:ext cx="530352" cy="530352"/>
          </a:xfrm>
          <a:prstGeom prst="ellipse">
            <a:avLst/>
          </a:prstGeom>
          <a:solidFill>
            <a:srgbClr val="E4EFEF"/>
          </a:solidFill>
          <a:ln w="16510">
            <a:solidFill>
              <a:srgbClr val="0E7C86"/>
            </a:solidFill>
            <a:prstDash val="solid"/>
          </a:ln>
        </p:spPr>
      </p:sp>
      <p:sp>
        <p:nvSpPr>
          <p:cNvPr id="14" name="Text 12"/>
          <p:cNvSpPr/>
          <p:nvPr/>
        </p:nvSpPr>
        <p:spPr>
          <a:xfrm>
            <a:off x="566928" y="4379976"/>
            <a:ext cx="530352" cy="530352"/>
          </a:xfrm>
          <a:prstGeom prst="rect">
            <a:avLst/>
          </a:prstGeom>
          <a:noFill/>
          <a:ln/>
        </p:spPr>
        <p:txBody>
          <a:bodyPr wrap="square" rtlCol="0" anchor="ctr"/>
          <a:lstStyle/>
          <a:p>
            <a:pPr algn="ctr" indent="0" marL="0">
              <a:buNone/>
            </a:pPr>
            <a:r>
              <a:rPr lang="en-US" sz="1500" b="1" dirty="0">
                <a:solidFill>
                  <a:srgbClr val="0E7C86"/>
                </a:solidFill>
                <a:latin typeface="Segoe UI" pitchFamily="34" charset="0"/>
                <a:ea typeface="Segoe UI" pitchFamily="34" charset="-122"/>
                <a:cs typeface="Segoe UI" pitchFamily="34" charset="-120"/>
              </a:rPr>
              <a:t>★</a:t>
            </a:r>
            <a:endParaRPr lang="en-US" sz="1500" dirty="0"/>
          </a:p>
        </p:txBody>
      </p:sp>
      <p:sp>
        <p:nvSpPr>
          <p:cNvPr id="15" name="Text 13"/>
          <p:cNvSpPr/>
          <p:nvPr/>
        </p:nvSpPr>
        <p:spPr>
          <a:xfrm>
            <a:off x="1389888" y="4379976"/>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Streaks  —  </a:t>
            </a:r>
            <a:pPr indent="0" marL="0">
              <a:buNone/>
            </a:pPr>
            <a:r>
              <a:rPr lang="en-US" sz="1700" dirty="0">
                <a:solidFill>
                  <a:srgbClr val="3A3A3A"/>
                </a:solidFill>
                <a:latin typeface="Segoe UI" pitchFamily="34" charset="0"/>
                <a:ea typeface="Segoe UI" pitchFamily="34" charset="-122"/>
                <a:cs typeface="Segoe UI" pitchFamily="34" charset="-120"/>
              </a:rPr>
              <a:t>keep the chain alive</a:t>
            </a:r>
            <a:endParaRPr lang="en-US" sz="1700" dirty="0"/>
          </a:p>
        </p:txBody>
      </p:sp>
      <p:sp>
        <p:nvSpPr>
          <p:cNvPr id="16" name="Shape 14"/>
          <p:cNvSpPr/>
          <p:nvPr/>
        </p:nvSpPr>
        <p:spPr>
          <a:xfrm>
            <a:off x="566928" y="5093208"/>
            <a:ext cx="530352" cy="530352"/>
          </a:xfrm>
          <a:prstGeom prst="ellipse">
            <a:avLst/>
          </a:prstGeom>
          <a:solidFill>
            <a:srgbClr val="EFE3D2"/>
          </a:solidFill>
          <a:ln w="16510">
            <a:solidFill>
              <a:srgbClr val="E08A2B"/>
            </a:solidFill>
            <a:prstDash val="solid"/>
          </a:ln>
        </p:spPr>
      </p:sp>
      <p:sp>
        <p:nvSpPr>
          <p:cNvPr id="17" name="Text 15"/>
          <p:cNvSpPr/>
          <p:nvPr/>
        </p:nvSpPr>
        <p:spPr>
          <a:xfrm>
            <a:off x="566928" y="5093208"/>
            <a:ext cx="530352" cy="530352"/>
          </a:xfrm>
          <a:prstGeom prst="rect">
            <a:avLst/>
          </a:prstGeom>
          <a:noFill/>
          <a:ln/>
        </p:spPr>
        <p:txBody>
          <a:bodyPr wrap="square" rtlCol="0" anchor="ctr"/>
          <a:lstStyle/>
          <a:p>
            <a:pPr algn="ctr" indent="0" marL="0">
              <a:buNone/>
            </a:pPr>
            <a:r>
              <a:rPr lang="en-US" sz="1500" b="1" dirty="0">
                <a:solidFill>
                  <a:srgbClr val="E08A2B"/>
                </a:solidFill>
                <a:latin typeface="Segoe UI" pitchFamily="34" charset="0"/>
                <a:ea typeface="Segoe UI" pitchFamily="34" charset="-122"/>
                <a:cs typeface="Segoe UI" pitchFamily="34" charset="-120"/>
              </a:rPr>
              <a:t>★</a:t>
            </a:r>
            <a:endParaRPr lang="en-US" sz="1500" dirty="0"/>
          </a:p>
        </p:txBody>
      </p:sp>
      <p:sp>
        <p:nvSpPr>
          <p:cNvPr id="18" name="Text 16"/>
          <p:cNvSpPr/>
          <p:nvPr/>
        </p:nvSpPr>
        <p:spPr>
          <a:xfrm>
            <a:off x="1389888" y="5093208"/>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Leaderboard  —  </a:t>
            </a:r>
            <a:pPr indent="0" marL="0">
              <a:buNone/>
            </a:pPr>
            <a:r>
              <a:rPr lang="en-US" sz="1700" dirty="0">
                <a:solidFill>
                  <a:srgbClr val="3A3A3A"/>
                </a:solidFill>
                <a:latin typeface="Segoe UI" pitchFamily="34" charset="0"/>
                <a:ea typeface="Segoe UI" pitchFamily="34" charset="-122"/>
                <a:cs typeface="Segoe UI" pitchFamily="34" charset="-120"/>
              </a:rPr>
              <a:t>opt-in only — consistent with privacy-first</a:t>
            </a:r>
            <a:endParaRPr lang="en-US" sz="17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38</a:t>
            </a:r>
            <a:endParaRPr lang="en-US" sz="9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KNOWLEDGE-GRAPH EXPLORER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Your memory, made tangible.</a:t>
            </a:r>
            <a:endParaRPr lang="en-US" sz="3300" dirty="0"/>
          </a:p>
        </p:txBody>
      </p:sp>
      <p:sp>
        <p:nvSpPr>
          <p:cNvPr id="4" name="Text 2"/>
          <p:cNvSpPr/>
          <p:nvPr/>
        </p:nvSpPr>
        <p:spPr>
          <a:xfrm>
            <a:off x="566928" y="2057400"/>
            <a:ext cx="4572000" cy="1463040"/>
          </a:xfrm>
          <a:prstGeom prst="rect">
            <a:avLst/>
          </a:prstGeom>
          <a:noFill/>
          <a:ln/>
        </p:spPr>
        <p:txBody>
          <a:bodyPr wrap="square" rtlCol="0" anchor="ctr"/>
          <a:lstStyle/>
          <a:p>
            <a:pPr indent="0" marL="0">
              <a:lnSpc>
                <a:spcPct val="125000"/>
              </a:lnSpc>
              <a:buNone/>
            </a:pPr>
            <a:r>
              <a:rPr lang="en-US" sz="1800" dirty="0">
                <a:solidFill>
                  <a:srgbClr val="3A3A3A"/>
                </a:solidFill>
                <a:latin typeface="Segoe UI" pitchFamily="34" charset="0"/>
                <a:ea typeface="Segoe UI" pitchFamily="34" charset="-122"/>
                <a:cs typeface="Segoe UI" pitchFamily="34" charset="-120"/>
              </a:rPr>
              <a:t>Browse the people, topics and entities you've mentioned — on a timeline.</a:t>
            </a:r>
            <a:endParaRPr lang="en-US" sz="1800" dirty="0"/>
          </a:p>
        </p:txBody>
      </p:sp>
      <p:sp>
        <p:nvSpPr>
          <p:cNvPr id="5" name="Text 3"/>
          <p:cNvSpPr/>
          <p:nvPr/>
        </p:nvSpPr>
        <p:spPr>
          <a:xfrm>
            <a:off x="566928" y="4023360"/>
            <a:ext cx="4572000" cy="1097280"/>
          </a:xfrm>
          <a:prstGeom prst="rect">
            <a:avLst/>
          </a:prstGeom>
          <a:noFill/>
          <a:ln/>
        </p:spPr>
        <p:txBody>
          <a:bodyPr wrap="square" rtlCol="0" anchor="ctr"/>
          <a:lstStyle/>
          <a:p>
            <a:pPr indent="0" marL="0">
              <a:lnSpc>
                <a:spcPct val="120000"/>
              </a:lnSpc>
              <a:buNone/>
            </a:pPr>
            <a:r>
              <a:rPr lang="en-US" sz="1450" i="1" dirty="0">
                <a:solidFill>
                  <a:srgbClr val="9A9285"/>
                </a:solidFill>
                <a:latin typeface="Segoe UI" pitchFamily="34" charset="0"/>
                <a:ea typeface="Segoe UI" pitchFamily="34" charset="-122"/>
                <a:cs typeface="Segoe UI" pitchFamily="34" charset="-120"/>
              </a:rPr>
              <a:t>The same nodes the AI uses for grounding — now yours to explore.</a:t>
            </a:r>
            <a:endParaRPr lang="en-US" sz="1450" dirty="0"/>
          </a:p>
        </p:txBody>
      </p:sp>
      <p:sp>
        <p:nvSpPr>
          <p:cNvPr id="6" name="Shape 4"/>
          <p:cNvSpPr/>
          <p:nvPr/>
        </p:nvSpPr>
        <p:spPr>
          <a:xfrm>
            <a:off x="6858000" y="2834640"/>
            <a:ext cx="1828800" cy="1097280"/>
          </a:xfrm>
          <a:prstGeom prst="line">
            <a:avLst/>
          </a:prstGeom>
          <a:noFill/>
          <a:ln w="25400">
            <a:solidFill>
              <a:srgbClr val="9A9285"/>
            </a:solidFill>
            <a:prstDash val="solid"/>
          </a:ln>
        </p:spPr>
      </p:sp>
      <p:sp>
        <p:nvSpPr>
          <p:cNvPr id="7" name="Shape 5"/>
          <p:cNvSpPr/>
          <p:nvPr/>
        </p:nvSpPr>
        <p:spPr>
          <a:xfrm flipV="1">
            <a:off x="8686800" y="3017520"/>
            <a:ext cx="1828800" cy="914400"/>
          </a:xfrm>
          <a:prstGeom prst="line">
            <a:avLst/>
          </a:prstGeom>
          <a:noFill/>
          <a:ln w="25400">
            <a:solidFill>
              <a:srgbClr val="9A9285"/>
            </a:solidFill>
            <a:prstDash val="solid"/>
          </a:ln>
        </p:spPr>
      </p:sp>
      <p:sp>
        <p:nvSpPr>
          <p:cNvPr id="8" name="Shape 6"/>
          <p:cNvSpPr/>
          <p:nvPr/>
        </p:nvSpPr>
        <p:spPr>
          <a:xfrm flipV="1">
            <a:off x="7315200" y="3931920"/>
            <a:ext cx="1371600" cy="1371600"/>
          </a:xfrm>
          <a:prstGeom prst="line">
            <a:avLst/>
          </a:prstGeom>
          <a:noFill/>
          <a:ln w="25400">
            <a:solidFill>
              <a:srgbClr val="9A9285"/>
            </a:solidFill>
            <a:prstDash val="solid"/>
          </a:ln>
        </p:spPr>
      </p:sp>
      <p:sp>
        <p:nvSpPr>
          <p:cNvPr id="9" name="Shape 7"/>
          <p:cNvSpPr/>
          <p:nvPr/>
        </p:nvSpPr>
        <p:spPr>
          <a:xfrm>
            <a:off x="8686800" y="3931920"/>
            <a:ext cx="1554480" cy="1280160"/>
          </a:xfrm>
          <a:prstGeom prst="line">
            <a:avLst/>
          </a:prstGeom>
          <a:noFill/>
          <a:ln w="25400">
            <a:solidFill>
              <a:srgbClr val="9A9285"/>
            </a:solidFill>
            <a:prstDash val="solid"/>
          </a:ln>
        </p:spPr>
      </p:sp>
      <p:sp>
        <p:nvSpPr>
          <p:cNvPr id="10" name="Shape 8"/>
          <p:cNvSpPr/>
          <p:nvPr/>
        </p:nvSpPr>
        <p:spPr>
          <a:xfrm>
            <a:off x="8206740" y="3451860"/>
            <a:ext cx="960120" cy="960120"/>
          </a:xfrm>
          <a:prstGeom prst="ellipse">
            <a:avLst/>
          </a:prstGeom>
          <a:solidFill>
            <a:srgbClr val="0E7C86"/>
          </a:solidFill>
          <a:ln w="22860">
            <a:solidFill>
              <a:srgbClr val="0E7C86"/>
            </a:solidFill>
            <a:prstDash val="solid"/>
          </a:ln>
        </p:spPr>
      </p:sp>
      <p:sp>
        <p:nvSpPr>
          <p:cNvPr id="11" name="Text 9"/>
          <p:cNvSpPr/>
          <p:nvPr/>
        </p:nvSpPr>
        <p:spPr>
          <a:xfrm>
            <a:off x="7772400" y="3703320"/>
            <a:ext cx="1828800" cy="457200"/>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You</a:t>
            </a:r>
            <a:endParaRPr lang="en-US" sz="1150" dirty="0"/>
          </a:p>
        </p:txBody>
      </p:sp>
      <p:sp>
        <p:nvSpPr>
          <p:cNvPr id="12" name="Shape 10"/>
          <p:cNvSpPr/>
          <p:nvPr/>
        </p:nvSpPr>
        <p:spPr>
          <a:xfrm>
            <a:off x="6446520" y="2423160"/>
            <a:ext cx="822960" cy="822960"/>
          </a:xfrm>
          <a:prstGeom prst="ellipse">
            <a:avLst/>
          </a:prstGeom>
          <a:solidFill>
            <a:srgbClr val="FFFFFF"/>
          </a:solidFill>
          <a:ln w="22860">
            <a:solidFill>
              <a:srgbClr val="E08A2B"/>
            </a:solidFill>
            <a:prstDash val="solid"/>
          </a:ln>
        </p:spPr>
      </p:sp>
      <p:sp>
        <p:nvSpPr>
          <p:cNvPr id="13" name="Text 11"/>
          <p:cNvSpPr/>
          <p:nvPr/>
        </p:nvSpPr>
        <p:spPr>
          <a:xfrm>
            <a:off x="5943600" y="2606040"/>
            <a:ext cx="1828800" cy="457200"/>
          </a:xfrm>
          <a:prstGeom prst="rect">
            <a:avLst/>
          </a:prstGeom>
          <a:noFill/>
          <a:ln/>
        </p:spPr>
        <p:txBody>
          <a:bodyPr wrap="square" rtlCol="0" anchor="ctr"/>
          <a:lstStyle/>
          <a:p>
            <a:pPr algn="ctr" indent="0" marL="0">
              <a:buNone/>
            </a:pPr>
            <a:r>
              <a:rPr lang="en-US" sz="1150" b="1" dirty="0">
                <a:solidFill>
                  <a:srgbClr val="1A1A1A"/>
                </a:solidFill>
                <a:latin typeface="Segoe UI" pitchFamily="34" charset="0"/>
                <a:ea typeface="Segoe UI" pitchFamily="34" charset="-122"/>
                <a:cs typeface="Segoe UI" pitchFamily="34" charset="-120"/>
              </a:rPr>
              <a:t>Asma</a:t>
            </a:r>
            <a:endParaRPr lang="en-US" sz="1150" dirty="0"/>
          </a:p>
        </p:txBody>
      </p:sp>
      <p:sp>
        <p:nvSpPr>
          <p:cNvPr id="14" name="Shape 12"/>
          <p:cNvSpPr/>
          <p:nvPr/>
        </p:nvSpPr>
        <p:spPr>
          <a:xfrm>
            <a:off x="10104120" y="2606040"/>
            <a:ext cx="822960" cy="822960"/>
          </a:xfrm>
          <a:prstGeom prst="ellipse">
            <a:avLst/>
          </a:prstGeom>
          <a:solidFill>
            <a:srgbClr val="FFFFFF"/>
          </a:solidFill>
          <a:ln w="22860">
            <a:solidFill>
              <a:srgbClr val="0A5159"/>
            </a:solidFill>
            <a:prstDash val="solid"/>
          </a:ln>
        </p:spPr>
      </p:sp>
      <p:sp>
        <p:nvSpPr>
          <p:cNvPr id="15" name="Text 13"/>
          <p:cNvSpPr/>
          <p:nvPr/>
        </p:nvSpPr>
        <p:spPr>
          <a:xfrm>
            <a:off x="9601200" y="2788920"/>
            <a:ext cx="1828800" cy="457200"/>
          </a:xfrm>
          <a:prstGeom prst="rect">
            <a:avLst/>
          </a:prstGeom>
          <a:noFill/>
          <a:ln/>
        </p:spPr>
        <p:txBody>
          <a:bodyPr wrap="square" rtlCol="0" anchor="ctr"/>
          <a:lstStyle/>
          <a:p>
            <a:pPr algn="ctr" indent="0" marL="0">
              <a:buNone/>
            </a:pPr>
            <a:r>
              <a:rPr lang="en-US" sz="1150" b="1" dirty="0">
                <a:solidFill>
                  <a:srgbClr val="1A1A1A"/>
                </a:solidFill>
                <a:latin typeface="Segoe UI" pitchFamily="34" charset="0"/>
                <a:ea typeface="Segoe UI" pitchFamily="34" charset="-122"/>
                <a:cs typeface="Segoe UI" pitchFamily="34" charset="-120"/>
              </a:rPr>
              <a:t>Project X</a:t>
            </a:r>
            <a:endParaRPr lang="en-US" sz="1150" dirty="0"/>
          </a:p>
        </p:txBody>
      </p:sp>
      <p:sp>
        <p:nvSpPr>
          <p:cNvPr id="16" name="Shape 14"/>
          <p:cNvSpPr/>
          <p:nvPr/>
        </p:nvSpPr>
        <p:spPr>
          <a:xfrm>
            <a:off x="6903720" y="4892040"/>
            <a:ext cx="822960" cy="822960"/>
          </a:xfrm>
          <a:prstGeom prst="ellipse">
            <a:avLst/>
          </a:prstGeom>
          <a:solidFill>
            <a:srgbClr val="FFFFFF"/>
          </a:solidFill>
          <a:ln w="22860">
            <a:solidFill>
              <a:srgbClr val="E08A2B"/>
            </a:solidFill>
            <a:prstDash val="solid"/>
          </a:ln>
        </p:spPr>
      </p:sp>
      <p:sp>
        <p:nvSpPr>
          <p:cNvPr id="17" name="Text 15"/>
          <p:cNvSpPr/>
          <p:nvPr/>
        </p:nvSpPr>
        <p:spPr>
          <a:xfrm>
            <a:off x="6400800" y="5074920"/>
            <a:ext cx="1828800" cy="457200"/>
          </a:xfrm>
          <a:prstGeom prst="rect">
            <a:avLst/>
          </a:prstGeom>
          <a:noFill/>
          <a:ln/>
        </p:spPr>
        <p:txBody>
          <a:bodyPr wrap="square" rtlCol="0" anchor="ctr"/>
          <a:lstStyle/>
          <a:p>
            <a:pPr algn="ctr" indent="0" marL="0">
              <a:buNone/>
            </a:pPr>
            <a:r>
              <a:rPr lang="en-US" sz="1150" b="1" dirty="0">
                <a:solidFill>
                  <a:srgbClr val="1A1A1A"/>
                </a:solidFill>
                <a:latin typeface="Segoe UI" pitchFamily="34" charset="0"/>
                <a:ea typeface="Segoe UI" pitchFamily="34" charset="-122"/>
                <a:cs typeface="Segoe UI" pitchFamily="34" charset="-120"/>
              </a:rPr>
              <a:t>Friday</a:t>
            </a:r>
            <a:endParaRPr lang="en-US" sz="1150" dirty="0"/>
          </a:p>
        </p:txBody>
      </p:sp>
      <p:sp>
        <p:nvSpPr>
          <p:cNvPr id="18" name="Shape 16"/>
          <p:cNvSpPr/>
          <p:nvPr/>
        </p:nvSpPr>
        <p:spPr>
          <a:xfrm>
            <a:off x="9829800" y="4800600"/>
            <a:ext cx="822960" cy="822960"/>
          </a:xfrm>
          <a:prstGeom prst="ellipse">
            <a:avLst/>
          </a:prstGeom>
          <a:solidFill>
            <a:srgbClr val="FFFFFF"/>
          </a:solidFill>
          <a:ln w="22860">
            <a:solidFill>
              <a:srgbClr val="0A5159"/>
            </a:solidFill>
            <a:prstDash val="solid"/>
          </a:ln>
        </p:spPr>
      </p:sp>
      <p:sp>
        <p:nvSpPr>
          <p:cNvPr id="19" name="Text 17"/>
          <p:cNvSpPr/>
          <p:nvPr/>
        </p:nvSpPr>
        <p:spPr>
          <a:xfrm>
            <a:off x="9326880" y="4983480"/>
            <a:ext cx="1828800" cy="457200"/>
          </a:xfrm>
          <a:prstGeom prst="rect">
            <a:avLst/>
          </a:prstGeom>
          <a:noFill/>
          <a:ln/>
        </p:spPr>
        <p:txBody>
          <a:bodyPr wrap="square" rtlCol="0" anchor="ctr"/>
          <a:lstStyle/>
          <a:p>
            <a:pPr algn="ctr" indent="0" marL="0">
              <a:buNone/>
            </a:pPr>
            <a:r>
              <a:rPr lang="en-US" sz="1150" b="1" dirty="0">
                <a:solidFill>
                  <a:srgbClr val="1A1A1A"/>
                </a:solidFill>
                <a:latin typeface="Segoe UI" pitchFamily="34" charset="0"/>
                <a:ea typeface="Segoe UI" pitchFamily="34" charset="-122"/>
                <a:cs typeface="Segoe UI" pitchFamily="34" charset="-120"/>
              </a:rPr>
              <a:t>Report</a:t>
            </a:r>
            <a:endParaRPr lang="en-US" sz="1150" dirty="0"/>
          </a:p>
        </p:txBody>
      </p:sp>
      <p:sp>
        <p:nvSpPr>
          <p:cNvPr id="20" name="Text 1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1" name="Text 1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39</a:t>
            </a:r>
            <a:endParaRPr lang="en-US" sz="9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DATA MODEL</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Three pillars in Postgres.</a:t>
            </a:r>
            <a:endParaRPr lang="en-US" sz="3300" dirty="0"/>
          </a:p>
        </p:txBody>
      </p:sp>
      <p:sp>
        <p:nvSpPr>
          <p:cNvPr id="4" name="Shape 2"/>
          <p:cNvSpPr/>
          <p:nvPr/>
        </p:nvSpPr>
        <p:spPr>
          <a:xfrm>
            <a:off x="566928" y="2286000"/>
            <a:ext cx="3429000" cy="2468880"/>
          </a:xfrm>
          <a:prstGeom prst="roundRect">
            <a:avLst>
              <a:gd name="adj" fmla="val 4444"/>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886968" y="2560320"/>
            <a:ext cx="2834640" cy="822960"/>
          </a:xfrm>
          <a:prstGeom prst="rect">
            <a:avLst/>
          </a:prstGeom>
          <a:noFill/>
          <a:ln/>
        </p:spPr>
        <p:txBody>
          <a:bodyPr wrap="square" rtlCol="0" anchor="ctr"/>
          <a:lstStyle/>
          <a:p>
            <a:pPr indent="0" marL="0">
              <a:buNone/>
            </a:pPr>
            <a:r>
              <a:rPr lang="en-US" sz="1800" b="1" dirty="0">
                <a:solidFill>
                  <a:srgbClr val="0A5159"/>
                </a:solidFill>
                <a:latin typeface="Segoe UI" pitchFamily="34" charset="0"/>
                <a:ea typeface="Segoe UI" pitchFamily="34" charset="-122"/>
                <a:cs typeface="Segoe UI" pitchFamily="34" charset="-120"/>
              </a:rPr>
              <a:t>Vector memory</a:t>
            </a:r>
            <a:endParaRPr lang="en-US" sz="1800" dirty="0"/>
          </a:p>
        </p:txBody>
      </p:sp>
      <p:sp>
        <p:nvSpPr>
          <p:cNvPr id="6" name="Text 4"/>
          <p:cNvSpPr/>
          <p:nvPr/>
        </p:nvSpPr>
        <p:spPr>
          <a:xfrm>
            <a:off x="886968" y="3383280"/>
            <a:ext cx="2834640" cy="1188720"/>
          </a:xfrm>
          <a:prstGeom prst="rect">
            <a:avLst/>
          </a:prstGeom>
          <a:noFill/>
          <a:ln/>
        </p:spPr>
        <p:txBody>
          <a:bodyPr wrap="square" rtlCol="0" anchor="ctr"/>
          <a:lstStyle/>
          <a:p>
            <a:pPr indent="0" marL="0">
              <a:lnSpc>
                <a:spcPct val="120000"/>
              </a:lnSpc>
              <a:buNone/>
            </a:pPr>
            <a:r>
              <a:rPr lang="en-US" sz="1500" dirty="0">
                <a:solidFill>
                  <a:srgbClr val="3A3A3A"/>
                </a:solidFill>
                <a:latin typeface="Segoe UI" pitchFamily="34" charset="0"/>
                <a:ea typeface="Segoe UI" pitchFamily="34" charset="-122"/>
                <a:cs typeface="Segoe UI" pitchFamily="34" charset="-120"/>
              </a:rPr>
              <a:t>384-dim embeddings for semantic recall (RAG).</a:t>
            </a:r>
            <a:endParaRPr lang="en-US" sz="1500" dirty="0"/>
          </a:p>
        </p:txBody>
      </p:sp>
      <p:sp>
        <p:nvSpPr>
          <p:cNvPr id="7" name="Shape 5"/>
          <p:cNvSpPr/>
          <p:nvPr/>
        </p:nvSpPr>
        <p:spPr>
          <a:xfrm>
            <a:off x="4288536" y="2286000"/>
            <a:ext cx="3429000" cy="2468880"/>
          </a:xfrm>
          <a:prstGeom prst="roundRect">
            <a:avLst>
              <a:gd name="adj" fmla="val 4444"/>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4608576" y="2560320"/>
            <a:ext cx="2834640" cy="822960"/>
          </a:xfrm>
          <a:prstGeom prst="rect">
            <a:avLst/>
          </a:prstGeom>
          <a:noFill/>
          <a:ln/>
        </p:spPr>
        <p:txBody>
          <a:bodyPr wrap="square" rtlCol="0" anchor="ctr"/>
          <a:lstStyle/>
          <a:p>
            <a:pPr indent="0" marL="0">
              <a:buNone/>
            </a:pPr>
            <a:r>
              <a:rPr lang="en-US" sz="1800" b="1" dirty="0">
                <a:solidFill>
                  <a:srgbClr val="0A5159"/>
                </a:solidFill>
                <a:latin typeface="Segoe UI" pitchFamily="34" charset="0"/>
                <a:ea typeface="Segoe UI" pitchFamily="34" charset="-122"/>
                <a:cs typeface="Segoe UI" pitchFamily="34" charset="-120"/>
              </a:rPr>
              <a:t>Knowledge graph</a:t>
            </a:r>
            <a:endParaRPr lang="en-US" sz="1800" dirty="0"/>
          </a:p>
        </p:txBody>
      </p:sp>
      <p:sp>
        <p:nvSpPr>
          <p:cNvPr id="9" name="Text 7"/>
          <p:cNvSpPr/>
          <p:nvPr/>
        </p:nvSpPr>
        <p:spPr>
          <a:xfrm>
            <a:off x="4608576" y="3383280"/>
            <a:ext cx="2834640" cy="1188720"/>
          </a:xfrm>
          <a:prstGeom prst="rect">
            <a:avLst/>
          </a:prstGeom>
          <a:noFill/>
          <a:ln/>
        </p:spPr>
        <p:txBody>
          <a:bodyPr wrap="square" rtlCol="0" anchor="ctr"/>
          <a:lstStyle/>
          <a:p>
            <a:pPr indent="0" marL="0">
              <a:lnSpc>
                <a:spcPct val="120000"/>
              </a:lnSpc>
              <a:buNone/>
            </a:pPr>
            <a:r>
              <a:rPr lang="en-US" sz="1500" dirty="0">
                <a:solidFill>
                  <a:srgbClr val="3A3A3A"/>
                </a:solidFill>
                <a:latin typeface="Segoe UI" pitchFamily="34" charset="0"/>
                <a:ea typeface="Segoe UI" pitchFamily="34" charset="-122"/>
                <a:cs typeface="Segoe UI" pitchFamily="34" charset="-120"/>
              </a:rPr>
              <a:t>Nodes + edges — people, topics, relationships.</a:t>
            </a:r>
            <a:endParaRPr lang="en-US" sz="1500" dirty="0"/>
          </a:p>
        </p:txBody>
      </p:sp>
      <p:sp>
        <p:nvSpPr>
          <p:cNvPr id="10" name="Shape 8"/>
          <p:cNvSpPr/>
          <p:nvPr/>
        </p:nvSpPr>
        <p:spPr>
          <a:xfrm>
            <a:off x="8010144" y="2286000"/>
            <a:ext cx="3429000" cy="2468880"/>
          </a:xfrm>
          <a:prstGeom prst="roundRect">
            <a:avLst>
              <a:gd name="adj" fmla="val 4444"/>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1" name="Text 9"/>
          <p:cNvSpPr/>
          <p:nvPr/>
        </p:nvSpPr>
        <p:spPr>
          <a:xfrm>
            <a:off x="8330184" y="2560320"/>
            <a:ext cx="2834640" cy="822960"/>
          </a:xfrm>
          <a:prstGeom prst="rect">
            <a:avLst/>
          </a:prstGeom>
          <a:noFill/>
          <a:ln/>
        </p:spPr>
        <p:txBody>
          <a:bodyPr wrap="square" rtlCol="0" anchor="ctr"/>
          <a:lstStyle/>
          <a:p>
            <a:pPr indent="0" marL="0">
              <a:buNone/>
            </a:pPr>
            <a:r>
              <a:rPr lang="en-US" sz="1800" b="1" dirty="0">
                <a:solidFill>
                  <a:srgbClr val="0A5159"/>
                </a:solidFill>
                <a:latin typeface="Segoe UI" pitchFamily="34" charset="0"/>
                <a:ea typeface="Segoe UI" pitchFamily="34" charset="-122"/>
                <a:cs typeface="Segoe UI" pitchFamily="34" charset="-120"/>
              </a:rPr>
              <a:t>Session logs</a:t>
            </a:r>
            <a:endParaRPr lang="en-US" sz="1800" dirty="0"/>
          </a:p>
        </p:txBody>
      </p:sp>
      <p:sp>
        <p:nvSpPr>
          <p:cNvPr id="12" name="Text 10"/>
          <p:cNvSpPr/>
          <p:nvPr/>
        </p:nvSpPr>
        <p:spPr>
          <a:xfrm>
            <a:off x="8330184" y="3383280"/>
            <a:ext cx="2834640" cy="1188720"/>
          </a:xfrm>
          <a:prstGeom prst="rect">
            <a:avLst/>
          </a:prstGeom>
          <a:noFill/>
          <a:ln/>
        </p:spPr>
        <p:txBody>
          <a:bodyPr wrap="square" rtlCol="0" anchor="ctr"/>
          <a:lstStyle/>
          <a:p>
            <a:pPr indent="0" marL="0">
              <a:lnSpc>
                <a:spcPct val="120000"/>
              </a:lnSpc>
              <a:buNone/>
            </a:pPr>
            <a:r>
              <a:rPr lang="en-US" sz="1500" dirty="0">
                <a:solidFill>
                  <a:srgbClr val="3A3A3A"/>
                </a:solidFill>
                <a:latin typeface="Segoe UI" pitchFamily="34" charset="0"/>
                <a:ea typeface="Segoe UI" pitchFamily="34" charset="-122"/>
                <a:cs typeface="Segoe UI" pitchFamily="34" charset="-120"/>
              </a:rPr>
              <a:t>Verbatim transcript with speaker role.</a:t>
            </a:r>
            <a:endParaRPr lang="en-US" sz="1500" dirty="0"/>
          </a:p>
        </p:txBody>
      </p:sp>
      <p:sp>
        <p:nvSpPr>
          <p:cNvPr id="13" name="Text 11"/>
          <p:cNvSpPr/>
          <p:nvPr/>
        </p:nvSpPr>
        <p:spPr>
          <a:xfrm>
            <a:off x="566928" y="5029200"/>
            <a:ext cx="10972800" cy="45720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Supabase Postgres + pgvector · 7 versioned, reversible Alembic migrations.</a:t>
            </a:r>
            <a:endParaRPr lang="en-US" sz="140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40</a:t>
            </a:r>
            <a:endParaRPr lang="en-US" sz="90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PRIVACY-FIRST — A FEATURE, NOT AN AFTERTHOUGHT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Your data stays yours.</a:t>
            </a:r>
            <a:endParaRPr lang="en-US" sz="3300" dirty="0"/>
          </a:p>
        </p:txBody>
      </p:sp>
      <p:sp>
        <p:nvSpPr>
          <p:cNvPr id="4" name="Shape 2"/>
          <p:cNvSpPr/>
          <p:nvPr/>
        </p:nvSpPr>
        <p:spPr>
          <a:xfrm>
            <a:off x="566928" y="2286000"/>
            <a:ext cx="3108960" cy="2743200"/>
          </a:xfrm>
          <a:prstGeom prst="roundRect">
            <a:avLst>
              <a:gd name="adj" fmla="val 5000"/>
            </a:avLst>
          </a:prstGeom>
          <a:solidFill>
            <a:srgbClr val="E4EFEF"/>
          </a:solidFill>
          <a:ln w="19050">
            <a:solidFill>
              <a:srgbClr val="0E7C86"/>
            </a:solidFill>
            <a:prstDash val="solid"/>
          </a:ln>
        </p:spPr>
      </p:sp>
      <p:sp>
        <p:nvSpPr>
          <p:cNvPr id="5" name="Text 3"/>
          <p:cNvSpPr/>
          <p:nvPr/>
        </p:nvSpPr>
        <p:spPr>
          <a:xfrm>
            <a:off x="566928" y="2468880"/>
            <a:ext cx="3108960" cy="128016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6" name="Text 4"/>
          <p:cNvSpPr/>
          <p:nvPr/>
        </p:nvSpPr>
        <p:spPr>
          <a:xfrm>
            <a:off x="566928" y="3749040"/>
            <a:ext cx="3108960" cy="914400"/>
          </a:xfrm>
          <a:prstGeom prst="rect">
            <a:avLst/>
          </a:prstGeom>
          <a:noFill/>
          <a:ln/>
        </p:spPr>
        <p:txBody>
          <a:bodyPr wrap="square" rtlCol="0" anchor="ctr"/>
          <a:lstStyle/>
          <a:p>
            <a:pPr algn="ctr" indent="0" marL="0">
              <a:buNone/>
            </a:pPr>
            <a:r>
              <a:rPr lang="en-US" sz="2000" b="1" dirty="0">
                <a:solidFill>
                  <a:srgbClr val="0E7C86"/>
                </a:solidFill>
                <a:latin typeface="Segoe UI" pitchFamily="34" charset="0"/>
                <a:ea typeface="Segoe UI" pitchFamily="34" charset="-122"/>
                <a:cs typeface="Segoe UI" pitchFamily="34" charset="-120"/>
              </a:rPr>
              <a:t>Row-Level</a:t>
            </a:r>
            <a:endParaRPr lang="en-US" sz="2000" dirty="0"/>
          </a:p>
          <a:p>
            <a:pPr algn="ctr" indent="0" marL="0">
              <a:buNone/>
            </a:pPr>
            <a:r>
              <a:rPr lang="en-US" sz="2000" b="1" dirty="0">
                <a:solidFill>
                  <a:srgbClr val="0E7C86"/>
                </a:solidFill>
                <a:latin typeface="Segoe UI" pitchFamily="34" charset="0"/>
                <a:ea typeface="Segoe UI" pitchFamily="34" charset="-122"/>
                <a:cs typeface="Segoe UI" pitchFamily="34" charset="-120"/>
              </a:rPr>
              <a:t>Security</a:t>
            </a:r>
            <a:endParaRPr lang="en-US" sz="2000" dirty="0"/>
          </a:p>
        </p:txBody>
      </p:sp>
      <p:sp>
        <p:nvSpPr>
          <p:cNvPr id="7" name="Text 5"/>
          <p:cNvSpPr/>
          <p:nvPr/>
        </p:nvSpPr>
        <p:spPr>
          <a:xfrm>
            <a:off x="4023360" y="2468880"/>
            <a:ext cx="7498080" cy="2743200"/>
          </a:xfrm>
          <a:prstGeom prst="rect">
            <a:avLst/>
          </a:prstGeom>
          <a:noFill/>
          <a:ln/>
        </p:spPr>
        <p:txBody>
          <a:bodyPr wrap="square" rtlCol="0" anchor="ctr"/>
          <a:lstStyle/>
          <a:p>
            <a:pPr marL="342900" indent="-342900">
              <a:lnSpc>
                <a:spcPct val="135000"/>
              </a:lnSpc>
              <a:spcAft>
                <a:spcPts val="1000"/>
              </a:spcAft>
              <a:buSzPct val="100000"/>
              <a:buChar char="•"/>
            </a:pPr>
            <a:r>
              <a:rPr lang="en-US" sz="1800" dirty="0">
                <a:solidFill>
                  <a:srgbClr val="3A3A3A"/>
                </a:solidFill>
                <a:latin typeface="Segoe UI" pitchFamily="34" charset="0"/>
                <a:ea typeface="Segoe UI" pitchFamily="34" charset="-122"/>
                <a:cs typeface="Segoe UI" pitchFamily="34" charset="-120"/>
              </a:rPr>
              <a:t>Enforced at the database</a:t>
            </a:r>
            <a:endParaRPr lang="en-US" sz="1800" dirty="0"/>
          </a:p>
          <a:p>
            <a:pPr marL="342900" indent="-342900">
              <a:lnSpc>
                <a:spcPct val="135000"/>
              </a:lnSpc>
              <a:spcAft>
                <a:spcPts val="1000"/>
              </a:spcAft>
              <a:buSzPct val="100000"/>
              <a:buChar char="•"/>
            </a:pPr>
            <a:r>
              <a:rPr lang="en-US" sz="1800" dirty="0">
                <a:solidFill>
                  <a:srgbClr val="3A3A3A"/>
                </a:solidFill>
                <a:latin typeface="Segoe UI" pitchFamily="34" charset="0"/>
                <a:ea typeface="Segoe UI" pitchFamily="34" charset="-122"/>
                <a:cs typeface="Segoe UI" pitchFamily="34" charset="-120"/>
              </a:rPr>
              <a:t>A user can only ever touch their own graph &amp; memories</a:t>
            </a:r>
            <a:endParaRPr lang="en-US" sz="1800" dirty="0"/>
          </a:p>
          <a:p>
            <a:pPr marL="342900" indent="-342900">
              <a:lnSpc>
                <a:spcPct val="135000"/>
              </a:lnSpc>
              <a:spcAft>
                <a:spcPts val="1000"/>
              </a:spcAft>
              <a:buSzPct val="100000"/>
              <a:buChar char="•"/>
            </a:pPr>
            <a:r>
              <a:rPr lang="en-US" sz="1800" dirty="0">
                <a:solidFill>
                  <a:srgbClr val="3A3A3A"/>
                </a:solidFill>
                <a:latin typeface="Segoe UI" pitchFamily="34" charset="0"/>
                <a:ea typeface="Segoe UI" pitchFamily="34" charset="-122"/>
                <a:cs typeface="Segoe UI" pitchFamily="34" charset="-120"/>
              </a:rPr>
              <a:t>Sharing is opt-in, never default</a:t>
            </a:r>
            <a:endParaRPr lang="en-US" sz="1800" dirty="0"/>
          </a:p>
          <a:p>
            <a:pPr marL="342900" indent="-342900">
              <a:lnSpc>
                <a:spcPct val="135000"/>
              </a:lnSpc>
              <a:spcAft>
                <a:spcPts val="1000"/>
              </a:spcAft>
              <a:buSzPct val="100000"/>
              <a:buChar char="•"/>
            </a:pPr>
            <a:r>
              <a:rPr lang="en-US" sz="1800" dirty="0">
                <a:solidFill>
                  <a:srgbClr val="3A3A3A"/>
                </a:solidFill>
                <a:latin typeface="Segoe UI" pitchFamily="34" charset="0"/>
                <a:ea typeface="Segoe UI" pitchFamily="34" charset="-122"/>
                <a:cs typeface="Segoe UI" pitchFamily="34" charset="-120"/>
              </a:rPr>
              <a:t>Personal growth tool — not org surveillance</a:t>
            </a:r>
            <a:endParaRPr lang="en-US" sz="1800" dirty="0"/>
          </a:p>
        </p:txBody>
      </p:sp>
      <p:sp>
        <p:nvSpPr>
          <p:cNvPr id="8" name="Text 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9" name="Text 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41</a:t>
            </a:r>
            <a:endParaRPr lang="en-US" sz="90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PRODUCTION-GRADE OBSERVABILITY</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We can see the system — from day one.</a:t>
            </a:r>
            <a:endParaRPr lang="en-US" sz="3300" dirty="0"/>
          </a:p>
        </p:txBody>
      </p:sp>
      <p:sp>
        <p:nvSpPr>
          <p:cNvPr id="4" name="Shape 2"/>
          <p:cNvSpPr/>
          <p:nvPr/>
        </p:nvSpPr>
        <p:spPr>
          <a:xfrm>
            <a:off x="566928" y="23774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886968" y="25603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Sentry</a:t>
            </a:r>
            <a:endParaRPr lang="en-US" sz="1900" dirty="0"/>
          </a:p>
        </p:txBody>
      </p:sp>
      <p:sp>
        <p:nvSpPr>
          <p:cNvPr id="6" name="Text 4"/>
          <p:cNvSpPr/>
          <p:nvPr/>
        </p:nvSpPr>
        <p:spPr>
          <a:xfrm>
            <a:off x="886968" y="30358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errors</a:t>
            </a:r>
            <a:endParaRPr lang="en-US" sz="1400" dirty="0"/>
          </a:p>
        </p:txBody>
      </p:sp>
      <p:sp>
        <p:nvSpPr>
          <p:cNvPr id="7" name="Shape 5"/>
          <p:cNvSpPr/>
          <p:nvPr/>
        </p:nvSpPr>
        <p:spPr>
          <a:xfrm>
            <a:off x="4288536" y="23774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4608576" y="25603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Prometheus</a:t>
            </a:r>
            <a:endParaRPr lang="en-US" sz="1900" dirty="0"/>
          </a:p>
        </p:txBody>
      </p:sp>
      <p:sp>
        <p:nvSpPr>
          <p:cNvPr id="9" name="Text 7"/>
          <p:cNvSpPr/>
          <p:nvPr/>
        </p:nvSpPr>
        <p:spPr>
          <a:xfrm>
            <a:off x="4608576" y="30358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metrics</a:t>
            </a:r>
            <a:endParaRPr lang="en-US" sz="1400" dirty="0"/>
          </a:p>
        </p:txBody>
      </p:sp>
      <p:sp>
        <p:nvSpPr>
          <p:cNvPr id="10" name="Shape 8"/>
          <p:cNvSpPr/>
          <p:nvPr/>
        </p:nvSpPr>
        <p:spPr>
          <a:xfrm>
            <a:off x="8010144" y="23774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1" name="Text 9"/>
          <p:cNvSpPr/>
          <p:nvPr/>
        </p:nvSpPr>
        <p:spPr>
          <a:xfrm>
            <a:off x="8330184" y="25603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OpenTelemetry</a:t>
            </a:r>
            <a:endParaRPr lang="en-US" sz="1900" dirty="0"/>
          </a:p>
        </p:txBody>
      </p:sp>
      <p:sp>
        <p:nvSpPr>
          <p:cNvPr id="12" name="Text 10"/>
          <p:cNvSpPr/>
          <p:nvPr/>
        </p:nvSpPr>
        <p:spPr>
          <a:xfrm>
            <a:off x="8330184" y="30358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traces</a:t>
            </a:r>
            <a:endParaRPr lang="en-US" sz="1400" dirty="0"/>
          </a:p>
        </p:txBody>
      </p:sp>
      <p:sp>
        <p:nvSpPr>
          <p:cNvPr id="13" name="Shape 11"/>
          <p:cNvSpPr/>
          <p:nvPr/>
        </p:nvSpPr>
        <p:spPr>
          <a:xfrm>
            <a:off x="566928" y="37490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4" name="Text 12"/>
          <p:cNvSpPr/>
          <p:nvPr/>
        </p:nvSpPr>
        <p:spPr>
          <a:xfrm>
            <a:off x="886968" y="39319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Grafana</a:t>
            </a:r>
            <a:endParaRPr lang="en-US" sz="1900" dirty="0"/>
          </a:p>
        </p:txBody>
      </p:sp>
      <p:sp>
        <p:nvSpPr>
          <p:cNvPr id="15" name="Text 13"/>
          <p:cNvSpPr/>
          <p:nvPr/>
        </p:nvSpPr>
        <p:spPr>
          <a:xfrm>
            <a:off x="886968" y="44074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dashboards</a:t>
            </a:r>
            <a:endParaRPr lang="en-US" sz="1400" dirty="0"/>
          </a:p>
        </p:txBody>
      </p:sp>
      <p:sp>
        <p:nvSpPr>
          <p:cNvPr id="16" name="Shape 14"/>
          <p:cNvSpPr/>
          <p:nvPr/>
        </p:nvSpPr>
        <p:spPr>
          <a:xfrm>
            <a:off x="4288536" y="37490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7" name="Text 15"/>
          <p:cNvSpPr/>
          <p:nvPr/>
        </p:nvSpPr>
        <p:spPr>
          <a:xfrm>
            <a:off x="4608576" y="39319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structlog</a:t>
            </a:r>
            <a:endParaRPr lang="en-US" sz="1900" dirty="0"/>
          </a:p>
        </p:txBody>
      </p:sp>
      <p:sp>
        <p:nvSpPr>
          <p:cNvPr id="18" name="Text 16"/>
          <p:cNvSpPr/>
          <p:nvPr/>
        </p:nvSpPr>
        <p:spPr>
          <a:xfrm>
            <a:off x="4608576" y="44074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structured logs</a:t>
            </a:r>
            <a:endParaRPr lang="en-US" sz="14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42</a:t>
            </a:r>
            <a:endParaRPr lang="en-US" sz="90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HOW WE JUDGE SUCCESS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Honest numbers.</a:t>
            </a:r>
            <a:endParaRPr lang="en-US" sz="3300" dirty="0"/>
          </a:p>
        </p:txBody>
      </p:sp>
      <p:sp>
        <p:nvSpPr>
          <p:cNvPr id="4" name="Shape 2"/>
          <p:cNvSpPr/>
          <p:nvPr/>
        </p:nvSpPr>
        <p:spPr>
          <a:xfrm>
            <a:off x="566928" y="2468880"/>
            <a:ext cx="2560320" cy="2103120"/>
          </a:xfrm>
          <a:prstGeom prst="roundRect">
            <a:avLst>
              <a:gd name="adj" fmla="val 5217"/>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566928" y="2697480"/>
            <a:ext cx="2560320" cy="822960"/>
          </a:xfrm>
          <a:prstGeom prst="rect">
            <a:avLst/>
          </a:prstGeom>
          <a:noFill/>
          <a:ln/>
        </p:spPr>
        <p:txBody>
          <a:bodyPr wrap="square" rtlCol="0" anchor="ctr"/>
          <a:lstStyle/>
          <a:p>
            <a:pPr algn="ctr" indent="0" marL="0">
              <a:buNone/>
            </a:pPr>
            <a:r>
              <a:rPr lang="en-US" sz="3300" b="1" dirty="0">
                <a:solidFill>
                  <a:srgbClr val="0E7C86"/>
                </a:solidFill>
                <a:latin typeface="Segoe UI" pitchFamily="34" charset="0"/>
                <a:ea typeface="Segoe UI" pitchFamily="34" charset="-122"/>
                <a:cs typeface="Segoe UI" pitchFamily="34" charset="-120"/>
              </a:rPr>
              <a:t>~300 ms</a:t>
            </a:r>
            <a:endParaRPr lang="en-US" sz="3300" dirty="0"/>
          </a:p>
        </p:txBody>
      </p:sp>
      <p:sp>
        <p:nvSpPr>
          <p:cNvPr id="6" name="Text 4"/>
          <p:cNvSpPr/>
          <p:nvPr/>
        </p:nvSpPr>
        <p:spPr>
          <a:xfrm>
            <a:off x="704088" y="3611880"/>
            <a:ext cx="2286000" cy="731520"/>
          </a:xfrm>
          <a:prstGeom prst="rect">
            <a:avLst/>
          </a:prstGeom>
          <a:noFill/>
          <a:ln/>
        </p:spPr>
        <p:txBody>
          <a:bodyPr wrap="square" rtlCol="0" anchor="ctr"/>
          <a:lstStyle/>
          <a:p>
            <a:pPr algn="ctr" indent="0" marL="0">
              <a:lnSpc>
                <a:spcPct val="105000"/>
              </a:lnSpc>
              <a:buNone/>
            </a:pPr>
            <a:r>
              <a:rPr lang="en-US" sz="1450" dirty="0">
                <a:solidFill>
                  <a:srgbClr val="1A1A1A"/>
                </a:solidFill>
                <a:latin typeface="Segoe UI" pitchFamily="34" charset="0"/>
                <a:ea typeface="Segoe UI" pitchFamily="34" charset="-122"/>
                <a:cs typeface="Segoe UI" pitchFamily="34" charset="-120"/>
              </a:rPr>
              <a:t>advice latency</a:t>
            </a:r>
            <a:endParaRPr lang="en-US" sz="1450" dirty="0"/>
          </a:p>
        </p:txBody>
      </p:sp>
      <p:sp>
        <p:nvSpPr>
          <p:cNvPr id="7" name="Shape 5"/>
          <p:cNvSpPr/>
          <p:nvPr/>
        </p:nvSpPr>
        <p:spPr>
          <a:xfrm>
            <a:off x="3310128" y="2468880"/>
            <a:ext cx="2560320" cy="2103120"/>
          </a:xfrm>
          <a:prstGeom prst="roundRect">
            <a:avLst>
              <a:gd name="adj" fmla="val 5217"/>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3310128" y="2697480"/>
            <a:ext cx="2560320" cy="822960"/>
          </a:xfrm>
          <a:prstGeom prst="rect">
            <a:avLst/>
          </a:prstGeom>
          <a:noFill/>
          <a:ln/>
        </p:spPr>
        <p:txBody>
          <a:bodyPr wrap="square" rtlCol="0" anchor="ctr"/>
          <a:lstStyle/>
          <a:p>
            <a:pPr algn="ctr" indent="0" marL="0">
              <a:buNone/>
            </a:pPr>
            <a:r>
              <a:rPr lang="en-US" sz="3300" b="1" dirty="0">
                <a:solidFill>
                  <a:srgbClr val="0E7C86"/>
                </a:solidFill>
                <a:latin typeface="Segoe UI" pitchFamily="34" charset="0"/>
                <a:ea typeface="Segoe UI" pitchFamily="34" charset="-122"/>
                <a:cs typeface="Segoe UI" pitchFamily="34" charset="-120"/>
              </a:rPr>
              <a:t>≥85%</a:t>
            </a:r>
            <a:endParaRPr lang="en-US" sz="3300" dirty="0"/>
          </a:p>
        </p:txBody>
      </p:sp>
      <p:sp>
        <p:nvSpPr>
          <p:cNvPr id="9" name="Text 7"/>
          <p:cNvSpPr/>
          <p:nvPr/>
        </p:nvSpPr>
        <p:spPr>
          <a:xfrm>
            <a:off x="3447288" y="3611880"/>
            <a:ext cx="2286000" cy="731520"/>
          </a:xfrm>
          <a:prstGeom prst="rect">
            <a:avLst/>
          </a:prstGeom>
          <a:noFill/>
          <a:ln/>
        </p:spPr>
        <p:txBody>
          <a:bodyPr wrap="square" rtlCol="0" anchor="ctr"/>
          <a:lstStyle/>
          <a:p>
            <a:pPr algn="ctr" indent="0" marL="0">
              <a:lnSpc>
                <a:spcPct val="105000"/>
              </a:lnSpc>
              <a:buNone/>
            </a:pPr>
            <a:r>
              <a:rPr lang="en-US" sz="1450" dirty="0">
                <a:solidFill>
                  <a:srgbClr val="1A1A1A"/>
                </a:solidFill>
                <a:latin typeface="Segoe UI" pitchFamily="34" charset="0"/>
                <a:ea typeface="Segoe UI" pitchFamily="34" charset="-122"/>
                <a:cs typeface="Segoe UI" pitchFamily="34" charset="-120"/>
              </a:rPr>
              <a:t>transcription target</a:t>
            </a:r>
            <a:endParaRPr lang="en-US" sz="1450" dirty="0"/>
          </a:p>
        </p:txBody>
      </p:sp>
      <p:sp>
        <p:nvSpPr>
          <p:cNvPr id="10" name="Shape 8"/>
          <p:cNvSpPr/>
          <p:nvPr/>
        </p:nvSpPr>
        <p:spPr>
          <a:xfrm>
            <a:off x="6053328" y="2468880"/>
            <a:ext cx="2560320" cy="2103120"/>
          </a:xfrm>
          <a:prstGeom prst="roundRect">
            <a:avLst>
              <a:gd name="adj" fmla="val 5217"/>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1" name="Text 9"/>
          <p:cNvSpPr/>
          <p:nvPr/>
        </p:nvSpPr>
        <p:spPr>
          <a:xfrm>
            <a:off x="6053328" y="2697480"/>
            <a:ext cx="2560320" cy="822960"/>
          </a:xfrm>
          <a:prstGeom prst="rect">
            <a:avLst/>
          </a:prstGeom>
          <a:noFill/>
          <a:ln/>
        </p:spPr>
        <p:txBody>
          <a:bodyPr wrap="square" rtlCol="0" anchor="ctr"/>
          <a:lstStyle/>
          <a:p>
            <a:pPr algn="ctr" indent="0" marL="0">
              <a:buNone/>
            </a:pPr>
            <a:r>
              <a:rPr lang="en-US" sz="3300" b="1" dirty="0">
                <a:solidFill>
                  <a:srgbClr val="0E7C86"/>
                </a:solidFill>
                <a:latin typeface="Segoe UI" pitchFamily="34" charset="0"/>
                <a:ea typeface="Segoe UI" pitchFamily="34" charset="-122"/>
                <a:cs typeface="Segoe UI" pitchFamily="34" charset="-120"/>
              </a:rPr>
              <a:t>low</a:t>
            </a:r>
            <a:endParaRPr lang="en-US" sz="3300" dirty="0"/>
          </a:p>
        </p:txBody>
      </p:sp>
      <p:sp>
        <p:nvSpPr>
          <p:cNvPr id="12" name="Text 10"/>
          <p:cNvSpPr/>
          <p:nvPr/>
        </p:nvSpPr>
        <p:spPr>
          <a:xfrm>
            <a:off x="6190488" y="3611880"/>
            <a:ext cx="2286000" cy="731520"/>
          </a:xfrm>
          <a:prstGeom prst="rect">
            <a:avLst/>
          </a:prstGeom>
          <a:noFill/>
          <a:ln/>
        </p:spPr>
        <p:txBody>
          <a:bodyPr wrap="square" rtlCol="0" anchor="ctr"/>
          <a:lstStyle/>
          <a:p>
            <a:pPr algn="ctr" indent="0" marL="0">
              <a:lnSpc>
                <a:spcPct val="105000"/>
              </a:lnSpc>
              <a:buNone/>
            </a:pPr>
            <a:r>
              <a:rPr lang="en-US" sz="1450" dirty="0">
                <a:solidFill>
                  <a:srgbClr val="1A1A1A"/>
                </a:solidFill>
                <a:latin typeface="Segoe UI" pitchFamily="34" charset="0"/>
                <a:ea typeface="Segoe UI" pitchFamily="34" charset="-122"/>
                <a:cs typeface="Segoe UI" pitchFamily="34" charset="-120"/>
              </a:rPr>
              <a:t>hallucination rate</a:t>
            </a:r>
            <a:endParaRPr lang="en-US" sz="1450" dirty="0"/>
          </a:p>
        </p:txBody>
      </p:sp>
      <p:sp>
        <p:nvSpPr>
          <p:cNvPr id="13" name="Shape 11"/>
          <p:cNvSpPr/>
          <p:nvPr/>
        </p:nvSpPr>
        <p:spPr>
          <a:xfrm>
            <a:off x="8796528" y="2468880"/>
            <a:ext cx="2560320" cy="2103120"/>
          </a:xfrm>
          <a:prstGeom prst="roundRect">
            <a:avLst>
              <a:gd name="adj" fmla="val 5217"/>
            </a:avLst>
          </a:prstGeom>
          <a:solidFill>
            <a:srgbClr val="F7E9CF"/>
          </a:solidFill>
          <a:ln w="12700">
            <a:solidFill>
              <a:srgbClr val="E08A2B"/>
            </a:solidFill>
            <a:prstDash val="solid"/>
          </a:ln>
          <a:effectLst>
            <a:outerShdw sx="100000" sy="100000" kx="0" ky="0" algn="bl" rotWithShape="0" blurRad="88900" dist="25400" dir="5400000">
              <a:srgbClr val="BBB2A2">
                <a:alpha val="22000"/>
              </a:srgbClr>
            </a:outerShdw>
          </a:effectLst>
        </p:spPr>
      </p:sp>
      <p:sp>
        <p:nvSpPr>
          <p:cNvPr id="14" name="Text 12"/>
          <p:cNvSpPr/>
          <p:nvPr/>
        </p:nvSpPr>
        <p:spPr>
          <a:xfrm>
            <a:off x="8796528" y="2697480"/>
            <a:ext cx="2560320" cy="822960"/>
          </a:xfrm>
          <a:prstGeom prst="rect">
            <a:avLst/>
          </a:prstGeom>
          <a:noFill/>
          <a:ln/>
        </p:spPr>
        <p:txBody>
          <a:bodyPr wrap="square" rtlCol="0" anchor="ctr"/>
          <a:lstStyle/>
          <a:p>
            <a:pPr algn="ctr" indent="0" marL="0">
              <a:buNone/>
            </a:pPr>
            <a:r>
              <a:rPr lang="en-US" sz="3300" b="1" dirty="0">
                <a:solidFill>
                  <a:srgbClr val="E08A2B"/>
                </a:solidFill>
                <a:latin typeface="Segoe UI" pitchFamily="34" charset="0"/>
                <a:ea typeface="Segoe UI" pitchFamily="34" charset="-122"/>
                <a:cs typeface="Segoe UI" pitchFamily="34" charset="-120"/>
              </a:rPr>
              <a:t>~80%</a:t>
            </a:r>
            <a:endParaRPr lang="en-US" sz="3300" dirty="0"/>
          </a:p>
        </p:txBody>
      </p:sp>
      <p:sp>
        <p:nvSpPr>
          <p:cNvPr id="15" name="Text 13"/>
          <p:cNvSpPr/>
          <p:nvPr/>
        </p:nvSpPr>
        <p:spPr>
          <a:xfrm>
            <a:off x="8933688" y="3611880"/>
            <a:ext cx="2286000" cy="731520"/>
          </a:xfrm>
          <a:prstGeom prst="rect">
            <a:avLst/>
          </a:prstGeom>
          <a:noFill/>
          <a:ln/>
        </p:spPr>
        <p:txBody>
          <a:bodyPr wrap="square" rtlCol="0" anchor="ctr"/>
          <a:lstStyle/>
          <a:p>
            <a:pPr algn="ctr" indent="0" marL="0">
              <a:lnSpc>
                <a:spcPct val="105000"/>
              </a:lnSpc>
              <a:buNone/>
            </a:pPr>
            <a:r>
              <a:rPr lang="en-US" sz="1450" dirty="0">
                <a:solidFill>
                  <a:srgbClr val="1A1A1A"/>
                </a:solidFill>
                <a:latin typeface="Segoe UI" pitchFamily="34" charset="0"/>
                <a:ea typeface="Segoe UI" pitchFamily="34" charset="-122"/>
                <a:cs typeface="Segoe UI" pitchFamily="34" charset="-120"/>
              </a:rPr>
              <a:t>context-accurate answers</a:t>
            </a:r>
            <a:endParaRPr lang="en-US" sz="1450" dirty="0"/>
          </a:p>
        </p:txBody>
      </p:sp>
      <p:sp>
        <p:nvSpPr>
          <p:cNvPr id="16" name="Text 14"/>
          <p:cNvSpPr/>
          <p:nvPr/>
        </p:nvSpPr>
        <p:spPr>
          <a:xfrm>
            <a:off x="566928" y="4937760"/>
            <a:ext cx="10972800" cy="457200"/>
          </a:xfrm>
          <a:prstGeom prst="rect">
            <a:avLst/>
          </a:prstGeom>
          <a:noFill/>
          <a:ln/>
        </p:spPr>
        <p:txBody>
          <a:bodyPr wrap="square" rtlCol="0" anchor="ctr"/>
          <a:lstStyle/>
          <a:p>
            <a:pPr indent="0" marL="0">
              <a:buNone/>
            </a:pPr>
            <a:r>
              <a:rPr lang="en-US" sz="1500" i="1" dirty="0">
                <a:solidFill>
                  <a:srgbClr val="9A9285"/>
                </a:solidFill>
                <a:latin typeface="Segoe UI" pitchFamily="34" charset="0"/>
                <a:ea typeface="Segoe UI" pitchFamily="34" charset="-122"/>
                <a:cs typeface="Segoe UI" pitchFamily="34" charset="-120"/>
              </a:rPr>
              <a:t>Across 30+ trial sessions (~350 transcript lines, 45+ graph relations) — and we're driving accuracy up.</a:t>
            </a:r>
            <a:endParaRPr lang="en-US" sz="1500" dirty="0"/>
          </a:p>
        </p:txBody>
      </p:sp>
      <p:sp>
        <p:nvSpPr>
          <p:cNvPr id="17" name="Text 15"/>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8" name="Text 16"/>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43</a:t>
            </a:r>
            <a:endParaRPr lang="en-US" sz="900" dirty="0"/>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ENGINEERING QUALITY</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Discipline, not vibes.</a:t>
            </a:r>
            <a:endParaRPr lang="en-US" sz="3300" dirty="0"/>
          </a:p>
        </p:txBody>
      </p:sp>
      <p:sp>
        <p:nvSpPr>
          <p:cNvPr id="4" name="Shape 2"/>
          <p:cNvSpPr/>
          <p:nvPr/>
        </p:nvSpPr>
        <p:spPr>
          <a:xfrm>
            <a:off x="566928" y="2194560"/>
            <a:ext cx="566928" cy="566928"/>
          </a:xfrm>
          <a:prstGeom prst="roundRect">
            <a:avLst>
              <a:gd name="adj" fmla="val 12903"/>
            </a:avLst>
          </a:prstGeom>
          <a:solidFill>
            <a:srgbClr val="E9F3EC"/>
          </a:solidFill>
          <a:ln w="16510">
            <a:solidFill>
              <a:srgbClr val="2F8F5B"/>
            </a:solidFill>
            <a:prstDash val="solid"/>
          </a:ln>
        </p:spPr>
      </p:sp>
      <p:sp>
        <p:nvSpPr>
          <p:cNvPr id="5" name="Text 3"/>
          <p:cNvSpPr/>
          <p:nvPr/>
        </p:nvSpPr>
        <p:spPr>
          <a:xfrm>
            <a:off x="566928" y="2194560"/>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6" name="Text 4"/>
          <p:cNvSpPr/>
          <p:nvPr/>
        </p:nvSpPr>
        <p:spPr>
          <a:xfrm>
            <a:off x="1389888" y="2194560"/>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mypy --strict  —  </a:t>
            </a:r>
            <a:pPr indent="0" marL="0">
              <a:buNone/>
            </a:pPr>
            <a:r>
              <a:rPr lang="en-US" sz="1700" dirty="0">
                <a:solidFill>
                  <a:srgbClr val="3A3A3A"/>
                </a:solidFill>
                <a:latin typeface="Segoe UI" pitchFamily="34" charset="0"/>
                <a:ea typeface="Segoe UI" pitchFamily="34" charset="-122"/>
                <a:cs typeface="Segoe UI" pitchFamily="34" charset="-120"/>
              </a:rPr>
              <a:t>fully typed Python</a:t>
            </a:r>
            <a:endParaRPr lang="en-US" sz="1700" dirty="0"/>
          </a:p>
        </p:txBody>
      </p:sp>
      <p:sp>
        <p:nvSpPr>
          <p:cNvPr id="7" name="Shape 5"/>
          <p:cNvSpPr/>
          <p:nvPr/>
        </p:nvSpPr>
        <p:spPr>
          <a:xfrm>
            <a:off x="566928" y="2944368"/>
            <a:ext cx="566928" cy="566928"/>
          </a:xfrm>
          <a:prstGeom prst="roundRect">
            <a:avLst>
              <a:gd name="adj" fmla="val 12903"/>
            </a:avLst>
          </a:prstGeom>
          <a:solidFill>
            <a:srgbClr val="E9F3EC"/>
          </a:solidFill>
          <a:ln w="16510">
            <a:solidFill>
              <a:srgbClr val="2F8F5B"/>
            </a:solidFill>
            <a:prstDash val="solid"/>
          </a:ln>
        </p:spPr>
      </p:sp>
      <p:sp>
        <p:nvSpPr>
          <p:cNvPr id="8" name="Text 6"/>
          <p:cNvSpPr/>
          <p:nvPr/>
        </p:nvSpPr>
        <p:spPr>
          <a:xfrm>
            <a:off x="566928" y="2944368"/>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9" name="Text 7"/>
          <p:cNvSpPr/>
          <p:nvPr/>
        </p:nvSpPr>
        <p:spPr>
          <a:xfrm>
            <a:off x="1389888" y="2944368"/>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Ruff  —  </a:t>
            </a:r>
            <a:pPr indent="0" marL="0">
              <a:buNone/>
            </a:pPr>
            <a:r>
              <a:rPr lang="en-US" sz="1700" dirty="0">
                <a:solidFill>
                  <a:srgbClr val="3A3A3A"/>
                </a:solidFill>
                <a:latin typeface="Segoe UI" pitchFamily="34" charset="0"/>
                <a:ea typeface="Segoe UI" pitchFamily="34" charset="-122"/>
                <a:cs typeface="Segoe UI" pitchFamily="34" charset="-120"/>
              </a:rPr>
              <a:t>fast linting</a:t>
            </a:r>
            <a:endParaRPr lang="en-US" sz="1700" dirty="0"/>
          </a:p>
        </p:txBody>
      </p:sp>
      <p:sp>
        <p:nvSpPr>
          <p:cNvPr id="10" name="Shape 8"/>
          <p:cNvSpPr/>
          <p:nvPr/>
        </p:nvSpPr>
        <p:spPr>
          <a:xfrm>
            <a:off x="566928" y="3694176"/>
            <a:ext cx="566928" cy="566928"/>
          </a:xfrm>
          <a:prstGeom prst="roundRect">
            <a:avLst>
              <a:gd name="adj" fmla="val 12903"/>
            </a:avLst>
          </a:prstGeom>
          <a:solidFill>
            <a:srgbClr val="E9F3EC"/>
          </a:solidFill>
          <a:ln w="16510">
            <a:solidFill>
              <a:srgbClr val="2F8F5B"/>
            </a:solidFill>
            <a:prstDash val="solid"/>
          </a:ln>
        </p:spPr>
      </p:sp>
      <p:sp>
        <p:nvSpPr>
          <p:cNvPr id="11" name="Text 9"/>
          <p:cNvSpPr/>
          <p:nvPr/>
        </p:nvSpPr>
        <p:spPr>
          <a:xfrm>
            <a:off x="566928" y="3694176"/>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12" name="Text 10"/>
          <p:cNvSpPr/>
          <p:nvPr/>
        </p:nvSpPr>
        <p:spPr>
          <a:xfrm>
            <a:off x="1389888" y="3694176"/>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pytest  —  </a:t>
            </a:r>
            <a:pPr indent="0" marL="0">
              <a:buNone/>
            </a:pPr>
            <a:r>
              <a:rPr lang="en-US" sz="1700" dirty="0">
                <a:solidFill>
                  <a:srgbClr val="3A3A3A"/>
                </a:solidFill>
                <a:latin typeface="Segoe UI" pitchFamily="34" charset="0"/>
                <a:ea typeface="Segoe UI" pitchFamily="34" charset="-122"/>
                <a:cs typeface="Segoe UI" pitchFamily="34" charset="-120"/>
              </a:rPr>
              <a:t>unit · integration · e2e</a:t>
            </a:r>
            <a:endParaRPr lang="en-US" sz="1700" dirty="0"/>
          </a:p>
        </p:txBody>
      </p:sp>
      <p:sp>
        <p:nvSpPr>
          <p:cNvPr id="13" name="Shape 11"/>
          <p:cNvSpPr/>
          <p:nvPr/>
        </p:nvSpPr>
        <p:spPr>
          <a:xfrm>
            <a:off x="566928" y="4443984"/>
            <a:ext cx="566928" cy="566928"/>
          </a:xfrm>
          <a:prstGeom prst="roundRect">
            <a:avLst>
              <a:gd name="adj" fmla="val 12903"/>
            </a:avLst>
          </a:prstGeom>
          <a:solidFill>
            <a:srgbClr val="E9F3EC"/>
          </a:solidFill>
          <a:ln w="16510">
            <a:solidFill>
              <a:srgbClr val="2F8F5B"/>
            </a:solidFill>
            <a:prstDash val="solid"/>
          </a:ln>
        </p:spPr>
      </p:sp>
      <p:sp>
        <p:nvSpPr>
          <p:cNvPr id="14" name="Text 12"/>
          <p:cNvSpPr/>
          <p:nvPr/>
        </p:nvSpPr>
        <p:spPr>
          <a:xfrm>
            <a:off x="566928" y="4443984"/>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15" name="Text 13"/>
          <p:cNvSpPr/>
          <p:nvPr/>
        </p:nvSpPr>
        <p:spPr>
          <a:xfrm>
            <a:off x="1389888" y="4443984"/>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Locust  —  </a:t>
            </a:r>
            <a:pPr indent="0" marL="0">
              <a:buNone/>
            </a:pPr>
            <a:r>
              <a:rPr lang="en-US" sz="1700" dirty="0">
                <a:solidFill>
                  <a:srgbClr val="3A3A3A"/>
                </a:solidFill>
                <a:latin typeface="Segoe UI" pitchFamily="34" charset="0"/>
                <a:ea typeface="Segoe UI" pitchFamily="34" charset="-122"/>
                <a:cs typeface="Segoe UI" pitchFamily="34" charset="-120"/>
              </a:rPr>
              <a:t>load tested for concurrency</a:t>
            </a:r>
            <a:endParaRPr lang="en-US" sz="1700" dirty="0"/>
          </a:p>
        </p:txBody>
      </p:sp>
      <p:sp>
        <p:nvSpPr>
          <p:cNvPr id="16" name="Shape 14"/>
          <p:cNvSpPr/>
          <p:nvPr/>
        </p:nvSpPr>
        <p:spPr>
          <a:xfrm>
            <a:off x="566928" y="5193792"/>
            <a:ext cx="566928" cy="566928"/>
          </a:xfrm>
          <a:prstGeom prst="roundRect">
            <a:avLst>
              <a:gd name="adj" fmla="val 12903"/>
            </a:avLst>
          </a:prstGeom>
          <a:solidFill>
            <a:srgbClr val="E9F3EC"/>
          </a:solidFill>
          <a:ln w="16510">
            <a:solidFill>
              <a:srgbClr val="2F8F5B"/>
            </a:solidFill>
            <a:prstDash val="solid"/>
          </a:ln>
        </p:spPr>
      </p:sp>
      <p:sp>
        <p:nvSpPr>
          <p:cNvPr id="17" name="Text 15"/>
          <p:cNvSpPr/>
          <p:nvPr/>
        </p:nvSpPr>
        <p:spPr>
          <a:xfrm>
            <a:off x="566928" y="5193792"/>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18" name="Text 16"/>
          <p:cNvSpPr/>
          <p:nvPr/>
        </p:nvSpPr>
        <p:spPr>
          <a:xfrm>
            <a:off x="1389888" y="5193792"/>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Docker multi-stage  —  </a:t>
            </a:r>
            <a:pPr indent="0" marL="0">
              <a:buNone/>
            </a:pPr>
            <a:r>
              <a:rPr lang="en-US" sz="1700" dirty="0">
                <a:solidFill>
                  <a:srgbClr val="3A3A3A"/>
                </a:solidFill>
                <a:latin typeface="Segoe UI" pitchFamily="34" charset="0"/>
                <a:ea typeface="Segoe UI" pitchFamily="34" charset="-122"/>
                <a:cs typeface="Segoe UI" pitchFamily="34" charset="-120"/>
              </a:rPr>
              <a:t>runtime + worker targets</a:t>
            </a:r>
            <a:endParaRPr lang="en-US" sz="17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44</a:t>
            </a:r>
            <a:endParaRPr lang="en-US" sz="900" dirty="0"/>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HOW WE WORKED</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Iterative R&amp;D, clean ownership.</a:t>
            </a:r>
            <a:endParaRPr lang="en-US" sz="3300" dirty="0"/>
          </a:p>
        </p:txBody>
      </p:sp>
      <p:sp>
        <p:nvSpPr>
          <p:cNvPr id="4" name="Shape 2"/>
          <p:cNvSpPr/>
          <p:nvPr/>
        </p:nvSpPr>
        <p:spPr>
          <a:xfrm>
            <a:off x="566928" y="2286000"/>
            <a:ext cx="2057400" cy="822960"/>
          </a:xfrm>
          <a:prstGeom prst="roundRect">
            <a:avLst>
              <a:gd name="adj" fmla="val 11111"/>
            </a:avLst>
          </a:prstGeom>
          <a:solidFill>
            <a:srgbClr val="E4EFEF"/>
          </a:solidFill>
          <a:ln w="12700">
            <a:solidFill>
              <a:srgbClr val="0E7C86"/>
            </a:solidFill>
            <a:prstDash val="solid"/>
          </a:ln>
        </p:spPr>
      </p:sp>
      <p:sp>
        <p:nvSpPr>
          <p:cNvPr id="5" name="Text 3"/>
          <p:cNvSpPr/>
          <p:nvPr/>
        </p:nvSpPr>
        <p:spPr>
          <a:xfrm>
            <a:off x="566928"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Research</a:t>
            </a:r>
            <a:endParaRPr lang="en-US" sz="1450" dirty="0"/>
          </a:p>
        </p:txBody>
      </p:sp>
      <p:sp>
        <p:nvSpPr>
          <p:cNvPr id="6" name="Text 4"/>
          <p:cNvSpPr/>
          <p:nvPr/>
        </p:nvSpPr>
        <p:spPr>
          <a:xfrm>
            <a:off x="2578608" y="2286000"/>
            <a:ext cx="228600" cy="822960"/>
          </a:xfrm>
          <a:prstGeom prst="rect">
            <a:avLst/>
          </a:prstGeom>
          <a:noFill/>
          <a:ln/>
        </p:spPr>
        <p:txBody>
          <a:bodyPr wrap="square" rtlCol="0" anchor="ctr"/>
          <a:lstStyle/>
          <a:p>
            <a:pPr algn="ctr" indent="0" marL="0">
              <a:buNone/>
            </a:pPr>
            <a:r>
              <a:rPr lang="en-US" sz="1800" b="1" dirty="0">
                <a:solidFill>
                  <a:srgbClr val="0E7C86"/>
                </a:solidFill>
                <a:latin typeface="Segoe UI" pitchFamily="34" charset="0"/>
                <a:ea typeface="Segoe UI" pitchFamily="34" charset="-122"/>
                <a:cs typeface="Segoe UI" pitchFamily="34" charset="-120"/>
              </a:rPr>
              <a:t>›</a:t>
            </a:r>
            <a:endParaRPr lang="en-US" sz="1800" dirty="0"/>
          </a:p>
        </p:txBody>
      </p:sp>
      <p:sp>
        <p:nvSpPr>
          <p:cNvPr id="7" name="Shape 5"/>
          <p:cNvSpPr/>
          <p:nvPr/>
        </p:nvSpPr>
        <p:spPr>
          <a:xfrm>
            <a:off x="2779776" y="2286000"/>
            <a:ext cx="2057400" cy="822960"/>
          </a:xfrm>
          <a:prstGeom prst="roundRect">
            <a:avLst>
              <a:gd name="adj" fmla="val 11111"/>
            </a:avLst>
          </a:prstGeom>
          <a:solidFill>
            <a:srgbClr val="F0EBE1"/>
          </a:solidFill>
          <a:ln w="12700">
            <a:solidFill>
              <a:srgbClr val="0E7C86"/>
            </a:solidFill>
            <a:prstDash val="solid"/>
          </a:ln>
        </p:spPr>
      </p:sp>
      <p:sp>
        <p:nvSpPr>
          <p:cNvPr id="8" name="Text 6"/>
          <p:cNvSpPr/>
          <p:nvPr/>
        </p:nvSpPr>
        <p:spPr>
          <a:xfrm>
            <a:off x="2779776"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Analysis</a:t>
            </a:r>
            <a:endParaRPr lang="en-US" sz="1450" dirty="0"/>
          </a:p>
        </p:txBody>
      </p:sp>
      <p:sp>
        <p:nvSpPr>
          <p:cNvPr id="9" name="Text 7"/>
          <p:cNvSpPr/>
          <p:nvPr/>
        </p:nvSpPr>
        <p:spPr>
          <a:xfrm>
            <a:off x="4791456" y="2286000"/>
            <a:ext cx="228600" cy="822960"/>
          </a:xfrm>
          <a:prstGeom prst="rect">
            <a:avLst/>
          </a:prstGeom>
          <a:noFill/>
          <a:ln/>
        </p:spPr>
        <p:txBody>
          <a:bodyPr wrap="square" rtlCol="0" anchor="ctr"/>
          <a:lstStyle/>
          <a:p>
            <a:pPr algn="ctr" indent="0" marL="0">
              <a:buNone/>
            </a:pPr>
            <a:r>
              <a:rPr lang="en-US" sz="1800" b="1" dirty="0">
                <a:solidFill>
                  <a:srgbClr val="0E7C86"/>
                </a:solidFill>
                <a:latin typeface="Segoe UI" pitchFamily="34" charset="0"/>
                <a:ea typeface="Segoe UI" pitchFamily="34" charset="-122"/>
                <a:cs typeface="Segoe UI" pitchFamily="34" charset="-120"/>
              </a:rPr>
              <a:t>›</a:t>
            </a:r>
            <a:endParaRPr lang="en-US" sz="1800" dirty="0"/>
          </a:p>
        </p:txBody>
      </p:sp>
      <p:sp>
        <p:nvSpPr>
          <p:cNvPr id="10" name="Shape 8"/>
          <p:cNvSpPr/>
          <p:nvPr/>
        </p:nvSpPr>
        <p:spPr>
          <a:xfrm>
            <a:off x="4992624" y="2286000"/>
            <a:ext cx="2057400" cy="822960"/>
          </a:xfrm>
          <a:prstGeom prst="roundRect">
            <a:avLst>
              <a:gd name="adj" fmla="val 11111"/>
            </a:avLst>
          </a:prstGeom>
          <a:solidFill>
            <a:srgbClr val="E4EFEF"/>
          </a:solidFill>
          <a:ln w="12700">
            <a:solidFill>
              <a:srgbClr val="0E7C86"/>
            </a:solidFill>
            <a:prstDash val="solid"/>
          </a:ln>
        </p:spPr>
      </p:sp>
      <p:sp>
        <p:nvSpPr>
          <p:cNvPr id="11" name="Text 9"/>
          <p:cNvSpPr/>
          <p:nvPr/>
        </p:nvSpPr>
        <p:spPr>
          <a:xfrm>
            <a:off x="4992624"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Design</a:t>
            </a:r>
            <a:endParaRPr lang="en-US" sz="1450" dirty="0"/>
          </a:p>
        </p:txBody>
      </p:sp>
      <p:sp>
        <p:nvSpPr>
          <p:cNvPr id="12" name="Text 10"/>
          <p:cNvSpPr/>
          <p:nvPr/>
        </p:nvSpPr>
        <p:spPr>
          <a:xfrm>
            <a:off x="7004304" y="2286000"/>
            <a:ext cx="228600" cy="822960"/>
          </a:xfrm>
          <a:prstGeom prst="rect">
            <a:avLst/>
          </a:prstGeom>
          <a:noFill/>
          <a:ln/>
        </p:spPr>
        <p:txBody>
          <a:bodyPr wrap="square" rtlCol="0" anchor="ctr"/>
          <a:lstStyle/>
          <a:p>
            <a:pPr algn="ctr" indent="0" marL="0">
              <a:buNone/>
            </a:pPr>
            <a:r>
              <a:rPr lang="en-US" sz="1800" b="1" dirty="0">
                <a:solidFill>
                  <a:srgbClr val="0E7C86"/>
                </a:solidFill>
                <a:latin typeface="Segoe UI" pitchFamily="34" charset="0"/>
                <a:ea typeface="Segoe UI" pitchFamily="34" charset="-122"/>
                <a:cs typeface="Segoe UI" pitchFamily="34" charset="-120"/>
              </a:rPr>
              <a:t>›</a:t>
            </a:r>
            <a:endParaRPr lang="en-US" sz="1800" dirty="0"/>
          </a:p>
        </p:txBody>
      </p:sp>
      <p:sp>
        <p:nvSpPr>
          <p:cNvPr id="13" name="Shape 11"/>
          <p:cNvSpPr/>
          <p:nvPr/>
        </p:nvSpPr>
        <p:spPr>
          <a:xfrm>
            <a:off x="7205472" y="2286000"/>
            <a:ext cx="2057400" cy="822960"/>
          </a:xfrm>
          <a:prstGeom prst="roundRect">
            <a:avLst>
              <a:gd name="adj" fmla="val 11111"/>
            </a:avLst>
          </a:prstGeom>
          <a:solidFill>
            <a:srgbClr val="F0EBE1"/>
          </a:solidFill>
          <a:ln w="12700">
            <a:solidFill>
              <a:srgbClr val="0E7C86"/>
            </a:solidFill>
            <a:prstDash val="solid"/>
          </a:ln>
        </p:spPr>
      </p:sp>
      <p:sp>
        <p:nvSpPr>
          <p:cNvPr id="14" name="Text 12"/>
          <p:cNvSpPr/>
          <p:nvPr/>
        </p:nvSpPr>
        <p:spPr>
          <a:xfrm>
            <a:off x="7205472"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Development</a:t>
            </a:r>
            <a:endParaRPr lang="en-US" sz="1450" dirty="0"/>
          </a:p>
        </p:txBody>
      </p:sp>
      <p:sp>
        <p:nvSpPr>
          <p:cNvPr id="15" name="Text 13"/>
          <p:cNvSpPr/>
          <p:nvPr/>
        </p:nvSpPr>
        <p:spPr>
          <a:xfrm>
            <a:off x="9217152" y="2286000"/>
            <a:ext cx="228600" cy="822960"/>
          </a:xfrm>
          <a:prstGeom prst="rect">
            <a:avLst/>
          </a:prstGeom>
          <a:noFill/>
          <a:ln/>
        </p:spPr>
        <p:txBody>
          <a:bodyPr wrap="square" rtlCol="0" anchor="ctr"/>
          <a:lstStyle/>
          <a:p>
            <a:pPr algn="ctr" indent="0" marL="0">
              <a:buNone/>
            </a:pPr>
            <a:r>
              <a:rPr lang="en-US" sz="1800" b="1" dirty="0">
                <a:solidFill>
                  <a:srgbClr val="0E7C86"/>
                </a:solidFill>
                <a:latin typeface="Segoe UI" pitchFamily="34" charset="0"/>
                <a:ea typeface="Segoe UI" pitchFamily="34" charset="-122"/>
                <a:cs typeface="Segoe UI" pitchFamily="34" charset="-120"/>
              </a:rPr>
              <a:t>›</a:t>
            </a:r>
            <a:endParaRPr lang="en-US" sz="1800" dirty="0"/>
          </a:p>
        </p:txBody>
      </p:sp>
      <p:sp>
        <p:nvSpPr>
          <p:cNvPr id="16" name="Shape 14"/>
          <p:cNvSpPr/>
          <p:nvPr/>
        </p:nvSpPr>
        <p:spPr>
          <a:xfrm>
            <a:off x="9418320" y="2286000"/>
            <a:ext cx="2057400" cy="822960"/>
          </a:xfrm>
          <a:prstGeom prst="roundRect">
            <a:avLst>
              <a:gd name="adj" fmla="val 11111"/>
            </a:avLst>
          </a:prstGeom>
          <a:solidFill>
            <a:srgbClr val="E4EFEF"/>
          </a:solidFill>
          <a:ln w="12700">
            <a:solidFill>
              <a:srgbClr val="0E7C86"/>
            </a:solidFill>
            <a:prstDash val="solid"/>
          </a:ln>
        </p:spPr>
      </p:sp>
      <p:sp>
        <p:nvSpPr>
          <p:cNvPr id="17" name="Text 15"/>
          <p:cNvSpPr/>
          <p:nvPr/>
        </p:nvSpPr>
        <p:spPr>
          <a:xfrm>
            <a:off x="9418320"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Testing</a:t>
            </a:r>
            <a:endParaRPr lang="en-US" sz="1450" dirty="0"/>
          </a:p>
        </p:txBody>
      </p:sp>
      <p:sp>
        <p:nvSpPr>
          <p:cNvPr id="18" name="Shape 16"/>
          <p:cNvSpPr/>
          <p:nvPr/>
        </p:nvSpPr>
        <p:spPr>
          <a:xfrm>
            <a:off x="566928" y="3474720"/>
            <a:ext cx="5212080" cy="1737360"/>
          </a:xfrm>
          <a:prstGeom prst="roundRect">
            <a:avLst>
              <a:gd name="adj" fmla="val 631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9" name="Text 17"/>
          <p:cNvSpPr/>
          <p:nvPr/>
        </p:nvSpPr>
        <p:spPr>
          <a:xfrm>
            <a:off x="932688" y="3657600"/>
            <a:ext cx="4572000" cy="411480"/>
          </a:xfrm>
          <a:prstGeom prst="rect">
            <a:avLst/>
          </a:prstGeom>
          <a:noFill/>
          <a:ln/>
        </p:spPr>
        <p:txBody>
          <a:bodyPr wrap="square" rtlCol="0" anchor="ctr"/>
          <a:lstStyle/>
          <a:p>
            <a:pPr indent="0" marL="0">
              <a:buNone/>
            </a:pPr>
            <a:r>
              <a:rPr lang="en-US" sz="1700" b="1" dirty="0">
                <a:solidFill>
                  <a:srgbClr val="0E7C86"/>
                </a:solidFill>
                <a:latin typeface="Segoe UI" pitchFamily="34" charset="0"/>
                <a:ea typeface="Segoe UI" pitchFamily="34" charset="-122"/>
                <a:cs typeface="Segoe UI" pitchFamily="34" charset="-120"/>
              </a:rPr>
              <a:t>Ahmad</a:t>
            </a:r>
            <a:endParaRPr lang="en-US" sz="1700" dirty="0"/>
          </a:p>
        </p:txBody>
      </p:sp>
      <p:sp>
        <p:nvSpPr>
          <p:cNvPr id="20" name="Text 18"/>
          <p:cNvSpPr/>
          <p:nvPr/>
        </p:nvSpPr>
        <p:spPr>
          <a:xfrm>
            <a:off x="932688" y="4114800"/>
            <a:ext cx="4572000" cy="914400"/>
          </a:xfrm>
          <a:prstGeom prst="rect">
            <a:avLst/>
          </a:prstGeom>
          <a:noFill/>
          <a:ln/>
        </p:spPr>
        <p:txBody>
          <a:bodyPr wrap="square" rtlCol="0" anchor="ctr"/>
          <a:lstStyle/>
          <a:p>
            <a:pPr indent="0" marL="0">
              <a:lnSpc>
                <a:spcPct val="115000"/>
              </a:lnSpc>
              <a:buNone/>
            </a:pPr>
            <a:r>
              <a:rPr lang="en-US" sz="1500" dirty="0">
                <a:solidFill>
                  <a:srgbClr val="3A3A3A"/>
                </a:solidFill>
                <a:latin typeface="Segoe UI" pitchFamily="34" charset="0"/>
                <a:ea typeface="Segoe UI" pitchFamily="34" charset="-122"/>
                <a:cs typeface="Segoe UI" pitchFamily="34" charset="-120"/>
              </a:rPr>
              <a:t>Client · architecture · data model · UI · releases</a:t>
            </a:r>
            <a:endParaRPr lang="en-US" sz="1500" dirty="0"/>
          </a:p>
        </p:txBody>
      </p:sp>
      <p:sp>
        <p:nvSpPr>
          <p:cNvPr id="21" name="Shape 19"/>
          <p:cNvSpPr/>
          <p:nvPr/>
        </p:nvSpPr>
        <p:spPr>
          <a:xfrm>
            <a:off x="6355080" y="3474720"/>
            <a:ext cx="5212080" cy="1737360"/>
          </a:xfrm>
          <a:prstGeom prst="roundRect">
            <a:avLst>
              <a:gd name="adj" fmla="val 631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2" name="Text 20"/>
          <p:cNvSpPr/>
          <p:nvPr/>
        </p:nvSpPr>
        <p:spPr>
          <a:xfrm>
            <a:off x="6720840" y="3657600"/>
            <a:ext cx="4572000" cy="411480"/>
          </a:xfrm>
          <a:prstGeom prst="rect">
            <a:avLst/>
          </a:prstGeom>
          <a:noFill/>
          <a:ln/>
        </p:spPr>
        <p:txBody>
          <a:bodyPr wrap="square" rtlCol="0" anchor="ctr"/>
          <a:lstStyle/>
          <a:p>
            <a:pPr indent="0" marL="0">
              <a:buNone/>
            </a:pPr>
            <a:r>
              <a:rPr lang="en-US" sz="1700" b="1" dirty="0">
                <a:solidFill>
                  <a:srgbClr val="E08A2B"/>
                </a:solidFill>
                <a:latin typeface="Segoe UI" pitchFamily="34" charset="0"/>
                <a:ea typeface="Segoe UI" pitchFamily="34" charset="-122"/>
                <a:cs typeface="Segoe UI" pitchFamily="34" charset="-120"/>
              </a:rPr>
              <a:t>Attique</a:t>
            </a:r>
            <a:endParaRPr lang="en-US" sz="1700" dirty="0"/>
          </a:p>
        </p:txBody>
      </p:sp>
      <p:sp>
        <p:nvSpPr>
          <p:cNvPr id="23" name="Text 21"/>
          <p:cNvSpPr/>
          <p:nvPr/>
        </p:nvSpPr>
        <p:spPr>
          <a:xfrm>
            <a:off x="6720840" y="4114800"/>
            <a:ext cx="4572000" cy="914400"/>
          </a:xfrm>
          <a:prstGeom prst="rect">
            <a:avLst/>
          </a:prstGeom>
          <a:noFill/>
          <a:ln/>
        </p:spPr>
        <p:txBody>
          <a:bodyPr wrap="square" rtlCol="0" anchor="ctr"/>
          <a:lstStyle/>
          <a:p>
            <a:pPr indent="0" marL="0">
              <a:lnSpc>
                <a:spcPct val="115000"/>
              </a:lnSpc>
              <a:buNone/>
            </a:pPr>
            <a:r>
              <a:rPr lang="en-US" sz="1500" dirty="0">
                <a:solidFill>
                  <a:srgbClr val="3A3A3A"/>
                </a:solidFill>
                <a:latin typeface="Segoe UI" pitchFamily="34" charset="0"/>
                <a:ea typeface="Segoe UI" pitchFamily="34" charset="-122"/>
                <a:cs typeface="Segoe UI" pitchFamily="34" charset="-120"/>
              </a:rPr>
              <a:t>AI pipeline · memory · backend · workers · evaluation</a:t>
            </a:r>
            <a:endParaRPr lang="en-US" sz="1500" dirty="0"/>
          </a:p>
        </p:txBody>
      </p:sp>
      <p:sp>
        <p:nvSpPr>
          <p:cNvPr id="24" name="Text 2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5" name="Text 2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45</a:t>
            </a:r>
            <a:endParaRPr lang="en-US" sz="900" dirty="0"/>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CURRENT SCOPE</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The honest edges of what's built today.</a:t>
            </a:r>
            <a:endParaRPr lang="en-US" sz="3300" dirty="0"/>
          </a:p>
        </p:txBody>
      </p:sp>
      <p:sp>
        <p:nvSpPr>
          <p:cNvPr id="4" name="Shape 2"/>
          <p:cNvSpPr/>
          <p:nvPr/>
        </p:nvSpPr>
        <p:spPr>
          <a:xfrm>
            <a:off x="566928" y="2377440"/>
            <a:ext cx="10424160" cy="868680"/>
          </a:xfrm>
          <a:prstGeom prst="roundRect">
            <a:avLst>
              <a:gd name="adj" fmla="val 10526"/>
            </a:avLst>
          </a:prstGeom>
          <a:solidFill>
            <a:srgbClr val="F0EBE1"/>
          </a:solidFill>
          <a:ln/>
        </p:spPr>
      </p:sp>
      <p:sp>
        <p:nvSpPr>
          <p:cNvPr id="5" name="Text 3"/>
          <p:cNvSpPr/>
          <p:nvPr/>
        </p:nvSpPr>
        <p:spPr>
          <a:xfrm>
            <a:off x="932688" y="2377440"/>
            <a:ext cx="3657600" cy="86868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English-only</a:t>
            </a:r>
            <a:endParaRPr lang="en-US" sz="1900" dirty="0"/>
          </a:p>
        </p:txBody>
      </p:sp>
      <p:sp>
        <p:nvSpPr>
          <p:cNvPr id="6" name="Text 4"/>
          <p:cNvSpPr/>
          <p:nvPr/>
        </p:nvSpPr>
        <p:spPr>
          <a:xfrm>
            <a:off x="4590288" y="2377440"/>
            <a:ext cx="6217920" cy="86868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the language we support right now</a:t>
            </a:r>
            <a:endParaRPr lang="en-US" sz="1600" dirty="0"/>
          </a:p>
        </p:txBody>
      </p:sp>
      <p:sp>
        <p:nvSpPr>
          <p:cNvPr id="7" name="Shape 5"/>
          <p:cNvSpPr/>
          <p:nvPr/>
        </p:nvSpPr>
        <p:spPr>
          <a:xfrm>
            <a:off x="566928" y="3429000"/>
            <a:ext cx="10424160" cy="868680"/>
          </a:xfrm>
          <a:prstGeom prst="roundRect">
            <a:avLst>
              <a:gd name="adj" fmla="val 10526"/>
            </a:avLst>
          </a:prstGeom>
          <a:solidFill>
            <a:srgbClr val="F0EBE1"/>
          </a:solidFill>
          <a:ln/>
        </p:spPr>
      </p:sp>
      <p:sp>
        <p:nvSpPr>
          <p:cNvPr id="8" name="Text 6"/>
          <p:cNvSpPr/>
          <p:nvPr/>
        </p:nvSpPr>
        <p:spPr>
          <a:xfrm>
            <a:off x="932688" y="3429000"/>
            <a:ext cx="3657600" cy="86868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Needs internet</a:t>
            </a:r>
            <a:endParaRPr lang="en-US" sz="1900" dirty="0"/>
          </a:p>
        </p:txBody>
      </p:sp>
      <p:sp>
        <p:nvSpPr>
          <p:cNvPr id="9" name="Text 7"/>
          <p:cNvSpPr/>
          <p:nvPr/>
        </p:nvSpPr>
        <p:spPr>
          <a:xfrm>
            <a:off x="4590288" y="3429000"/>
            <a:ext cx="6217920" cy="86868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the AI brain lives in the cloud</a:t>
            </a:r>
            <a:endParaRPr lang="en-US" sz="1600" dirty="0"/>
          </a:p>
        </p:txBody>
      </p:sp>
      <p:sp>
        <p:nvSpPr>
          <p:cNvPr id="10" name="Shape 8"/>
          <p:cNvSpPr/>
          <p:nvPr/>
        </p:nvSpPr>
        <p:spPr>
          <a:xfrm>
            <a:off x="566928" y="4480560"/>
            <a:ext cx="10424160" cy="868680"/>
          </a:xfrm>
          <a:prstGeom prst="roundRect">
            <a:avLst>
              <a:gd name="adj" fmla="val 10526"/>
            </a:avLst>
          </a:prstGeom>
          <a:solidFill>
            <a:srgbClr val="F0EBE1"/>
          </a:solidFill>
          <a:ln/>
        </p:spPr>
      </p:sp>
      <p:sp>
        <p:nvSpPr>
          <p:cNvPr id="11" name="Text 9"/>
          <p:cNvSpPr/>
          <p:nvPr/>
        </p:nvSpPr>
        <p:spPr>
          <a:xfrm>
            <a:off x="932688" y="4480560"/>
            <a:ext cx="3657600" cy="86868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Thin client by design</a:t>
            </a:r>
            <a:endParaRPr lang="en-US" sz="1900" dirty="0"/>
          </a:p>
        </p:txBody>
      </p:sp>
      <p:sp>
        <p:nvSpPr>
          <p:cNvPr id="12" name="Text 10"/>
          <p:cNvSpPr/>
          <p:nvPr/>
        </p:nvSpPr>
        <p:spPr>
          <a:xfrm>
            <a:off x="4590288" y="4480560"/>
            <a:ext cx="6217920" cy="86868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the phone is mic + screen only</a:t>
            </a:r>
            <a:endParaRPr lang="en-US" sz="1600" dirty="0"/>
          </a:p>
        </p:txBody>
      </p:sp>
      <p:sp>
        <p:nvSpPr>
          <p:cNvPr id="13" name="Text 11"/>
          <p:cNvSpPr/>
          <p:nvPr/>
        </p:nvSpPr>
        <p:spPr>
          <a:xfrm>
            <a:off x="566928" y="5577840"/>
            <a:ext cx="10972800" cy="36576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Design choices, not loose ends — a clear scope for what we demo today.</a:t>
            </a:r>
            <a:endParaRPr lang="en-US" sz="140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46</a:t>
            </a:r>
            <a:endParaRPr lang="en-US" sz="900" dirty="0"/>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10332720" y="365760"/>
            <a:ext cx="2377440" cy="2377440"/>
          </a:xfrm>
          <a:prstGeom prst="ellipse">
            <a:avLst/>
          </a:prstGeom>
          <a:solidFill>
            <a:srgbClr val="E08A2B">
              <a:alpha val="14000"/>
            </a:srgbClr>
          </a:solidFill>
          <a:ln/>
        </p:spPr>
      </p:sp>
      <p:sp>
        <p:nvSpPr>
          <p:cNvPr id="3" name="Text 1"/>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E08A2B"/>
                </a:solidFill>
                <a:latin typeface="Segoe UI" pitchFamily="34" charset="0"/>
                <a:ea typeface="Segoe UI" pitchFamily="34" charset="-122"/>
                <a:cs typeface="Segoe UI" pitchFamily="34" charset="-120"/>
              </a:rPr>
              <a:t>FUTURE PLANS  ·  PLANNED, NOT YET BUILT</a:t>
            </a:r>
            <a:endParaRPr lang="en-US" sz="1250" dirty="0"/>
          </a:p>
        </p:txBody>
      </p:sp>
      <p:sp>
        <p:nvSpPr>
          <p:cNvPr id="4" name="Text 2"/>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The runway.</a:t>
            </a:r>
            <a:endParaRPr lang="en-US" sz="3300" dirty="0"/>
          </a:p>
        </p:txBody>
      </p:sp>
      <p:sp>
        <p:nvSpPr>
          <p:cNvPr id="5" name="Shape 3"/>
          <p:cNvSpPr/>
          <p:nvPr/>
        </p:nvSpPr>
        <p:spPr>
          <a:xfrm>
            <a:off x="566928" y="2057400"/>
            <a:ext cx="5212080" cy="1051560"/>
          </a:xfrm>
          <a:prstGeom prst="roundRect">
            <a:avLst>
              <a:gd name="adj" fmla="val 8696"/>
            </a:avLst>
          </a:prstGeom>
          <a:solidFill>
            <a:srgbClr val="FFFFFF"/>
          </a:solidFill>
          <a:ln w="12700">
            <a:solidFill>
              <a:srgbClr val="E08A2B"/>
            </a:solidFill>
            <a:prstDash val="dash"/>
          </a:ln>
        </p:spPr>
      </p:sp>
      <p:sp>
        <p:nvSpPr>
          <p:cNvPr id="6" name="Text 4"/>
          <p:cNvSpPr/>
          <p:nvPr/>
        </p:nvSpPr>
        <p:spPr>
          <a:xfrm>
            <a:off x="841248" y="205740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1</a:t>
            </a:r>
            <a:endParaRPr lang="en-US" sz="2600" dirty="0"/>
          </a:p>
        </p:txBody>
      </p:sp>
      <p:sp>
        <p:nvSpPr>
          <p:cNvPr id="7" name="Text 5"/>
          <p:cNvSpPr/>
          <p:nvPr/>
        </p:nvSpPr>
        <p:spPr>
          <a:xfrm>
            <a:off x="1572768" y="222199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Multi-language</a:t>
            </a:r>
            <a:endParaRPr lang="en-US" sz="1650" dirty="0"/>
          </a:p>
        </p:txBody>
      </p:sp>
      <p:sp>
        <p:nvSpPr>
          <p:cNvPr id="8" name="Text 6"/>
          <p:cNvSpPr/>
          <p:nvPr/>
        </p:nvSpPr>
        <p:spPr>
          <a:xfrm>
            <a:off x="1572768" y="262432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Urdu first, then more</a:t>
            </a:r>
            <a:endParaRPr lang="en-US" sz="1300" dirty="0"/>
          </a:p>
        </p:txBody>
      </p:sp>
      <p:sp>
        <p:nvSpPr>
          <p:cNvPr id="9" name="Shape 7"/>
          <p:cNvSpPr/>
          <p:nvPr/>
        </p:nvSpPr>
        <p:spPr>
          <a:xfrm>
            <a:off x="6144768" y="2057400"/>
            <a:ext cx="5212080" cy="1051560"/>
          </a:xfrm>
          <a:prstGeom prst="roundRect">
            <a:avLst>
              <a:gd name="adj" fmla="val 8696"/>
            </a:avLst>
          </a:prstGeom>
          <a:solidFill>
            <a:srgbClr val="FFFFFF"/>
          </a:solidFill>
          <a:ln w="12700">
            <a:solidFill>
              <a:srgbClr val="E08A2B"/>
            </a:solidFill>
            <a:prstDash val="dash"/>
          </a:ln>
        </p:spPr>
      </p:sp>
      <p:sp>
        <p:nvSpPr>
          <p:cNvPr id="10" name="Text 8"/>
          <p:cNvSpPr/>
          <p:nvPr/>
        </p:nvSpPr>
        <p:spPr>
          <a:xfrm>
            <a:off x="6419088" y="205740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2</a:t>
            </a:r>
            <a:endParaRPr lang="en-US" sz="2600" dirty="0"/>
          </a:p>
        </p:txBody>
      </p:sp>
      <p:sp>
        <p:nvSpPr>
          <p:cNvPr id="11" name="Text 9"/>
          <p:cNvSpPr/>
          <p:nvPr/>
        </p:nvSpPr>
        <p:spPr>
          <a:xfrm>
            <a:off x="7150608" y="222199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Offline fallback</a:t>
            </a:r>
            <a:endParaRPr lang="en-US" sz="1650" dirty="0"/>
          </a:p>
        </p:txBody>
      </p:sp>
      <p:sp>
        <p:nvSpPr>
          <p:cNvPr id="12" name="Text 10"/>
          <p:cNvSpPr/>
          <p:nvPr/>
        </p:nvSpPr>
        <p:spPr>
          <a:xfrm>
            <a:off x="7150608" y="262432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local STT + small LLM (ONNX already in)</a:t>
            </a:r>
            <a:endParaRPr lang="en-US" sz="1300" dirty="0"/>
          </a:p>
        </p:txBody>
      </p:sp>
      <p:sp>
        <p:nvSpPr>
          <p:cNvPr id="13" name="Shape 11"/>
          <p:cNvSpPr/>
          <p:nvPr/>
        </p:nvSpPr>
        <p:spPr>
          <a:xfrm>
            <a:off x="566928" y="3291840"/>
            <a:ext cx="5212080" cy="1051560"/>
          </a:xfrm>
          <a:prstGeom prst="roundRect">
            <a:avLst>
              <a:gd name="adj" fmla="val 8696"/>
            </a:avLst>
          </a:prstGeom>
          <a:solidFill>
            <a:srgbClr val="FFFFFF"/>
          </a:solidFill>
          <a:ln w="12700">
            <a:solidFill>
              <a:srgbClr val="E08A2B"/>
            </a:solidFill>
            <a:prstDash val="dash"/>
          </a:ln>
        </p:spPr>
      </p:sp>
      <p:sp>
        <p:nvSpPr>
          <p:cNvPr id="14" name="Text 12"/>
          <p:cNvSpPr/>
          <p:nvPr/>
        </p:nvSpPr>
        <p:spPr>
          <a:xfrm>
            <a:off x="841248" y="329184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3</a:t>
            </a:r>
            <a:endParaRPr lang="en-US" sz="2600" dirty="0"/>
          </a:p>
        </p:txBody>
      </p:sp>
      <p:sp>
        <p:nvSpPr>
          <p:cNvPr id="15" name="Text 13"/>
          <p:cNvSpPr/>
          <p:nvPr/>
        </p:nvSpPr>
        <p:spPr>
          <a:xfrm>
            <a:off x="1572768" y="345643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Tone-aware coaching</a:t>
            </a:r>
            <a:endParaRPr lang="en-US" sz="1650" dirty="0"/>
          </a:p>
        </p:txBody>
      </p:sp>
      <p:sp>
        <p:nvSpPr>
          <p:cNvPr id="16" name="Text 14"/>
          <p:cNvSpPr/>
          <p:nvPr/>
        </p:nvSpPr>
        <p:spPr>
          <a:xfrm>
            <a:off x="1572768" y="385876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live sentiment → tone nudges</a:t>
            </a:r>
            <a:endParaRPr lang="en-US" sz="1300" dirty="0"/>
          </a:p>
        </p:txBody>
      </p:sp>
      <p:sp>
        <p:nvSpPr>
          <p:cNvPr id="17" name="Shape 15"/>
          <p:cNvSpPr/>
          <p:nvPr/>
        </p:nvSpPr>
        <p:spPr>
          <a:xfrm>
            <a:off x="6144768" y="3291840"/>
            <a:ext cx="5212080" cy="1051560"/>
          </a:xfrm>
          <a:prstGeom prst="roundRect">
            <a:avLst>
              <a:gd name="adj" fmla="val 8696"/>
            </a:avLst>
          </a:prstGeom>
          <a:solidFill>
            <a:srgbClr val="FFFFFF"/>
          </a:solidFill>
          <a:ln w="12700">
            <a:solidFill>
              <a:srgbClr val="E08A2B"/>
            </a:solidFill>
            <a:prstDash val="dash"/>
          </a:ln>
        </p:spPr>
      </p:sp>
      <p:sp>
        <p:nvSpPr>
          <p:cNvPr id="18" name="Text 16"/>
          <p:cNvSpPr/>
          <p:nvPr/>
        </p:nvSpPr>
        <p:spPr>
          <a:xfrm>
            <a:off x="6419088" y="329184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4</a:t>
            </a:r>
            <a:endParaRPr lang="en-US" sz="2600" dirty="0"/>
          </a:p>
        </p:txBody>
      </p:sp>
      <p:sp>
        <p:nvSpPr>
          <p:cNvPr id="19" name="Text 17"/>
          <p:cNvSpPr/>
          <p:nvPr/>
        </p:nvSpPr>
        <p:spPr>
          <a:xfrm>
            <a:off x="7150608" y="345643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Open-source release</a:t>
            </a:r>
            <a:endParaRPr lang="en-US" sz="1650" dirty="0"/>
          </a:p>
        </p:txBody>
      </p:sp>
      <p:sp>
        <p:nvSpPr>
          <p:cNvPr id="20" name="Text 18"/>
          <p:cNvSpPr/>
          <p:nvPr/>
        </p:nvSpPr>
        <p:spPr>
          <a:xfrm>
            <a:off x="7150608" y="385876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code + methods for the community</a:t>
            </a:r>
            <a:endParaRPr lang="en-US" sz="1300" dirty="0"/>
          </a:p>
        </p:txBody>
      </p:sp>
      <p:sp>
        <p:nvSpPr>
          <p:cNvPr id="21" name="Shape 19"/>
          <p:cNvSpPr/>
          <p:nvPr/>
        </p:nvSpPr>
        <p:spPr>
          <a:xfrm>
            <a:off x="566928" y="4526280"/>
            <a:ext cx="5212080" cy="1051560"/>
          </a:xfrm>
          <a:prstGeom prst="roundRect">
            <a:avLst>
              <a:gd name="adj" fmla="val 8696"/>
            </a:avLst>
          </a:prstGeom>
          <a:solidFill>
            <a:srgbClr val="FFFFFF"/>
          </a:solidFill>
          <a:ln w="12700">
            <a:solidFill>
              <a:srgbClr val="E08A2B"/>
            </a:solidFill>
            <a:prstDash val="dash"/>
          </a:ln>
        </p:spPr>
      </p:sp>
      <p:sp>
        <p:nvSpPr>
          <p:cNvPr id="22" name="Text 20"/>
          <p:cNvSpPr/>
          <p:nvPr/>
        </p:nvSpPr>
        <p:spPr>
          <a:xfrm>
            <a:off x="841248" y="452628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5</a:t>
            </a:r>
            <a:endParaRPr lang="en-US" sz="2600" dirty="0"/>
          </a:p>
        </p:txBody>
      </p:sp>
      <p:sp>
        <p:nvSpPr>
          <p:cNvPr id="23" name="Text 21"/>
          <p:cNvSpPr/>
          <p:nvPr/>
        </p:nvSpPr>
        <p:spPr>
          <a:xfrm>
            <a:off x="1572768" y="469087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Scale &amp; deploy</a:t>
            </a:r>
            <a:endParaRPr lang="en-US" sz="1650" dirty="0"/>
          </a:p>
        </p:txBody>
      </p:sp>
      <p:sp>
        <p:nvSpPr>
          <p:cNvPr id="24" name="Text 22"/>
          <p:cNvSpPr/>
          <p:nvPr/>
        </p:nvSpPr>
        <p:spPr>
          <a:xfrm>
            <a:off x="1572768" y="509320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cloud GPU, app-store builds</a:t>
            </a:r>
            <a:endParaRPr lang="en-US" sz="1300" dirty="0"/>
          </a:p>
        </p:txBody>
      </p:sp>
      <p:sp>
        <p:nvSpPr>
          <p:cNvPr id="25" name="Shape 23"/>
          <p:cNvSpPr/>
          <p:nvPr/>
        </p:nvSpPr>
        <p:spPr>
          <a:xfrm>
            <a:off x="6144768" y="4526280"/>
            <a:ext cx="5212080" cy="1051560"/>
          </a:xfrm>
          <a:prstGeom prst="roundRect">
            <a:avLst>
              <a:gd name="adj" fmla="val 8696"/>
            </a:avLst>
          </a:prstGeom>
          <a:solidFill>
            <a:srgbClr val="FFFFFF"/>
          </a:solidFill>
          <a:ln w="12700">
            <a:solidFill>
              <a:srgbClr val="E08A2B"/>
            </a:solidFill>
            <a:prstDash val="dash"/>
          </a:ln>
        </p:spPr>
      </p:sp>
      <p:sp>
        <p:nvSpPr>
          <p:cNvPr id="26" name="Text 24"/>
          <p:cNvSpPr/>
          <p:nvPr/>
        </p:nvSpPr>
        <p:spPr>
          <a:xfrm>
            <a:off x="6419088" y="452628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6</a:t>
            </a:r>
            <a:endParaRPr lang="en-US" sz="2600" dirty="0"/>
          </a:p>
        </p:txBody>
      </p:sp>
      <p:sp>
        <p:nvSpPr>
          <p:cNvPr id="27" name="Text 25"/>
          <p:cNvSpPr/>
          <p:nvPr/>
        </p:nvSpPr>
        <p:spPr>
          <a:xfrm>
            <a:off x="7150608" y="469087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Fine-tuning</a:t>
            </a:r>
            <a:endParaRPr lang="en-US" sz="1650" dirty="0"/>
          </a:p>
        </p:txBody>
      </p:sp>
      <p:sp>
        <p:nvSpPr>
          <p:cNvPr id="28" name="Text 26"/>
          <p:cNvSpPr/>
          <p:nvPr/>
        </p:nvSpPr>
        <p:spPr>
          <a:xfrm>
            <a:off x="7150608" y="509320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domain-adapt ASR/LLM on sessions</a:t>
            </a:r>
            <a:endParaRPr lang="en-US" sz="1300" dirty="0"/>
          </a:p>
        </p:txBody>
      </p:sp>
      <p:sp>
        <p:nvSpPr>
          <p:cNvPr id="29" name="Text 2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30" name="Text 2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47</a:t>
            </a:r>
            <a:endParaRPr lang="en-US" sz="900"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9784080" y="-1005840"/>
            <a:ext cx="3657600" cy="3657600"/>
          </a:xfrm>
          <a:prstGeom prst="ellipse">
            <a:avLst/>
          </a:prstGeom>
          <a:solidFill>
            <a:srgbClr val="0E7C86">
              <a:alpha val="14000"/>
            </a:srgbClr>
          </a:solidFill>
          <a:ln/>
        </p:spPr>
      </p:sp>
      <p:sp>
        <p:nvSpPr>
          <p:cNvPr id="3" name="Shape 1"/>
          <p:cNvSpPr/>
          <p:nvPr/>
        </p:nvSpPr>
        <p:spPr>
          <a:xfrm>
            <a:off x="10789920" y="1737360"/>
            <a:ext cx="1280160" cy="1280160"/>
          </a:xfrm>
          <a:prstGeom prst="ellipse">
            <a:avLst/>
          </a:prstGeom>
          <a:solidFill>
            <a:srgbClr val="E08A2B">
              <a:alpha val="16000"/>
            </a:srgbClr>
          </a:solidFill>
          <a:ln/>
        </p:spPr>
      </p:sp>
      <p:sp>
        <p:nvSpPr>
          <p:cNvPr id="4" name="Shape 2"/>
          <p:cNvSpPr/>
          <p:nvPr/>
        </p:nvSpPr>
        <p:spPr>
          <a:xfrm>
            <a:off x="-731520" y="5212080"/>
            <a:ext cx="2560320" cy="2560320"/>
          </a:xfrm>
          <a:prstGeom prst="ellipse">
            <a:avLst/>
          </a:prstGeom>
          <a:solidFill>
            <a:srgbClr val="0E7C86">
              <a:alpha val="10000"/>
            </a:srgbClr>
          </a:solidFill>
          <a:ln/>
        </p:spPr>
      </p:sp>
      <p:pic>
        <p:nvPicPr>
          <p:cNvPr id="5" name="Image 0" descr="assets/logo_dark.png"/>
          <p:cNvPicPr>
            <a:picLocks noChangeAspect="1"/>
          </p:cNvPicPr>
          <p:nvPr/>
        </p:nvPicPr>
        <p:blipFill>
          <a:blip r:embed="rId1"/>
          <a:stretch>
            <a:fillRect/>
          </a:stretch>
        </p:blipFill>
        <p:spPr>
          <a:xfrm>
            <a:off x="566928" y="1280160"/>
            <a:ext cx="1280160" cy="1280160"/>
          </a:xfrm>
          <a:prstGeom prst="rect">
            <a:avLst/>
          </a:prstGeom>
        </p:spPr>
      </p:pic>
      <p:sp>
        <p:nvSpPr>
          <p:cNvPr id="6" name="Text 3"/>
          <p:cNvSpPr/>
          <p:nvPr/>
        </p:nvSpPr>
        <p:spPr>
          <a:xfrm>
            <a:off x="566928" y="2743200"/>
            <a:ext cx="10058400" cy="1645920"/>
          </a:xfrm>
          <a:prstGeom prst="rect">
            <a:avLst/>
          </a:prstGeom>
          <a:noFill/>
          <a:ln/>
        </p:spPr>
        <p:txBody>
          <a:bodyPr wrap="square" rtlCol="0" anchor="ctr"/>
          <a:lstStyle/>
          <a:p>
            <a:pPr indent="0" marL="0">
              <a:lnSpc>
                <a:spcPct val="102000"/>
              </a:lnSpc>
              <a:buNone/>
            </a:pPr>
            <a:r>
              <a:rPr lang="en-US" sz="4400" b="1" dirty="0">
                <a:solidFill>
                  <a:srgbClr val="1A1A1A"/>
                </a:solidFill>
                <a:latin typeface="Segoe UI" pitchFamily="34" charset="0"/>
                <a:ea typeface="Segoe UI" pitchFamily="34" charset="-122"/>
                <a:cs typeface="Segoe UI" pitchFamily="34" charset="-120"/>
              </a:rPr>
              <a:t>Get better at talking —</a:t>
            </a:r>
            <a:endParaRPr lang="en-US" sz="4400" dirty="0"/>
          </a:p>
          <a:p>
            <a:pPr indent="0" marL="0">
              <a:lnSpc>
                <a:spcPct val="102000"/>
              </a:lnSpc>
              <a:buNone/>
            </a:pPr>
            <a:r>
              <a:rPr lang="en-US" sz="4400" b="1" dirty="0">
                <a:solidFill>
                  <a:srgbClr val="1A1A1A"/>
                </a:solidFill>
                <a:latin typeface="Segoe UI" pitchFamily="34" charset="0"/>
                <a:ea typeface="Segoe UI" pitchFamily="34" charset="-122"/>
                <a:cs typeface="Segoe UI" pitchFamily="34" charset="-120"/>
              </a:rPr>
              <a:t>one conversation at a time.</a:t>
            </a:r>
            <a:endParaRPr lang="en-US" sz="4400" dirty="0"/>
          </a:p>
        </p:txBody>
      </p:sp>
      <p:sp>
        <p:nvSpPr>
          <p:cNvPr id="7" name="Text 4"/>
          <p:cNvSpPr/>
          <p:nvPr/>
        </p:nvSpPr>
        <p:spPr>
          <a:xfrm>
            <a:off x="566928" y="4572000"/>
            <a:ext cx="10058400" cy="457200"/>
          </a:xfrm>
          <a:prstGeom prst="rect">
            <a:avLst/>
          </a:prstGeom>
          <a:noFill/>
          <a:ln/>
        </p:spPr>
        <p:txBody>
          <a:bodyPr wrap="square" rtlCol="0" anchor="ctr"/>
          <a:lstStyle/>
          <a:p>
            <a:pPr indent="0" marL="0">
              <a:buNone/>
            </a:pPr>
            <a:r>
              <a:rPr lang="en-US" sz="1600" b="1" dirty="0">
                <a:solidFill>
                  <a:srgbClr val="0E7C86"/>
                </a:solidFill>
                <a:latin typeface="Segoe UI" pitchFamily="34" charset="0"/>
                <a:ea typeface="Segoe UI" pitchFamily="34" charset="-122"/>
                <a:cs typeface="Segoe UI" pitchFamily="34" charset="-120"/>
              </a:rPr>
              <a:t>github.com/qdevaan/Bubbles-AI   ·   qdevaan.github.io/Bubbles-AI</a:t>
            </a:r>
            <a:endParaRPr lang="en-US" sz="1600" dirty="0"/>
          </a:p>
        </p:txBody>
      </p:sp>
      <p:sp>
        <p:nvSpPr>
          <p:cNvPr id="8" name="Text 5"/>
          <p:cNvSpPr/>
          <p:nvPr/>
        </p:nvSpPr>
        <p:spPr>
          <a:xfrm>
            <a:off x="566928" y="5120640"/>
            <a:ext cx="10058400" cy="548640"/>
          </a:xfrm>
          <a:prstGeom prst="rect">
            <a:avLst/>
          </a:prstGeom>
          <a:noFill/>
          <a:ln/>
        </p:spPr>
        <p:txBody>
          <a:bodyPr wrap="square" rtlCol="0" anchor="ctr"/>
          <a:lstStyle/>
          <a:p>
            <a:pPr indent="0" marL="0">
              <a:buNone/>
            </a:pPr>
            <a:r>
              <a:rPr lang="en-US" sz="2200" b="1" dirty="0">
                <a:solidFill>
                  <a:srgbClr val="3A3A3A"/>
                </a:solidFill>
                <a:latin typeface="Segoe UI" pitchFamily="34" charset="0"/>
                <a:ea typeface="Segoe UI" pitchFamily="34" charset="-122"/>
                <a:cs typeface="Segoe UI" pitchFamily="34" charset="-120"/>
              </a:rPr>
              <a:t>Thank you  ·  Questions?</a:t>
            </a:r>
            <a:endParaRPr lang="en-US" sz="2200" dirty="0"/>
          </a:p>
        </p:txBody>
      </p:sp>
      <p:sp>
        <p:nvSpPr>
          <p:cNvPr id="9" name="Text 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0" name="Text 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48</a:t>
            </a:r>
            <a:endParaRPr lang="en-US" sz="9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COMSATS University Islamabad — Lahore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Bubbles FYP</dc:title>
  <dc:subject>Bubbles — Smarter AI Assistant (FYP)</dc:subject>
  <dc:creator>Muhammad Ahmad &amp; Attique Rehman</dc:creator>
  <cp:lastModifiedBy>Muhammad Ahmad &amp; Attique Rehman</cp:lastModifiedBy>
  <cp:revision>1</cp:revision>
  <dcterms:created xsi:type="dcterms:W3CDTF">2026-06-02T05:03:17Z</dcterms:created>
  <dcterms:modified xsi:type="dcterms:W3CDTF">2026-06-02T05:03:17Z</dcterms:modified>
</cp:coreProperties>
</file>