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08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309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310" r:id="rId28"/>
    <p:sldId id="280" r:id="rId29"/>
    <p:sldId id="281" r:id="rId30"/>
    <p:sldId id="282" r:id="rId31"/>
    <p:sldId id="283" r:id="rId32"/>
    <p:sldId id="284" r:id="rId33"/>
    <p:sldId id="311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31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13" r:id="rId51"/>
    <p:sldId id="300" r:id="rId52"/>
    <p:sldId id="301" r:id="rId53"/>
    <p:sldId id="302" r:id="rId54"/>
    <p:sldId id="303" r:id="rId55"/>
    <p:sldId id="304" r:id="rId56"/>
    <p:sldId id="314" r:id="rId57"/>
    <p:sldId id="305" r:id="rId58"/>
    <p:sldId id="306" r:id="rId59"/>
    <p:sldId id="307" r:id="rId60"/>
  </p:sldIdLst>
  <p:sldSz cx="18288000" cy="10287000"/>
  <p:notesSz cx="6858000" cy="9144000"/>
  <p:embeddedFontLst>
    <p:embeddedFont>
      <p:font typeface="Canva Sans Bold" panose="020B0604020202020204" charset="0"/>
      <p:regular r:id="rId62"/>
    </p:embeddedFont>
    <p:embeddedFont>
      <p:font typeface="DM Sans Bold" panose="020B0604020202020204" charset="0"/>
      <p:regular r:id="rId63"/>
    </p:embeddedFont>
    <p:embeddedFont>
      <p:font typeface="HK Grotesk" panose="020B0604020202020204" charset="0"/>
      <p:regular r:id="rId64"/>
    </p:embeddedFont>
    <p:embeddedFont>
      <p:font typeface="HK Grotesk Bold" panose="020B0604020202020204" charset="0"/>
      <p:regular r:id="rId65"/>
    </p:embeddedFont>
    <p:embeddedFont>
      <p:font typeface="HK Grotesk Light" panose="020B0604020202020204" charset="0"/>
      <p:regular r:id="rId6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3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2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5.fntdata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3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1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32B0E6-9027-4FD8-98DA-82ECC0FBD92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896566-03C8-4F2B-ABF5-601BBBFC1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9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896566-03C8-4F2B-ABF5-601BBBFC17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100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896566-03C8-4F2B-ABF5-601BBBFC1735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32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3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26" Type="http://schemas.openxmlformats.org/officeDocument/2006/relationships/image" Target="../media/image49.png"/><Relationship Id="rId21" Type="http://schemas.openxmlformats.org/officeDocument/2006/relationships/image" Target="../media/image44.png"/><Relationship Id="rId34" Type="http://schemas.openxmlformats.org/officeDocument/2006/relationships/image" Target="../media/image5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5" Type="http://schemas.openxmlformats.org/officeDocument/2006/relationships/image" Target="../media/image48.png"/><Relationship Id="rId33" Type="http://schemas.openxmlformats.org/officeDocument/2006/relationships/image" Target="../media/image3.png"/><Relationship Id="rId2" Type="http://schemas.openxmlformats.org/officeDocument/2006/relationships/image" Target="../media/image25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29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24" Type="http://schemas.openxmlformats.org/officeDocument/2006/relationships/image" Target="../media/image47.png"/><Relationship Id="rId32" Type="http://schemas.openxmlformats.org/officeDocument/2006/relationships/image" Target="../media/image55.png"/><Relationship Id="rId37" Type="http://schemas.openxmlformats.org/officeDocument/2006/relationships/image" Target="../media/image59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23" Type="http://schemas.openxmlformats.org/officeDocument/2006/relationships/image" Target="../media/image46.png"/><Relationship Id="rId28" Type="http://schemas.openxmlformats.org/officeDocument/2006/relationships/image" Target="../media/image51.png"/><Relationship Id="rId36" Type="http://schemas.openxmlformats.org/officeDocument/2006/relationships/image" Target="../media/image58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31" Type="http://schemas.openxmlformats.org/officeDocument/2006/relationships/image" Target="../media/image54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Relationship Id="rId22" Type="http://schemas.openxmlformats.org/officeDocument/2006/relationships/image" Target="../media/image45.png"/><Relationship Id="rId27" Type="http://schemas.openxmlformats.org/officeDocument/2006/relationships/image" Target="../media/image50.png"/><Relationship Id="rId30" Type="http://schemas.openxmlformats.org/officeDocument/2006/relationships/image" Target="../media/image53.png"/><Relationship Id="rId35" Type="http://schemas.openxmlformats.org/officeDocument/2006/relationships/image" Target="../media/image57.png"/><Relationship Id="rId8" Type="http://schemas.openxmlformats.org/officeDocument/2006/relationships/image" Target="../media/image31.png"/><Relationship Id="rId3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61.svg"/><Relationship Id="rId7" Type="http://schemas.openxmlformats.org/officeDocument/2006/relationships/image" Target="../media/image65.svg"/><Relationship Id="rId2" Type="http://schemas.openxmlformats.org/officeDocument/2006/relationships/image" Target="../media/image6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svg"/><Relationship Id="rId5" Type="http://schemas.openxmlformats.org/officeDocument/2006/relationships/image" Target="../media/image63.svg"/><Relationship Id="rId4" Type="http://schemas.openxmlformats.org/officeDocument/2006/relationships/image" Target="../media/image62.png"/><Relationship Id="rId9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1.sv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2.sv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74.svg"/><Relationship Id="rId7" Type="http://schemas.openxmlformats.org/officeDocument/2006/relationships/image" Target="../media/image78.svg"/><Relationship Id="rId2" Type="http://schemas.openxmlformats.org/officeDocument/2006/relationships/image" Target="../media/image7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svg"/><Relationship Id="rId5" Type="http://schemas.openxmlformats.org/officeDocument/2006/relationships/image" Target="../media/image76.svg"/><Relationship Id="rId4" Type="http://schemas.openxmlformats.org/officeDocument/2006/relationships/image" Target="../media/image75.svg"/><Relationship Id="rId9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svg"/><Relationship Id="rId3" Type="http://schemas.openxmlformats.org/officeDocument/2006/relationships/image" Target="../media/image74.svg"/><Relationship Id="rId7" Type="http://schemas.openxmlformats.org/officeDocument/2006/relationships/image" Target="../media/image80.svg"/><Relationship Id="rId2" Type="http://schemas.openxmlformats.org/officeDocument/2006/relationships/image" Target="../media/image7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svg"/><Relationship Id="rId5" Type="http://schemas.openxmlformats.org/officeDocument/2006/relationships/image" Target="../media/image76.svg"/><Relationship Id="rId10" Type="http://schemas.openxmlformats.org/officeDocument/2006/relationships/image" Target="../media/image3.png"/><Relationship Id="rId4" Type="http://schemas.openxmlformats.org/officeDocument/2006/relationships/image" Target="../media/image75.svg"/><Relationship Id="rId9" Type="http://schemas.openxmlformats.org/officeDocument/2006/relationships/image" Target="../media/image8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3" Type="http://schemas.openxmlformats.org/officeDocument/2006/relationships/image" Target="../media/image78.svg"/><Relationship Id="rId7" Type="http://schemas.openxmlformats.org/officeDocument/2006/relationships/image" Target="../media/image83.svg"/><Relationship Id="rId2" Type="http://schemas.openxmlformats.org/officeDocument/2006/relationships/image" Target="../media/image7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svg"/><Relationship Id="rId5" Type="http://schemas.openxmlformats.org/officeDocument/2006/relationships/image" Target="../media/image82.png"/><Relationship Id="rId10" Type="http://schemas.openxmlformats.org/officeDocument/2006/relationships/image" Target="../media/image3.png"/><Relationship Id="rId4" Type="http://schemas.openxmlformats.org/officeDocument/2006/relationships/image" Target="../media/image77.svg"/><Relationship Id="rId9" Type="http://schemas.openxmlformats.org/officeDocument/2006/relationships/image" Target="../media/image76.sv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7.svg"/><Relationship Id="rId4" Type="http://schemas.openxmlformats.org/officeDocument/2006/relationships/image" Target="../media/image8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3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9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9.sv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0.sv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0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7.sv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77" b="-92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751838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740806" y="338136"/>
            <a:ext cx="731017" cy="731017"/>
          </a:xfrm>
          <a:custGeom>
            <a:avLst/>
            <a:gdLst/>
            <a:ahLst/>
            <a:cxnLst/>
            <a:rect l="l" t="t" r="r" b="b"/>
            <a:pathLst>
              <a:path w="731017" h="731017">
                <a:moveTo>
                  <a:pt x="0" y="0"/>
                </a:moveTo>
                <a:lnTo>
                  <a:pt x="731017" y="0"/>
                </a:lnTo>
                <a:lnTo>
                  <a:pt x="731017" y="731016"/>
                </a:lnTo>
                <a:lnTo>
                  <a:pt x="0" y="731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8717110"/>
            <a:ext cx="19644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Group Members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9124445"/>
            <a:ext cx="579554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Muhammad Ahmed &amp; Attique Rehman Alias Adeel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66197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00423" y="493142"/>
            <a:ext cx="381767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COMSATS UNIVERSITY ISLAMABAD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FA22CS11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909082" y="493142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LAHORE CAMPUS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00423" y="4157821"/>
            <a:ext cx="10558877" cy="1790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66"/>
              </a:lnSpc>
            </a:pPr>
            <a:r>
              <a:rPr lang="en-US" sz="14157" b="1" spc="-28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24248" y="5678236"/>
            <a:ext cx="6129134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AI Powered Communication Assistant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294855" y="8717110"/>
            <a:ext cx="19644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Supervisor: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557955" y="9059863"/>
            <a:ext cx="270134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Dr. Jawad Shafi</a:t>
            </a:r>
          </a:p>
        </p:txBody>
      </p:sp>
      <p:sp>
        <p:nvSpPr>
          <p:cNvPr id="16" name="Freeform 16"/>
          <p:cNvSpPr/>
          <p:nvPr/>
        </p:nvSpPr>
        <p:spPr>
          <a:xfrm>
            <a:off x="2531303" y="3524927"/>
            <a:ext cx="3209503" cy="3237146"/>
          </a:xfrm>
          <a:custGeom>
            <a:avLst/>
            <a:gdLst/>
            <a:ahLst/>
            <a:cxnLst/>
            <a:rect l="l" t="t" r="r" b="b"/>
            <a:pathLst>
              <a:path w="3209503" h="3237146">
                <a:moveTo>
                  <a:pt x="0" y="0"/>
                </a:moveTo>
                <a:lnTo>
                  <a:pt x="3209503" y="0"/>
                </a:lnTo>
                <a:lnTo>
                  <a:pt x="3209503" y="3237146"/>
                </a:lnTo>
                <a:lnTo>
                  <a:pt x="0" y="32371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861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38969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533649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0303079" y="38969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303079" y="533649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990884"/>
            <a:ext cx="6462096" cy="1311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71"/>
              </a:lnSpc>
            </a:pPr>
            <a:r>
              <a:rPr lang="en-US" sz="11323" b="1" spc="-679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Content.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96992" y="3082626"/>
            <a:ext cx="2180301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dirty="0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Introduction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dirty="0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&amp; Importance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96992" y="4522176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 Features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67638" y="4522176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Results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&amp; Analysis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67638" y="5933589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Futu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Work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9211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 u="none" strike="noStrike" dirty="0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1.0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436068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03079" y="29211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5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03079" y="436068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6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028700" y="67760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10303079" y="67760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2396992" y="5961727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Syst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em Architecture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58002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03079" y="58002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7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20" name="AutoShape 20"/>
          <p:cNvSpPr/>
          <p:nvPr/>
        </p:nvSpPr>
        <p:spPr>
          <a:xfrm>
            <a:off x="1028700" y="821559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2396992" y="7401277"/>
            <a:ext cx="2749832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Hybrid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RAG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723978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667638" y="3234692"/>
            <a:ext cx="2749832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Implement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ation </a:t>
            </a:r>
          </a:p>
        </p:txBody>
      </p:sp>
      <p:sp>
        <p:nvSpPr>
          <p:cNvPr id="24" name="AutoShape 24"/>
          <p:cNvSpPr/>
          <p:nvPr/>
        </p:nvSpPr>
        <p:spPr>
          <a:xfrm>
            <a:off x="10303079" y="8206067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11671372" y="7543817"/>
            <a:ext cx="1895536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Conclusion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03079" y="7230264"/>
            <a:ext cx="1221684" cy="821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8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77" b="-92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2636013"/>
            <a:ext cx="4970131" cy="420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384"/>
              </a:lnSpc>
              <a:spcBef>
                <a:spcPct val="0"/>
              </a:spcBef>
            </a:pPr>
            <a:r>
              <a:rPr lang="en-US" sz="24560" b="1" spc="-147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1.0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78605" y="3427178"/>
            <a:ext cx="10919867" cy="3457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166"/>
              </a:lnSpc>
              <a:spcBef>
                <a:spcPct val="0"/>
              </a:spcBef>
            </a:pPr>
            <a:r>
              <a:rPr lang="en-US" sz="14157" b="1" spc="-28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</a:t>
            </a:r>
            <a:r>
              <a:rPr lang="en-US" sz="14157" b="1" u="none" strike="noStrike" spc="-28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roduction </a:t>
            </a:r>
          </a:p>
          <a:p>
            <a:pPr marL="0" lvl="0" indent="0" algn="l">
              <a:lnSpc>
                <a:spcPts val="13166"/>
              </a:lnSpc>
              <a:spcBef>
                <a:spcPct val="0"/>
              </a:spcBef>
            </a:pPr>
            <a:r>
              <a:rPr lang="en-US" sz="14157" b="1" u="none" strike="noStrike" spc="-28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&amp; Importance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9751838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736123" y="623632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Introduction &amp; Importance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Page 1.0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09082" y="493142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Section 1.0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28700" y="8717110"/>
            <a:ext cx="19644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Group Members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9124445"/>
            <a:ext cx="579554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Muhammad Ahmed &amp; Attique Rehman Alias Adeel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94855" y="8717110"/>
            <a:ext cx="19644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Supervisor: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557955" y="9059863"/>
            <a:ext cx="270134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Dr. Jawad Shafi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6700423" y="1846414"/>
            <a:ext cx="4693069" cy="7905424"/>
            <a:chOff x="0" y="0"/>
            <a:chExt cx="792401" cy="13347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92401" cy="1334791"/>
            </a:xfrm>
            <a:custGeom>
              <a:avLst/>
              <a:gdLst/>
              <a:ahLst/>
              <a:cxnLst/>
              <a:rect l="l" t="t" r="r" b="b"/>
              <a:pathLst>
                <a:path w="792401" h="1334791">
                  <a:moveTo>
                    <a:pt x="49489" y="0"/>
                  </a:moveTo>
                  <a:lnTo>
                    <a:pt x="742911" y="0"/>
                  </a:lnTo>
                  <a:cubicBezTo>
                    <a:pt x="770244" y="0"/>
                    <a:pt x="792401" y="22157"/>
                    <a:pt x="792401" y="49489"/>
                  </a:cubicBezTo>
                  <a:lnTo>
                    <a:pt x="792401" y="1285301"/>
                  </a:lnTo>
                  <a:cubicBezTo>
                    <a:pt x="792401" y="1312634"/>
                    <a:pt x="770244" y="1334791"/>
                    <a:pt x="742911" y="1334791"/>
                  </a:cubicBezTo>
                  <a:lnTo>
                    <a:pt x="49489" y="1334791"/>
                  </a:lnTo>
                  <a:cubicBezTo>
                    <a:pt x="36364" y="1334791"/>
                    <a:pt x="23776" y="1329577"/>
                    <a:pt x="14495" y="1320296"/>
                  </a:cubicBezTo>
                  <a:cubicBezTo>
                    <a:pt x="5214" y="1311015"/>
                    <a:pt x="0" y="1298427"/>
                    <a:pt x="0" y="1285301"/>
                  </a:cubicBezTo>
                  <a:lnTo>
                    <a:pt x="0" y="49489"/>
                  </a:lnTo>
                  <a:cubicBezTo>
                    <a:pt x="0" y="22157"/>
                    <a:pt x="22157" y="0"/>
                    <a:pt x="49489" y="0"/>
                  </a:cubicBezTo>
                  <a:close/>
                </a:path>
              </a:pathLst>
            </a:custGeom>
            <a:blipFill>
              <a:blip r:embed="rId2"/>
              <a:stretch>
                <a:fillRect l="-22327" r="-22327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757467" y="1846414"/>
            <a:ext cx="5504528" cy="3551975"/>
            <a:chOff x="0" y="0"/>
            <a:chExt cx="929412" cy="5997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29412" cy="599733"/>
            </a:xfrm>
            <a:custGeom>
              <a:avLst/>
              <a:gdLst/>
              <a:ahLst/>
              <a:cxnLst/>
              <a:rect l="l" t="t" r="r" b="b"/>
              <a:pathLst>
                <a:path w="929412" h="599733">
                  <a:moveTo>
                    <a:pt x="42194" y="0"/>
                  </a:moveTo>
                  <a:lnTo>
                    <a:pt x="887218" y="0"/>
                  </a:lnTo>
                  <a:cubicBezTo>
                    <a:pt x="910521" y="0"/>
                    <a:pt x="929412" y="18891"/>
                    <a:pt x="929412" y="42194"/>
                  </a:cubicBezTo>
                  <a:lnTo>
                    <a:pt x="929412" y="557539"/>
                  </a:lnTo>
                  <a:cubicBezTo>
                    <a:pt x="929412" y="568730"/>
                    <a:pt x="924966" y="579462"/>
                    <a:pt x="917053" y="587375"/>
                  </a:cubicBezTo>
                  <a:cubicBezTo>
                    <a:pt x="909140" y="595288"/>
                    <a:pt x="898408" y="599733"/>
                    <a:pt x="887218" y="599733"/>
                  </a:cubicBezTo>
                  <a:lnTo>
                    <a:pt x="42194" y="599733"/>
                  </a:lnTo>
                  <a:cubicBezTo>
                    <a:pt x="31003" y="599733"/>
                    <a:pt x="20271" y="595288"/>
                    <a:pt x="12358" y="587375"/>
                  </a:cubicBezTo>
                  <a:cubicBezTo>
                    <a:pt x="4445" y="579462"/>
                    <a:pt x="0" y="568730"/>
                    <a:pt x="0" y="557539"/>
                  </a:cubicBezTo>
                  <a:lnTo>
                    <a:pt x="0" y="42194"/>
                  </a:lnTo>
                  <a:cubicBezTo>
                    <a:pt x="0" y="31003"/>
                    <a:pt x="4445" y="20271"/>
                    <a:pt x="12358" y="12358"/>
                  </a:cubicBezTo>
                  <a:cubicBezTo>
                    <a:pt x="20271" y="4445"/>
                    <a:pt x="31003" y="0"/>
                    <a:pt x="42194" y="0"/>
                  </a:cubicBezTo>
                  <a:close/>
                </a:path>
              </a:pathLst>
            </a:custGeom>
            <a:blipFill>
              <a:blip r:embed="rId3"/>
              <a:stretch>
                <a:fillRect l="-18400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700423" y="6906090"/>
            <a:ext cx="4692882" cy="2845748"/>
            <a:chOff x="0" y="0"/>
            <a:chExt cx="1228567" cy="74499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28566" cy="744999"/>
            </a:xfrm>
            <a:custGeom>
              <a:avLst/>
              <a:gdLst/>
              <a:ahLst/>
              <a:cxnLst/>
              <a:rect l="l" t="t" r="r" b="b"/>
              <a:pathLst>
                <a:path w="1228566" h="744999">
                  <a:moveTo>
                    <a:pt x="49491" y="0"/>
                  </a:moveTo>
                  <a:lnTo>
                    <a:pt x="1179075" y="0"/>
                  </a:lnTo>
                  <a:cubicBezTo>
                    <a:pt x="1206408" y="0"/>
                    <a:pt x="1228566" y="22158"/>
                    <a:pt x="1228566" y="49491"/>
                  </a:cubicBezTo>
                  <a:lnTo>
                    <a:pt x="1228566" y="695507"/>
                  </a:lnTo>
                  <a:cubicBezTo>
                    <a:pt x="1228566" y="722840"/>
                    <a:pt x="1206408" y="744999"/>
                    <a:pt x="1179075" y="744999"/>
                  </a:cubicBezTo>
                  <a:lnTo>
                    <a:pt x="49491" y="744999"/>
                  </a:lnTo>
                  <a:cubicBezTo>
                    <a:pt x="36366" y="744999"/>
                    <a:pt x="23777" y="739784"/>
                    <a:pt x="14496" y="730503"/>
                  </a:cubicBezTo>
                  <a:cubicBezTo>
                    <a:pt x="5214" y="721221"/>
                    <a:pt x="0" y="708633"/>
                    <a:pt x="0" y="695507"/>
                  </a:cubicBezTo>
                  <a:lnTo>
                    <a:pt x="0" y="49491"/>
                  </a:lnTo>
                  <a:cubicBezTo>
                    <a:pt x="0" y="22158"/>
                    <a:pt x="22158" y="0"/>
                    <a:pt x="494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3EFA">
                    <a:alpha val="0"/>
                  </a:srgbClr>
                </a:gs>
                <a:gs pos="100000">
                  <a:srgbClr val="812AFF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1228567" cy="7735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7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754772" y="3792420"/>
            <a:ext cx="5498163" cy="1605968"/>
            <a:chOff x="0" y="0"/>
            <a:chExt cx="1439384" cy="4204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39384" cy="420432"/>
            </a:xfrm>
            <a:custGeom>
              <a:avLst/>
              <a:gdLst/>
              <a:ahLst/>
              <a:cxnLst/>
              <a:rect l="l" t="t" r="r" b="b"/>
              <a:pathLst>
                <a:path w="1439384" h="420432">
                  <a:moveTo>
                    <a:pt x="42243" y="0"/>
                  </a:moveTo>
                  <a:lnTo>
                    <a:pt x="1397141" y="0"/>
                  </a:lnTo>
                  <a:cubicBezTo>
                    <a:pt x="1420471" y="0"/>
                    <a:pt x="1439384" y="18913"/>
                    <a:pt x="1439384" y="42243"/>
                  </a:cubicBezTo>
                  <a:lnTo>
                    <a:pt x="1439384" y="378189"/>
                  </a:lnTo>
                  <a:cubicBezTo>
                    <a:pt x="1439384" y="401519"/>
                    <a:pt x="1420471" y="420432"/>
                    <a:pt x="1397141" y="420432"/>
                  </a:cubicBezTo>
                  <a:lnTo>
                    <a:pt x="42243" y="420432"/>
                  </a:lnTo>
                  <a:cubicBezTo>
                    <a:pt x="31039" y="420432"/>
                    <a:pt x="20295" y="415981"/>
                    <a:pt x="12373" y="408059"/>
                  </a:cubicBezTo>
                  <a:cubicBezTo>
                    <a:pt x="4451" y="400137"/>
                    <a:pt x="0" y="389393"/>
                    <a:pt x="0" y="378189"/>
                  </a:cubicBezTo>
                  <a:lnTo>
                    <a:pt x="0" y="42243"/>
                  </a:lnTo>
                  <a:cubicBezTo>
                    <a:pt x="0" y="31039"/>
                    <a:pt x="4451" y="20295"/>
                    <a:pt x="12373" y="12373"/>
                  </a:cubicBezTo>
                  <a:cubicBezTo>
                    <a:pt x="20295" y="4451"/>
                    <a:pt x="31039" y="0"/>
                    <a:pt x="4224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3EFA">
                    <a:alpha val="0"/>
                  </a:srgbClr>
                </a:gs>
                <a:gs pos="100000">
                  <a:srgbClr val="FD6BFD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439384" cy="449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7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754772" y="5706325"/>
            <a:ext cx="2582455" cy="4045513"/>
            <a:chOff x="0" y="0"/>
            <a:chExt cx="436034" cy="6830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36034" cy="683064"/>
            </a:xfrm>
            <a:custGeom>
              <a:avLst/>
              <a:gdLst/>
              <a:ahLst/>
              <a:cxnLst/>
              <a:rect l="l" t="t" r="r" b="b"/>
              <a:pathLst>
                <a:path w="436034" h="683064">
                  <a:moveTo>
                    <a:pt x="89937" y="0"/>
                  </a:moveTo>
                  <a:lnTo>
                    <a:pt x="346098" y="0"/>
                  </a:lnTo>
                  <a:cubicBezTo>
                    <a:pt x="395768" y="0"/>
                    <a:pt x="436034" y="40266"/>
                    <a:pt x="436034" y="89937"/>
                  </a:cubicBezTo>
                  <a:lnTo>
                    <a:pt x="436034" y="593128"/>
                  </a:lnTo>
                  <a:cubicBezTo>
                    <a:pt x="436034" y="642798"/>
                    <a:pt x="395768" y="683064"/>
                    <a:pt x="346098" y="683064"/>
                  </a:cubicBezTo>
                  <a:lnTo>
                    <a:pt x="89937" y="683064"/>
                  </a:lnTo>
                  <a:cubicBezTo>
                    <a:pt x="40266" y="683064"/>
                    <a:pt x="0" y="642798"/>
                    <a:pt x="0" y="593128"/>
                  </a:cubicBezTo>
                  <a:lnTo>
                    <a:pt x="0" y="89937"/>
                  </a:lnTo>
                  <a:cubicBezTo>
                    <a:pt x="0" y="40266"/>
                    <a:pt x="40266" y="0"/>
                    <a:pt x="89937" y="0"/>
                  </a:cubicBezTo>
                  <a:close/>
                </a:path>
              </a:pathLst>
            </a:custGeom>
            <a:blipFill>
              <a:blip r:embed="rId4"/>
              <a:stretch>
                <a:fillRect l="-58010" r="-129428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676845" y="5706325"/>
            <a:ext cx="2582455" cy="4045513"/>
            <a:chOff x="0" y="0"/>
            <a:chExt cx="436034" cy="6830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6034" cy="683064"/>
            </a:xfrm>
            <a:custGeom>
              <a:avLst/>
              <a:gdLst/>
              <a:ahLst/>
              <a:cxnLst/>
              <a:rect l="l" t="t" r="r" b="b"/>
              <a:pathLst>
                <a:path w="436034" h="683064">
                  <a:moveTo>
                    <a:pt x="89937" y="0"/>
                  </a:moveTo>
                  <a:lnTo>
                    <a:pt x="346098" y="0"/>
                  </a:lnTo>
                  <a:cubicBezTo>
                    <a:pt x="395768" y="0"/>
                    <a:pt x="436034" y="40266"/>
                    <a:pt x="436034" y="89937"/>
                  </a:cubicBezTo>
                  <a:lnTo>
                    <a:pt x="436034" y="593128"/>
                  </a:lnTo>
                  <a:cubicBezTo>
                    <a:pt x="436034" y="642798"/>
                    <a:pt x="395768" y="683064"/>
                    <a:pt x="346098" y="683064"/>
                  </a:cubicBezTo>
                  <a:lnTo>
                    <a:pt x="89937" y="683064"/>
                  </a:lnTo>
                  <a:cubicBezTo>
                    <a:pt x="40266" y="683064"/>
                    <a:pt x="0" y="642798"/>
                    <a:pt x="0" y="593128"/>
                  </a:cubicBezTo>
                  <a:lnTo>
                    <a:pt x="0" y="89937"/>
                  </a:lnTo>
                  <a:cubicBezTo>
                    <a:pt x="0" y="40266"/>
                    <a:pt x="40266" y="0"/>
                    <a:pt x="89937" y="0"/>
                  </a:cubicBezTo>
                  <a:close/>
                </a:path>
              </a:pathLst>
            </a:custGeom>
            <a:blipFill>
              <a:blip r:embed="rId5"/>
              <a:stretch>
                <a:fillRect l="-151483" r="-35954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757467" y="7922725"/>
            <a:ext cx="2576774" cy="1829113"/>
            <a:chOff x="0" y="0"/>
            <a:chExt cx="674583" cy="4788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74583" cy="478850"/>
            </a:xfrm>
            <a:custGeom>
              <a:avLst/>
              <a:gdLst/>
              <a:ahLst/>
              <a:cxnLst/>
              <a:rect l="l" t="t" r="r" b="b"/>
              <a:pathLst>
                <a:path w="674583" h="478850">
                  <a:moveTo>
                    <a:pt x="90135" y="0"/>
                  </a:moveTo>
                  <a:lnTo>
                    <a:pt x="584448" y="0"/>
                  </a:lnTo>
                  <a:cubicBezTo>
                    <a:pt x="634228" y="0"/>
                    <a:pt x="674583" y="40355"/>
                    <a:pt x="674583" y="90135"/>
                  </a:cubicBezTo>
                  <a:lnTo>
                    <a:pt x="674583" y="388715"/>
                  </a:lnTo>
                  <a:cubicBezTo>
                    <a:pt x="674583" y="438495"/>
                    <a:pt x="634228" y="478850"/>
                    <a:pt x="584448" y="478850"/>
                  </a:cubicBezTo>
                  <a:lnTo>
                    <a:pt x="90135" y="478850"/>
                  </a:lnTo>
                  <a:cubicBezTo>
                    <a:pt x="40355" y="478850"/>
                    <a:pt x="0" y="438495"/>
                    <a:pt x="0" y="388715"/>
                  </a:cubicBezTo>
                  <a:lnTo>
                    <a:pt x="0" y="90135"/>
                  </a:lnTo>
                  <a:cubicBezTo>
                    <a:pt x="0" y="40355"/>
                    <a:pt x="40355" y="0"/>
                    <a:pt x="901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3EFA">
                    <a:alpha val="0"/>
                  </a:srgbClr>
                </a:gs>
                <a:gs pos="100000">
                  <a:srgbClr val="FD6BFD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674583" cy="507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7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679540" y="7922725"/>
            <a:ext cx="2576774" cy="1829113"/>
            <a:chOff x="0" y="0"/>
            <a:chExt cx="674583" cy="4788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74583" cy="478850"/>
            </a:xfrm>
            <a:custGeom>
              <a:avLst/>
              <a:gdLst/>
              <a:ahLst/>
              <a:cxnLst/>
              <a:rect l="l" t="t" r="r" b="b"/>
              <a:pathLst>
                <a:path w="674583" h="478850">
                  <a:moveTo>
                    <a:pt x="90135" y="0"/>
                  </a:moveTo>
                  <a:lnTo>
                    <a:pt x="584448" y="0"/>
                  </a:lnTo>
                  <a:cubicBezTo>
                    <a:pt x="634228" y="0"/>
                    <a:pt x="674583" y="40355"/>
                    <a:pt x="674583" y="90135"/>
                  </a:cubicBezTo>
                  <a:lnTo>
                    <a:pt x="674583" y="388715"/>
                  </a:lnTo>
                  <a:cubicBezTo>
                    <a:pt x="674583" y="438495"/>
                    <a:pt x="634228" y="478850"/>
                    <a:pt x="584448" y="478850"/>
                  </a:cubicBezTo>
                  <a:lnTo>
                    <a:pt x="90135" y="478850"/>
                  </a:lnTo>
                  <a:cubicBezTo>
                    <a:pt x="40355" y="478850"/>
                    <a:pt x="0" y="438495"/>
                    <a:pt x="0" y="388715"/>
                  </a:cubicBezTo>
                  <a:lnTo>
                    <a:pt x="0" y="90135"/>
                  </a:lnTo>
                  <a:cubicBezTo>
                    <a:pt x="0" y="40355"/>
                    <a:pt x="40355" y="0"/>
                    <a:pt x="901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F3EFA">
                    <a:alpha val="0"/>
                  </a:srgbClr>
                </a:gs>
                <a:gs pos="100000">
                  <a:srgbClr val="812AFF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674583" cy="507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7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736123" y="623632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Introduction &amp; Importance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1.1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09082" y="493142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Importance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2628032"/>
            <a:ext cx="4612902" cy="615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57"/>
              </a:lnSpc>
              <a:spcBef>
                <a:spcPct val="0"/>
              </a:spcBef>
            </a:pPr>
            <a:r>
              <a:rPr lang="en-US" sz="4900" b="1" spc="-98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Skills Importance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8700" y="1840111"/>
            <a:ext cx="4612902" cy="66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36"/>
              </a:lnSpc>
              <a:spcBef>
                <a:spcPct val="0"/>
              </a:spcBef>
            </a:pPr>
            <a:r>
              <a:rPr lang="en-US" sz="5200" b="1" spc="-104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Communication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8700" y="3580436"/>
            <a:ext cx="4404898" cy="5181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86"/>
              </a:lnSpc>
              <a:spcBef>
                <a:spcPct val="0"/>
              </a:spcBef>
            </a:pPr>
            <a:r>
              <a:rPr lang="en-US" sz="249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Good communication serves as the foundational cornerstone for professional success, academic achievement, and everyday social interactions. In our fast-paced world, the ability to articulate concepts clearly, understand subtleties in tone, and retain vital information from spoken conversations is essential for achieving your goals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982217" y="8722539"/>
            <a:ext cx="1978019" cy="69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4"/>
              </a:lnSpc>
            </a:pPr>
            <a:r>
              <a:rPr lang="en-US" sz="3061" b="1" spc="-3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Social Interaction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09555" y="7789545"/>
            <a:ext cx="3699527" cy="1228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35"/>
              </a:lnSpc>
            </a:pPr>
            <a:r>
              <a:rPr lang="en-US" sz="4510" b="1" spc="-9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Core Foundation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174692" y="4212344"/>
            <a:ext cx="4658325" cy="95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44"/>
              </a:lnSpc>
            </a:pPr>
            <a:r>
              <a:rPr lang="en-US" sz="3565" b="1" spc="-7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Academic </a:t>
            </a:r>
          </a:p>
          <a:p>
            <a:pPr marL="0" lvl="0" indent="0" algn="ctr">
              <a:lnSpc>
                <a:spcPts val="3744"/>
              </a:lnSpc>
            </a:pPr>
            <a:r>
              <a:rPr lang="en-US" sz="3565" b="1" spc="-7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Achievement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878127" y="8720045"/>
            <a:ext cx="2179891" cy="726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0"/>
              </a:lnSpc>
            </a:pPr>
            <a:r>
              <a:rPr lang="en-US" sz="2657" b="1" spc="-5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Professional Success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84351" y="3320301"/>
            <a:ext cx="4519585" cy="2121694"/>
            <a:chOff x="0" y="0"/>
            <a:chExt cx="892757" cy="4191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2757" cy="419100"/>
            </a:xfrm>
            <a:custGeom>
              <a:avLst/>
              <a:gdLst/>
              <a:ahLst/>
              <a:cxnLst/>
              <a:rect l="l" t="t" r="r" b="b"/>
              <a:pathLst>
                <a:path w="892757" h="419100">
                  <a:moveTo>
                    <a:pt x="32118" y="0"/>
                  </a:moveTo>
                  <a:lnTo>
                    <a:pt x="674156" y="0"/>
                  </a:lnTo>
                  <a:cubicBezTo>
                    <a:pt x="797826" y="0"/>
                    <a:pt x="892757" y="93819"/>
                    <a:pt x="892757" y="209550"/>
                  </a:cubicBezTo>
                  <a:cubicBezTo>
                    <a:pt x="892757" y="325281"/>
                    <a:pt x="797826" y="419100"/>
                    <a:pt x="674156" y="419100"/>
                  </a:cubicBezTo>
                  <a:lnTo>
                    <a:pt x="32118" y="419100"/>
                  </a:lnTo>
                  <a:cubicBezTo>
                    <a:pt x="14380" y="419100"/>
                    <a:pt x="0" y="404720"/>
                    <a:pt x="0" y="386982"/>
                  </a:cubicBezTo>
                  <a:lnTo>
                    <a:pt x="0" y="32118"/>
                  </a:lnTo>
                  <a:cubicBezTo>
                    <a:pt x="0" y="14380"/>
                    <a:pt x="14380" y="0"/>
                    <a:pt x="321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A3AFF">
                    <a:alpha val="100000"/>
                  </a:srgbClr>
                </a:gs>
                <a:gs pos="100000">
                  <a:srgbClr val="FF4FF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5400" y="-38100"/>
              <a:ext cx="664157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36123" y="623632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1.2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09082" y="493142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Decline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03935" y="2064900"/>
            <a:ext cx="10610294" cy="1017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440"/>
              </a:lnSpc>
              <a:spcBef>
                <a:spcPct val="0"/>
              </a:spcBef>
            </a:pPr>
            <a:r>
              <a:rPr lang="en-US" sz="8000" spc="-16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Communication skills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064900"/>
            <a:ext cx="7082219" cy="1017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0"/>
              </a:lnSpc>
              <a:spcBef>
                <a:spcPct val="0"/>
              </a:spcBef>
            </a:pPr>
            <a:r>
              <a:rPr lang="en-US" sz="8000" b="1" spc="-160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Decline 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26342" y="3997608"/>
            <a:ext cx="2947934" cy="824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9"/>
              </a:lnSpc>
            </a:pPr>
            <a:r>
              <a:rPr lang="en-US" sz="31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Missed Key Details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71215" y="3940458"/>
            <a:ext cx="1221684" cy="1006781"/>
            <a:chOff x="0" y="0"/>
            <a:chExt cx="1628912" cy="1342375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8425"/>
              <a:ext cx="1628912" cy="1440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083"/>
                </a:lnSpc>
                <a:spcBef>
                  <a:spcPct val="0"/>
                </a:spcBef>
              </a:pPr>
              <a:r>
                <a:rPr lang="en-US" sz="6487" b="1" strike="noStrik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01</a:t>
              </a:r>
            </a:p>
          </p:txBody>
        </p:sp>
        <p:sp>
          <p:nvSpPr>
            <p:cNvPr id="14" name="AutoShape 14"/>
            <p:cNvSpPr/>
            <p:nvPr/>
          </p:nvSpPr>
          <p:spPr>
            <a:xfrm>
              <a:off x="0" y="50800"/>
              <a:ext cx="1133313" cy="0"/>
            </a:xfrm>
            <a:prstGeom prst="line">
              <a:avLst/>
            </a:prstGeom>
            <a:ln w="1016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649006" y="3320301"/>
            <a:ext cx="4503623" cy="2121694"/>
            <a:chOff x="0" y="0"/>
            <a:chExt cx="889604" cy="4191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89605" cy="419100"/>
            </a:xfrm>
            <a:custGeom>
              <a:avLst/>
              <a:gdLst/>
              <a:ahLst/>
              <a:cxnLst/>
              <a:rect l="l" t="t" r="r" b="b"/>
              <a:pathLst>
                <a:path w="889605" h="419100">
                  <a:moveTo>
                    <a:pt x="32232" y="0"/>
                  </a:moveTo>
                  <a:lnTo>
                    <a:pt x="671076" y="0"/>
                  </a:lnTo>
                  <a:cubicBezTo>
                    <a:pt x="794673" y="0"/>
                    <a:pt x="889605" y="93819"/>
                    <a:pt x="889605" y="209550"/>
                  </a:cubicBezTo>
                  <a:cubicBezTo>
                    <a:pt x="889605" y="325281"/>
                    <a:pt x="794673" y="419100"/>
                    <a:pt x="671076" y="419100"/>
                  </a:cubicBezTo>
                  <a:lnTo>
                    <a:pt x="32232" y="419100"/>
                  </a:lnTo>
                  <a:cubicBezTo>
                    <a:pt x="14431" y="419100"/>
                    <a:pt x="0" y="404669"/>
                    <a:pt x="0" y="386868"/>
                  </a:cubicBezTo>
                  <a:lnTo>
                    <a:pt x="0" y="32232"/>
                  </a:lnTo>
                  <a:cubicBezTo>
                    <a:pt x="0" y="14431"/>
                    <a:pt x="14431" y="0"/>
                    <a:pt x="322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4FFD">
                    <a:alpha val="100000"/>
                  </a:srgbClr>
                </a:gs>
                <a:gs pos="100000">
                  <a:srgbClr val="8A3A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400" y="-38100"/>
              <a:ext cx="661004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990997" y="3997608"/>
            <a:ext cx="2947934" cy="824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31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Agenda </a:t>
            </a:r>
          </a:p>
          <a:p>
            <a:pPr marL="0" lvl="0" indent="0" algn="l">
              <a:lnSpc>
                <a:spcPts val="3199"/>
              </a:lnSpc>
            </a:pPr>
            <a:r>
              <a:rPr lang="en-US" sz="31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Drift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800398" y="3940458"/>
            <a:ext cx="1221684" cy="1006781"/>
            <a:chOff x="0" y="0"/>
            <a:chExt cx="1628912" cy="1342375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98425"/>
              <a:ext cx="1628912" cy="1440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083"/>
                </a:lnSpc>
                <a:spcBef>
                  <a:spcPct val="0"/>
                </a:spcBef>
              </a:pPr>
              <a:r>
                <a:rPr lang="en-US" sz="6487" b="1" strike="noStrik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02</a:t>
              </a:r>
            </a:p>
          </p:txBody>
        </p:sp>
        <p:sp>
          <p:nvSpPr>
            <p:cNvPr id="21" name="AutoShape 21"/>
            <p:cNvSpPr/>
            <p:nvPr/>
          </p:nvSpPr>
          <p:spPr>
            <a:xfrm>
              <a:off x="0" y="50800"/>
              <a:ext cx="1133313" cy="0"/>
            </a:xfrm>
            <a:prstGeom prst="line">
              <a:avLst/>
            </a:prstGeom>
            <a:ln w="1016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AutoShape 22"/>
          <p:cNvSpPr/>
          <p:nvPr/>
        </p:nvSpPr>
        <p:spPr>
          <a:xfrm>
            <a:off x="12449888" y="3724777"/>
            <a:ext cx="849985" cy="0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3" name="Group 23"/>
          <p:cNvGrpSpPr/>
          <p:nvPr/>
        </p:nvGrpSpPr>
        <p:grpSpPr>
          <a:xfrm>
            <a:off x="12329581" y="3320301"/>
            <a:ext cx="4473094" cy="2121694"/>
            <a:chOff x="0" y="0"/>
            <a:chExt cx="883574" cy="4191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83574" cy="419100"/>
            </a:xfrm>
            <a:custGeom>
              <a:avLst/>
              <a:gdLst/>
              <a:ahLst/>
              <a:cxnLst/>
              <a:rect l="l" t="t" r="r" b="b"/>
              <a:pathLst>
                <a:path w="883574" h="419100">
                  <a:moveTo>
                    <a:pt x="32452" y="0"/>
                  </a:moveTo>
                  <a:lnTo>
                    <a:pt x="665185" y="0"/>
                  </a:lnTo>
                  <a:cubicBezTo>
                    <a:pt x="788643" y="0"/>
                    <a:pt x="883574" y="93819"/>
                    <a:pt x="883574" y="209550"/>
                  </a:cubicBezTo>
                  <a:cubicBezTo>
                    <a:pt x="883574" y="325281"/>
                    <a:pt x="788643" y="419100"/>
                    <a:pt x="665185" y="419100"/>
                  </a:cubicBezTo>
                  <a:lnTo>
                    <a:pt x="32452" y="419100"/>
                  </a:lnTo>
                  <a:cubicBezTo>
                    <a:pt x="14529" y="419100"/>
                    <a:pt x="0" y="404571"/>
                    <a:pt x="0" y="386648"/>
                  </a:cubicBezTo>
                  <a:lnTo>
                    <a:pt x="0" y="32452"/>
                  </a:lnTo>
                  <a:cubicBezTo>
                    <a:pt x="0" y="14529"/>
                    <a:pt x="14529" y="0"/>
                    <a:pt x="324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A3AFF">
                    <a:alpha val="100000"/>
                  </a:srgbClr>
                </a:gs>
                <a:gs pos="100000">
                  <a:srgbClr val="FF4FFD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400" y="-38100"/>
              <a:ext cx="654974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671348" y="3797583"/>
            <a:ext cx="2729526" cy="1224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9"/>
              </a:lnSpc>
            </a:pPr>
            <a:r>
              <a:rPr lang="en-US" sz="31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Post-Conversation Regret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486129" y="3940458"/>
            <a:ext cx="1221684" cy="1006781"/>
            <a:chOff x="0" y="0"/>
            <a:chExt cx="1628912" cy="1342375"/>
          </a:xfrm>
        </p:grpSpPr>
        <p:sp>
          <p:nvSpPr>
            <p:cNvPr id="28" name="TextBox 28"/>
            <p:cNvSpPr txBox="1"/>
            <p:nvPr/>
          </p:nvSpPr>
          <p:spPr>
            <a:xfrm>
              <a:off x="0" y="-98425"/>
              <a:ext cx="1628912" cy="1440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083"/>
                </a:lnSpc>
                <a:spcBef>
                  <a:spcPct val="0"/>
                </a:spcBef>
              </a:pPr>
              <a:r>
                <a:rPr lang="en-US" sz="6487" b="1" strike="noStrik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03</a:t>
              </a:r>
            </a:p>
          </p:txBody>
        </p:sp>
        <p:sp>
          <p:nvSpPr>
            <p:cNvPr id="29" name="AutoShape 29"/>
            <p:cNvSpPr/>
            <p:nvPr/>
          </p:nvSpPr>
          <p:spPr>
            <a:xfrm>
              <a:off x="50800" y="50800"/>
              <a:ext cx="1133313" cy="0"/>
            </a:xfrm>
            <a:prstGeom prst="line">
              <a:avLst/>
            </a:prstGeom>
            <a:ln w="1016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84351" y="5914153"/>
            <a:ext cx="4519585" cy="2121694"/>
            <a:chOff x="0" y="0"/>
            <a:chExt cx="892757" cy="4191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92757" cy="419100"/>
            </a:xfrm>
            <a:custGeom>
              <a:avLst/>
              <a:gdLst/>
              <a:ahLst/>
              <a:cxnLst/>
              <a:rect l="l" t="t" r="r" b="b"/>
              <a:pathLst>
                <a:path w="892757" h="419100">
                  <a:moveTo>
                    <a:pt x="32118" y="0"/>
                  </a:moveTo>
                  <a:lnTo>
                    <a:pt x="674156" y="0"/>
                  </a:lnTo>
                  <a:cubicBezTo>
                    <a:pt x="797826" y="0"/>
                    <a:pt x="892757" y="93819"/>
                    <a:pt x="892757" y="209550"/>
                  </a:cubicBezTo>
                  <a:cubicBezTo>
                    <a:pt x="892757" y="325281"/>
                    <a:pt x="797826" y="419100"/>
                    <a:pt x="674156" y="419100"/>
                  </a:cubicBezTo>
                  <a:lnTo>
                    <a:pt x="32118" y="419100"/>
                  </a:lnTo>
                  <a:cubicBezTo>
                    <a:pt x="14380" y="419100"/>
                    <a:pt x="0" y="404720"/>
                    <a:pt x="0" y="386982"/>
                  </a:cubicBezTo>
                  <a:lnTo>
                    <a:pt x="0" y="32118"/>
                  </a:lnTo>
                  <a:cubicBezTo>
                    <a:pt x="0" y="14380"/>
                    <a:pt x="14380" y="0"/>
                    <a:pt x="321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4FFD">
                    <a:alpha val="100000"/>
                  </a:srgbClr>
                </a:gs>
                <a:gs pos="100000">
                  <a:srgbClr val="8A3A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400" y="-38100"/>
              <a:ext cx="664157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426342" y="6591460"/>
            <a:ext cx="2947934" cy="824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9"/>
              </a:lnSpc>
            </a:pPr>
            <a:r>
              <a:rPr lang="en-US" sz="31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Lack of Real-Time Feedback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271215" y="6534310"/>
            <a:ext cx="1221684" cy="1006781"/>
            <a:chOff x="0" y="0"/>
            <a:chExt cx="1628912" cy="1342375"/>
          </a:xfrm>
        </p:grpSpPr>
        <p:sp>
          <p:nvSpPr>
            <p:cNvPr id="35" name="TextBox 35"/>
            <p:cNvSpPr txBox="1"/>
            <p:nvPr/>
          </p:nvSpPr>
          <p:spPr>
            <a:xfrm>
              <a:off x="0" y="-98425"/>
              <a:ext cx="1628912" cy="1440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083"/>
                </a:lnSpc>
                <a:spcBef>
                  <a:spcPct val="0"/>
                </a:spcBef>
              </a:pPr>
              <a:r>
                <a:rPr lang="en-US" sz="6487" b="1" strike="noStrik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04</a:t>
              </a:r>
            </a:p>
          </p:txBody>
        </p:sp>
        <p:sp>
          <p:nvSpPr>
            <p:cNvPr id="36" name="AutoShape 36"/>
            <p:cNvSpPr/>
            <p:nvPr/>
          </p:nvSpPr>
          <p:spPr>
            <a:xfrm>
              <a:off x="0" y="50800"/>
              <a:ext cx="1133313" cy="0"/>
            </a:xfrm>
            <a:prstGeom prst="line">
              <a:avLst/>
            </a:prstGeom>
            <a:ln w="1016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649006" y="5914153"/>
            <a:ext cx="4503623" cy="2121694"/>
            <a:chOff x="0" y="0"/>
            <a:chExt cx="889604" cy="4191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89605" cy="419100"/>
            </a:xfrm>
            <a:custGeom>
              <a:avLst/>
              <a:gdLst/>
              <a:ahLst/>
              <a:cxnLst/>
              <a:rect l="l" t="t" r="r" b="b"/>
              <a:pathLst>
                <a:path w="889605" h="419100">
                  <a:moveTo>
                    <a:pt x="32232" y="0"/>
                  </a:moveTo>
                  <a:lnTo>
                    <a:pt x="671076" y="0"/>
                  </a:lnTo>
                  <a:cubicBezTo>
                    <a:pt x="794673" y="0"/>
                    <a:pt x="889605" y="93819"/>
                    <a:pt x="889605" y="209550"/>
                  </a:cubicBezTo>
                  <a:cubicBezTo>
                    <a:pt x="889605" y="325281"/>
                    <a:pt x="794673" y="419100"/>
                    <a:pt x="671076" y="419100"/>
                  </a:cubicBezTo>
                  <a:lnTo>
                    <a:pt x="32232" y="419100"/>
                  </a:lnTo>
                  <a:cubicBezTo>
                    <a:pt x="14431" y="419100"/>
                    <a:pt x="0" y="404669"/>
                    <a:pt x="0" y="386868"/>
                  </a:cubicBezTo>
                  <a:lnTo>
                    <a:pt x="0" y="32232"/>
                  </a:lnTo>
                  <a:cubicBezTo>
                    <a:pt x="0" y="14431"/>
                    <a:pt x="14431" y="0"/>
                    <a:pt x="322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A3AFF">
                    <a:alpha val="100000"/>
                  </a:srgbClr>
                </a:gs>
                <a:gs pos="100000">
                  <a:srgbClr val="FF4FFD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5400" y="-38100"/>
              <a:ext cx="661004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7990997" y="6591460"/>
            <a:ext cx="2947934" cy="824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9"/>
              </a:lnSpc>
            </a:pPr>
            <a:r>
              <a:rPr lang="en-US" sz="31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Misaligned Key Concepts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6800398" y="6534975"/>
            <a:ext cx="1221684" cy="1006781"/>
            <a:chOff x="0" y="0"/>
            <a:chExt cx="1628912" cy="1342375"/>
          </a:xfrm>
        </p:grpSpPr>
        <p:sp>
          <p:nvSpPr>
            <p:cNvPr id="42" name="TextBox 42"/>
            <p:cNvSpPr txBox="1"/>
            <p:nvPr/>
          </p:nvSpPr>
          <p:spPr>
            <a:xfrm>
              <a:off x="0" y="-98425"/>
              <a:ext cx="1628912" cy="1440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083"/>
                </a:lnSpc>
                <a:spcBef>
                  <a:spcPct val="0"/>
                </a:spcBef>
              </a:pPr>
              <a:r>
                <a:rPr lang="en-US" sz="6487" b="1" strike="noStrik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05</a:t>
              </a:r>
            </a:p>
          </p:txBody>
        </p:sp>
        <p:sp>
          <p:nvSpPr>
            <p:cNvPr id="43" name="AutoShape 43"/>
            <p:cNvSpPr/>
            <p:nvPr/>
          </p:nvSpPr>
          <p:spPr>
            <a:xfrm>
              <a:off x="73152" y="50800"/>
              <a:ext cx="1133313" cy="0"/>
            </a:xfrm>
            <a:prstGeom prst="line">
              <a:avLst/>
            </a:prstGeom>
            <a:ln w="1016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" name="AutoShape 44"/>
          <p:cNvSpPr/>
          <p:nvPr/>
        </p:nvSpPr>
        <p:spPr>
          <a:xfrm>
            <a:off x="12449888" y="6500184"/>
            <a:ext cx="849985" cy="0"/>
          </a:xfrm>
          <a:prstGeom prst="line">
            <a:avLst/>
          </a:prstGeom>
          <a:ln w="762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5" name="Group 45"/>
          <p:cNvGrpSpPr/>
          <p:nvPr/>
        </p:nvGrpSpPr>
        <p:grpSpPr>
          <a:xfrm>
            <a:off x="12329581" y="5914153"/>
            <a:ext cx="4473094" cy="2121694"/>
            <a:chOff x="0" y="0"/>
            <a:chExt cx="883574" cy="4191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83574" cy="419100"/>
            </a:xfrm>
            <a:custGeom>
              <a:avLst/>
              <a:gdLst/>
              <a:ahLst/>
              <a:cxnLst/>
              <a:rect l="l" t="t" r="r" b="b"/>
              <a:pathLst>
                <a:path w="883574" h="419100">
                  <a:moveTo>
                    <a:pt x="32452" y="0"/>
                  </a:moveTo>
                  <a:lnTo>
                    <a:pt x="665185" y="0"/>
                  </a:lnTo>
                  <a:cubicBezTo>
                    <a:pt x="788643" y="0"/>
                    <a:pt x="883574" y="93819"/>
                    <a:pt x="883574" y="209550"/>
                  </a:cubicBezTo>
                  <a:cubicBezTo>
                    <a:pt x="883574" y="325281"/>
                    <a:pt x="788643" y="419100"/>
                    <a:pt x="665185" y="419100"/>
                  </a:cubicBezTo>
                  <a:lnTo>
                    <a:pt x="32452" y="419100"/>
                  </a:lnTo>
                  <a:cubicBezTo>
                    <a:pt x="14529" y="419100"/>
                    <a:pt x="0" y="404571"/>
                    <a:pt x="0" y="386648"/>
                  </a:cubicBezTo>
                  <a:lnTo>
                    <a:pt x="0" y="32452"/>
                  </a:lnTo>
                  <a:cubicBezTo>
                    <a:pt x="0" y="14529"/>
                    <a:pt x="14529" y="0"/>
                    <a:pt x="324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4FFD">
                    <a:alpha val="100000"/>
                  </a:srgbClr>
                </a:gs>
                <a:gs pos="100000">
                  <a:srgbClr val="8A3A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5400" y="-38100"/>
              <a:ext cx="654974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486129" y="6534975"/>
            <a:ext cx="1221684" cy="1025831"/>
            <a:chOff x="0" y="0"/>
            <a:chExt cx="1628912" cy="1367775"/>
          </a:xfrm>
        </p:grpSpPr>
        <p:sp>
          <p:nvSpPr>
            <p:cNvPr id="49" name="TextBox 49"/>
            <p:cNvSpPr txBox="1"/>
            <p:nvPr/>
          </p:nvSpPr>
          <p:spPr>
            <a:xfrm>
              <a:off x="0" y="-73025"/>
              <a:ext cx="1628912" cy="1440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083"/>
                </a:lnSpc>
                <a:spcBef>
                  <a:spcPct val="0"/>
                </a:spcBef>
              </a:pPr>
              <a:r>
                <a:rPr lang="en-US" sz="6487" b="1" strike="noStrike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06</a:t>
              </a:r>
            </a:p>
          </p:txBody>
        </p:sp>
        <p:sp>
          <p:nvSpPr>
            <p:cNvPr id="50" name="AutoShape 50"/>
            <p:cNvSpPr/>
            <p:nvPr/>
          </p:nvSpPr>
          <p:spPr>
            <a:xfrm>
              <a:off x="0" y="50800"/>
              <a:ext cx="1133313" cy="0"/>
            </a:xfrm>
            <a:prstGeom prst="line">
              <a:avLst/>
            </a:prstGeom>
            <a:ln w="1016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3671572" y="6592125"/>
            <a:ext cx="2947934" cy="824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9"/>
              </a:lnSpc>
            </a:pPr>
            <a:r>
              <a:rPr lang="en-US" sz="31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Inappropriate Tone Usage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Introduction &amp; Importance</a:t>
            </a:r>
          </a:p>
        </p:txBody>
      </p:sp>
      <p:sp>
        <p:nvSpPr>
          <p:cNvPr id="53" name="Freeform 53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435753" y="5947313"/>
            <a:ext cx="717795" cy="717795"/>
          </a:xfrm>
          <a:custGeom>
            <a:avLst/>
            <a:gdLst/>
            <a:ahLst/>
            <a:cxnLst/>
            <a:rect l="l" t="t" r="r" b="b"/>
            <a:pathLst>
              <a:path w="717795" h="717795">
                <a:moveTo>
                  <a:pt x="0" y="0"/>
                </a:moveTo>
                <a:lnTo>
                  <a:pt x="717796" y="0"/>
                </a:lnTo>
                <a:lnTo>
                  <a:pt x="717796" y="717795"/>
                </a:lnTo>
                <a:lnTo>
                  <a:pt x="0" y="7177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6208636" y="3203791"/>
            <a:ext cx="5172030" cy="10233750"/>
            <a:chOff x="0" y="0"/>
            <a:chExt cx="2620010" cy="5184140"/>
          </a:xfrm>
        </p:grpSpPr>
        <p:sp>
          <p:nvSpPr>
            <p:cNvPr id="5" name="Freeform 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t="-1676" b="-122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2897070" y="7614274"/>
            <a:ext cx="1361381" cy="1424138"/>
          </a:xfrm>
          <a:custGeom>
            <a:avLst/>
            <a:gdLst/>
            <a:ahLst/>
            <a:cxnLst/>
            <a:rect l="l" t="t" r="r" b="b"/>
            <a:pathLst>
              <a:path w="1361381" h="1424138">
                <a:moveTo>
                  <a:pt x="0" y="0"/>
                </a:moveTo>
                <a:lnTo>
                  <a:pt x="1361381" y="0"/>
                </a:lnTo>
                <a:lnTo>
                  <a:pt x="1361381" y="1424139"/>
                </a:lnTo>
                <a:lnTo>
                  <a:pt x="0" y="14241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12" t="-5057" r="-5112" b="-50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1856478" y="6124037"/>
            <a:ext cx="1280687" cy="1280687"/>
          </a:xfrm>
          <a:custGeom>
            <a:avLst/>
            <a:gdLst/>
            <a:ahLst/>
            <a:cxnLst/>
            <a:rect l="l" t="t" r="r" b="b"/>
            <a:pathLst>
              <a:path w="1280687" h="1280687">
                <a:moveTo>
                  <a:pt x="0" y="0"/>
                </a:moveTo>
                <a:lnTo>
                  <a:pt x="1280687" y="0"/>
                </a:lnTo>
                <a:lnTo>
                  <a:pt x="1280687" y="1280687"/>
                </a:lnTo>
                <a:lnTo>
                  <a:pt x="0" y="12806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863" t="-48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3358792" y="4826978"/>
            <a:ext cx="1799318" cy="1691069"/>
          </a:xfrm>
          <a:custGeom>
            <a:avLst/>
            <a:gdLst/>
            <a:ahLst/>
            <a:cxnLst/>
            <a:rect l="l" t="t" r="r" b="b"/>
            <a:pathLst>
              <a:path w="1799318" h="1691069">
                <a:moveTo>
                  <a:pt x="0" y="0"/>
                </a:moveTo>
                <a:lnTo>
                  <a:pt x="1799317" y="0"/>
                </a:lnTo>
                <a:lnTo>
                  <a:pt x="1799317" y="1691069"/>
                </a:lnTo>
                <a:lnTo>
                  <a:pt x="0" y="16910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760" t="-4000" b="-64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4586271" y="7119746"/>
            <a:ext cx="1496861" cy="1479232"/>
          </a:xfrm>
          <a:custGeom>
            <a:avLst/>
            <a:gdLst/>
            <a:ahLst/>
            <a:cxnLst/>
            <a:rect l="l" t="t" r="r" b="b"/>
            <a:pathLst>
              <a:path w="1496861" h="1479232">
                <a:moveTo>
                  <a:pt x="0" y="0"/>
                </a:moveTo>
                <a:lnTo>
                  <a:pt x="1496861" y="0"/>
                </a:lnTo>
                <a:lnTo>
                  <a:pt x="1496861" y="1479233"/>
                </a:lnTo>
                <a:lnTo>
                  <a:pt x="0" y="14792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223" t="-4077" r="-363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4437895" y="5285148"/>
            <a:ext cx="1645236" cy="1479233"/>
          </a:xfrm>
          <a:custGeom>
            <a:avLst/>
            <a:gdLst/>
            <a:ahLst/>
            <a:cxnLst/>
            <a:rect l="l" t="t" r="r" b="b"/>
            <a:pathLst>
              <a:path w="1645236" h="1479233">
                <a:moveTo>
                  <a:pt x="0" y="0"/>
                </a:moveTo>
                <a:lnTo>
                  <a:pt x="1645237" y="0"/>
                </a:lnTo>
                <a:lnTo>
                  <a:pt x="1645237" y="1479233"/>
                </a:lnTo>
                <a:lnTo>
                  <a:pt x="0" y="14792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665" t="-3650" r="-3665" b="-365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3626231" y="3893049"/>
            <a:ext cx="1350166" cy="1250451"/>
          </a:xfrm>
          <a:custGeom>
            <a:avLst/>
            <a:gdLst/>
            <a:ahLst/>
            <a:cxnLst/>
            <a:rect l="l" t="t" r="r" b="b"/>
            <a:pathLst>
              <a:path w="1350166" h="1250451">
                <a:moveTo>
                  <a:pt x="0" y="0"/>
                </a:moveTo>
                <a:lnTo>
                  <a:pt x="1350167" y="0"/>
                </a:lnTo>
                <a:lnTo>
                  <a:pt x="1350167" y="1250451"/>
                </a:lnTo>
                <a:lnTo>
                  <a:pt x="0" y="12504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735" t="-4748" r="-4735" b="-47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1754555" y="3203791"/>
            <a:ext cx="1511941" cy="1538871"/>
          </a:xfrm>
          <a:custGeom>
            <a:avLst/>
            <a:gdLst/>
            <a:ahLst/>
            <a:cxnLst/>
            <a:rect l="l" t="t" r="r" b="b"/>
            <a:pathLst>
              <a:path w="1511941" h="1538871">
                <a:moveTo>
                  <a:pt x="0" y="0"/>
                </a:moveTo>
                <a:lnTo>
                  <a:pt x="1511940" y="0"/>
                </a:lnTo>
                <a:lnTo>
                  <a:pt x="1511940" y="1538871"/>
                </a:lnTo>
                <a:lnTo>
                  <a:pt x="0" y="15388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736123" y="623632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1.3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909082" y="493142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Solution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842884" y="2093475"/>
            <a:ext cx="5911670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Solution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2093475"/>
            <a:ext cx="5911670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Proposed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Introduction &amp; Importance</a:t>
            </a:r>
          </a:p>
        </p:txBody>
      </p:sp>
      <p:sp>
        <p:nvSpPr>
          <p:cNvPr id="28" name="Freeform 28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3508127" y="3986815"/>
            <a:ext cx="5029021" cy="0"/>
          </a:xfrm>
          <a:prstGeom prst="line">
            <a:avLst/>
          </a:prstGeom>
          <a:ln w="38100" cap="flat">
            <a:gradFill>
              <a:gsLst>
                <a:gs pos="0">
                  <a:srgbClr val="8A3AFF">
                    <a:alpha val="100000"/>
                  </a:srgbClr>
                </a:gs>
                <a:gs pos="100000">
                  <a:srgbClr val="FF4FF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736123" y="623632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1.4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09082" y="493142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Objectives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63515" y="1685768"/>
            <a:ext cx="2395857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Live Coaching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59087" y="2219767"/>
            <a:ext cx="5678061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</a:t>
            </a:r>
            <a:r>
              <a:rPr lang="en-US" sz="1800" u="none" strike="noStrike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rovides instant, in-session feedback on tone, clarity, and phrasing to help users identify and correct communication errors while they are actively speaking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0638" y="1684112"/>
            <a:ext cx="1966594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63515" y="4518292"/>
            <a:ext cx="3187066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Contextual Q&amp;A: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9087" y="5052291"/>
            <a:ext cx="5678061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Employs</a:t>
            </a:r>
            <a:r>
              <a:rPr lang="en-US" sz="1800" u="none" strike="noStrike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 a Knowledge Graph and vector memory to allow users to accurately search and ask questions about people, topics, and details from past conversations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0638" y="4517440"/>
            <a:ext cx="1966594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0638" y="7792133"/>
            <a:ext cx="5911670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Objectives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0638" y="6602078"/>
            <a:ext cx="5911670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Core</a:t>
            </a:r>
          </a:p>
        </p:txBody>
      </p:sp>
      <p:sp>
        <p:nvSpPr>
          <p:cNvPr id="15" name="Freeform 15"/>
          <p:cNvSpPr/>
          <p:nvPr/>
        </p:nvSpPr>
        <p:spPr>
          <a:xfrm>
            <a:off x="2859087" y="3801693"/>
            <a:ext cx="394928" cy="370245"/>
          </a:xfrm>
          <a:custGeom>
            <a:avLst/>
            <a:gdLst/>
            <a:ahLst/>
            <a:cxnLst/>
            <a:rect l="l" t="t" r="r" b="b"/>
            <a:pathLst>
              <a:path w="394928" h="370245">
                <a:moveTo>
                  <a:pt x="0" y="0"/>
                </a:moveTo>
                <a:lnTo>
                  <a:pt x="394928" y="0"/>
                </a:lnTo>
                <a:lnTo>
                  <a:pt x="394928" y="370245"/>
                </a:lnTo>
                <a:lnTo>
                  <a:pt x="0" y="3702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Introduction &amp; Importance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12145709" y="3966325"/>
            <a:ext cx="5029021" cy="0"/>
          </a:xfrm>
          <a:prstGeom prst="line">
            <a:avLst/>
          </a:prstGeom>
          <a:ln w="38100" cap="flat">
            <a:gradFill>
              <a:gsLst>
                <a:gs pos="0">
                  <a:srgbClr val="8A3AFF">
                    <a:alpha val="100000"/>
                  </a:srgbClr>
                </a:gs>
                <a:gs pos="100000">
                  <a:srgbClr val="FF4FF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1501097" y="1665278"/>
            <a:ext cx="3438044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Gamified Growth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96669" y="2199277"/>
            <a:ext cx="5678061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M</a:t>
            </a:r>
            <a:r>
              <a:rPr lang="en-US" sz="1800" u="none" strike="noStrike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otivates users to consistently improve their communication habits through an engaging progress dashboard featuring XP, levels, streaks, and quests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28220" y="1663622"/>
            <a:ext cx="1966594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501097" y="4497802"/>
            <a:ext cx="3187066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Roleplay Practice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96669" y="5031801"/>
            <a:ext cx="5678061" cy="124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Enables</a:t>
            </a:r>
            <a:r>
              <a:rPr lang="en-US" sz="1800" u="none" strike="noStrike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 users to select and converse with specific entities (such as people) extracted from past sessions, allowing them to rehearse real-life scenarios and practice conversations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28220" y="4496950"/>
            <a:ext cx="1966594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04</a:t>
            </a:r>
          </a:p>
        </p:txBody>
      </p:sp>
      <p:sp>
        <p:nvSpPr>
          <p:cNvPr id="25" name="Freeform 25"/>
          <p:cNvSpPr/>
          <p:nvPr/>
        </p:nvSpPr>
        <p:spPr>
          <a:xfrm>
            <a:off x="11496669" y="3781203"/>
            <a:ext cx="394928" cy="370245"/>
          </a:xfrm>
          <a:custGeom>
            <a:avLst/>
            <a:gdLst/>
            <a:ahLst/>
            <a:cxnLst/>
            <a:rect l="l" t="t" r="r" b="b"/>
            <a:pathLst>
              <a:path w="394928" h="370245">
                <a:moveTo>
                  <a:pt x="0" y="0"/>
                </a:moveTo>
                <a:lnTo>
                  <a:pt x="394928" y="0"/>
                </a:lnTo>
                <a:lnTo>
                  <a:pt x="394928" y="370245"/>
                </a:lnTo>
                <a:lnTo>
                  <a:pt x="0" y="3702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>
            <a:off x="12230279" y="6752353"/>
            <a:ext cx="5029021" cy="0"/>
          </a:xfrm>
          <a:prstGeom prst="line">
            <a:avLst/>
          </a:prstGeom>
          <a:ln w="38100" cap="flat">
            <a:gradFill>
              <a:gsLst>
                <a:gs pos="0">
                  <a:srgbClr val="8A3AFF">
                    <a:alpha val="100000"/>
                  </a:srgbClr>
                </a:gs>
                <a:gs pos="100000">
                  <a:srgbClr val="FF4FF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11585667" y="7283830"/>
            <a:ext cx="3964274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Insights Dashboard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581239" y="7817829"/>
            <a:ext cx="5678061" cy="156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Displays</a:t>
            </a:r>
            <a:r>
              <a:rPr lang="en-US" sz="1800" u="none" strike="noStrike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 events, key facts, and action items extracted automatically from conversations, allowing users to quickly review important details later and ask questions about each entity without having to read through full transcripts.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012789" y="7282978"/>
            <a:ext cx="1966594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05</a:t>
            </a:r>
          </a:p>
        </p:txBody>
      </p:sp>
      <p:sp>
        <p:nvSpPr>
          <p:cNvPr id="30" name="Freeform 30"/>
          <p:cNvSpPr/>
          <p:nvPr/>
        </p:nvSpPr>
        <p:spPr>
          <a:xfrm>
            <a:off x="11581239" y="6567231"/>
            <a:ext cx="394928" cy="370245"/>
          </a:xfrm>
          <a:custGeom>
            <a:avLst/>
            <a:gdLst/>
            <a:ahLst/>
            <a:cxnLst/>
            <a:rect l="l" t="t" r="r" b="b"/>
            <a:pathLst>
              <a:path w="394928" h="370245">
                <a:moveTo>
                  <a:pt x="0" y="0"/>
                </a:moveTo>
                <a:lnTo>
                  <a:pt x="394928" y="0"/>
                </a:lnTo>
                <a:lnTo>
                  <a:pt x="394928" y="370245"/>
                </a:lnTo>
                <a:lnTo>
                  <a:pt x="0" y="3702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A3113-9CF4-B37D-1B66-7A45E216C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3A19218-26B5-F9DC-4E1C-4FBC5EE15DDD}"/>
              </a:ext>
            </a:extLst>
          </p:cNvPr>
          <p:cNvSpPr/>
          <p:nvPr/>
        </p:nvSpPr>
        <p:spPr>
          <a:xfrm>
            <a:off x="1028700" y="38969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35B76C6-DBA2-0C1B-5DBF-8A14457F8839}"/>
              </a:ext>
            </a:extLst>
          </p:cNvPr>
          <p:cNvSpPr/>
          <p:nvPr/>
        </p:nvSpPr>
        <p:spPr>
          <a:xfrm>
            <a:off x="1028700" y="533649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CE125E9-8BD1-0A91-65C7-581B54D2B99E}"/>
              </a:ext>
            </a:extLst>
          </p:cNvPr>
          <p:cNvSpPr/>
          <p:nvPr/>
        </p:nvSpPr>
        <p:spPr>
          <a:xfrm>
            <a:off x="10303079" y="38969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FEAF6B4E-09E4-E772-D9FA-90008552AA48}"/>
              </a:ext>
            </a:extLst>
          </p:cNvPr>
          <p:cNvSpPr/>
          <p:nvPr/>
        </p:nvSpPr>
        <p:spPr>
          <a:xfrm>
            <a:off x="10303079" y="533649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87D7223-B85D-082B-3DD1-ED2AD8BF8EAF}"/>
              </a:ext>
            </a:extLst>
          </p:cNvPr>
          <p:cNvSpPr txBox="1"/>
          <p:nvPr/>
        </p:nvSpPr>
        <p:spPr>
          <a:xfrm>
            <a:off x="1028700" y="990884"/>
            <a:ext cx="6462096" cy="1311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71"/>
              </a:lnSpc>
            </a:pPr>
            <a:r>
              <a:rPr lang="en-US" sz="11323" b="1" spc="-679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Content.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CE7E61D-7CAF-1CC6-DAD7-87F7A110CDCD}"/>
              </a:ext>
            </a:extLst>
          </p:cNvPr>
          <p:cNvSpPr txBox="1"/>
          <p:nvPr/>
        </p:nvSpPr>
        <p:spPr>
          <a:xfrm>
            <a:off x="2396992" y="3082626"/>
            <a:ext cx="2180301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Introduction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&amp; Importance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57E8BC8-E4CB-816F-1CC7-FBB203E0D649}"/>
              </a:ext>
            </a:extLst>
          </p:cNvPr>
          <p:cNvSpPr txBox="1"/>
          <p:nvPr/>
        </p:nvSpPr>
        <p:spPr>
          <a:xfrm>
            <a:off x="2396992" y="4522176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 Features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4383B98-24DF-ABD6-B0DE-AA0E6A4461C9}"/>
              </a:ext>
            </a:extLst>
          </p:cNvPr>
          <p:cNvSpPr txBox="1"/>
          <p:nvPr/>
        </p:nvSpPr>
        <p:spPr>
          <a:xfrm>
            <a:off x="11667638" y="4522176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Results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&amp; Analysis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3A3DEAB-9394-CB7E-7412-B250BE67D94E}"/>
              </a:ext>
            </a:extLst>
          </p:cNvPr>
          <p:cNvSpPr txBox="1"/>
          <p:nvPr/>
        </p:nvSpPr>
        <p:spPr>
          <a:xfrm>
            <a:off x="11667638" y="5933589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Futu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Work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13ABDA0-AA04-5E31-3F91-6E4DC23AB200}"/>
              </a:ext>
            </a:extLst>
          </p:cNvPr>
          <p:cNvSpPr txBox="1"/>
          <p:nvPr/>
        </p:nvSpPr>
        <p:spPr>
          <a:xfrm>
            <a:off x="1028700" y="29211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1.0 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D0B6EC9-A7C8-31AA-1C5E-86DEA8942191}"/>
              </a:ext>
            </a:extLst>
          </p:cNvPr>
          <p:cNvSpPr txBox="1"/>
          <p:nvPr/>
        </p:nvSpPr>
        <p:spPr>
          <a:xfrm>
            <a:off x="1028700" y="436068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7EA65B4-05A7-06D0-C7CA-991D8A1A03AC}"/>
              </a:ext>
            </a:extLst>
          </p:cNvPr>
          <p:cNvSpPr txBox="1"/>
          <p:nvPr/>
        </p:nvSpPr>
        <p:spPr>
          <a:xfrm>
            <a:off x="10303079" y="29211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5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0E2694F-2734-5922-C379-52B6889214FB}"/>
              </a:ext>
            </a:extLst>
          </p:cNvPr>
          <p:cNvSpPr txBox="1"/>
          <p:nvPr/>
        </p:nvSpPr>
        <p:spPr>
          <a:xfrm>
            <a:off x="10303079" y="436068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6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8256F74A-4E6F-B9FE-94A0-A6D15D269012}"/>
              </a:ext>
            </a:extLst>
          </p:cNvPr>
          <p:cNvSpPr/>
          <p:nvPr/>
        </p:nvSpPr>
        <p:spPr>
          <a:xfrm>
            <a:off x="1028700" y="67760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8FEC8891-CA21-39FA-7788-AE2CFA4AF993}"/>
              </a:ext>
            </a:extLst>
          </p:cNvPr>
          <p:cNvSpPr/>
          <p:nvPr/>
        </p:nvSpPr>
        <p:spPr>
          <a:xfrm>
            <a:off x="10303079" y="67760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F49CBB9-287B-E0EB-CD78-D32208AEB6C2}"/>
              </a:ext>
            </a:extLst>
          </p:cNvPr>
          <p:cNvSpPr txBox="1"/>
          <p:nvPr/>
        </p:nvSpPr>
        <p:spPr>
          <a:xfrm>
            <a:off x="2396992" y="5961727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Syst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em Architecture 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8A4F683-8DFE-155B-7B0B-69EDEE49C1DF}"/>
              </a:ext>
            </a:extLst>
          </p:cNvPr>
          <p:cNvSpPr txBox="1"/>
          <p:nvPr/>
        </p:nvSpPr>
        <p:spPr>
          <a:xfrm>
            <a:off x="1028700" y="58002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2E7966F-5C9D-87B4-D40D-AD9588D4BE89}"/>
              </a:ext>
            </a:extLst>
          </p:cNvPr>
          <p:cNvSpPr txBox="1"/>
          <p:nvPr/>
        </p:nvSpPr>
        <p:spPr>
          <a:xfrm>
            <a:off x="10303079" y="58002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7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E37BB3B0-7961-0517-5927-287BF1DB21C5}"/>
              </a:ext>
            </a:extLst>
          </p:cNvPr>
          <p:cNvSpPr/>
          <p:nvPr/>
        </p:nvSpPr>
        <p:spPr>
          <a:xfrm>
            <a:off x="1028700" y="821559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9C49DBA-2608-FDC7-C09A-EC412D8284D5}"/>
              </a:ext>
            </a:extLst>
          </p:cNvPr>
          <p:cNvSpPr txBox="1"/>
          <p:nvPr/>
        </p:nvSpPr>
        <p:spPr>
          <a:xfrm>
            <a:off x="2396992" y="7401277"/>
            <a:ext cx="2749832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Hybrid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RAG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AAEECA8-8705-819A-CC8E-DFE748716B87}"/>
              </a:ext>
            </a:extLst>
          </p:cNvPr>
          <p:cNvSpPr txBox="1"/>
          <p:nvPr/>
        </p:nvSpPr>
        <p:spPr>
          <a:xfrm>
            <a:off x="1028700" y="723978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FC4B27A-3F44-A963-AD28-4D6AD000BA88}"/>
              </a:ext>
            </a:extLst>
          </p:cNvPr>
          <p:cNvSpPr txBox="1"/>
          <p:nvPr/>
        </p:nvSpPr>
        <p:spPr>
          <a:xfrm>
            <a:off x="11667638" y="3234692"/>
            <a:ext cx="2749832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Implement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ation </a:t>
            </a: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8A9D7816-483D-D658-6BA8-74FCC10A47FC}"/>
              </a:ext>
            </a:extLst>
          </p:cNvPr>
          <p:cNvSpPr/>
          <p:nvPr/>
        </p:nvSpPr>
        <p:spPr>
          <a:xfrm>
            <a:off x="10303079" y="8206067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E01306CA-1755-491B-3068-E53BC3416D84}"/>
              </a:ext>
            </a:extLst>
          </p:cNvPr>
          <p:cNvSpPr txBox="1"/>
          <p:nvPr/>
        </p:nvSpPr>
        <p:spPr>
          <a:xfrm>
            <a:off x="11671372" y="7543817"/>
            <a:ext cx="1895536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Conclusion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9322A5D-FDFB-CBFD-B594-112713656932}"/>
              </a:ext>
            </a:extLst>
          </p:cNvPr>
          <p:cNvSpPr txBox="1"/>
          <p:nvPr/>
        </p:nvSpPr>
        <p:spPr>
          <a:xfrm>
            <a:off x="10303079" y="7230264"/>
            <a:ext cx="1221684" cy="821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8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</p:spTree>
    <p:extLst>
      <p:ext uri="{BB962C8B-B14F-4D97-AF65-F5344CB8AC3E}">
        <p14:creationId xmlns:p14="http://schemas.microsoft.com/office/powerpoint/2010/main" val="3466285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77" b="-92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751838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2807463"/>
            <a:ext cx="4970131" cy="420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384"/>
              </a:lnSpc>
              <a:spcBef>
                <a:spcPct val="0"/>
              </a:spcBef>
            </a:pPr>
            <a:r>
              <a:rPr lang="en-US" sz="24560" b="1" spc="-147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2.0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78605" y="4429288"/>
            <a:ext cx="11339847" cy="1790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166"/>
              </a:lnSpc>
              <a:spcBef>
                <a:spcPct val="0"/>
              </a:spcBef>
            </a:pPr>
            <a:r>
              <a:rPr lang="en-US" sz="14157" b="1" spc="-28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Main </a:t>
            </a:r>
            <a:r>
              <a:rPr lang="en-US" sz="14157" b="1" u="none" strike="noStrike" spc="-28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Features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6123" y="623632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Main Features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Page 2.0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09082" y="493155"/>
            <a:ext cx="2642393" cy="306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Section 2.0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717110"/>
            <a:ext cx="19644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Group Members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9124445"/>
            <a:ext cx="579554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Muhammad Ahmed &amp; Attique Rehman Alias Adeel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94855" y="8717110"/>
            <a:ext cx="19644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Supervisor: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557955" y="9059863"/>
            <a:ext cx="270134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Dr. Jawad Shafi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0990094" y="2121176"/>
            <a:ext cx="6269206" cy="12404702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434" r="-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1028700" y="2701928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 flipV="1">
            <a:off x="1028700" y="4311855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flipV="1">
            <a:off x="1028700" y="5922885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flipV="1">
            <a:off x="1028700" y="7362464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Main Features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2.1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Wingman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260202" y="8619265"/>
            <a:ext cx="5192715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Wingman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8619265"/>
            <a:ext cx="4827860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Live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2081499"/>
            <a:ext cx="9148381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Live audio transcription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3691426"/>
            <a:ext cx="7424217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Active speaker diarization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5302455"/>
            <a:ext cx="779728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Instant coaching suggestions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6742035"/>
            <a:ext cx="8115300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Analyzes conversation tone</a:t>
            </a:r>
          </a:p>
        </p:txBody>
      </p:sp>
      <p:sp>
        <p:nvSpPr>
          <p:cNvPr id="27" name="Freeform 27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1028700" y="2673353"/>
            <a:ext cx="819189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Instantly converts spoken words into text during conversations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8700" y="4349652"/>
            <a:ext cx="882598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Identifies and distinguishes between different speakers in real time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8700" y="5970510"/>
            <a:ext cx="929213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Provides immediate, actionable communication advice while you speak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49575" y="7400564"/>
            <a:ext cx="7755533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Evaluates the emotional undertone of the ongoing dialogue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028700" y="2121176"/>
            <a:ext cx="6269206" cy="12404702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50" r="-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AutoShape 13"/>
          <p:cNvSpPr/>
          <p:nvPr/>
        </p:nvSpPr>
        <p:spPr>
          <a:xfrm>
            <a:off x="8110919" y="4546199"/>
            <a:ext cx="8693550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8110919" y="5962650"/>
            <a:ext cx="8693550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8110919" y="7391400"/>
            <a:ext cx="8693550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8115300" y="8210550"/>
            <a:ext cx="8686800" cy="621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097"/>
              </a:lnSpc>
              <a:spcBef>
                <a:spcPct val="0"/>
              </a:spcBef>
            </a:pPr>
            <a:r>
              <a:rPr lang="en-US" sz="3640" u="none" strike="noStrike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Text or voice input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Main Features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2.2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Consultant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25441" y="2587673"/>
            <a:ext cx="2679028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Mode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617250" y="2587673"/>
            <a:ext cx="5508191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Consultant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15300" y="3924300"/>
            <a:ext cx="8686800" cy="621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097"/>
              </a:lnSpc>
              <a:spcBef>
                <a:spcPct val="0"/>
              </a:spcBef>
            </a:pPr>
            <a:r>
              <a:rPr lang="en-US" sz="3640" u="none" strike="noStrike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Context-aware Q&amp;A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15300" y="5353050"/>
            <a:ext cx="8686800" cy="621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097"/>
              </a:lnSpc>
              <a:spcBef>
                <a:spcPct val="0"/>
              </a:spcBef>
            </a:pPr>
            <a:r>
              <a:rPr lang="en-US" sz="3640" u="none" strike="noStrike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Queries past conversations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15300" y="6781800"/>
            <a:ext cx="8686800" cy="621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097"/>
              </a:lnSpc>
              <a:spcBef>
                <a:spcPct val="0"/>
              </a:spcBef>
            </a:pPr>
            <a:r>
              <a:rPr lang="en-US" sz="3640" u="none" strike="noStrike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Hybrid RAG retrieval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15300" y="8810625"/>
            <a:ext cx="86868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nteract and ask questions by either typing or speaking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297906" y="7381875"/>
            <a:ext cx="950419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Merges </a:t>
            </a: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vector similarity &amp; graph search for accurate answers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895246" y="5953125"/>
            <a:ext cx="890685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Searches through past dialogue data to retrieve relevant details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297906" y="4543425"/>
            <a:ext cx="950419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Gives </a:t>
            </a: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grounded answers based on knowledge of your past sessions</a:t>
            </a:r>
          </a:p>
        </p:txBody>
      </p:sp>
      <p:sp>
        <p:nvSpPr>
          <p:cNvPr id="31" name="AutoShape 31"/>
          <p:cNvSpPr/>
          <p:nvPr/>
        </p:nvSpPr>
        <p:spPr>
          <a:xfrm>
            <a:off x="8115300" y="8832449"/>
            <a:ext cx="8693550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0990094" y="2121176"/>
            <a:ext cx="6269206" cy="12404702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t="-1273" b="-12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1028700" y="4543425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1028700" y="5972175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1028700" y="7400925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1028700" y="8829675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Main Features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2.3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Roleplay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14562" y="2349776"/>
            <a:ext cx="5192715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System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2349776"/>
            <a:ext cx="4827860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Roleplay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3924300"/>
            <a:ext cx="9148381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Select graph entities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5353050"/>
            <a:ext cx="7424217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Injects relational context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6781800"/>
            <a:ext cx="779728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Practice past personas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8210550"/>
            <a:ext cx="8115300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Rehearse realistic scenarios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8829675"/>
            <a:ext cx="1015545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Simulates true-to-life interactions to help you prepare for actual meetings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8700" y="7391400"/>
            <a:ext cx="967857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ehearse conversations with individuals you've previously encountered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8700" y="4537710"/>
            <a:ext cx="1087692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Choose a person or persona from knowledge graph to interact with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5972175"/>
            <a:ext cx="9666586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Fetch </a:t>
            </a: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historical relationship data to make simulated conversation realistic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028700" y="2121176"/>
            <a:ext cx="6269206" cy="12404702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t="-2571" b="-12960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AutoShape 13"/>
          <p:cNvSpPr/>
          <p:nvPr/>
        </p:nvSpPr>
        <p:spPr>
          <a:xfrm>
            <a:off x="8558594" y="3249924"/>
            <a:ext cx="8693550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8558594" y="4678674"/>
            <a:ext cx="8693550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8558594" y="6107424"/>
            <a:ext cx="8693550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9134475" y="6917049"/>
            <a:ext cx="8115300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Compete on user leaderboards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558594" y="7536174"/>
            <a:ext cx="8693550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Main Features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2.4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Gamification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067575" y="8734562"/>
            <a:ext cx="3184671" cy="1017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440"/>
              </a:lnSpc>
              <a:spcBef>
                <a:spcPct val="0"/>
              </a:spcBef>
            </a:pPr>
            <a:r>
              <a:rPr lang="en-US" sz="8000" spc="-16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Engine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42975" y="8734562"/>
            <a:ext cx="6321892" cy="1017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440"/>
              </a:lnSpc>
              <a:spcBef>
                <a:spcPct val="0"/>
              </a:spcBef>
            </a:pPr>
            <a:r>
              <a:rPr lang="en-US" sz="8000" b="1" spc="-160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Gamification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77250" y="2630799"/>
            <a:ext cx="8774996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Earn XP and levels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77250" y="4059549"/>
            <a:ext cx="8774996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Complete daily customized quests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91675" y="5488299"/>
            <a:ext cx="7660469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Track daily activity streaks</a:t>
            </a:r>
          </a:p>
        </p:txBody>
      </p:sp>
      <p:sp>
        <p:nvSpPr>
          <p:cNvPr id="27" name="Freeform 27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7742975" y="7526649"/>
            <a:ext cx="951632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Ranks progress against other users to motivate friendly competition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72500" y="6088691"/>
            <a:ext cx="86868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Monitors consecutive days of usage to help you build a habit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72500" y="4634860"/>
            <a:ext cx="86868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Offers personalized daily challenges to encourage users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42975" y="3205156"/>
            <a:ext cx="951632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Rewards experience points to level up based on application usage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028700" y="2121176"/>
            <a:ext cx="7030064" cy="13910189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t="-254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059187" y="2321201"/>
            <a:ext cx="3184671" cy="1017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440"/>
              </a:lnSpc>
              <a:spcBef>
                <a:spcPct val="0"/>
              </a:spcBef>
            </a:pPr>
            <a:r>
              <a:rPr lang="en-US" sz="8000" spc="-16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Graph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97906" y="2321201"/>
            <a:ext cx="6321892" cy="1017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440"/>
              </a:lnSpc>
              <a:spcBef>
                <a:spcPct val="0"/>
              </a:spcBef>
            </a:pPr>
            <a:r>
              <a:rPr lang="en-US" sz="8000" b="1" spc="-160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Knowledge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Main Features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2.5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Knowledge Graph</a:t>
            </a:r>
          </a:p>
        </p:txBody>
      </p: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10909082" y="3548027"/>
            <a:ext cx="6331205" cy="12527377"/>
            <a:chOff x="0" y="0"/>
            <a:chExt cx="2620010" cy="5184140"/>
          </a:xfrm>
        </p:grpSpPr>
        <p:sp>
          <p:nvSpPr>
            <p:cNvPr id="20" name="Freeform 2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t="-1273" b="-12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Box 29"/>
          <p:cNvSpPr txBox="1"/>
          <p:nvPr/>
        </p:nvSpPr>
        <p:spPr>
          <a:xfrm rot="-5400000">
            <a:off x="6748924" y="5916256"/>
            <a:ext cx="5668417" cy="1015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440"/>
              </a:lnSpc>
              <a:spcBef>
                <a:spcPct val="0"/>
              </a:spcBef>
            </a:pPr>
            <a:r>
              <a:rPr lang="en-US" sz="8000" b="1" spc="-160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Explorer</a:t>
            </a:r>
          </a:p>
        </p:txBody>
      </p:sp>
      <p:sp>
        <p:nvSpPr>
          <p:cNvPr id="30" name="Freeform 30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5544746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V="1">
            <a:off x="1023556" y="6795534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8019398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1028700" y="9248775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Main Features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2.6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Knowledge Graph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00423" y="2349776"/>
            <a:ext cx="5192715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Graph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349776"/>
            <a:ext cx="5671723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Knowledge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4924316"/>
            <a:ext cx="9148381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Interactive visual entity graph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3556" y="6175104"/>
            <a:ext cx="7424217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Tap for AI summaries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7398968"/>
            <a:ext cx="779728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Color-coded node types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8628345"/>
            <a:ext cx="8115300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Explore connections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5531214"/>
            <a:ext cx="988038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Displays connections between people and topics in a dynamic visual web</a:t>
            </a:r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0909082" y="2121176"/>
            <a:ext cx="6331205" cy="12527377"/>
            <a:chOff x="0" y="0"/>
            <a:chExt cx="2620010" cy="5184140"/>
          </a:xfrm>
        </p:grpSpPr>
        <p:sp>
          <p:nvSpPr>
            <p:cNvPr id="19" name="Freeform 19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t="-1273" b="-12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023556" y="6776484"/>
            <a:ext cx="915352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Generates instant AI overviews of an entity when you select its node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170451" y="3477904"/>
            <a:ext cx="5671723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Explorer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8700" y="8009873"/>
            <a:ext cx="988038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Differentiates entity categories (like people or places) using distinct colors</a:t>
            </a:r>
          </a:p>
        </p:txBody>
      </p:sp>
      <p:sp>
        <p:nvSpPr>
          <p:cNvPr id="31" name="Freeform 31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1028700" y="9239250"/>
            <a:ext cx="10864438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Allows intuitive navigation of relationships between different data points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028700" y="2121176"/>
            <a:ext cx="6269206" cy="12404702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1106" r="-11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AutoShape 13"/>
          <p:cNvSpPr/>
          <p:nvPr/>
        </p:nvSpPr>
        <p:spPr>
          <a:xfrm>
            <a:off x="8110919" y="4598670"/>
            <a:ext cx="8693550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8110919" y="6017419"/>
            <a:ext cx="8693550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8110919" y="7432834"/>
            <a:ext cx="8693550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8686800" y="8233410"/>
            <a:ext cx="8115300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LLM intent routing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110919" y="8852535"/>
            <a:ext cx="8693550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Main Features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2.7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Vpoce Controls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746819" y="2587673"/>
            <a:ext cx="4057650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Controls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62875" y="2587673"/>
            <a:ext cx="5508191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Voice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29575" y="3979545"/>
            <a:ext cx="8774996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Hands-free app control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29575" y="5398294"/>
            <a:ext cx="8774996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Custom wake word activation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44000" y="6813709"/>
            <a:ext cx="7660469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Background listening mode</a:t>
            </a:r>
          </a:p>
        </p:txBody>
      </p:sp>
      <p:sp>
        <p:nvSpPr>
          <p:cNvPr id="27" name="Freeform 27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8110919" y="8852535"/>
            <a:ext cx="86868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Directs spoken commands to correct feature using LLM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124825" y="7423309"/>
            <a:ext cx="86868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Continuously listens for wake word without needing  to tap screen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124825" y="6007894"/>
            <a:ext cx="86868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Uses the "Hey Bubbles" phrase to trigger the assistant seamlessly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82644" y="4579620"/>
            <a:ext cx="9319456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Enables navigation and use of application entirely via voice commands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6530C-12B6-E907-D263-0AF0BC7FC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09B72DC-6F8D-A62B-F17A-11FC3313AE49}"/>
              </a:ext>
            </a:extLst>
          </p:cNvPr>
          <p:cNvSpPr/>
          <p:nvPr/>
        </p:nvSpPr>
        <p:spPr>
          <a:xfrm>
            <a:off x="1028700" y="38969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420DC7E-34DD-60CE-A691-867D94559B7A}"/>
              </a:ext>
            </a:extLst>
          </p:cNvPr>
          <p:cNvSpPr/>
          <p:nvPr/>
        </p:nvSpPr>
        <p:spPr>
          <a:xfrm>
            <a:off x="1028700" y="533649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1DA760A-8A8D-45CC-E733-2F21C4B4EBD7}"/>
              </a:ext>
            </a:extLst>
          </p:cNvPr>
          <p:cNvSpPr/>
          <p:nvPr/>
        </p:nvSpPr>
        <p:spPr>
          <a:xfrm>
            <a:off x="10303079" y="38969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958C7BB-9EE3-C159-0F47-D851B38F12C7}"/>
              </a:ext>
            </a:extLst>
          </p:cNvPr>
          <p:cNvSpPr/>
          <p:nvPr/>
        </p:nvSpPr>
        <p:spPr>
          <a:xfrm>
            <a:off x="10303079" y="533649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882D230-FAF4-11C4-3DF5-38A0F4903962}"/>
              </a:ext>
            </a:extLst>
          </p:cNvPr>
          <p:cNvSpPr txBox="1"/>
          <p:nvPr/>
        </p:nvSpPr>
        <p:spPr>
          <a:xfrm>
            <a:off x="1028700" y="990884"/>
            <a:ext cx="6462096" cy="1311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71"/>
              </a:lnSpc>
            </a:pPr>
            <a:r>
              <a:rPr lang="en-US" sz="11323" b="1" spc="-679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Content.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00F0300-0341-20F0-7450-AB635D71542D}"/>
              </a:ext>
            </a:extLst>
          </p:cNvPr>
          <p:cNvSpPr txBox="1"/>
          <p:nvPr/>
        </p:nvSpPr>
        <p:spPr>
          <a:xfrm>
            <a:off x="2396992" y="3082626"/>
            <a:ext cx="2180301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Introduction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&amp; Importance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0B42CF5-0A60-DFB7-539E-FF779264825B}"/>
              </a:ext>
            </a:extLst>
          </p:cNvPr>
          <p:cNvSpPr txBox="1"/>
          <p:nvPr/>
        </p:nvSpPr>
        <p:spPr>
          <a:xfrm>
            <a:off x="2396992" y="4522176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 Features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C148406-D27A-5F76-D476-2F3C6F38404D}"/>
              </a:ext>
            </a:extLst>
          </p:cNvPr>
          <p:cNvSpPr txBox="1"/>
          <p:nvPr/>
        </p:nvSpPr>
        <p:spPr>
          <a:xfrm>
            <a:off x="11667638" y="4522176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Results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&amp; Analysis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CE565EE-D329-09C4-F790-019848BEFB84}"/>
              </a:ext>
            </a:extLst>
          </p:cNvPr>
          <p:cNvSpPr txBox="1"/>
          <p:nvPr/>
        </p:nvSpPr>
        <p:spPr>
          <a:xfrm>
            <a:off x="11667638" y="5933589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Futu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Work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4205153-8E65-D6FF-1142-6721FEAEB4E9}"/>
              </a:ext>
            </a:extLst>
          </p:cNvPr>
          <p:cNvSpPr txBox="1"/>
          <p:nvPr/>
        </p:nvSpPr>
        <p:spPr>
          <a:xfrm>
            <a:off x="1028700" y="29211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1.0 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9301E4F-1E16-08DA-2F7E-05192D0D0ADD}"/>
              </a:ext>
            </a:extLst>
          </p:cNvPr>
          <p:cNvSpPr txBox="1"/>
          <p:nvPr/>
        </p:nvSpPr>
        <p:spPr>
          <a:xfrm>
            <a:off x="1028700" y="436068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EF13BE4-3EF5-C873-C237-EE457E4BD74C}"/>
              </a:ext>
            </a:extLst>
          </p:cNvPr>
          <p:cNvSpPr txBox="1"/>
          <p:nvPr/>
        </p:nvSpPr>
        <p:spPr>
          <a:xfrm>
            <a:off x="10303079" y="29211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5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F30AE00-AD1F-3DFC-1893-10DB6FD1A43A}"/>
              </a:ext>
            </a:extLst>
          </p:cNvPr>
          <p:cNvSpPr txBox="1"/>
          <p:nvPr/>
        </p:nvSpPr>
        <p:spPr>
          <a:xfrm>
            <a:off x="10303079" y="436068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6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F9DA1E64-C00A-21C7-590C-71A32C228C38}"/>
              </a:ext>
            </a:extLst>
          </p:cNvPr>
          <p:cNvSpPr/>
          <p:nvPr/>
        </p:nvSpPr>
        <p:spPr>
          <a:xfrm>
            <a:off x="1028700" y="67760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E80540A3-9075-F823-4E31-A756C1C82AED}"/>
              </a:ext>
            </a:extLst>
          </p:cNvPr>
          <p:cNvSpPr/>
          <p:nvPr/>
        </p:nvSpPr>
        <p:spPr>
          <a:xfrm>
            <a:off x="10303079" y="67760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1234044-579A-1F40-D531-C5FFBAB98429}"/>
              </a:ext>
            </a:extLst>
          </p:cNvPr>
          <p:cNvSpPr txBox="1"/>
          <p:nvPr/>
        </p:nvSpPr>
        <p:spPr>
          <a:xfrm>
            <a:off x="2396992" y="5961727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Syst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em Architecture 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513240F-7539-29AD-9DE4-8055F195EA0B}"/>
              </a:ext>
            </a:extLst>
          </p:cNvPr>
          <p:cNvSpPr txBox="1"/>
          <p:nvPr/>
        </p:nvSpPr>
        <p:spPr>
          <a:xfrm>
            <a:off x="1028700" y="58002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AE12D82-F800-68D1-1171-EBF3735AA8B3}"/>
              </a:ext>
            </a:extLst>
          </p:cNvPr>
          <p:cNvSpPr txBox="1"/>
          <p:nvPr/>
        </p:nvSpPr>
        <p:spPr>
          <a:xfrm>
            <a:off x="10303079" y="58002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7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F49D8975-D7E7-DAE8-5134-95FE85AA9E26}"/>
              </a:ext>
            </a:extLst>
          </p:cNvPr>
          <p:cNvSpPr/>
          <p:nvPr/>
        </p:nvSpPr>
        <p:spPr>
          <a:xfrm>
            <a:off x="1028700" y="821559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6733A33-2FAA-8BDC-E172-E3CC4B710EBB}"/>
              </a:ext>
            </a:extLst>
          </p:cNvPr>
          <p:cNvSpPr txBox="1"/>
          <p:nvPr/>
        </p:nvSpPr>
        <p:spPr>
          <a:xfrm>
            <a:off x="2396992" y="7401277"/>
            <a:ext cx="2749832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Hybrid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RAG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A231C00F-3E5F-F1E0-6EBF-A841B070BD0F}"/>
              </a:ext>
            </a:extLst>
          </p:cNvPr>
          <p:cNvSpPr txBox="1"/>
          <p:nvPr/>
        </p:nvSpPr>
        <p:spPr>
          <a:xfrm>
            <a:off x="1028700" y="723978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D27A608-0736-4B07-E39F-87B2FACC86D6}"/>
              </a:ext>
            </a:extLst>
          </p:cNvPr>
          <p:cNvSpPr txBox="1"/>
          <p:nvPr/>
        </p:nvSpPr>
        <p:spPr>
          <a:xfrm>
            <a:off x="11667638" y="3234692"/>
            <a:ext cx="2749832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Implement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ation </a:t>
            </a: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57BD9FDE-A163-5133-E974-32A6A71D98F5}"/>
              </a:ext>
            </a:extLst>
          </p:cNvPr>
          <p:cNvSpPr/>
          <p:nvPr/>
        </p:nvSpPr>
        <p:spPr>
          <a:xfrm>
            <a:off x="10303079" y="8206067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B13BBB6-90EC-F9B6-C27B-D1C02388E718}"/>
              </a:ext>
            </a:extLst>
          </p:cNvPr>
          <p:cNvSpPr txBox="1"/>
          <p:nvPr/>
        </p:nvSpPr>
        <p:spPr>
          <a:xfrm>
            <a:off x="11671372" y="7543817"/>
            <a:ext cx="1895536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Conclusion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D83CE4E-58A9-841E-5CC7-EE91033357EF}"/>
              </a:ext>
            </a:extLst>
          </p:cNvPr>
          <p:cNvSpPr txBox="1"/>
          <p:nvPr/>
        </p:nvSpPr>
        <p:spPr>
          <a:xfrm>
            <a:off x="10303079" y="7230264"/>
            <a:ext cx="1221684" cy="821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8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</p:spTree>
    <p:extLst>
      <p:ext uri="{BB962C8B-B14F-4D97-AF65-F5344CB8AC3E}">
        <p14:creationId xmlns:p14="http://schemas.microsoft.com/office/powerpoint/2010/main" val="4160839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77" b="-92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2636013"/>
            <a:ext cx="4970131" cy="420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384"/>
              </a:lnSpc>
              <a:spcBef>
                <a:spcPct val="0"/>
              </a:spcBef>
            </a:pPr>
            <a:r>
              <a:rPr lang="en-US" sz="24560" b="1" spc="-147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3.0</a:t>
            </a:r>
          </a:p>
        </p:txBody>
      </p:sp>
      <p:sp>
        <p:nvSpPr>
          <p:cNvPr id="4" name="AutoShape 4"/>
          <p:cNvSpPr/>
          <p:nvPr/>
        </p:nvSpPr>
        <p:spPr>
          <a:xfrm>
            <a:off x="1028700" y="9751838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System Architecture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Page 3.0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09082" y="493155"/>
            <a:ext cx="2642393" cy="306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Section 3.0</a:t>
            </a:r>
          </a:p>
        </p:txBody>
      </p:sp>
      <p:sp>
        <p:nvSpPr>
          <p:cNvPr id="8" name="AutoShape 8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33550" y="638175"/>
            <a:ext cx="2438400" cy="362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2"/>
              </a:lnSpc>
              <a:spcBef>
                <a:spcPct val="0"/>
              </a:spcBef>
            </a:pPr>
            <a:r>
              <a:rPr lang="en-US" sz="3060" b="1" u="none" strike="noStrike" spc="-3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78605" y="3595851"/>
            <a:ext cx="11339847" cy="3457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166"/>
              </a:lnSpc>
              <a:spcBef>
                <a:spcPct val="0"/>
              </a:spcBef>
            </a:pPr>
            <a:r>
              <a:rPr lang="en-US" sz="14157" b="1" spc="-28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System Archit</a:t>
            </a:r>
            <a:r>
              <a:rPr lang="en-US" sz="14157" b="1" u="none" strike="noStrike" spc="-28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ecture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717110"/>
            <a:ext cx="19644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Group Members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9124445"/>
            <a:ext cx="579554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Muhammad Ahmed &amp; Attique Rehman Alias Adeel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94855" y="8717110"/>
            <a:ext cx="19644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Supervisor: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557955" y="9059863"/>
            <a:ext cx="270134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Dr. Jawad Shafi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3277" y="2295525"/>
            <a:ext cx="3791445" cy="7010400"/>
            <a:chOff x="0" y="0"/>
            <a:chExt cx="5410200" cy="9347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10200" cy="9347200"/>
            </a:xfrm>
            <a:custGeom>
              <a:avLst/>
              <a:gdLst/>
              <a:ahLst/>
              <a:cxnLst/>
              <a:rect l="l" t="t" r="r" b="b"/>
              <a:pathLst>
                <a:path w="5410200" h="9347200">
                  <a:moveTo>
                    <a:pt x="541020" y="0"/>
                  </a:moveTo>
                  <a:lnTo>
                    <a:pt x="4869180" y="0"/>
                  </a:lnTo>
                  <a:cubicBezTo>
                    <a:pt x="5012667" y="0"/>
                    <a:pt x="5150278" y="57000"/>
                    <a:pt x="5251739" y="158461"/>
                  </a:cubicBezTo>
                  <a:cubicBezTo>
                    <a:pt x="5353200" y="259922"/>
                    <a:pt x="5410200" y="397533"/>
                    <a:pt x="5410200" y="541020"/>
                  </a:cubicBezTo>
                  <a:lnTo>
                    <a:pt x="5410200" y="8806180"/>
                  </a:lnTo>
                  <a:cubicBezTo>
                    <a:pt x="5410200" y="9104978"/>
                    <a:pt x="5167977" y="9347200"/>
                    <a:pt x="4869180" y="9347200"/>
                  </a:cubicBezTo>
                  <a:lnTo>
                    <a:pt x="541020" y="9347200"/>
                  </a:lnTo>
                  <a:cubicBezTo>
                    <a:pt x="242223" y="9347200"/>
                    <a:pt x="0" y="9104978"/>
                    <a:pt x="0" y="8806180"/>
                  </a:cubicBezTo>
                  <a:lnTo>
                    <a:pt x="0" y="541020"/>
                  </a:lnTo>
                  <a:cubicBezTo>
                    <a:pt x="0" y="242223"/>
                    <a:pt x="242223" y="0"/>
                    <a:pt x="541020" y="0"/>
                  </a:cubicBezTo>
                  <a:close/>
                </a:path>
              </a:pathLst>
            </a:custGeom>
            <a:solidFill>
              <a:srgbClr val="EDE9F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410200" cy="9385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2396" y="2298937"/>
            <a:ext cx="4052675" cy="5907938"/>
          </a:xfrm>
          <a:custGeom>
            <a:avLst/>
            <a:gdLst/>
            <a:ahLst/>
            <a:cxnLst/>
            <a:rect l="l" t="t" r="r" b="b"/>
            <a:pathLst>
              <a:path w="4052675" h="5907938">
                <a:moveTo>
                  <a:pt x="0" y="0"/>
                </a:moveTo>
                <a:lnTo>
                  <a:pt x="4052675" y="0"/>
                </a:lnTo>
                <a:lnTo>
                  <a:pt x="4052675" y="5907938"/>
                </a:lnTo>
                <a:lnTo>
                  <a:pt x="0" y="5907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740091" y="2733827"/>
            <a:ext cx="1055010" cy="355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6"/>
              </a:lnSpc>
            </a:pPr>
            <a:r>
              <a:rPr lang="en-US" sz="2388" b="1">
                <a:solidFill>
                  <a:srgbClr val="00004D"/>
                </a:solidFill>
                <a:latin typeface="DM Sans Bold"/>
                <a:ea typeface="DM Sans Bold"/>
                <a:cs typeface="DM Sans Bold"/>
                <a:sym typeface="DM Sans Bold"/>
              </a:rPr>
              <a:t>CLIENT</a:t>
            </a:r>
          </a:p>
        </p:txBody>
      </p:sp>
      <p:sp>
        <p:nvSpPr>
          <p:cNvPr id="7" name="Freeform 7"/>
          <p:cNvSpPr/>
          <p:nvPr/>
        </p:nvSpPr>
        <p:spPr>
          <a:xfrm>
            <a:off x="833278" y="3393000"/>
            <a:ext cx="917328" cy="875250"/>
          </a:xfrm>
          <a:custGeom>
            <a:avLst/>
            <a:gdLst/>
            <a:ahLst/>
            <a:cxnLst/>
            <a:rect l="l" t="t" r="r" b="b"/>
            <a:pathLst>
              <a:path w="917328" h="875250">
                <a:moveTo>
                  <a:pt x="0" y="0"/>
                </a:moveTo>
                <a:lnTo>
                  <a:pt x="917329" y="0"/>
                </a:lnTo>
                <a:lnTo>
                  <a:pt x="917329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66033" y="3611812"/>
            <a:ext cx="465510" cy="656437"/>
          </a:xfrm>
          <a:custGeom>
            <a:avLst/>
            <a:gdLst/>
            <a:ahLst/>
            <a:cxnLst/>
            <a:rect l="l" t="t" r="r" b="b"/>
            <a:pathLst>
              <a:path w="465510" h="656437">
                <a:moveTo>
                  <a:pt x="0" y="0"/>
                </a:moveTo>
                <a:lnTo>
                  <a:pt x="465510" y="0"/>
                </a:lnTo>
                <a:lnTo>
                  <a:pt x="465510" y="656438"/>
                </a:lnTo>
                <a:lnTo>
                  <a:pt x="0" y="6564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834289" y="3742115"/>
            <a:ext cx="1657873" cy="355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7" b="1">
                <a:solidFill>
                  <a:srgbClr val="00004D"/>
                </a:solidFill>
                <a:latin typeface="DM Sans Bold"/>
                <a:ea typeface="DM Sans Bold"/>
                <a:cs typeface="DM Sans Bold"/>
                <a:sym typeface="DM Sans Bold"/>
              </a:rPr>
              <a:t>Flutter App</a:t>
            </a:r>
          </a:p>
        </p:txBody>
      </p:sp>
      <p:sp>
        <p:nvSpPr>
          <p:cNvPr id="10" name="Freeform 10"/>
          <p:cNvSpPr/>
          <p:nvPr/>
        </p:nvSpPr>
        <p:spPr>
          <a:xfrm>
            <a:off x="833278" y="4924688"/>
            <a:ext cx="917328" cy="875250"/>
          </a:xfrm>
          <a:custGeom>
            <a:avLst/>
            <a:gdLst/>
            <a:ahLst/>
            <a:cxnLst/>
            <a:rect l="l" t="t" r="r" b="b"/>
            <a:pathLst>
              <a:path w="917328" h="875250">
                <a:moveTo>
                  <a:pt x="0" y="0"/>
                </a:moveTo>
                <a:lnTo>
                  <a:pt x="917329" y="0"/>
                </a:lnTo>
                <a:lnTo>
                  <a:pt x="917329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066033" y="4924688"/>
            <a:ext cx="465510" cy="656437"/>
          </a:xfrm>
          <a:custGeom>
            <a:avLst/>
            <a:gdLst/>
            <a:ahLst/>
            <a:cxnLst/>
            <a:rect l="l" t="t" r="r" b="b"/>
            <a:pathLst>
              <a:path w="465510" h="656437">
                <a:moveTo>
                  <a:pt x="0" y="0"/>
                </a:moveTo>
                <a:lnTo>
                  <a:pt x="465510" y="0"/>
                </a:lnTo>
                <a:lnTo>
                  <a:pt x="465510" y="656437"/>
                </a:lnTo>
                <a:lnTo>
                  <a:pt x="0" y="6564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834289" y="4976984"/>
            <a:ext cx="1205726" cy="711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7" b="1">
                <a:solidFill>
                  <a:srgbClr val="00004D"/>
                </a:solidFill>
                <a:latin typeface="DM Sans Bold"/>
                <a:ea typeface="DM Sans Bold"/>
                <a:cs typeface="DM Sans Bold"/>
                <a:sym typeface="DM Sans Bold"/>
              </a:rPr>
              <a:t>Voice Capture</a:t>
            </a:r>
          </a:p>
        </p:txBody>
      </p:sp>
      <p:sp>
        <p:nvSpPr>
          <p:cNvPr id="13" name="Freeform 13"/>
          <p:cNvSpPr/>
          <p:nvPr/>
        </p:nvSpPr>
        <p:spPr>
          <a:xfrm>
            <a:off x="833278" y="6237563"/>
            <a:ext cx="917328" cy="875250"/>
          </a:xfrm>
          <a:custGeom>
            <a:avLst/>
            <a:gdLst/>
            <a:ahLst/>
            <a:cxnLst/>
            <a:rect l="l" t="t" r="r" b="b"/>
            <a:pathLst>
              <a:path w="917328" h="875250">
                <a:moveTo>
                  <a:pt x="0" y="0"/>
                </a:moveTo>
                <a:lnTo>
                  <a:pt x="917329" y="0"/>
                </a:lnTo>
                <a:lnTo>
                  <a:pt x="917329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066033" y="6456375"/>
            <a:ext cx="684573" cy="656438"/>
          </a:xfrm>
          <a:custGeom>
            <a:avLst/>
            <a:gdLst/>
            <a:ahLst/>
            <a:cxnLst/>
            <a:rect l="l" t="t" r="r" b="b"/>
            <a:pathLst>
              <a:path w="684573" h="656438">
                <a:moveTo>
                  <a:pt x="0" y="0"/>
                </a:moveTo>
                <a:lnTo>
                  <a:pt x="684574" y="0"/>
                </a:lnTo>
                <a:lnTo>
                  <a:pt x="684574" y="656438"/>
                </a:lnTo>
                <a:lnTo>
                  <a:pt x="0" y="6564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834289" y="6415895"/>
            <a:ext cx="1733230" cy="711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388" b="1">
                <a:solidFill>
                  <a:srgbClr val="00004D"/>
                </a:solidFill>
                <a:latin typeface="DM Sans Bold"/>
                <a:ea typeface="DM Sans Bold"/>
                <a:cs typeface="DM Sans Bold"/>
                <a:sym typeface="DM Sans Bold"/>
              </a:rPr>
              <a:t>WebSocket Stream</a:t>
            </a:r>
          </a:p>
        </p:txBody>
      </p:sp>
      <p:sp>
        <p:nvSpPr>
          <p:cNvPr id="16" name="Freeform 16"/>
          <p:cNvSpPr/>
          <p:nvPr/>
        </p:nvSpPr>
        <p:spPr>
          <a:xfrm>
            <a:off x="4434135" y="2298937"/>
            <a:ext cx="4498056" cy="7002000"/>
          </a:xfrm>
          <a:custGeom>
            <a:avLst/>
            <a:gdLst/>
            <a:ahLst/>
            <a:cxnLst/>
            <a:rect l="l" t="t" r="r" b="b"/>
            <a:pathLst>
              <a:path w="4498056" h="7002000">
                <a:moveTo>
                  <a:pt x="0" y="0"/>
                </a:moveTo>
                <a:lnTo>
                  <a:pt x="4498055" y="0"/>
                </a:lnTo>
                <a:lnTo>
                  <a:pt x="4498055" y="7002001"/>
                </a:lnTo>
                <a:lnTo>
                  <a:pt x="0" y="70020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r="-470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5319589" y="2726989"/>
            <a:ext cx="3165030" cy="369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7"/>
              </a:lnSpc>
            </a:pPr>
            <a:r>
              <a:rPr lang="en-US" sz="2439" b="1">
                <a:solidFill>
                  <a:srgbClr val="00004D"/>
                </a:solidFill>
                <a:latin typeface="DM Sans Bold"/>
                <a:ea typeface="DM Sans Bold"/>
                <a:cs typeface="DM Sans Bold"/>
                <a:sym typeface="DM Sans Bold"/>
              </a:rPr>
              <a:t>PROCESSING ENGINE</a:t>
            </a:r>
          </a:p>
        </p:txBody>
      </p:sp>
      <p:sp>
        <p:nvSpPr>
          <p:cNvPr id="18" name="Freeform 18"/>
          <p:cNvSpPr/>
          <p:nvPr/>
        </p:nvSpPr>
        <p:spPr>
          <a:xfrm>
            <a:off x="5105017" y="3174187"/>
            <a:ext cx="3600856" cy="1312875"/>
          </a:xfrm>
          <a:custGeom>
            <a:avLst/>
            <a:gdLst/>
            <a:ahLst/>
            <a:cxnLst/>
            <a:rect l="l" t="t" r="r" b="b"/>
            <a:pathLst>
              <a:path w="3600856" h="1312875">
                <a:moveTo>
                  <a:pt x="0" y="0"/>
                </a:moveTo>
                <a:lnTo>
                  <a:pt x="3600856" y="0"/>
                </a:lnTo>
                <a:lnTo>
                  <a:pt x="3600856" y="1312875"/>
                </a:lnTo>
                <a:lnTo>
                  <a:pt x="0" y="1312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5324080" y="3393000"/>
            <a:ext cx="684573" cy="875250"/>
          </a:xfrm>
          <a:custGeom>
            <a:avLst/>
            <a:gdLst/>
            <a:ahLst/>
            <a:cxnLst/>
            <a:rect l="l" t="t" r="r" b="b"/>
            <a:pathLst>
              <a:path w="684573" h="875250">
                <a:moveTo>
                  <a:pt x="0" y="0"/>
                </a:moveTo>
                <a:lnTo>
                  <a:pt x="684574" y="0"/>
                </a:lnTo>
                <a:lnTo>
                  <a:pt x="684574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5324080" y="3611812"/>
            <a:ext cx="684573" cy="656437"/>
          </a:xfrm>
          <a:custGeom>
            <a:avLst/>
            <a:gdLst/>
            <a:ahLst/>
            <a:cxnLst/>
            <a:rect l="l" t="t" r="r" b="b"/>
            <a:pathLst>
              <a:path w="684573" h="656437">
                <a:moveTo>
                  <a:pt x="0" y="0"/>
                </a:moveTo>
                <a:lnTo>
                  <a:pt x="684574" y="0"/>
                </a:lnTo>
                <a:lnTo>
                  <a:pt x="684574" y="656438"/>
                </a:lnTo>
                <a:lnTo>
                  <a:pt x="0" y="65643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6148526" y="3735277"/>
            <a:ext cx="2185378" cy="369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439" b="1">
                <a:solidFill>
                  <a:srgbClr val="00004D"/>
                </a:solidFill>
                <a:latin typeface="DM Sans Bold"/>
                <a:ea typeface="DM Sans Bold"/>
                <a:cs typeface="DM Sans Bold"/>
                <a:sym typeface="DM Sans Bold"/>
              </a:rPr>
              <a:t>FastAPI Server</a:t>
            </a:r>
          </a:p>
        </p:txBody>
      </p:sp>
      <p:sp>
        <p:nvSpPr>
          <p:cNvPr id="22" name="Freeform 22"/>
          <p:cNvSpPr/>
          <p:nvPr/>
        </p:nvSpPr>
        <p:spPr>
          <a:xfrm>
            <a:off x="5105017" y="4705875"/>
            <a:ext cx="3600856" cy="1312875"/>
          </a:xfrm>
          <a:custGeom>
            <a:avLst/>
            <a:gdLst/>
            <a:ahLst/>
            <a:cxnLst/>
            <a:rect l="l" t="t" r="r" b="b"/>
            <a:pathLst>
              <a:path w="3600856" h="1312875">
                <a:moveTo>
                  <a:pt x="0" y="0"/>
                </a:moveTo>
                <a:lnTo>
                  <a:pt x="3600856" y="0"/>
                </a:lnTo>
                <a:lnTo>
                  <a:pt x="3600856" y="1312875"/>
                </a:lnTo>
                <a:lnTo>
                  <a:pt x="0" y="1312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5324080" y="4924688"/>
            <a:ext cx="684573" cy="875250"/>
          </a:xfrm>
          <a:custGeom>
            <a:avLst/>
            <a:gdLst/>
            <a:ahLst/>
            <a:cxnLst/>
            <a:rect l="l" t="t" r="r" b="b"/>
            <a:pathLst>
              <a:path w="684573" h="875250">
                <a:moveTo>
                  <a:pt x="0" y="0"/>
                </a:moveTo>
                <a:lnTo>
                  <a:pt x="684574" y="0"/>
                </a:lnTo>
                <a:lnTo>
                  <a:pt x="684574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5324080" y="4924688"/>
            <a:ext cx="684573" cy="656437"/>
          </a:xfrm>
          <a:custGeom>
            <a:avLst/>
            <a:gdLst/>
            <a:ahLst/>
            <a:cxnLst/>
            <a:rect l="l" t="t" r="r" b="b"/>
            <a:pathLst>
              <a:path w="684573" h="656437">
                <a:moveTo>
                  <a:pt x="0" y="0"/>
                </a:moveTo>
                <a:lnTo>
                  <a:pt x="684574" y="0"/>
                </a:lnTo>
                <a:lnTo>
                  <a:pt x="684574" y="656437"/>
                </a:lnTo>
                <a:lnTo>
                  <a:pt x="0" y="65643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6148526" y="4948647"/>
            <a:ext cx="1921625" cy="683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</a:pPr>
            <a:r>
              <a:rPr lang="en-US" sz="2286" b="1">
                <a:solidFill>
                  <a:srgbClr val="00004D"/>
                </a:solidFill>
                <a:latin typeface="DM Sans Bold"/>
                <a:ea typeface="DM Sans Bold"/>
                <a:cs typeface="DM Sans Bold"/>
                <a:sym typeface="DM Sans Bold"/>
              </a:rPr>
              <a:t>Live Transcription</a:t>
            </a:r>
          </a:p>
        </p:txBody>
      </p:sp>
      <p:sp>
        <p:nvSpPr>
          <p:cNvPr id="26" name="Freeform 26"/>
          <p:cNvSpPr/>
          <p:nvPr/>
        </p:nvSpPr>
        <p:spPr>
          <a:xfrm>
            <a:off x="5105017" y="6018750"/>
            <a:ext cx="3600856" cy="1312875"/>
          </a:xfrm>
          <a:custGeom>
            <a:avLst/>
            <a:gdLst/>
            <a:ahLst/>
            <a:cxnLst/>
            <a:rect l="l" t="t" r="r" b="b"/>
            <a:pathLst>
              <a:path w="3600856" h="1312875">
                <a:moveTo>
                  <a:pt x="0" y="0"/>
                </a:moveTo>
                <a:lnTo>
                  <a:pt x="3600856" y="0"/>
                </a:lnTo>
                <a:lnTo>
                  <a:pt x="3600856" y="1312875"/>
                </a:lnTo>
                <a:lnTo>
                  <a:pt x="0" y="13128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>
            <a:off x="5324080" y="6237563"/>
            <a:ext cx="684573" cy="875250"/>
          </a:xfrm>
          <a:custGeom>
            <a:avLst/>
            <a:gdLst/>
            <a:ahLst/>
            <a:cxnLst/>
            <a:rect l="l" t="t" r="r" b="b"/>
            <a:pathLst>
              <a:path w="684573" h="875250">
                <a:moveTo>
                  <a:pt x="0" y="0"/>
                </a:moveTo>
                <a:lnTo>
                  <a:pt x="684574" y="0"/>
                </a:lnTo>
                <a:lnTo>
                  <a:pt x="684574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5324080" y="6237563"/>
            <a:ext cx="684573" cy="656437"/>
          </a:xfrm>
          <a:custGeom>
            <a:avLst/>
            <a:gdLst/>
            <a:ahLst/>
            <a:cxnLst/>
            <a:rect l="l" t="t" r="r" b="b"/>
            <a:pathLst>
              <a:path w="684573" h="656437">
                <a:moveTo>
                  <a:pt x="0" y="0"/>
                </a:moveTo>
                <a:lnTo>
                  <a:pt x="684574" y="0"/>
                </a:lnTo>
                <a:lnTo>
                  <a:pt x="684574" y="656437"/>
                </a:lnTo>
                <a:lnTo>
                  <a:pt x="0" y="65643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6148526" y="6297189"/>
            <a:ext cx="1469478" cy="738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8"/>
              </a:lnSpc>
            </a:pPr>
            <a:r>
              <a:rPr lang="en-US" sz="2490" b="1">
                <a:solidFill>
                  <a:srgbClr val="00004D"/>
                </a:solidFill>
                <a:latin typeface="DM Sans Bold"/>
                <a:ea typeface="DM Sans Bold"/>
                <a:cs typeface="DM Sans Bold"/>
                <a:sym typeface="DM Sans Bold"/>
              </a:rPr>
              <a:t>Coaching Logic</a:t>
            </a:r>
          </a:p>
        </p:txBody>
      </p:sp>
      <p:sp>
        <p:nvSpPr>
          <p:cNvPr id="30" name="Freeform 30"/>
          <p:cNvSpPr/>
          <p:nvPr/>
        </p:nvSpPr>
        <p:spPr>
          <a:xfrm>
            <a:off x="5105017" y="7331625"/>
            <a:ext cx="3600856" cy="1312875"/>
          </a:xfrm>
          <a:custGeom>
            <a:avLst/>
            <a:gdLst/>
            <a:ahLst/>
            <a:cxnLst/>
            <a:rect l="l" t="t" r="r" b="b"/>
            <a:pathLst>
              <a:path w="3600856" h="1312875">
                <a:moveTo>
                  <a:pt x="0" y="0"/>
                </a:moveTo>
                <a:lnTo>
                  <a:pt x="3600856" y="0"/>
                </a:lnTo>
                <a:lnTo>
                  <a:pt x="3600856" y="1312875"/>
                </a:lnTo>
                <a:lnTo>
                  <a:pt x="0" y="13128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5324080" y="7550438"/>
            <a:ext cx="684573" cy="875250"/>
          </a:xfrm>
          <a:custGeom>
            <a:avLst/>
            <a:gdLst/>
            <a:ahLst/>
            <a:cxnLst/>
            <a:rect l="l" t="t" r="r" b="b"/>
            <a:pathLst>
              <a:path w="684573" h="875250">
                <a:moveTo>
                  <a:pt x="0" y="0"/>
                </a:moveTo>
                <a:lnTo>
                  <a:pt x="684574" y="0"/>
                </a:lnTo>
                <a:lnTo>
                  <a:pt x="684574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5324080" y="7769250"/>
            <a:ext cx="684573" cy="656437"/>
          </a:xfrm>
          <a:custGeom>
            <a:avLst/>
            <a:gdLst/>
            <a:ahLst/>
            <a:cxnLst/>
            <a:rect l="l" t="t" r="r" b="b"/>
            <a:pathLst>
              <a:path w="684573" h="656437">
                <a:moveTo>
                  <a:pt x="0" y="0"/>
                </a:moveTo>
                <a:lnTo>
                  <a:pt x="684574" y="0"/>
                </a:lnTo>
                <a:lnTo>
                  <a:pt x="684574" y="656438"/>
                </a:lnTo>
                <a:lnTo>
                  <a:pt x="0" y="65643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6148526" y="7638400"/>
            <a:ext cx="2241896" cy="765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591" b="1">
                <a:solidFill>
                  <a:srgbClr val="00004D"/>
                </a:solidFill>
                <a:latin typeface="DM Sans Bold"/>
                <a:ea typeface="DM Sans Bold"/>
                <a:cs typeface="DM Sans Bold"/>
                <a:sym typeface="DM Sans Bold"/>
              </a:rPr>
              <a:t>Speaker ID (ECAPA-TDN)</a:t>
            </a:r>
          </a:p>
        </p:txBody>
      </p:sp>
      <p:sp>
        <p:nvSpPr>
          <p:cNvPr id="34" name="Freeform 34"/>
          <p:cNvSpPr/>
          <p:nvPr/>
        </p:nvSpPr>
        <p:spPr>
          <a:xfrm>
            <a:off x="3530498" y="3611812"/>
            <a:ext cx="1588210" cy="3282188"/>
          </a:xfrm>
          <a:custGeom>
            <a:avLst/>
            <a:gdLst/>
            <a:ahLst/>
            <a:cxnLst/>
            <a:rect l="l" t="t" r="r" b="b"/>
            <a:pathLst>
              <a:path w="1588210" h="3282188">
                <a:moveTo>
                  <a:pt x="0" y="0"/>
                </a:moveTo>
                <a:lnTo>
                  <a:pt x="1588210" y="0"/>
                </a:lnTo>
                <a:lnTo>
                  <a:pt x="1588210" y="3282188"/>
                </a:lnTo>
                <a:lnTo>
                  <a:pt x="0" y="3282188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9582127" y="2298937"/>
            <a:ext cx="3760687" cy="5689125"/>
          </a:xfrm>
          <a:custGeom>
            <a:avLst/>
            <a:gdLst/>
            <a:ahLst/>
            <a:cxnLst/>
            <a:rect l="l" t="t" r="r" b="b"/>
            <a:pathLst>
              <a:path w="3760687" h="5689125">
                <a:moveTo>
                  <a:pt x="0" y="0"/>
                </a:moveTo>
                <a:lnTo>
                  <a:pt x="3760687" y="0"/>
                </a:lnTo>
                <a:lnTo>
                  <a:pt x="3760687" y="5689126"/>
                </a:lnTo>
                <a:lnTo>
                  <a:pt x="0" y="568912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r="-776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10688836" y="2726989"/>
            <a:ext cx="1714391" cy="369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8"/>
              </a:lnSpc>
            </a:pPr>
            <a:r>
              <a:rPr lang="en-US" sz="2490" b="1">
                <a:solidFill>
                  <a:srgbClr val="00004D"/>
                </a:solidFill>
                <a:latin typeface="DM Sans Bold"/>
                <a:ea typeface="DM Sans Bold"/>
                <a:cs typeface="DM Sans Bold"/>
                <a:sym typeface="DM Sans Bold"/>
              </a:rPr>
              <a:t>AI MODELS</a:t>
            </a:r>
          </a:p>
        </p:txBody>
      </p:sp>
      <p:sp>
        <p:nvSpPr>
          <p:cNvPr id="37" name="Freeform 37"/>
          <p:cNvSpPr/>
          <p:nvPr/>
        </p:nvSpPr>
        <p:spPr>
          <a:xfrm>
            <a:off x="10033946" y="3174187"/>
            <a:ext cx="3149038" cy="1312875"/>
          </a:xfrm>
          <a:custGeom>
            <a:avLst/>
            <a:gdLst/>
            <a:ahLst/>
            <a:cxnLst/>
            <a:rect l="l" t="t" r="r" b="b"/>
            <a:pathLst>
              <a:path w="3149038" h="1312875">
                <a:moveTo>
                  <a:pt x="0" y="0"/>
                </a:moveTo>
                <a:lnTo>
                  <a:pt x="3149037" y="0"/>
                </a:lnTo>
                <a:lnTo>
                  <a:pt x="3149037" y="1312875"/>
                </a:lnTo>
                <a:lnTo>
                  <a:pt x="0" y="13128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10033946" y="3393000"/>
            <a:ext cx="917328" cy="875250"/>
          </a:xfrm>
          <a:custGeom>
            <a:avLst/>
            <a:gdLst/>
            <a:ahLst/>
            <a:cxnLst/>
            <a:rect l="l" t="t" r="r" b="b"/>
            <a:pathLst>
              <a:path w="917328" h="875250">
                <a:moveTo>
                  <a:pt x="0" y="0"/>
                </a:moveTo>
                <a:lnTo>
                  <a:pt x="917328" y="0"/>
                </a:lnTo>
                <a:lnTo>
                  <a:pt x="917328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39"/>
          <p:cNvSpPr/>
          <p:nvPr/>
        </p:nvSpPr>
        <p:spPr>
          <a:xfrm>
            <a:off x="10253009" y="3611812"/>
            <a:ext cx="698265" cy="656437"/>
          </a:xfrm>
          <a:custGeom>
            <a:avLst/>
            <a:gdLst/>
            <a:ahLst/>
            <a:cxnLst/>
            <a:rect l="l" t="t" r="r" b="b"/>
            <a:pathLst>
              <a:path w="698265" h="656437">
                <a:moveTo>
                  <a:pt x="0" y="0"/>
                </a:moveTo>
                <a:lnTo>
                  <a:pt x="698265" y="0"/>
                </a:lnTo>
                <a:lnTo>
                  <a:pt x="698265" y="656438"/>
                </a:lnTo>
                <a:lnTo>
                  <a:pt x="0" y="656438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11084465" y="3583257"/>
            <a:ext cx="1469478" cy="683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</a:pPr>
            <a:r>
              <a:rPr lang="en-US" sz="2286" b="1">
                <a:solidFill>
                  <a:srgbClr val="00004D"/>
                </a:solidFill>
                <a:latin typeface="DM Sans Bold"/>
                <a:ea typeface="DM Sans Bold"/>
                <a:cs typeface="DM Sans Bold"/>
                <a:sym typeface="DM Sans Bold"/>
              </a:rPr>
              <a:t>Llama 3</a:t>
            </a:r>
          </a:p>
          <a:p>
            <a:pPr algn="l">
              <a:lnSpc>
                <a:spcPts val="2743"/>
              </a:lnSpc>
            </a:pPr>
            <a:r>
              <a:rPr lang="en-US" sz="2286" b="1">
                <a:solidFill>
                  <a:srgbClr val="00004D"/>
                </a:solidFill>
                <a:latin typeface="DM Sans Bold"/>
                <a:ea typeface="DM Sans Bold"/>
                <a:cs typeface="DM Sans Bold"/>
                <a:sym typeface="DM Sans Bold"/>
              </a:rPr>
              <a:t>(8B + 70B)</a:t>
            </a:r>
          </a:p>
        </p:txBody>
      </p:sp>
      <p:sp>
        <p:nvSpPr>
          <p:cNvPr id="41" name="Freeform 41"/>
          <p:cNvSpPr/>
          <p:nvPr/>
        </p:nvSpPr>
        <p:spPr>
          <a:xfrm>
            <a:off x="10033946" y="4705875"/>
            <a:ext cx="3149038" cy="1312875"/>
          </a:xfrm>
          <a:custGeom>
            <a:avLst/>
            <a:gdLst/>
            <a:ahLst/>
            <a:cxnLst/>
            <a:rect l="l" t="t" r="r" b="b"/>
            <a:pathLst>
              <a:path w="3149038" h="1312875">
                <a:moveTo>
                  <a:pt x="0" y="0"/>
                </a:moveTo>
                <a:lnTo>
                  <a:pt x="3149037" y="0"/>
                </a:lnTo>
                <a:lnTo>
                  <a:pt x="3149037" y="1312875"/>
                </a:lnTo>
                <a:lnTo>
                  <a:pt x="0" y="131287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Freeform 42"/>
          <p:cNvSpPr/>
          <p:nvPr/>
        </p:nvSpPr>
        <p:spPr>
          <a:xfrm>
            <a:off x="10033946" y="4924688"/>
            <a:ext cx="917328" cy="875250"/>
          </a:xfrm>
          <a:custGeom>
            <a:avLst/>
            <a:gdLst/>
            <a:ahLst/>
            <a:cxnLst/>
            <a:rect l="l" t="t" r="r" b="b"/>
            <a:pathLst>
              <a:path w="917328" h="875250">
                <a:moveTo>
                  <a:pt x="0" y="0"/>
                </a:moveTo>
                <a:lnTo>
                  <a:pt x="917328" y="0"/>
                </a:lnTo>
                <a:lnTo>
                  <a:pt x="917328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43"/>
          <p:cNvSpPr/>
          <p:nvPr/>
        </p:nvSpPr>
        <p:spPr>
          <a:xfrm>
            <a:off x="10253009" y="4924688"/>
            <a:ext cx="698265" cy="656437"/>
          </a:xfrm>
          <a:custGeom>
            <a:avLst/>
            <a:gdLst/>
            <a:ahLst/>
            <a:cxnLst/>
            <a:rect l="l" t="t" r="r" b="b"/>
            <a:pathLst>
              <a:path w="698265" h="656437">
                <a:moveTo>
                  <a:pt x="0" y="0"/>
                </a:moveTo>
                <a:lnTo>
                  <a:pt x="698265" y="0"/>
                </a:lnTo>
                <a:lnTo>
                  <a:pt x="698265" y="656437"/>
                </a:lnTo>
                <a:lnTo>
                  <a:pt x="0" y="65643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TextBox 44"/>
          <p:cNvSpPr txBox="1"/>
          <p:nvPr/>
        </p:nvSpPr>
        <p:spPr>
          <a:xfrm>
            <a:off x="11084465" y="4934972"/>
            <a:ext cx="1205726" cy="711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7" b="1">
                <a:solidFill>
                  <a:srgbClr val="00004D"/>
                </a:solidFill>
                <a:latin typeface="DM Sans Bold"/>
                <a:ea typeface="DM Sans Bold"/>
                <a:cs typeface="DM Sans Bold"/>
                <a:sym typeface="DM Sans Bold"/>
              </a:rPr>
              <a:t>Groq Whisper</a:t>
            </a:r>
          </a:p>
        </p:txBody>
      </p:sp>
      <p:sp>
        <p:nvSpPr>
          <p:cNvPr id="45" name="Freeform 45"/>
          <p:cNvSpPr/>
          <p:nvPr/>
        </p:nvSpPr>
        <p:spPr>
          <a:xfrm>
            <a:off x="10033946" y="6018750"/>
            <a:ext cx="3149038" cy="1312875"/>
          </a:xfrm>
          <a:custGeom>
            <a:avLst/>
            <a:gdLst/>
            <a:ahLst/>
            <a:cxnLst/>
            <a:rect l="l" t="t" r="r" b="b"/>
            <a:pathLst>
              <a:path w="3149038" h="1312875">
                <a:moveTo>
                  <a:pt x="0" y="0"/>
                </a:moveTo>
                <a:lnTo>
                  <a:pt x="3149037" y="0"/>
                </a:lnTo>
                <a:lnTo>
                  <a:pt x="3149037" y="1312875"/>
                </a:lnTo>
                <a:lnTo>
                  <a:pt x="0" y="131287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Freeform 46"/>
          <p:cNvSpPr/>
          <p:nvPr/>
        </p:nvSpPr>
        <p:spPr>
          <a:xfrm>
            <a:off x="10033946" y="6237563"/>
            <a:ext cx="917328" cy="875250"/>
          </a:xfrm>
          <a:custGeom>
            <a:avLst/>
            <a:gdLst/>
            <a:ahLst/>
            <a:cxnLst/>
            <a:rect l="l" t="t" r="r" b="b"/>
            <a:pathLst>
              <a:path w="917328" h="875250">
                <a:moveTo>
                  <a:pt x="0" y="0"/>
                </a:moveTo>
                <a:lnTo>
                  <a:pt x="917328" y="0"/>
                </a:lnTo>
                <a:lnTo>
                  <a:pt x="917328" y="875250"/>
                </a:lnTo>
                <a:lnTo>
                  <a:pt x="0" y="87525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Freeform 47"/>
          <p:cNvSpPr/>
          <p:nvPr/>
        </p:nvSpPr>
        <p:spPr>
          <a:xfrm>
            <a:off x="10253009" y="6237563"/>
            <a:ext cx="698265" cy="656437"/>
          </a:xfrm>
          <a:custGeom>
            <a:avLst/>
            <a:gdLst/>
            <a:ahLst/>
            <a:cxnLst/>
            <a:rect l="l" t="t" r="r" b="b"/>
            <a:pathLst>
              <a:path w="698265" h="656437">
                <a:moveTo>
                  <a:pt x="0" y="0"/>
                </a:moveTo>
                <a:lnTo>
                  <a:pt x="698265" y="0"/>
                </a:lnTo>
                <a:lnTo>
                  <a:pt x="698265" y="656437"/>
                </a:lnTo>
                <a:lnTo>
                  <a:pt x="0" y="65643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TextBox 48"/>
          <p:cNvSpPr txBox="1"/>
          <p:nvPr/>
        </p:nvSpPr>
        <p:spPr>
          <a:xfrm>
            <a:off x="11027946" y="6483398"/>
            <a:ext cx="1865107" cy="355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388" b="1">
                <a:solidFill>
                  <a:srgbClr val="00004D"/>
                </a:solidFill>
                <a:latin typeface="DM Sans Bold"/>
                <a:ea typeface="DM Sans Bold"/>
                <a:cs typeface="DM Sans Bold"/>
                <a:sym typeface="DM Sans Bold"/>
              </a:rPr>
              <a:t>SpeechBrain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637466" y="2733675"/>
            <a:ext cx="190500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22"/>
              </a:lnSpc>
              <a:spcBef>
                <a:spcPct val="0"/>
              </a:spcBef>
            </a:pPr>
            <a:r>
              <a:rPr lang="en-US" sz="2435" b="1" u="none" strike="noStrike" dirty="0">
                <a:solidFill>
                  <a:srgbClr val="00004D"/>
                </a:solidFill>
                <a:latin typeface="DM Sans Bold"/>
                <a:ea typeface="DM Sans Bold"/>
                <a:cs typeface="DM Sans Bold"/>
                <a:sym typeface="DM Sans Bold"/>
              </a:rPr>
              <a:t>DATA LAYER</a:t>
            </a:r>
          </a:p>
        </p:txBody>
      </p:sp>
      <p:sp>
        <p:nvSpPr>
          <p:cNvPr id="50" name="AutoShape 50"/>
          <p:cNvSpPr/>
          <p:nvPr/>
        </p:nvSpPr>
        <p:spPr>
          <a:xfrm>
            <a:off x="15811500" y="6019800"/>
            <a:ext cx="0" cy="0"/>
          </a:xfrm>
          <a:prstGeom prst="line">
            <a:avLst/>
          </a:prstGeom>
          <a:ln w="19050" cap="flat">
            <a:solidFill>
              <a:srgbClr val="7C3AE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1" name="Freeform 51"/>
          <p:cNvSpPr/>
          <p:nvPr/>
        </p:nvSpPr>
        <p:spPr>
          <a:xfrm flipV="1">
            <a:off x="8932190" y="7988062"/>
            <a:ext cx="4713398" cy="186096"/>
          </a:xfrm>
          <a:custGeom>
            <a:avLst/>
            <a:gdLst/>
            <a:ahLst/>
            <a:cxnLst/>
            <a:rect l="l" t="t" r="r" b="b"/>
            <a:pathLst>
              <a:path w="2649080">
                <a:moveTo>
                  <a:pt x="2649080" y="0"/>
                </a:moveTo>
                <a:lnTo>
                  <a:pt x="0" y="0"/>
                </a:lnTo>
              </a:path>
            </a:pathLst>
          </a:custGeom>
          <a:ln w="57150" cap="flat">
            <a:solidFill>
              <a:srgbClr val="7C3AED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10364539" y="8168005"/>
            <a:ext cx="252851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6D28D9"/>
                </a:solidFill>
                <a:latin typeface="HK Grotesk"/>
                <a:ea typeface="HK Grotesk"/>
                <a:cs typeface="HK Grotesk"/>
                <a:sym typeface="HK Grotesk"/>
              </a:rPr>
              <a:t>Data Storage</a:t>
            </a:r>
          </a:p>
        </p:txBody>
      </p:sp>
      <p:sp>
        <p:nvSpPr>
          <p:cNvPr id="53" name="TextBox 53"/>
          <p:cNvSpPr txBox="1"/>
          <p:nvPr/>
        </p:nvSpPr>
        <p:spPr>
          <a:xfrm rot="5400000">
            <a:off x="8272494" y="5955316"/>
            <a:ext cx="222874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6D28D9"/>
                </a:solidFill>
                <a:latin typeface="HK Grotesk"/>
                <a:ea typeface="HK Grotesk"/>
                <a:cs typeface="HK Grotesk"/>
                <a:sym typeface="HK Grotesk"/>
              </a:rPr>
              <a:t>Inference</a:t>
            </a:r>
          </a:p>
        </p:txBody>
      </p:sp>
      <p:sp>
        <p:nvSpPr>
          <p:cNvPr id="54" name="AutoShape 54"/>
          <p:cNvSpPr/>
          <p:nvPr/>
        </p:nvSpPr>
        <p:spPr>
          <a:xfrm>
            <a:off x="8932190" y="5286375"/>
            <a:ext cx="821410" cy="0"/>
          </a:xfrm>
          <a:prstGeom prst="line">
            <a:avLst/>
          </a:prstGeom>
          <a:ln w="57150" cap="flat">
            <a:solidFill>
              <a:srgbClr val="7C3AED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55" name="AutoShape 55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Box 56"/>
          <p:cNvSpPr txBox="1"/>
          <p:nvPr/>
        </p:nvSpPr>
        <p:spPr>
          <a:xfrm>
            <a:off x="1736123" y="623632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3.1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909082" y="493142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High level Diagram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System Architecture</a:t>
            </a:r>
          </a:p>
        </p:txBody>
      </p:sp>
      <p:sp>
        <p:nvSpPr>
          <p:cNvPr id="60" name="Freeform 60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55CD380-E536-F20E-7498-B05395DB700C}"/>
              </a:ext>
            </a:extLst>
          </p:cNvPr>
          <p:cNvGrpSpPr/>
          <p:nvPr/>
        </p:nvGrpSpPr>
        <p:grpSpPr>
          <a:xfrm>
            <a:off x="14046025" y="3125775"/>
            <a:ext cx="3305175" cy="1312875"/>
            <a:chOff x="14573250" y="3125775"/>
            <a:chExt cx="3305175" cy="1312875"/>
          </a:xfrm>
        </p:grpSpPr>
        <p:sp>
          <p:nvSpPr>
            <p:cNvPr id="61" name="Freeform 61"/>
            <p:cNvSpPr/>
            <p:nvPr/>
          </p:nvSpPr>
          <p:spPr>
            <a:xfrm>
              <a:off x="14573250" y="3125775"/>
              <a:ext cx="3149038" cy="1312875"/>
            </a:xfrm>
            <a:custGeom>
              <a:avLst/>
              <a:gdLst/>
              <a:ahLst/>
              <a:cxnLst/>
              <a:rect l="l" t="t" r="r" b="b"/>
              <a:pathLst>
                <a:path w="3149038" h="1312875">
                  <a:moveTo>
                    <a:pt x="0" y="0"/>
                  </a:moveTo>
                  <a:lnTo>
                    <a:pt x="3149038" y="0"/>
                  </a:lnTo>
                  <a:lnTo>
                    <a:pt x="3149038" y="1312875"/>
                  </a:lnTo>
                  <a:lnTo>
                    <a:pt x="0" y="1312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5468600" y="3476625"/>
              <a:ext cx="2409825" cy="704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44"/>
                </a:lnSpc>
                <a:spcBef>
                  <a:spcPct val="0"/>
                </a:spcBef>
              </a:pPr>
              <a:r>
                <a:rPr lang="en-US" sz="2370" b="1" u="none" strike="noStrike">
                  <a:solidFill>
                    <a:srgbClr val="0000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Supabase + PostgreSQL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14639925" y="3495675"/>
              <a:ext cx="685800" cy="657225"/>
            </a:xfrm>
            <a:custGeom>
              <a:avLst/>
              <a:gdLst/>
              <a:ahLst/>
              <a:cxnLst/>
              <a:rect l="l" t="t" r="r" b="b"/>
              <a:pathLst>
                <a:path w="685800" h="657225">
                  <a:moveTo>
                    <a:pt x="0" y="0"/>
                  </a:moveTo>
                  <a:lnTo>
                    <a:pt x="685800" y="0"/>
                  </a:lnTo>
                  <a:lnTo>
                    <a:pt x="685800" y="657225"/>
                  </a:lnTo>
                  <a:lnTo>
                    <a:pt x="0" y="657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99D4C97-7049-007F-76CF-323F3589DACF}"/>
              </a:ext>
            </a:extLst>
          </p:cNvPr>
          <p:cNvGrpSpPr/>
          <p:nvPr/>
        </p:nvGrpSpPr>
        <p:grpSpPr>
          <a:xfrm>
            <a:off x="14046025" y="4553738"/>
            <a:ext cx="3295650" cy="1312875"/>
            <a:chOff x="14573250" y="4553738"/>
            <a:chExt cx="3295650" cy="1312875"/>
          </a:xfrm>
        </p:grpSpPr>
        <p:sp>
          <p:nvSpPr>
            <p:cNvPr id="64" name="Freeform 64"/>
            <p:cNvSpPr/>
            <p:nvPr/>
          </p:nvSpPr>
          <p:spPr>
            <a:xfrm>
              <a:off x="14573250" y="4553738"/>
              <a:ext cx="3149038" cy="1312875"/>
            </a:xfrm>
            <a:custGeom>
              <a:avLst/>
              <a:gdLst/>
              <a:ahLst/>
              <a:cxnLst/>
              <a:rect l="l" t="t" r="r" b="b"/>
              <a:pathLst>
                <a:path w="3149038" h="1312875">
                  <a:moveTo>
                    <a:pt x="0" y="0"/>
                  </a:moveTo>
                  <a:lnTo>
                    <a:pt x="3149038" y="0"/>
                  </a:lnTo>
                  <a:lnTo>
                    <a:pt x="3149038" y="1312875"/>
                  </a:lnTo>
                  <a:lnTo>
                    <a:pt x="0" y="1312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5459075" y="4919067"/>
              <a:ext cx="2409825" cy="742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6"/>
                </a:lnSpc>
                <a:spcBef>
                  <a:spcPct val="0"/>
                </a:spcBef>
              </a:pPr>
              <a:r>
                <a:rPr lang="en-US" sz="2480" b="1" u="none" strike="noStrike" dirty="0" err="1">
                  <a:solidFill>
                    <a:srgbClr val="0000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pgvector</a:t>
              </a:r>
              <a:r>
                <a:rPr lang="en-US" sz="2480" b="1" u="none" strike="noStrike" dirty="0">
                  <a:solidFill>
                    <a:srgbClr val="0000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</a:t>
              </a:r>
            </a:p>
            <a:p>
              <a:pPr marL="0" lvl="0" indent="0" algn="l">
                <a:lnSpc>
                  <a:spcPts val="2976"/>
                </a:lnSpc>
                <a:spcBef>
                  <a:spcPct val="0"/>
                </a:spcBef>
              </a:pPr>
              <a:r>
                <a:rPr lang="en-US" sz="2480" b="1" u="none" strike="noStrike" dirty="0">
                  <a:solidFill>
                    <a:srgbClr val="0000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Store</a:t>
              </a:r>
            </a:p>
          </p:txBody>
        </p:sp>
        <p:sp>
          <p:nvSpPr>
            <p:cNvPr id="66" name="Freeform 66"/>
            <p:cNvSpPr/>
            <p:nvPr/>
          </p:nvSpPr>
          <p:spPr>
            <a:xfrm>
              <a:off x="14697075" y="4934972"/>
              <a:ext cx="685800" cy="657225"/>
            </a:xfrm>
            <a:custGeom>
              <a:avLst/>
              <a:gdLst/>
              <a:ahLst/>
              <a:cxnLst/>
              <a:rect l="l" t="t" r="r" b="b"/>
              <a:pathLst>
                <a:path w="685800" h="657225">
                  <a:moveTo>
                    <a:pt x="0" y="0"/>
                  </a:moveTo>
                  <a:lnTo>
                    <a:pt x="685800" y="0"/>
                  </a:lnTo>
                  <a:lnTo>
                    <a:pt x="685800" y="657225"/>
                  </a:lnTo>
                  <a:lnTo>
                    <a:pt x="0" y="657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4D46EEB-2327-4FD5-C3BE-55F7A6960AA2}"/>
              </a:ext>
            </a:extLst>
          </p:cNvPr>
          <p:cNvGrpSpPr/>
          <p:nvPr/>
        </p:nvGrpSpPr>
        <p:grpSpPr>
          <a:xfrm>
            <a:off x="14046025" y="5909344"/>
            <a:ext cx="3305175" cy="1312875"/>
            <a:chOff x="14573250" y="5909344"/>
            <a:chExt cx="3305175" cy="1312875"/>
          </a:xfrm>
        </p:grpSpPr>
        <p:sp>
          <p:nvSpPr>
            <p:cNvPr id="67" name="Freeform 67"/>
            <p:cNvSpPr/>
            <p:nvPr/>
          </p:nvSpPr>
          <p:spPr>
            <a:xfrm>
              <a:off x="14573250" y="5909344"/>
              <a:ext cx="3149038" cy="1312875"/>
            </a:xfrm>
            <a:custGeom>
              <a:avLst/>
              <a:gdLst/>
              <a:ahLst/>
              <a:cxnLst/>
              <a:rect l="l" t="t" r="r" b="b"/>
              <a:pathLst>
                <a:path w="3149038" h="1312875">
                  <a:moveTo>
                    <a:pt x="0" y="0"/>
                  </a:moveTo>
                  <a:lnTo>
                    <a:pt x="3149038" y="0"/>
                  </a:lnTo>
                  <a:lnTo>
                    <a:pt x="3149038" y="1312875"/>
                  </a:lnTo>
                  <a:lnTo>
                    <a:pt x="0" y="1312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5468600" y="6305550"/>
              <a:ext cx="2409825" cy="742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u="none" strike="noStrike" dirty="0">
                  <a:solidFill>
                    <a:srgbClr val="0000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Knowledge Graph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14639925" y="6343650"/>
              <a:ext cx="685800" cy="657225"/>
            </a:xfrm>
            <a:custGeom>
              <a:avLst/>
              <a:gdLst/>
              <a:ahLst/>
              <a:cxnLst/>
              <a:rect l="l" t="t" r="r" b="b"/>
              <a:pathLst>
                <a:path w="685800" h="657225">
                  <a:moveTo>
                    <a:pt x="0" y="0"/>
                  </a:moveTo>
                  <a:lnTo>
                    <a:pt x="685800" y="0"/>
                  </a:lnTo>
                  <a:lnTo>
                    <a:pt x="685800" y="657225"/>
                  </a:lnTo>
                  <a:lnTo>
                    <a:pt x="0" y="657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B755548-2B42-6FAD-612C-56BA732B5948}"/>
              </a:ext>
            </a:extLst>
          </p:cNvPr>
          <p:cNvGrpSpPr/>
          <p:nvPr/>
        </p:nvGrpSpPr>
        <p:grpSpPr>
          <a:xfrm>
            <a:off x="14026975" y="7365094"/>
            <a:ext cx="3314700" cy="1312875"/>
            <a:chOff x="14554200" y="7365094"/>
            <a:chExt cx="3314700" cy="1312875"/>
          </a:xfrm>
        </p:grpSpPr>
        <p:sp>
          <p:nvSpPr>
            <p:cNvPr id="70" name="Freeform 70"/>
            <p:cNvSpPr/>
            <p:nvPr/>
          </p:nvSpPr>
          <p:spPr>
            <a:xfrm>
              <a:off x="14554200" y="7365094"/>
              <a:ext cx="3149038" cy="1312875"/>
            </a:xfrm>
            <a:custGeom>
              <a:avLst/>
              <a:gdLst/>
              <a:ahLst/>
              <a:cxnLst/>
              <a:rect l="l" t="t" r="r" b="b"/>
              <a:pathLst>
                <a:path w="3149038" h="1312875">
                  <a:moveTo>
                    <a:pt x="0" y="0"/>
                  </a:moveTo>
                  <a:lnTo>
                    <a:pt x="3149038" y="0"/>
                  </a:lnTo>
                  <a:lnTo>
                    <a:pt x="3149038" y="1312875"/>
                  </a:lnTo>
                  <a:lnTo>
                    <a:pt x="0" y="1312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5459075" y="7720330"/>
              <a:ext cx="2409825" cy="742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27"/>
                </a:lnSpc>
                <a:spcBef>
                  <a:spcPct val="0"/>
                </a:spcBef>
              </a:pPr>
              <a:r>
                <a:rPr lang="en-US" sz="2439" b="1" u="none" strike="noStrike" dirty="0">
                  <a:solidFill>
                    <a:srgbClr val="0000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Redis </a:t>
              </a:r>
            </a:p>
            <a:p>
              <a:pPr marL="0" lvl="0" indent="0" algn="l">
                <a:lnSpc>
                  <a:spcPts val="2927"/>
                </a:lnSpc>
                <a:spcBef>
                  <a:spcPct val="0"/>
                </a:spcBef>
              </a:pPr>
              <a:r>
                <a:rPr lang="en-US" sz="2439" b="1" u="none" strike="noStrike" dirty="0">
                  <a:solidFill>
                    <a:srgbClr val="00004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Cache</a:t>
              </a:r>
            </a:p>
          </p:txBody>
        </p:sp>
        <p:sp>
          <p:nvSpPr>
            <p:cNvPr id="72" name="Freeform 72"/>
            <p:cNvSpPr/>
            <p:nvPr/>
          </p:nvSpPr>
          <p:spPr>
            <a:xfrm>
              <a:off x="14639925" y="7769250"/>
              <a:ext cx="685800" cy="657225"/>
            </a:xfrm>
            <a:custGeom>
              <a:avLst/>
              <a:gdLst/>
              <a:ahLst/>
              <a:cxnLst/>
              <a:rect l="l" t="t" r="r" b="b"/>
              <a:pathLst>
                <a:path w="685800" h="657225">
                  <a:moveTo>
                    <a:pt x="0" y="0"/>
                  </a:moveTo>
                  <a:lnTo>
                    <a:pt x="685800" y="0"/>
                  </a:lnTo>
                  <a:lnTo>
                    <a:pt x="685800" y="657225"/>
                  </a:lnTo>
                  <a:lnTo>
                    <a:pt x="0" y="657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3" name="TextBox 73"/>
          <p:cNvSpPr txBox="1"/>
          <p:nvPr/>
        </p:nvSpPr>
        <p:spPr>
          <a:xfrm rot="5400000">
            <a:off x="3318017" y="7268328"/>
            <a:ext cx="222874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6D28D9"/>
                </a:solidFill>
                <a:latin typeface="HK Grotesk"/>
                <a:ea typeface="HK Grotesk"/>
                <a:cs typeface="HK Grotesk"/>
                <a:sym typeface="HK Grotesk"/>
              </a:rPr>
              <a:t>Stream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70917" y="4008756"/>
            <a:ext cx="4399065" cy="1974339"/>
            <a:chOff x="0" y="0"/>
            <a:chExt cx="905157" cy="4062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5157" cy="406243"/>
            </a:xfrm>
            <a:custGeom>
              <a:avLst/>
              <a:gdLst/>
              <a:ahLst/>
              <a:cxnLst/>
              <a:rect l="l" t="t" r="r" b="b"/>
              <a:pathLst>
                <a:path w="905157" h="406243">
                  <a:moveTo>
                    <a:pt x="90745" y="0"/>
                  </a:moveTo>
                  <a:lnTo>
                    <a:pt x="814412" y="0"/>
                  </a:lnTo>
                  <a:cubicBezTo>
                    <a:pt x="864530" y="0"/>
                    <a:pt x="905157" y="40628"/>
                    <a:pt x="905157" y="90745"/>
                  </a:cubicBezTo>
                  <a:lnTo>
                    <a:pt x="905157" y="315498"/>
                  </a:lnTo>
                  <a:cubicBezTo>
                    <a:pt x="905157" y="365615"/>
                    <a:pt x="864530" y="406243"/>
                    <a:pt x="814412" y="406243"/>
                  </a:cubicBezTo>
                  <a:lnTo>
                    <a:pt x="90745" y="406243"/>
                  </a:lnTo>
                  <a:cubicBezTo>
                    <a:pt x="40628" y="406243"/>
                    <a:pt x="0" y="365615"/>
                    <a:pt x="0" y="315498"/>
                  </a:cubicBezTo>
                  <a:lnTo>
                    <a:pt x="0" y="90745"/>
                  </a:lnTo>
                  <a:cubicBezTo>
                    <a:pt x="0" y="40628"/>
                    <a:pt x="40628" y="0"/>
                    <a:pt x="90745" y="0"/>
                  </a:cubicBezTo>
                  <a:close/>
                </a:path>
              </a:pathLst>
            </a:custGeom>
            <a:ln w="104775" cap="rnd">
              <a:solidFill>
                <a:srgbClr val="F43B9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76200"/>
              <a:ext cx="905157" cy="33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899"/>
                </a:lnSpc>
                <a:spcBef>
                  <a:spcPct val="0"/>
                </a:spcBef>
              </a:pPr>
              <a:r>
                <a:rPr lang="en-US" sz="3899" b="1" u="none" strike="noStrike">
                  <a:solidFill>
                    <a:srgbClr val="140E0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Audio </a:t>
              </a:r>
            </a:p>
            <a:p>
              <a:pPr marL="0" lvl="0" indent="0" algn="ctr">
                <a:lnSpc>
                  <a:spcPts val="3899"/>
                </a:lnSpc>
                <a:spcBef>
                  <a:spcPct val="0"/>
                </a:spcBef>
              </a:pPr>
              <a:r>
                <a:rPr lang="en-US" sz="3899" b="1" u="none" strike="noStrike">
                  <a:solidFill>
                    <a:srgbClr val="140E0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Ingestion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3480202"/>
            <a:ext cx="1390797" cy="139079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3B94"/>
            </a:solidFill>
            <a:ln w="104775" cap="sq">
              <a:solidFill>
                <a:srgbClr val="E6408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53102" y="3702600"/>
            <a:ext cx="541992" cy="784075"/>
          </a:xfrm>
          <a:custGeom>
            <a:avLst/>
            <a:gdLst/>
            <a:ahLst/>
            <a:cxnLst/>
            <a:rect l="l" t="t" r="r" b="b"/>
            <a:pathLst>
              <a:path w="541992" h="784075">
                <a:moveTo>
                  <a:pt x="0" y="0"/>
                </a:moveTo>
                <a:lnTo>
                  <a:pt x="541992" y="0"/>
                </a:lnTo>
                <a:lnTo>
                  <a:pt x="541992" y="784075"/>
                </a:lnTo>
                <a:lnTo>
                  <a:pt x="0" y="7840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570917" y="7025173"/>
            <a:ext cx="4399065" cy="1974339"/>
            <a:chOff x="0" y="0"/>
            <a:chExt cx="905157" cy="40624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05157" cy="406243"/>
            </a:xfrm>
            <a:custGeom>
              <a:avLst/>
              <a:gdLst/>
              <a:ahLst/>
              <a:cxnLst/>
              <a:rect l="l" t="t" r="r" b="b"/>
              <a:pathLst>
                <a:path w="905157" h="406243">
                  <a:moveTo>
                    <a:pt x="90745" y="0"/>
                  </a:moveTo>
                  <a:lnTo>
                    <a:pt x="814412" y="0"/>
                  </a:lnTo>
                  <a:cubicBezTo>
                    <a:pt x="864530" y="0"/>
                    <a:pt x="905157" y="40628"/>
                    <a:pt x="905157" y="90745"/>
                  </a:cubicBezTo>
                  <a:lnTo>
                    <a:pt x="905157" y="315498"/>
                  </a:lnTo>
                  <a:cubicBezTo>
                    <a:pt x="905157" y="365615"/>
                    <a:pt x="864530" y="406243"/>
                    <a:pt x="814412" y="406243"/>
                  </a:cubicBezTo>
                  <a:lnTo>
                    <a:pt x="90745" y="406243"/>
                  </a:lnTo>
                  <a:cubicBezTo>
                    <a:pt x="40628" y="406243"/>
                    <a:pt x="0" y="365615"/>
                    <a:pt x="0" y="315498"/>
                  </a:cubicBezTo>
                  <a:lnTo>
                    <a:pt x="0" y="90745"/>
                  </a:lnTo>
                  <a:cubicBezTo>
                    <a:pt x="0" y="40628"/>
                    <a:pt x="40628" y="0"/>
                    <a:pt x="90745" y="0"/>
                  </a:cubicBezTo>
                  <a:close/>
                </a:path>
              </a:pathLst>
            </a:custGeom>
            <a:ln w="104775" cap="rnd">
              <a:solidFill>
                <a:srgbClr val="6D28D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6200"/>
              <a:ext cx="905157" cy="33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899"/>
                </a:lnSpc>
                <a:spcBef>
                  <a:spcPct val="0"/>
                </a:spcBef>
              </a:pPr>
              <a:r>
                <a:rPr lang="en-US" sz="3899" b="1">
                  <a:solidFill>
                    <a:srgbClr val="140E0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Tra</a:t>
              </a:r>
              <a:r>
                <a:rPr lang="en-US" sz="3899" b="1" u="none" strike="noStrike">
                  <a:solidFill>
                    <a:srgbClr val="140E0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nscription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6496619"/>
            <a:ext cx="1390797" cy="139079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28D9"/>
            </a:solidFill>
            <a:ln w="104775" cap="sq">
              <a:solidFill>
                <a:srgbClr val="6D28D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315538" y="6722388"/>
            <a:ext cx="798071" cy="920207"/>
          </a:xfrm>
          <a:custGeom>
            <a:avLst/>
            <a:gdLst/>
            <a:ahLst/>
            <a:cxnLst/>
            <a:rect l="l" t="t" r="r" b="b"/>
            <a:pathLst>
              <a:path w="798071" h="920207">
                <a:moveTo>
                  <a:pt x="0" y="0"/>
                </a:moveTo>
                <a:lnTo>
                  <a:pt x="798071" y="0"/>
                </a:lnTo>
                <a:lnTo>
                  <a:pt x="798071" y="920207"/>
                </a:lnTo>
                <a:lnTo>
                  <a:pt x="0" y="9202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7098463" y="5675707"/>
            <a:ext cx="4399065" cy="1974339"/>
            <a:chOff x="0" y="0"/>
            <a:chExt cx="905157" cy="40624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05157" cy="406243"/>
            </a:xfrm>
            <a:custGeom>
              <a:avLst/>
              <a:gdLst/>
              <a:ahLst/>
              <a:cxnLst/>
              <a:rect l="l" t="t" r="r" b="b"/>
              <a:pathLst>
                <a:path w="905157" h="406243">
                  <a:moveTo>
                    <a:pt x="90745" y="0"/>
                  </a:moveTo>
                  <a:lnTo>
                    <a:pt x="814412" y="0"/>
                  </a:lnTo>
                  <a:cubicBezTo>
                    <a:pt x="864530" y="0"/>
                    <a:pt x="905157" y="40628"/>
                    <a:pt x="905157" y="90745"/>
                  </a:cubicBezTo>
                  <a:lnTo>
                    <a:pt x="905157" y="315498"/>
                  </a:lnTo>
                  <a:cubicBezTo>
                    <a:pt x="905157" y="365615"/>
                    <a:pt x="864530" y="406243"/>
                    <a:pt x="814412" y="406243"/>
                  </a:cubicBezTo>
                  <a:lnTo>
                    <a:pt x="90745" y="406243"/>
                  </a:lnTo>
                  <a:cubicBezTo>
                    <a:pt x="40628" y="406243"/>
                    <a:pt x="0" y="365615"/>
                    <a:pt x="0" y="315498"/>
                  </a:cubicBezTo>
                  <a:lnTo>
                    <a:pt x="0" y="90745"/>
                  </a:lnTo>
                  <a:cubicBezTo>
                    <a:pt x="0" y="40628"/>
                    <a:pt x="40628" y="0"/>
                    <a:pt x="90745" y="0"/>
                  </a:cubicBezTo>
                  <a:close/>
                </a:path>
              </a:pathLst>
            </a:custGeom>
            <a:ln w="104775" cap="rnd">
              <a:solidFill>
                <a:srgbClr val="0891B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76200"/>
              <a:ext cx="905157" cy="33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99"/>
                </a:lnSpc>
              </a:pPr>
              <a:r>
                <a:rPr lang="en-US" sz="3899" b="1">
                  <a:solidFill>
                    <a:srgbClr val="140E0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Speaker</a:t>
              </a:r>
            </a:p>
            <a:p>
              <a:pPr marL="0" lvl="0" indent="0" algn="ctr">
                <a:lnSpc>
                  <a:spcPts val="3899"/>
                </a:lnSpc>
                <a:spcBef>
                  <a:spcPct val="0"/>
                </a:spcBef>
              </a:pPr>
              <a:r>
                <a:rPr lang="en-US" sz="3899" b="1">
                  <a:solidFill>
                    <a:srgbClr val="140E0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Dia</a:t>
              </a:r>
              <a:r>
                <a:rPr lang="en-US" sz="3899" b="1" u="none" strike="noStrike">
                  <a:solidFill>
                    <a:srgbClr val="140E0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rization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56246" y="5147153"/>
            <a:ext cx="1390797" cy="1390797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91B2"/>
            </a:solidFill>
            <a:ln w="104775" cap="sq">
              <a:solidFill>
                <a:srgbClr val="0891B2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403610" y="4231155"/>
            <a:ext cx="4399065" cy="1974339"/>
            <a:chOff x="0" y="0"/>
            <a:chExt cx="905157" cy="40624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05157" cy="406243"/>
            </a:xfrm>
            <a:custGeom>
              <a:avLst/>
              <a:gdLst/>
              <a:ahLst/>
              <a:cxnLst/>
              <a:rect l="l" t="t" r="r" b="b"/>
              <a:pathLst>
                <a:path w="905157" h="406243">
                  <a:moveTo>
                    <a:pt x="90745" y="0"/>
                  </a:moveTo>
                  <a:lnTo>
                    <a:pt x="814412" y="0"/>
                  </a:lnTo>
                  <a:cubicBezTo>
                    <a:pt x="864530" y="0"/>
                    <a:pt x="905157" y="40628"/>
                    <a:pt x="905157" y="90745"/>
                  </a:cubicBezTo>
                  <a:lnTo>
                    <a:pt x="905157" y="315498"/>
                  </a:lnTo>
                  <a:cubicBezTo>
                    <a:pt x="905157" y="365615"/>
                    <a:pt x="864530" y="406243"/>
                    <a:pt x="814412" y="406243"/>
                  </a:cubicBezTo>
                  <a:lnTo>
                    <a:pt x="90745" y="406243"/>
                  </a:lnTo>
                  <a:cubicBezTo>
                    <a:pt x="40628" y="406243"/>
                    <a:pt x="0" y="365615"/>
                    <a:pt x="0" y="315498"/>
                  </a:cubicBezTo>
                  <a:lnTo>
                    <a:pt x="0" y="90745"/>
                  </a:lnTo>
                  <a:cubicBezTo>
                    <a:pt x="0" y="40628"/>
                    <a:pt x="40628" y="0"/>
                    <a:pt x="90745" y="0"/>
                  </a:cubicBezTo>
                  <a:close/>
                </a:path>
              </a:pathLst>
            </a:custGeom>
            <a:ln w="104775" cap="rnd">
              <a:solidFill>
                <a:srgbClr val="D9770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76200"/>
              <a:ext cx="905157" cy="33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99"/>
                </a:lnSpc>
              </a:pPr>
              <a:r>
                <a:rPr lang="en-US" sz="3899" b="1">
                  <a:solidFill>
                    <a:srgbClr val="140E0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LLM </a:t>
              </a:r>
            </a:p>
            <a:p>
              <a:pPr marL="0" lvl="0" indent="0" algn="ctr">
                <a:lnSpc>
                  <a:spcPts val="3899"/>
                </a:lnSpc>
                <a:spcBef>
                  <a:spcPct val="0"/>
                </a:spcBef>
              </a:pPr>
              <a:r>
                <a:rPr lang="en-US" sz="3899" b="1">
                  <a:solidFill>
                    <a:srgbClr val="140E0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Ext</a:t>
              </a:r>
              <a:r>
                <a:rPr lang="en-US" sz="3899" b="1" u="none" strike="noStrike">
                  <a:solidFill>
                    <a:srgbClr val="140E0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raction 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861393" y="3702600"/>
            <a:ext cx="1390797" cy="1390797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7706"/>
            </a:solidFill>
            <a:ln w="104775" cap="sq">
              <a:solidFill>
                <a:srgbClr val="D9770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403610" y="7066504"/>
            <a:ext cx="4399065" cy="1974339"/>
            <a:chOff x="0" y="0"/>
            <a:chExt cx="905157" cy="40624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05157" cy="406243"/>
            </a:xfrm>
            <a:custGeom>
              <a:avLst/>
              <a:gdLst/>
              <a:ahLst/>
              <a:cxnLst/>
              <a:rect l="l" t="t" r="r" b="b"/>
              <a:pathLst>
                <a:path w="905157" h="406243">
                  <a:moveTo>
                    <a:pt x="90745" y="0"/>
                  </a:moveTo>
                  <a:lnTo>
                    <a:pt x="814412" y="0"/>
                  </a:lnTo>
                  <a:cubicBezTo>
                    <a:pt x="864530" y="0"/>
                    <a:pt x="905157" y="40628"/>
                    <a:pt x="905157" y="90745"/>
                  </a:cubicBezTo>
                  <a:lnTo>
                    <a:pt x="905157" y="315498"/>
                  </a:lnTo>
                  <a:cubicBezTo>
                    <a:pt x="905157" y="365615"/>
                    <a:pt x="864530" y="406243"/>
                    <a:pt x="814412" y="406243"/>
                  </a:cubicBezTo>
                  <a:lnTo>
                    <a:pt x="90745" y="406243"/>
                  </a:lnTo>
                  <a:cubicBezTo>
                    <a:pt x="40628" y="406243"/>
                    <a:pt x="0" y="365615"/>
                    <a:pt x="0" y="315498"/>
                  </a:cubicBezTo>
                  <a:lnTo>
                    <a:pt x="0" y="90745"/>
                  </a:lnTo>
                  <a:cubicBezTo>
                    <a:pt x="0" y="40628"/>
                    <a:pt x="40628" y="0"/>
                    <a:pt x="90745" y="0"/>
                  </a:cubicBezTo>
                  <a:close/>
                </a:path>
              </a:pathLst>
            </a:custGeom>
            <a:ln w="104775" cap="rnd">
              <a:solidFill>
                <a:srgbClr val="059669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76200"/>
              <a:ext cx="905157" cy="330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899"/>
                </a:lnSpc>
                <a:spcBef>
                  <a:spcPct val="0"/>
                </a:spcBef>
              </a:pPr>
              <a:r>
                <a:rPr lang="en-US" sz="3899" b="1">
                  <a:solidFill>
                    <a:srgbClr val="140E0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Pe</a:t>
              </a:r>
              <a:r>
                <a:rPr lang="en-US" sz="3899" b="1" u="none" strike="noStrike">
                  <a:solidFill>
                    <a:srgbClr val="140E0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rsistence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861393" y="6537949"/>
            <a:ext cx="1390797" cy="1390797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9669"/>
            </a:solidFill>
            <a:ln w="104775" cap="sq">
              <a:solidFill>
                <a:srgbClr val="05966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2144375" y="3932594"/>
            <a:ext cx="800100" cy="923925"/>
          </a:xfrm>
          <a:custGeom>
            <a:avLst/>
            <a:gdLst/>
            <a:ahLst/>
            <a:cxnLst/>
            <a:rect l="l" t="t" r="r" b="b"/>
            <a:pathLst>
              <a:path w="800100" h="923925">
                <a:moveTo>
                  <a:pt x="0" y="0"/>
                </a:moveTo>
                <a:lnTo>
                  <a:pt x="800100" y="0"/>
                </a:lnTo>
                <a:lnTo>
                  <a:pt x="800100" y="923925"/>
                </a:lnTo>
                <a:lnTo>
                  <a:pt x="0" y="9239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6750840" y="5595279"/>
            <a:ext cx="1001609" cy="494545"/>
          </a:xfrm>
          <a:custGeom>
            <a:avLst/>
            <a:gdLst/>
            <a:ahLst/>
            <a:cxnLst/>
            <a:rect l="l" t="t" r="r" b="b"/>
            <a:pathLst>
              <a:path w="1001609" h="494545">
                <a:moveTo>
                  <a:pt x="0" y="0"/>
                </a:moveTo>
                <a:lnTo>
                  <a:pt x="1001609" y="0"/>
                </a:lnTo>
                <a:lnTo>
                  <a:pt x="1001609" y="494544"/>
                </a:lnTo>
                <a:lnTo>
                  <a:pt x="0" y="494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12061143" y="3883996"/>
            <a:ext cx="991297" cy="1008954"/>
          </a:xfrm>
          <a:custGeom>
            <a:avLst/>
            <a:gdLst/>
            <a:ahLst/>
            <a:cxnLst/>
            <a:rect l="l" t="t" r="r" b="b"/>
            <a:pathLst>
              <a:path w="991297" h="1008954">
                <a:moveTo>
                  <a:pt x="0" y="0"/>
                </a:moveTo>
                <a:lnTo>
                  <a:pt x="991297" y="0"/>
                </a:lnTo>
                <a:lnTo>
                  <a:pt x="991297" y="1008954"/>
                </a:lnTo>
                <a:lnTo>
                  <a:pt x="0" y="10089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12187327" y="6853193"/>
            <a:ext cx="714196" cy="894142"/>
          </a:xfrm>
          <a:custGeom>
            <a:avLst/>
            <a:gdLst/>
            <a:ahLst/>
            <a:cxnLst/>
            <a:rect l="l" t="t" r="r" b="b"/>
            <a:pathLst>
              <a:path w="714196" h="894142">
                <a:moveTo>
                  <a:pt x="0" y="0"/>
                </a:moveTo>
                <a:lnTo>
                  <a:pt x="714196" y="0"/>
                </a:lnTo>
                <a:lnTo>
                  <a:pt x="714196" y="894143"/>
                </a:lnTo>
                <a:lnTo>
                  <a:pt x="0" y="8941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 rot="4755540" flipV="1">
            <a:off x="671529" y="5642948"/>
            <a:ext cx="1010809" cy="610276"/>
          </a:xfrm>
          <a:custGeom>
            <a:avLst/>
            <a:gdLst/>
            <a:ahLst/>
            <a:cxnLst/>
            <a:rect l="l" t="t" r="r" b="b"/>
            <a:pathLst>
              <a:path w="1010809" h="610276">
                <a:moveTo>
                  <a:pt x="0" y="610276"/>
                </a:moveTo>
                <a:lnTo>
                  <a:pt x="1010809" y="610276"/>
                </a:lnTo>
                <a:lnTo>
                  <a:pt x="1010809" y="0"/>
                </a:lnTo>
                <a:lnTo>
                  <a:pt x="0" y="0"/>
                </a:lnTo>
                <a:lnTo>
                  <a:pt x="0" y="61027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6192382" y="2443876"/>
            <a:ext cx="10610294" cy="1017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440"/>
              </a:lnSpc>
              <a:spcBef>
                <a:spcPct val="0"/>
              </a:spcBef>
            </a:pPr>
            <a:r>
              <a:rPr lang="en-US" sz="8000" spc="-16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From Audio to Insight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28700" y="2443876"/>
            <a:ext cx="7082219" cy="1017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0"/>
              </a:lnSpc>
              <a:spcBef>
                <a:spcPct val="0"/>
              </a:spcBef>
            </a:pPr>
            <a:r>
              <a:rPr lang="en-US" sz="8000" b="1" spc="-160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 Flow:</a:t>
            </a:r>
          </a:p>
        </p:txBody>
      </p:sp>
      <p:sp>
        <p:nvSpPr>
          <p:cNvPr id="41" name="Freeform 41"/>
          <p:cNvSpPr/>
          <p:nvPr/>
        </p:nvSpPr>
        <p:spPr>
          <a:xfrm rot="-2941381" flipV="1">
            <a:off x="6107992" y="7375523"/>
            <a:ext cx="1010809" cy="610276"/>
          </a:xfrm>
          <a:custGeom>
            <a:avLst/>
            <a:gdLst/>
            <a:ahLst/>
            <a:cxnLst/>
            <a:rect l="l" t="t" r="r" b="b"/>
            <a:pathLst>
              <a:path w="1010809" h="610276">
                <a:moveTo>
                  <a:pt x="0" y="610276"/>
                </a:moveTo>
                <a:lnTo>
                  <a:pt x="1010808" y="610276"/>
                </a:lnTo>
                <a:lnTo>
                  <a:pt x="1010808" y="0"/>
                </a:lnTo>
                <a:lnTo>
                  <a:pt x="0" y="0"/>
                </a:lnTo>
                <a:lnTo>
                  <a:pt x="0" y="61027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Freeform 42"/>
          <p:cNvSpPr/>
          <p:nvPr/>
        </p:nvSpPr>
        <p:spPr>
          <a:xfrm rot="-1001954">
            <a:off x="10784218" y="4852645"/>
            <a:ext cx="1010809" cy="610276"/>
          </a:xfrm>
          <a:custGeom>
            <a:avLst/>
            <a:gdLst/>
            <a:ahLst/>
            <a:cxnLst/>
            <a:rect l="l" t="t" r="r" b="b"/>
            <a:pathLst>
              <a:path w="1010809" h="610276">
                <a:moveTo>
                  <a:pt x="0" y="0"/>
                </a:moveTo>
                <a:lnTo>
                  <a:pt x="1010809" y="0"/>
                </a:lnTo>
                <a:lnTo>
                  <a:pt x="1010809" y="610276"/>
                </a:lnTo>
                <a:lnTo>
                  <a:pt x="0" y="6102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Freeform 43"/>
          <p:cNvSpPr/>
          <p:nvPr/>
        </p:nvSpPr>
        <p:spPr>
          <a:xfrm rot="5039692" flipV="1">
            <a:off x="11638971" y="5823185"/>
            <a:ext cx="1010809" cy="610276"/>
          </a:xfrm>
          <a:custGeom>
            <a:avLst/>
            <a:gdLst/>
            <a:ahLst/>
            <a:cxnLst/>
            <a:rect l="l" t="t" r="r" b="b"/>
            <a:pathLst>
              <a:path w="1010809" h="610276">
                <a:moveTo>
                  <a:pt x="0" y="610276"/>
                </a:moveTo>
                <a:lnTo>
                  <a:pt x="1010808" y="610276"/>
                </a:lnTo>
                <a:lnTo>
                  <a:pt x="1010808" y="0"/>
                </a:lnTo>
                <a:lnTo>
                  <a:pt x="0" y="0"/>
                </a:lnTo>
                <a:lnTo>
                  <a:pt x="0" y="61027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AutoShape 44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 45"/>
          <p:cNvSpPr txBox="1"/>
          <p:nvPr/>
        </p:nvSpPr>
        <p:spPr>
          <a:xfrm>
            <a:off x="1736123" y="623632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3.2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909082" y="493142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Data flow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System Architecture</a:t>
            </a:r>
          </a:p>
        </p:txBody>
      </p:sp>
      <p:sp>
        <p:nvSpPr>
          <p:cNvPr id="49" name="Freeform 49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4543425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028700" y="6153150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7762875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028700" y="9372600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229983" y="4212439"/>
            <a:ext cx="5029317" cy="5029317"/>
          </a:xfrm>
          <a:custGeom>
            <a:avLst/>
            <a:gdLst/>
            <a:ahLst/>
            <a:cxnLst/>
            <a:rect l="l" t="t" r="r" b="b"/>
            <a:pathLst>
              <a:path w="5029317" h="5029317">
                <a:moveTo>
                  <a:pt x="0" y="0"/>
                </a:moveTo>
                <a:lnTo>
                  <a:pt x="5029317" y="0"/>
                </a:lnTo>
                <a:lnTo>
                  <a:pt x="5029317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3.3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ASR Model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25059" y="2349776"/>
            <a:ext cx="7179242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Groq Whisper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349776"/>
            <a:ext cx="5896359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ASR Model: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924300"/>
            <a:ext cx="9148381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Utilizes the whisper-large-v3-turbo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534025"/>
            <a:ext cx="7424217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Low latency in text transcription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7143750"/>
            <a:ext cx="779728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Generates accurate timestamps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System Architecture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8753475"/>
            <a:ext cx="779728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Handles Voice Activity Detection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028700" y="9372600"/>
            <a:ext cx="988038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Automatically distinguishes between active speech and background silence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7762875"/>
            <a:ext cx="820102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Precisely records the exact moment each word is spoken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6153150"/>
            <a:ext cx="1034655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Converts speech to text with minimal delay to ensure real-time performance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4543425"/>
            <a:ext cx="948598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Uses </a:t>
            </a: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Groq's high-speed Whisper model for accurate speech recognition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5815062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V="1">
            <a:off x="1028700" y="7183374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1028700" y="8566755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546018" y="4019988"/>
            <a:ext cx="6713282" cy="5238312"/>
          </a:xfrm>
          <a:custGeom>
            <a:avLst/>
            <a:gdLst/>
            <a:ahLst/>
            <a:cxnLst/>
            <a:rect l="l" t="t" r="r" b="b"/>
            <a:pathLst>
              <a:path w="6713282" h="5238312">
                <a:moveTo>
                  <a:pt x="0" y="0"/>
                </a:moveTo>
                <a:lnTo>
                  <a:pt x="6713282" y="0"/>
                </a:lnTo>
                <a:lnTo>
                  <a:pt x="6713282" y="5238312"/>
                </a:lnTo>
                <a:lnTo>
                  <a:pt x="0" y="523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3.4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Diarization Model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620372"/>
            <a:ext cx="10350436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SpeechBrain ECAPA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349776"/>
            <a:ext cx="8767295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Diarization Model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4960856"/>
            <a:ext cx="9148381" cy="895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9"/>
              </a:lnSpc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Utilizes speechbrain/spkrec-ecapa-voxceleb model (ECAPA-TDNN)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6562944"/>
            <a:ext cx="988038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Tracking the enrolled user versus other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844154"/>
            <a:ext cx="988038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Employs ECAPA-TDNN neural network specialized for voice recognition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7946326"/>
            <a:ext cx="8767295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The model is lightweight and loads lazily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7192789"/>
            <a:ext cx="915352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Differentiates your specific voice from other participants in the room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8543762"/>
            <a:ext cx="1120157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Designed for efficiency without consuming excessive resources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System Architecture</a:t>
            </a:r>
          </a:p>
        </p:txBody>
      </p:sp>
      <p:sp>
        <p:nvSpPr>
          <p:cNvPr id="19" name="Freeform 19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6033627"/>
            <a:ext cx="7699190" cy="41143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028700" y="8530167"/>
            <a:ext cx="8017566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377021" y="2357543"/>
            <a:ext cx="8910979" cy="4748411"/>
          </a:xfrm>
          <a:custGeom>
            <a:avLst/>
            <a:gdLst/>
            <a:ahLst/>
            <a:cxnLst/>
            <a:rect l="l" t="t" r="r" b="b"/>
            <a:pathLst>
              <a:path w="8910979" h="4748411">
                <a:moveTo>
                  <a:pt x="0" y="0"/>
                </a:moveTo>
                <a:lnTo>
                  <a:pt x="8910979" y="0"/>
                </a:lnTo>
                <a:lnTo>
                  <a:pt x="8910979" y="4748411"/>
                </a:lnTo>
                <a:lnTo>
                  <a:pt x="0" y="47484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44" t="-12772" r="-8278" b="-13783"/>
            </a:stretch>
          </a:blipFill>
          <a:ln w="19050" cap="rnd">
            <a:solidFill>
              <a:srgbClr val="CFEBEB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9521416" y="7315504"/>
            <a:ext cx="8308746" cy="1854018"/>
          </a:xfrm>
          <a:custGeom>
            <a:avLst/>
            <a:gdLst/>
            <a:ahLst/>
            <a:cxnLst/>
            <a:rect l="l" t="t" r="r" b="b"/>
            <a:pathLst>
              <a:path w="8308746" h="1854018">
                <a:moveTo>
                  <a:pt x="0" y="0"/>
                </a:moveTo>
                <a:lnTo>
                  <a:pt x="8308746" y="0"/>
                </a:lnTo>
                <a:lnTo>
                  <a:pt x="8308746" y="1854017"/>
                </a:lnTo>
                <a:lnTo>
                  <a:pt x="0" y="1854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8" t="-1035" r="-7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3.5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Diarization Model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620372"/>
            <a:ext cx="10350436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Vector Matching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349776"/>
            <a:ext cx="8492716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Diarization Logic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5179422"/>
            <a:ext cx="8017566" cy="895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9"/>
              </a:lnSpc>
            </a:pPr>
            <a:r>
              <a:rPr lang="en-US" sz="3599" dirty="0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Converts the user's enrolled voice sample to192-dimensional embedding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8225" y="7634818"/>
            <a:ext cx="8105775" cy="895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19"/>
              </a:lnSpc>
              <a:spcBef>
                <a:spcPct val="0"/>
              </a:spcBef>
            </a:pPr>
            <a:r>
              <a:rPr lang="en-US" sz="3599" dirty="0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</a:t>
            </a:r>
            <a:r>
              <a:rPr lang="en-US" sz="3599" u="none" strike="noStrike" dirty="0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udio chunks are matched against voice print using </a:t>
            </a:r>
            <a:r>
              <a:rPr lang="en-US" sz="3599" u="none" strike="noStrike" dirty="0" err="1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pgvector's</a:t>
            </a:r>
            <a:r>
              <a:rPr lang="en-US" sz="3599" u="none" strike="noStrike" dirty="0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cosine distance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System Architecture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038225" y="6033626"/>
            <a:ext cx="8213036" cy="419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Transforms your voiceprint into a dense mathematical vector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73839" y="8496300"/>
            <a:ext cx="8222561" cy="419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Transforms your voiceprint into a dense mathematical vector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4518740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V="1">
            <a:off x="1028700" y="5943797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7365833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028700" y="8802907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821471" y="5399567"/>
            <a:ext cx="4565659" cy="4114800"/>
          </a:xfrm>
          <a:custGeom>
            <a:avLst/>
            <a:gdLst/>
            <a:ahLst/>
            <a:cxnLst/>
            <a:rect l="l" t="t" r="r" b="b"/>
            <a:pathLst>
              <a:path w="4565659" h="4114800">
                <a:moveTo>
                  <a:pt x="0" y="0"/>
                </a:moveTo>
                <a:lnTo>
                  <a:pt x="4565659" y="0"/>
                </a:lnTo>
                <a:lnTo>
                  <a:pt x="45656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3.6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Embedding Model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14680" y="2349776"/>
            <a:ext cx="7179242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all-MiniLM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349776"/>
            <a:ext cx="9485980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Embedding Model: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898310"/>
            <a:ext cx="9148381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Uses the all-MiniLM-L6-v2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323367"/>
            <a:ext cx="879433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Converts text into 384-dimensional vectors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6745403"/>
            <a:ext cx="779728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Operates locally on CPU resources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System Architecture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8172952"/>
            <a:ext cx="779728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Handles Voice Activity Detection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4480443"/>
            <a:ext cx="988038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Employs efficient transformer model for creating text embeddings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5901488"/>
            <a:ext cx="1060355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Transforms transcriptions into mathematical formats for semantic searchability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7329037"/>
            <a:ext cx="988038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Runs directly on standard processors without requiring a dedicated GPU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8755282"/>
            <a:ext cx="1079277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Assists in processing audio activity directly alongside the embeddings pipeline</a:t>
            </a:r>
          </a:p>
        </p:txBody>
      </p:sp>
      <p:sp>
        <p:nvSpPr>
          <p:cNvPr id="22" name="Freeform 22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1028700" y="4529184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028700" y="5973174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7436214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762147" y="444155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3.7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LLM Routing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08500" y="2363109"/>
            <a:ext cx="11407565" cy="105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19"/>
              </a:lnSpc>
              <a:spcBef>
                <a:spcPct val="0"/>
              </a:spcBef>
            </a:pPr>
            <a:r>
              <a:rPr lang="en-US" sz="8300" spc="-16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Fast vs. Deep Inference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349776"/>
            <a:ext cx="9485980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LLM Routing: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3900534"/>
            <a:ext cx="9148381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Fast Tier Execution using Llama 3.1 8B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5344524"/>
            <a:ext cx="879433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Deep Tier Reasoning using Llama 3.3 70B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6807564"/>
            <a:ext cx="779728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Reliability multi-provider Architecture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System Architecture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028700" y="7407639"/>
            <a:ext cx="1080135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Implements fallback mechanisms across providers to ensure zero downtime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5944599"/>
            <a:ext cx="988695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Uses a complex, heavy model for in-depth Consultant Q&amp;A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4500609"/>
            <a:ext cx="988695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Uses a lightweight model for instant, low-latency Wingman advice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3.8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Database Architecture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8827" y="2349776"/>
            <a:ext cx="10087240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Architecture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349776"/>
            <a:ext cx="9485980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Database: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System Architecture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4000500"/>
            <a:ext cx="5219700" cy="5143500"/>
            <a:chOff x="0" y="0"/>
            <a:chExt cx="6959600" cy="6858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59600" cy="6858000"/>
            </a:xfrm>
            <a:custGeom>
              <a:avLst/>
              <a:gdLst/>
              <a:ahLst/>
              <a:cxnLst/>
              <a:rect l="l" t="t" r="r" b="b"/>
              <a:pathLst>
                <a:path w="6959600" h="6858000">
                  <a:moveTo>
                    <a:pt x="685800" y="0"/>
                  </a:moveTo>
                  <a:lnTo>
                    <a:pt x="6273800" y="0"/>
                  </a:lnTo>
                  <a:cubicBezTo>
                    <a:pt x="6652557" y="0"/>
                    <a:pt x="6959600" y="307043"/>
                    <a:pt x="6959600" y="685800"/>
                  </a:cubicBezTo>
                  <a:lnTo>
                    <a:pt x="6959600" y="6172200"/>
                  </a:lnTo>
                  <a:cubicBezTo>
                    <a:pt x="6959600" y="6550957"/>
                    <a:pt x="6652557" y="6858000"/>
                    <a:pt x="6273800" y="6858000"/>
                  </a:cubicBezTo>
                  <a:lnTo>
                    <a:pt x="685800" y="6858000"/>
                  </a:lnTo>
                  <a:cubicBezTo>
                    <a:pt x="307043" y="6858000"/>
                    <a:pt x="0" y="6550957"/>
                    <a:pt x="0" y="6172200"/>
                  </a:cubicBezTo>
                  <a:lnTo>
                    <a:pt x="0" y="685800"/>
                  </a:lnTo>
                  <a:cubicBezTo>
                    <a:pt x="0" y="307043"/>
                    <a:pt x="307043" y="0"/>
                    <a:pt x="685800" y="0"/>
                  </a:cubicBezTo>
                  <a:close/>
                </a:path>
              </a:pathLst>
            </a:custGeom>
            <a:solidFill>
              <a:srgbClr val="F3EDFF"/>
            </a:solidFill>
            <a:ln w="19050" cap="sq">
              <a:solidFill>
                <a:srgbClr val="8A3A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959600" cy="689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14450" y="4114800"/>
            <a:ext cx="464820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Session Logs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4450" y="5133975"/>
            <a:ext cx="4648200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Purpose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4450" y="5524500"/>
            <a:ext cx="4648200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333333"/>
                </a:solidFill>
                <a:latin typeface="HK Grotesk"/>
                <a:ea typeface="HK Grotesk"/>
                <a:cs typeface="HK Grotesk"/>
                <a:sym typeface="HK Grotesk"/>
              </a:rPr>
              <a:t>Turn-by-turn conversational record.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4450" y="6648450"/>
            <a:ext cx="4648200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Fields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4450" y="6991350"/>
            <a:ext cx="4648200" cy="148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333333"/>
                </a:solidFill>
                <a:latin typeface="HK Grotesk"/>
                <a:ea typeface="HK Grotesk"/>
                <a:cs typeface="HK Grotesk"/>
                <a:sym typeface="HK Grotesk"/>
              </a:rPr>
              <a:t>Speaker identity, diarization labels, transcript confidence, inline sentiment scores.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534150" y="4000500"/>
            <a:ext cx="5219700" cy="5143500"/>
            <a:chOff x="0" y="0"/>
            <a:chExt cx="6959600" cy="6858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59600" cy="6858000"/>
            </a:xfrm>
            <a:custGeom>
              <a:avLst/>
              <a:gdLst/>
              <a:ahLst/>
              <a:cxnLst/>
              <a:rect l="l" t="t" r="r" b="b"/>
              <a:pathLst>
                <a:path w="6959600" h="6858000">
                  <a:moveTo>
                    <a:pt x="685800" y="0"/>
                  </a:moveTo>
                  <a:lnTo>
                    <a:pt x="6273800" y="0"/>
                  </a:lnTo>
                  <a:cubicBezTo>
                    <a:pt x="6652557" y="0"/>
                    <a:pt x="6959600" y="307043"/>
                    <a:pt x="6959600" y="685800"/>
                  </a:cubicBezTo>
                  <a:lnTo>
                    <a:pt x="6959600" y="6172200"/>
                  </a:lnTo>
                  <a:cubicBezTo>
                    <a:pt x="6959600" y="6550957"/>
                    <a:pt x="6652557" y="6858000"/>
                    <a:pt x="6273800" y="6858000"/>
                  </a:cubicBezTo>
                  <a:lnTo>
                    <a:pt x="685800" y="6858000"/>
                  </a:lnTo>
                  <a:cubicBezTo>
                    <a:pt x="307043" y="6858000"/>
                    <a:pt x="0" y="6550957"/>
                    <a:pt x="0" y="6172200"/>
                  </a:cubicBezTo>
                  <a:lnTo>
                    <a:pt x="0" y="685800"/>
                  </a:lnTo>
                  <a:cubicBezTo>
                    <a:pt x="0" y="307043"/>
                    <a:pt x="307043" y="0"/>
                    <a:pt x="685800" y="0"/>
                  </a:cubicBezTo>
                  <a:close/>
                </a:path>
              </a:pathLst>
            </a:custGeom>
            <a:solidFill>
              <a:srgbClr val="F3EDFF"/>
            </a:solidFill>
            <a:ln w="19050" cap="sq">
              <a:solidFill>
                <a:srgbClr val="8A3A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6959600" cy="689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819900" y="4114800"/>
            <a:ext cx="464820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Vector Memory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19900" y="5133975"/>
            <a:ext cx="4648200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Purpose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19900" y="5524500"/>
            <a:ext cx="4648200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333333"/>
                </a:solidFill>
                <a:latin typeface="HK Grotesk"/>
                <a:ea typeface="HK Grotesk"/>
                <a:cs typeface="HK Grotesk"/>
                <a:sym typeface="HK Grotesk"/>
              </a:rPr>
              <a:t>Long-term semantic memory store.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19900" y="6648450"/>
            <a:ext cx="4648200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Fields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819900" y="6991350"/>
            <a:ext cx="4648200" cy="148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333333"/>
                </a:solidFill>
                <a:latin typeface="HK Grotesk"/>
                <a:ea typeface="HK Grotesk"/>
                <a:cs typeface="HK Grotesk"/>
                <a:sym typeface="HK Grotesk"/>
              </a:rPr>
              <a:t>384-dim pgvector for cosine similarity search, importance weights, confidence tags.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2039600" y="4000500"/>
            <a:ext cx="5219700" cy="5143500"/>
            <a:chOff x="0" y="0"/>
            <a:chExt cx="6959600" cy="6858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959600" cy="6858000"/>
            </a:xfrm>
            <a:custGeom>
              <a:avLst/>
              <a:gdLst/>
              <a:ahLst/>
              <a:cxnLst/>
              <a:rect l="l" t="t" r="r" b="b"/>
              <a:pathLst>
                <a:path w="6959600" h="6858000">
                  <a:moveTo>
                    <a:pt x="685800" y="0"/>
                  </a:moveTo>
                  <a:lnTo>
                    <a:pt x="6273800" y="0"/>
                  </a:lnTo>
                  <a:cubicBezTo>
                    <a:pt x="6652557" y="0"/>
                    <a:pt x="6959600" y="307043"/>
                    <a:pt x="6959600" y="685800"/>
                  </a:cubicBezTo>
                  <a:lnTo>
                    <a:pt x="6959600" y="6172200"/>
                  </a:lnTo>
                  <a:cubicBezTo>
                    <a:pt x="6959600" y="6550957"/>
                    <a:pt x="6652557" y="6858000"/>
                    <a:pt x="6273800" y="6858000"/>
                  </a:cubicBezTo>
                  <a:lnTo>
                    <a:pt x="685800" y="6858000"/>
                  </a:lnTo>
                  <a:cubicBezTo>
                    <a:pt x="307043" y="6858000"/>
                    <a:pt x="0" y="6550957"/>
                    <a:pt x="0" y="6172200"/>
                  </a:cubicBezTo>
                  <a:lnTo>
                    <a:pt x="0" y="685800"/>
                  </a:lnTo>
                  <a:cubicBezTo>
                    <a:pt x="0" y="307043"/>
                    <a:pt x="307043" y="0"/>
                    <a:pt x="685800" y="0"/>
                  </a:cubicBezTo>
                  <a:close/>
                </a:path>
              </a:pathLst>
            </a:custGeom>
            <a:solidFill>
              <a:srgbClr val="F3EDFF"/>
            </a:solidFill>
            <a:ln w="19050" cap="sq">
              <a:solidFill>
                <a:srgbClr val="8A3A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6959600" cy="689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325350" y="4114800"/>
            <a:ext cx="4648200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3600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Graph Storage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25350" y="5133975"/>
            <a:ext cx="4648200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Purpose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25350" y="5524500"/>
            <a:ext cx="4648200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333333"/>
                </a:solidFill>
                <a:latin typeface="HK Grotesk"/>
                <a:ea typeface="HK Grotesk"/>
                <a:cs typeface="HK Grotesk"/>
                <a:sym typeface="HK Grotesk"/>
              </a:rPr>
              <a:t>Relational mapping and factual context.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325350" y="6648450"/>
            <a:ext cx="4648200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Fields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325350" y="6991350"/>
            <a:ext cx="4648200" cy="148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333333"/>
                </a:solidFill>
                <a:latin typeface="HK Grotesk"/>
                <a:ea typeface="HK Grotesk"/>
                <a:cs typeface="HK Grotesk"/>
                <a:sym typeface="HK Grotesk"/>
              </a:rPr>
              <a:t>Canonical names (nodes), relationship strength (edges), specific factual details.</a:t>
            </a:r>
          </a:p>
        </p:txBody>
      </p:sp>
      <p:sp>
        <p:nvSpPr>
          <p:cNvPr id="33" name="Freeform 33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D1F6F-D369-00E3-6411-C6BA99C36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7A245D9-A498-4548-3551-06F4EBDF88CE}"/>
              </a:ext>
            </a:extLst>
          </p:cNvPr>
          <p:cNvSpPr/>
          <p:nvPr/>
        </p:nvSpPr>
        <p:spPr>
          <a:xfrm>
            <a:off x="1028700" y="38969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21B2049-83F4-277F-7761-6AAE97FCA583}"/>
              </a:ext>
            </a:extLst>
          </p:cNvPr>
          <p:cNvSpPr/>
          <p:nvPr/>
        </p:nvSpPr>
        <p:spPr>
          <a:xfrm>
            <a:off x="1028700" y="533649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0ED07125-2303-B316-DAF1-8DBEAF0E6821}"/>
              </a:ext>
            </a:extLst>
          </p:cNvPr>
          <p:cNvSpPr/>
          <p:nvPr/>
        </p:nvSpPr>
        <p:spPr>
          <a:xfrm>
            <a:off x="10303079" y="38969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BF3CA31A-F362-80FA-2478-CFC5919148DF}"/>
              </a:ext>
            </a:extLst>
          </p:cNvPr>
          <p:cNvSpPr/>
          <p:nvPr/>
        </p:nvSpPr>
        <p:spPr>
          <a:xfrm>
            <a:off x="10303079" y="533649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4C0394D-0920-82AD-6B4E-924F244A9876}"/>
              </a:ext>
            </a:extLst>
          </p:cNvPr>
          <p:cNvSpPr txBox="1"/>
          <p:nvPr/>
        </p:nvSpPr>
        <p:spPr>
          <a:xfrm>
            <a:off x="1028700" y="990884"/>
            <a:ext cx="6462096" cy="1311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71"/>
              </a:lnSpc>
            </a:pPr>
            <a:r>
              <a:rPr lang="en-US" sz="11323" b="1" spc="-679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Content.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C133AB0-DFDF-131F-81C8-E0DC4A601DD5}"/>
              </a:ext>
            </a:extLst>
          </p:cNvPr>
          <p:cNvSpPr txBox="1"/>
          <p:nvPr/>
        </p:nvSpPr>
        <p:spPr>
          <a:xfrm>
            <a:off x="2396992" y="3082626"/>
            <a:ext cx="2180301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Introduction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&amp; Importance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AD2F921-593D-AD86-ACD3-C1692247DF1F}"/>
              </a:ext>
            </a:extLst>
          </p:cNvPr>
          <p:cNvSpPr txBox="1"/>
          <p:nvPr/>
        </p:nvSpPr>
        <p:spPr>
          <a:xfrm>
            <a:off x="2396992" y="4522176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 Features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396EEB9-D372-3AD8-81DE-C944A04AEE06}"/>
              </a:ext>
            </a:extLst>
          </p:cNvPr>
          <p:cNvSpPr txBox="1"/>
          <p:nvPr/>
        </p:nvSpPr>
        <p:spPr>
          <a:xfrm>
            <a:off x="11667638" y="4522176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Results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&amp; Analysis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9D178A3-FAA4-5179-5475-D92087DC3F66}"/>
              </a:ext>
            </a:extLst>
          </p:cNvPr>
          <p:cNvSpPr txBox="1"/>
          <p:nvPr/>
        </p:nvSpPr>
        <p:spPr>
          <a:xfrm>
            <a:off x="11667638" y="5933589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Futu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Work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B310303-37D7-B83F-1A51-36B3A573B2DF}"/>
              </a:ext>
            </a:extLst>
          </p:cNvPr>
          <p:cNvSpPr txBox="1"/>
          <p:nvPr/>
        </p:nvSpPr>
        <p:spPr>
          <a:xfrm>
            <a:off x="1028700" y="29211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1.0 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403CA6A-9282-E6D0-2421-AC4B7B86CBA5}"/>
              </a:ext>
            </a:extLst>
          </p:cNvPr>
          <p:cNvSpPr txBox="1"/>
          <p:nvPr/>
        </p:nvSpPr>
        <p:spPr>
          <a:xfrm>
            <a:off x="1028700" y="436068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5C022EF-9763-7AC7-3C1A-C9817345BC99}"/>
              </a:ext>
            </a:extLst>
          </p:cNvPr>
          <p:cNvSpPr txBox="1"/>
          <p:nvPr/>
        </p:nvSpPr>
        <p:spPr>
          <a:xfrm>
            <a:off x="10303079" y="29211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5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E7380E3-6CC8-C93E-461A-51E4A96BADBA}"/>
              </a:ext>
            </a:extLst>
          </p:cNvPr>
          <p:cNvSpPr txBox="1"/>
          <p:nvPr/>
        </p:nvSpPr>
        <p:spPr>
          <a:xfrm>
            <a:off x="10303079" y="436068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6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CFF26EFB-4F59-0FEF-051A-8F489909140C}"/>
              </a:ext>
            </a:extLst>
          </p:cNvPr>
          <p:cNvSpPr/>
          <p:nvPr/>
        </p:nvSpPr>
        <p:spPr>
          <a:xfrm>
            <a:off x="1028700" y="67760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E3EDAD49-2575-723C-7E27-0B6B83C1B1EF}"/>
              </a:ext>
            </a:extLst>
          </p:cNvPr>
          <p:cNvSpPr/>
          <p:nvPr/>
        </p:nvSpPr>
        <p:spPr>
          <a:xfrm>
            <a:off x="10303079" y="67760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A166B6BD-4A8A-EA93-AE41-E70D81E98526}"/>
              </a:ext>
            </a:extLst>
          </p:cNvPr>
          <p:cNvSpPr txBox="1"/>
          <p:nvPr/>
        </p:nvSpPr>
        <p:spPr>
          <a:xfrm>
            <a:off x="2396992" y="5961727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Syst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em Architecture 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713EC28-036D-82A2-28D6-EE7D3291136B}"/>
              </a:ext>
            </a:extLst>
          </p:cNvPr>
          <p:cNvSpPr txBox="1"/>
          <p:nvPr/>
        </p:nvSpPr>
        <p:spPr>
          <a:xfrm>
            <a:off x="1028700" y="58002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1FA535B-C3B7-7D43-F958-938068777961}"/>
              </a:ext>
            </a:extLst>
          </p:cNvPr>
          <p:cNvSpPr txBox="1"/>
          <p:nvPr/>
        </p:nvSpPr>
        <p:spPr>
          <a:xfrm>
            <a:off x="10303079" y="58002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7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565F20A4-0942-B60D-C377-6BE15F80300A}"/>
              </a:ext>
            </a:extLst>
          </p:cNvPr>
          <p:cNvSpPr/>
          <p:nvPr/>
        </p:nvSpPr>
        <p:spPr>
          <a:xfrm>
            <a:off x="1028700" y="821559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E8C1746-A351-10D2-AD33-48A25315B06C}"/>
              </a:ext>
            </a:extLst>
          </p:cNvPr>
          <p:cNvSpPr txBox="1"/>
          <p:nvPr/>
        </p:nvSpPr>
        <p:spPr>
          <a:xfrm>
            <a:off x="2396992" y="7488945"/>
            <a:ext cx="2749832" cy="323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 dirty="0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Hybrid  RAG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727D53F1-5C2C-C43C-73AD-3871E5A553B4}"/>
              </a:ext>
            </a:extLst>
          </p:cNvPr>
          <p:cNvSpPr txBox="1"/>
          <p:nvPr/>
        </p:nvSpPr>
        <p:spPr>
          <a:xfrm>
            <a:off x="1028700" y="723978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0327FA95-9B01-0B03-1DC9-E2E1A27FF474}"/>
              </a:ext>
            </a:extLst>
          </p:cNvPr>
          <p:cNvSpPr txBox="1"/>
          <p:nvPr/>
        </p:nvSpPr>
        <p:spPr>
          <a:xfrm>
            <a:off x="11667638" y="3234692"/>
            <a:ext cx="2749832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Implement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ation </a:t>
            </a: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0A3E83E1-A9F1-D614-B5B6-0E499A04174E}"/>
              </a:ext>
            </a:extLst>
          </p:cNvPr>
          <p:cNvSpPr/>
          <p:nvPr/>
        </p:nvSpPr>
        <p:spPr>
          <a:xfrm>
            <a:off x="10303079" y="8206067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8D2CDC99-19CC-01A0-641E-93E245E5F41A}"/>
              </a:ext>
            </a:extLst>
          </p:cNvPr>
          <p:cNvSpPr txBox="1"/>
          <p:nvPr/>
        </p:nvSpPr>
        <p:spPr>
          <a:xfrm>
            <a:off x="11671372" y="7543817"/>
            <a:ext cx="1895536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Conclusion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3F73CE3-BB68-1459-8A6B-9BDFB14B1CEF}"/>
              </a:ext>
            </a:extLst>
          </p:cNvPr>
          <p:cNvSpPr txBox="1"/>
          <p:nvPr/>
        </p:nvSpPr>
        <p:spPr>
          <a:xfrm>
            <a:off x="10303079" y="7230264"/>
            <a:ext cx="1221684" cy="821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8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</p:spTree>
    <p:extLst>
      <p:ext uri="{BB962C8B-B14F-4D97-AF65-F5344CB8AC3E}">
        <p14:creationId xmlns:p14="http://schemas.microsoft.com/office/powerpoint/2010/main" val="1831051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77" b="-92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2636013"/>
            <a:ext cx="4970131" cy="420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384"/>
              </a:lnSpc>
              <a:spcBef>
                <a:spcPct val="0"/>
              </a:spcBef>
            </a:pPr>
            <a:r>
              <a:rPr lang="en-US" sz="24560" b="1" spc="-147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4.0</a:t>
            </a:r>
          </a:p>
        </p:txBody>
      </p:sp>
      <p:sp>
        <p:nvSpPr>
          <p:cNvPr id="4" name="AutoShape 4"/>
          <p:cNvSpPr/>
          <p:nvPr/>
        </p:nvSpPr>
        <p:spPr>
          <a:xfrm>
            <a:off x="1028700" y="9751838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Hybrid RAG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Page 4.0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09082" y="493142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Section 4.0</a:t>
            </a:r>
          </a:p>
        </p:txBody>
      </p:sp>
      <p:sp>
        <p:nvSpPr>
          <p:cNvPr id="8" name="AutoShape 8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33550" y="638175"/>
            <a:ext cx="2438400" cy="362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2"/>
              </a:lnSpc>
              <a:spcBef>
                <a:spcPct val="0"/>
              </a:spcBef>
            </a:pPr>
            <a:r>
              <a:rPr lang="en-US" sz="3060" b="1" u="none" strike="noStrike" spc="-3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78605" y="4257838"/>
            <a:ext cx="11339847" cy="181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166"/>
              </a:lnSpc>
              <a:spcBef>
                <a:spcPct val="0"/>
              </a:spcBef>
            </a:pPr>
            <a:r>
              <a:rPr lang="en-US" sz="14157" b="1" spc="-283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Hybrid RAG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717110"/>
            <a:ext cx="19644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Group Members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9124445"/>
            <a:ext cx="579554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Muhammad Ahmed &amp; Attique Rehman Alias Adeel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94855" y="8717110"/>
            <a:ext cx="19644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Supervisor: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557955" y="9059863"/>
            <a:ext cx="270134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Dr. Jawad Shafi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144500" y="6444615"/>
            <a:ext cx="2857500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2499">
                <a:solidFill>
                  <a:srgbClr val="555555"/>
                </a:solidFill>
                <a:latin typeface="HK Grotesk"/>
                <a:ea typeface="HK Grotesk"/>
                <a:cs typeface="HK Grotesk"/>
                <a:sym typeface="HK Grotesk"/>
              </a:rPr>
              <a:t>Natural Language</a:t>
            </a:r>
          </a:p>
          <a:p>
            <a:pPr marL="0" lvl="0" indent="0" algn="ctr">
              <a:lnSpc>
                <a:spcPts val="2349"/>
              </a:lnSpc>
              <a:spcBef>
                <a:spcPct val="0"/>
              </a:spcBef>
            </a:pPr>
            <a:r>
              <a:rPr lang="en-US" sz="2499">
                <a:solidFill>
                  <a:srgbClr val="555555"/>
                </a:solidFill>
                <a:latin typeface="HK Grotesk"/>
                <a:ea typeface="HK Grotesk"/>
                <a:cs typeface="HK Grotesk"/>
                <a:sym typeface="HK Grotesk"/>
              </a:rPr>
              <a:t>Answer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25000" y="6592253"/>
            <a:ext cx="2857500" cy="32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49"/>
              </a:lnSpc>
              <a:spcBef>
                <a:spcPct val="0"/>
              </a:spcBef>
            </a:pPr>
            <a:r>
              <a:rPr lang="en-US" sz="2499">
                <a:solidFill>
                  <a:srgbClr val="555555"/>
                </a:solidFill>
                <a:latin typeface="HK Grotesk"/>
                <a:ea typeface="HK Grotesk"/>
                <a:cs typeface="HK Grotesk"/>
                <a:sym typeface="HK Grotesk"/>
              </a:rPr>
              <a:t>Context + Query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86000" y="6444615"/>
            <a:ext cx="2857500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4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555555"/>
                </a:solidFill>
                <a:latin typeface="HK Grotesk"/>
                <a:ea typeface="HK Grotesk"/>
                <a:cs typeface="HK Grotesk"/>
                <a:sym typeface="HK Grotesk"/>
              </a:rPr>
              <a:t>Natural language</a:t>
            </a:r>
          </a:p>
          <a:p>
            <a:pPr marL="0" lvl="0" indent="0" algn="ctr">
              <a:lnSpc>
                <a:spcPts val="234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555555"/>
                </a:solidFill>
                <a:latin typeface="HK Grotesk"/>
                <a:ea typeface="HK Grotesk"/>
                <a:cs typeface="HK Grotesk"/>
                <a:sym typeface="HK Grotesk"/>
              </a:rPr>
              <a:t>question</a:t>
            </a:r>
          </a:p>
        </p:txBody>
      </p:sp>
      <p:sp>
        <p:nvSpPr>
          <p:cNvPr id="5" name="AutoShape 5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4.1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09082" y="493155"/>
            <a:ext cx="28559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RAG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43988" y="2349776"/>
            <a:ext cx="7179242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RAG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349776"/>
            <a:ext cx="6383635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What is: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Hybrid RAG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286000" y="4762500"/>
            <a:ext cx="2857500" cy="1524000"/>
            <a:chOff x="0" y="0"/>
            <a:chExt cx="3810000" cy="2032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10000" cy="2032000"/>
            </a:xfrm>
            <a:custGeom>
              <a:avLst/>
              <a:gdLst/>
              <a:ahLst/>
              <a:cxnLst/>
              <a:rect l="l" t="t" r="r" b="b"/>
              <a:pathLst>
                <a:path w="3810000" h="2032000">
                  <a:moveTo>
                    <a:pt x="203200" y="0"/>
                  </a:moveTo>
                  <a:lnTo>
                    <a:pt x="3606800" y="0"/>
                  </a:lnTo>
                  <a:cubicBezTo>
                    <a:pt x="3719024" y="0"/>
                    <a:pt x="3810000" y="90976"/>
                    <a:pt x="3810000" y="203200"/>
                  </a:cubicBezTo>
                  <a:lnTo>
                    <a:pt x="3810000" y="1828800"/>
                  </a:lnTo>
                  <a:cubicBezTo>
                    <a:pt x="3810000" y="1941024"/>
                    <a:pt x="3719024" y="2032000"/>
                    <a:pt x="3606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A3A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3810000" cy="2117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847"/>
                </a:lnSpc>
                <a:spcBef>
                  <a:spcPct val="0"/>
                </a:spcBef>
              </a:pPr>
              <a:r>
                <a:rPr lang="en-US" sz="4176" u="none" strike="noStrik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User Query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5143500" y="5524500"/>
            <a:ext cx="762000" cy="0"/>
          </a:xfrm>
          <a:prstGeom prst="line">
            <a:avLst/>
          </a:prstGeom>
          <a:ln w="28575" cap="flat">
            <a:solidFill>
              <a:srgbClr val="140E0C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5905500" y="4762500"/>
            <a:ext cx="2857500" cy="1524000"/>
            <a:chOff x="0" y="0"/>
            <a:chExt cx="3810000" cy="2032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810000" cy="2032000"/>
            </a:xfrm>
            <a:custGeom>
              <a:avLst/>
              <a:gdLst/>
              <a:ahLst/>
              <a:cxnLst/>
              <a:rect l="l" t="t" r="r" b="b"/>
              <a:pathLst>
                <a:path w="3810000" h="2032000">
                  <a:moveTo>
                    <a:pt x="203200" y="0"/>
                  </a:moveTo>
                  <a:lnTo>
                    <a:pt x="3606800" y="0"/>
                  </a:lnTo>
                  <a:cubicBezTo>
                    <a:pt x="3719024" y="0"/>
                    <a:pt x="3810000" y="90976"/>
                    <a:pt x="3810000" y="203200"/>
                  </a:cubicBezTo>
                  <a:lnTo>
                    <a:pt x="3810000" y="1828800"/>
                  </a:lnTo>
                  <a:cubicBezTo>
                    <a:pt x="3810000" y="1941024"/>
                    <a:pt x="3719024" y="2032000"/>
                    <a:pt x="3606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B21A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3810000" cy="2108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953"/>
                </a:lnSpc>
                <a:spcBef>
                  <a:spcPct val="0"/>
                </a:spcBef>
              </a:pPr>
              <a:r>
                <a:rPr lang="en-US" sz="3538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Retreival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8763000" y="5524500"/>
            <a:ext cx="762000" cy="0"/>
          </a:xfrm>
          <a:prstGeom prst="line">
            <a:avLst/>
          </a:prstGeom>
          <a:ln w="28575" cap="flat">
            <a:solidFill>
              <a:srgbClr val="140E0C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9525000" y="4762500"/>
            <a:ext cx="2857500" cy="1524000"/>
            <a:chOff x="0" y="0"/>
            <a:chExt cx="3810000" cy="2032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10000" cy="2032000"/>
            </a:xfrm>
            <a:custGeom>
              <a:avLst/>
              <a:gdLst/>
              <a:ahLst/>
              <a:cxnLst/>
              <a:rect l="l" t="t" r="r" b="b"/>
              <a:pathLst>
                <a:path w="3810000" h="2032000">
                  <a:moveTo>
                    <a:pt x="203200" y="0"/>
                  </a:moveTo>
                  <a:lnTo>
                    <a:pt x="3606800" y="0"/>
                  </a:lnTo>
                  <a:cubicBezTo>
                    <a:pt x="3719024" y="0"/>
                    <a:pt x="3810000" y="90976"/>
                    <a:pt x="3810000" y="203200"/>
                  </a:cubicBezTo>
                  <a:lnTo>
                    <a:pt x="3810000" y="1828800"/>
                  </a:lnTo>
                  <a:cubicBezTo>
                    <a:pt x="3810000" y="1941024"/>
                    <a:pt x="3719024" y="2032000"/>
                    <a:pt x="3606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C1D9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3810000" cy="2098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32"/>
                </a:lnSpc>
                <a:spcBef>
                  <a:spcPct val="0"/>
                </a:spcBef>
              </a:pPr>
              <a:r>
                <a:rPr lang="en-US" sz="3166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Aug</a:t>
              </a:r>
              <a:r>
                <a:rPr lang="en-US" sz="3166" u="none" strike="noStrik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mentation 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12382500" y="5524500"/>
            <a:ext cx="762000" cy="0"/>
          </a:xfrm>
          <a:prstGeom prst="line">
            <a:avLst/>
          </a:prstGeom>
          <a:ln w="28575" cap="flat">
            <a:solidFill>
              <a:srgbClr val="140E0C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13144500" y="4762500"/>
            <a:ext cx="2857500" cy="1524000"/>
            <a:chOff x="0" y="0"/>
            <a:chExt cx="3810000" cy="2032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810000" cy="2032000"/>
            </a:xfrm>
            <a:custGeom>
              <a:avLst/>
              <a:gdLst/>
              <a:ahLst/>
              <a:cxnLst/>
              <a:rect l="l" t="t" r="r" b="b"/>
              <a:pathLst>
                <a:path w="3810000" h="2032000">
                  <a:moveTo>
                    <a:pt x="203200" y="0"/>
                  </a:moveTo>
                  <a:lnTo>
                    <a:pt x="3606800" y="0"/>
                  </a:lnTo>
                  <a:cubicBezTo>
                    <a:pt x="3719024" y="0"/>
                    <a:pt x="3810000" y="90976"/>
                    <a:pt x="3810000" y="203200"/>
                  </a:cubicBezTo>
                  <a:lnTo>
                    <a:pt x="3810000" y="1828800"/>
                  </a:lnTo>
                  <a:cubicBezTo>
                    <a:pt x="3810000" y="1941024"/>
                    <a:pt x="3719024" y="2032000"/>
                    <a:pt x="3606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312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3810000" cy="2098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32"/>
                </a:lnSpc>
                <a:spcBef>
                  <a:spcPct val="0"/>
                </a:spcBef>
              </a:pPr>
              <a:r>
                <a:rPr lang="en-US" sz="3166" u="none" strike="noStrike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Generation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5983585" y="6444615"/>
            <a:ext cx="2857500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4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555555"/>
                </a:solidFill>
                <a:latin typeface="HK Grotesk"/>
                <a:ea typeface="HK Grotesk"/>
                <a:cs typeface="HK Grotesk"/>
                <a:sym typeface="HK Grotesk"/>
              </a:rPr>
              <a:t>Cosine similarity</a:t>
            </a:r>
          </a:p>
          <a:p>
            <a:pPr marL="0" lvl="0" indent="0" algn="ctr">
              <a:lnSpc>
                <a:spcPts val="234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555555"/>
                </a:solidFill>
                <a:latin typeface="HK Grotesk"/>
                <a:ea typeface="HK Grotesk"/>
                <a:cs typeface="HK Grotesk"/>
                <a:sym typeface="HK Grotesk"/>
              </a:rPr>
              <a:t>search (pgVector)</a:t>
            </a:r>
          </a:p>
        </p:txBody>
      </p:sp>
      <p:sp>
        <p:nvSpPr>
          <p:cNvPr id="28" name="Freeform 28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03340" y="4147989"/>
            <a:ext cx="1286937" cy="1647280"/>
          </a:xfrm>
          <a:custGeom>
            <a:avLst/>
            <a:gdLst/>
            <a:ahLst/>
            <a:cxnLst/>
            <a:rect l="l" t="t" r="r" b="b"/>
            <a:pathLst>
              <a:path w="1286937" h="1647280">
                <a:moveTo>
                  <a:pt x="0" y="0"/>
                </a:moveTo>
                <a:lnTo>
                  <a:pt x="1286937" y="0"/>
                </a:lnTo>
                <a:lnTo>
                  <a:pt x="1286937" y="1647279"/>
                </a:lnTo>
                <a:lnTo>
                  <a:pt x="0" y="16472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876225" y="4530989"/>
            <a:ext cx="520172" cy="520172"/>
          </a:xfrm>
          <a:custGeom>
            <a:avLst/>
            <a:gdLst/>
            <a:ahLst/>
            <a:cxnLst/>
            <a:rect l="l" t="t" r="r" b="b"/>
            <a:pathLst>
              <a:path w="520172" h="520172">
                <a:moveTo>
                  <a:pt x="0" y="0"/>
                </a:moveTo>
                <a:lnTo>
                  <a:pt x="520171" y="0"/>
                </a:lnTo>
                <a:lnTo>
                  <a:pt x="520171" y="520172"/>
                </a:lnTo>
                <a:lnTo>
                  <a:pt x="0" y="520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842809" y="7346686"/>
            <a:ext cx="553587" cy="553587"/>
          </a:xfrm>
          <a:custGeom>
            <a:avLst/>
            <a:gdLst/>
            <a:ahLst/>
            <a:cxnLst/>
            <a:rect l="l" t="t" r="r" b="b"/>
            <a:pathLst>
              <a:path w="553587" h="553587">
                <a:moveTo>
                  <a:pt x="0" y="0"/>
                </a:moveTo>
                <a:lnTo>
                  <a:pt x="553587" y="0"/>
                </a:lnTo>
                <a:lnTo>
                  <a:pt x="553587" y="553587"/>
                </a:lnTo>
                <a:lnTo>
                  <a:pt x="0" y="5535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149429" y="6908840"/>
            <a:ext cx="553587" cy="553587"/>
          </a:xfrm>
          <a:custGeom>
            <a:avLst/>
            <a:gdLst/>
            <a:ahLst/>
            <a:cxnLst/>
            <a:rect l="l" t="t" r="r" b="b"/>
            <a:pathLst>
              <a:path w="553587" h="553587">
                <a:moveTo>
                  <a:pt x="0" y="0"/>
                </a:moveTo>
                <a:lnTo>
                  <a:pt x="553588" y="0"/>
                </a:lnTo>
                <a:lnTo>
                  <a:pt x="553588" y="553587"/>
                </a:lnTo>
                <a:lnTo>
                  <a:pt x="0" y="5535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2889637" y="5143500"/>
            <a:ext cx="970423" cy="0"/>
          </a:xfrm>
          <a:prstGeom prst="line">
            <a:avLst/>
          </a:prstGeom>
          <a:ln w="38100" cap="flat">
            <a:solidFill>
              <a:srgbClr val="140E0C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6390031" y="5143500"/>
            <a:ext cx="970423" cy="0"/>
          </a:xfrm>
          <a:prstGeom prst="line">
            <a:avLst/>
          </a:prstGeom>
          <a:ln w="38100" cap="flat">
            <a:solidFill>
              <a:srgbClr val="140E0C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0136332" y="5162550"/>
            <a:ext cx="3628717" cy="0"/>
          </a:xfrm>
          <a:prstGeom prst="line">
            <a:avLst/>
          </a:prstGeom>
          <a:ln w="38100" cap="flat">
            <a:solidFill>
              <a:srgbClr val="140E0C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498703" y="4384228"/>
            <a:ext cx="996076" cy="1194693"/>
          </a:xfrm>
          <a:custGeom>
            <a:avLst/>
            <a:gdLst/>
            <a:ahLst/>
            <a:cxnLst/>
            <a:rect l="l" t="t" r="r" b="b"/>
            <a:pathLst>
              <a:path w="996076" h="1194693">
                <a:moveTo>
                  <a:pt x="0" y="0"/>
                </a:moveTo>
                <a:lnTo>
                  <a:pt x="996076" y="0"/>
                </a:lnTo>
                <a:lnTo>
                  <a:pt x="996076" y="1194694"/>
                </a:lnTo>
                <a:lnTo>
                  <a:pt x="0" y="1194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192349" y="7496097"/>
            <a:ext cx="1450547" cy="1098647"/>
          </a:xfrm>
          <a:custGeom>
            <a:avLst/>
            <a:gdLst/>
            <a:ahLst/>
            <a:cxnLst/>
            <a:rect l="l" t="t" r="r" b="b"/>
            <a:pathLst>
              <a:path w="1450547" h="1098647">
                <a:moveTo>
                  <a:pt x="0" y="0"/>
                </a:moveTo>
                <a:lnTo>
                  <a:pt x="1450547" y="0"/>
                </a:lnTo>
                <a:lnTo>
                  <a:pt x="1450547" y="1098646"/>
                </a:lnTo>
                <a:lnTo>
                  <a:pt x="0" y="1098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09619" b="-1767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2948727" y="7900273"/>
            <a:ext cx="970423" cy="0"/>
          </a:xfrm>
          <a:prstGeom prst="line">
            <a:avLst/>
          </a:prstGeom>
          <a:ln w="38100" cap="flat">
            <a:solidFill>
              <a:srgbClr val="140E0C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6390031" y="7862173"/>
            <a:ext cx="970423" cy="0"/>
          </a:xfrm>
          <a:prstGeom prst="line">
            <a:avLst/>
          </a:prstGeom>
          <a:ln w="38100" cap="flat">
            <a:solidFill>
              <a:srgbClr val="140E0C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0253865" y="5519928"/>
            <a:ext cx="3511183" cy="2525492"/>
          </a:xfrm>
          <a:custGeom>
            <a:avLst/>
            <a:gdLst/>
            <a:ahLst/>
            <a:cxnLst/>
            <a:rect l="l" t="t" r="r" b="b"/>
            <a:pathLst>
              <a:path w="3511183" h="2525492">
                <a:moveTo>
                  <a:pt x="0" y="2525492"/>
                </a:moveTo>
                <a:lnTo>
                  <a:pt x="0" y="2515967"/>
                </a:lnTo>
                <a:cubicBezTo>
                  <a:pt x="0" y="2513441"/>
                  <a:pt x="1004" y="2511018"/>
                  <a:pt x="2790" y="2509232"/>
                </a:cubicBezTo>
                <a:cubicBezTo>
                  <a:pt x="4576" y="2507446"/>
                  <a:pt x="6999" y="2506442"/>
                  <a:pt x="9525" y="2506442"/>
                </a:cubicBezTo>
                <a:lnTo>
                  <a:pt x="2282160" y="2506442"/>
                </a:lnTo>
                <a:cubicBezTo>
                  <a:pt x="2408412" y="2506442"/>
                  <a:pt x="2510760" y="2404094"/>
                  <a:pt x="2510760" y="2277842"/>
                </a:cubicBezTo>
                <a:lnTo>
                  <a:pt x="2510760" y="228600"/>
                </a:lnTo>
                <a:cubicBezTo>
                  <a:pt x="2510760" y="102347"/>
                  <a:pt x="2613108" y="0"/>
                  <a:pt x="2739360" y="0"/>
                </a:cubicBezTo>
                <a:lnTo>
                  <a:pt x="3511183" y="0"/>
                </a:lnTo>
              </a:path>
            </a:pathLst>
          </a:custGeom>
          <a:ln w="38100" cap="flat">
            <a:solidFill>
              <a:srgbClr val="140E0C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4690441" y="7977915"/>
            <a:ext cx="383040" cy="490291"/>
          </a:xfrm>
          <a:custGeom>
            <a:avLst/>
            <a:gdLst/>
            <a:ahLst/>
            <a:cxnLst/>
            <a:rect l="l" t="t" r="r" b="b"/>
            <a:pathLst>
              <a:path w="383040" h="490291">
                <a:moveTo>
                  <a:pt x="0" y="0"/>
                </a:moveTo>
                <a:lnTo>
                  <a:pt x="383041" y="0"/>
                </a:lnTo>
                <a:lnTo>
                  <a:pt x="383041" y="490291"/>
                </a:lnTo>
                <a:lnTo>
                  <a:pt x="0" y="4902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5206832" y="8858554"/>
            <a:ext cx="402725" cy="515487"/>
          </a:xfrm>
          <a:custGeom>
            <a:avLst/>
            <a:gdLst/>
            <a:ahLst/>
            <a:cxnLst/>
            <a:rect l="l" t="t" r="r" b="b"/>
            <a:pathLst>
              <a:path w="402725" h="515487">
                <a:moveTo>
                  <a:pt x="0" y="0"/>
                </a:moveTo>
                <a:lnTo>
                  <a:pt x="402724" y="0"/>
                </a:lnTo>
                <a:lnTo>
                  <a:pt x="402724" y="515487"/>
                </a:lnTo>
                <a:lnTo>
                  <a:pt x="0" y="5154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5113371" y="7943264"/>
            <a:ext cx="589646" cy="754747"/>
          </a:xfrm>
          <a:custGeom>
            <a:avLst/>
            <a:gdLst/>
            <a:ahLst/>
            <a:cxnLst/>
            <a:rect l="l" t="t" r="r" b="b"/>
            <a:pathLst>
              <a:path w="589646" h="754747">
                <a:moveTo>
                  <a:pt x="0" y="0"/>
                </a:moveTo>
                <a:lnTo>
                  <a:pt x="589646" y="0"/>
                </a:lnTo>
                <a:lnTo>
                  <a:pt x="589646" y="754747"/>
                </a:lnTo>
                <a:lnTo>
                  <a:pt x="0" y="754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4593724" y="8708631"/>
            <a:ext cx="479758" cy="614090"/>
          </a:xfrm>
          <a:custGeom>
            <a:avLst/>
            <a:gdLst/>
            <a:ahLst/>
            <a:cxnLst/>
            <a:rect l="l" t="t" r="r" b="b"/>
            <a:pathLst>
              <a:path w="479758" h="614090">
                <a:moveTo>
                  <a:pt x="0" y="0"/>
                </a:moveTo>
                <a:lnTo>
                  <a:pt x="479758" y="0"/>
                </a:lnTo>
                <a:lnTo>
                  <a:pt x="479758" y="614090"/>
                </a:lnTo>
                <a:lnTo>
                  <a:pt x="0" y="6140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14926927" y="6691524"/>
            <a:ext cx="0" cy="1149430"/>
          </a:xfrm>
          <a:prstGeom prst="line">
            <a:avLst/>
          </a:prstGeom>
          <a:ln w="38100" cap="flat">
            <a:solidFill>
              <a:srgbClr val="140E0C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8008056" y="4266508"/>
            <a:ext cx="1348464" cy="1329923"/>
          </a:xfrm>
          <a:custGeom>
            <a:avLst/>
            <a:gdLst/>
            <a:ahLst/>
            <a:cxnLst/>
            <a:rect l="l" t="t" r="r" b="b"/>
            <a:pathLst>
              <a:path w="1348464" h="1329923">
                <a:moveTo>
                  <a:pt x="0" y="0"/>
                </a:moveTo>
                <a:lnTo>
                  <a:pt x="1348464" y="0"/>
                </a:lnTo>
                <a:lnTo>
                  <a:pt x="1348464" y="1329923"/>
                </a:lnTo>
                <a:lnTo>
                  <a:pt x="0" y="1329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4.2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909082" y="493155"/>
            <a:ext cx="285596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Vector search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19462" y="2349776"/>
            <a:ext cx="7179242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Vector Search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2349776"/>
            <a:ext cx="6383635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Hybrid RAG: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202960" y="5089261"/>
            <a:ext cx="1866702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25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Transformed </a:t>
            </a:r>
          </a:p>
          <a:p>
            <a:pPr algn="ctr">
              <a:lnSpc>
                <a:spcPts val="2550"/>
              </a:lnSpc>
            </a:pPr>
            <a:r>
              <a:rPr lang="en-US" sz="25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into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6048678"/>
            <a:ext cx="1636216" cy="761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7"/>
              </a:lnSpc>
            </a:pPr>
            <a:r>
              <a:rPr lang="en-US" sz="2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Session</a:t>
            </a:r>
          </a:p>
          <a:p>
            <a:pPr algn="ctr">
              <a:lnSpc>
                <a:spcPts val="2957"/>
              </a:lnSpc>
            </a:pPr>
            <a:r>
              <a:rPr lang="en-US" sz="2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Transcript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857147" y="5644056"/>
            <a:ext cx="1952923" cy="761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7"/>
              </a:lnSpc>
            </a:pPr>
            <a:r>
              <a:rPr lang="en-US" sz="2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Vector</a:t>
            </a:r>
          </a:p>
          <a:p>
            <a:pPr algn="ctr">
              <a:lnSpc>
                <a:spcPts val="2957"/>
              </a:lnSpc>
            </a:pPr>
            <a:r>
              <a:rPr lang="en-US" sz="2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Embeddings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865350" y="4638675"/>
            <a:ext cx="1147068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25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Saved in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162338" y="5720355"/>
            <a:ext cx="1862237" cy="761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7"/>
              </a:lnSpc>
            </a:pPr>
            <a:r>
              <a:rPr lang="en-US" sz="2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PostgreSQL</a:t>
            </a:r>
          </a:p>
          <a:p>
            <a:pPr algn="ctr">
              <a:lnSpc>
                <a:spcPts val="2957"/>
              </a:lnSpc>
            </a:pPr>
            <a:r>
              <a:rPr lang="en-US" sz="2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(pgVector)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02960" y="7919323"/>
            <a:ext cx="1866702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25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Transformed </a:t>
            </a:r>
          </a:p>
          <a:p>
            <a:pPr algn="ctr">
              <a:lnSpc>
                <a:spcPts val="2550"/>
              </a:lnSpc>
            </a:pPr>
            <a:r>
              <a:rPr lang="en-US" sz="25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into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55030" y="8642368"/>
            <a:ext cx="983556" cy="390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7"/>
              </a:lnSpc>
            </a:pPr>
            <a:r>
              <a:rPr lang="en-US" sz="2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Query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57147" y="8496681"/>
            <a:ext cx="1952923" cy="761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7"/>
              </a:lnSpc>
            </a:pPr>
            <a:r>
              <a:rPr lang="en-US" sz="2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Vector</a:t>
            </a:r>
          </a:p>
          <a:p>
            <a:pPr algn="ctr">
              <a:lnSpc>
                <a:spcPts val="2957"/>
              </a:lnSpc>
            </a:pPr>
            <a:r>
              <a:rPr lang="en-US" sz="2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Embeddings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634170" y="7484622"/>
            <a:ext cx="1609427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25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Searched in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933984" y="8293070"/>
            <a:ext cx="3168848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25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cosine simiilarity (0.65)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5600263" y="6741968"/>
            <a:ext cx="1399183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sz="24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Similar </a:t>
            </a:r>
          </a:p>
          <a:p>
            <a:pPr algn="ctr">
              <a:lnSpc>
                <a:spcPts val="2549"/>
              </a:lnSpc>
            </a:pPr>
            <a:r>
              <a:rPr lang="en-US" sz="24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chunks </a:t>
            </a:r>
          </a:p>
          <a:p>
            <a:pPr algn="ctr">
              <a:lnSpc>
                <a:spcPts val="2549"/>
              </a:lnSpc>
            </a:pPr>
            <a:r>
              <a:rPr lang="en-US" sz="24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Found</a:t>
            </a:r>
          </a:p>
        </p:txBody>
      </p:sp>
      <p:sp>
        <p:nvSpPr>
          <p:cNvPr id="37" name="Freeform 37"/>
          <p:cNvSpPr/>
          <p:nvPr/>
        </p:nvSpPr>
        <p:spPr>
          <a:xfrm>
            <a:off x="8008056" y="6958518"/>
            <a:ext cx="1348464" cy="1329923"/>
          </a:xfrm>
          <a:custGeom>
            <a:avLst/>
            <a:gdLst/>
            <a:ahLst/>
            <a:cxnLst/>
            <a:rect l="l" t="t" r="r" b="b"/>
            <a:pathLst>
              <a:path w="1348464" h="1329923">
                <a:moveTo>
                  <a:pt x="0" y="0"/>
                </a:moveTo>
                <a:lnTo>
                  <a:pt x="1348464" y="0"/>
                </a:lnTo>
                <a:lnTo>
                  <a:pt x="1348464" y="1329923"/>
                </a:lnTo>
                <a:lnTo>
                  <a:pt x="0" y="13299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Hybrid RAG</a:t>
            </a:r>
          </a:p>
        </p:txBody>
      </p:sp>
      <p:sp>
        <p:nvSpPr>
          <p:cNvPr id="39" name="Freeform 39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03340" y="4147989"/>
            <a:ext cx="1286937" cy="1647280"/>
          </a:xfrm>
          <a:custGeom>
            <a:avLst/>
            <a:gdLst/>
            <a:ahLst/>
            <a:cxnLst/>
            <a:rect l="l" t="t" r="r" b="b"/>
            <a:pathLst>
              <a:path w="1286937" h="1647280">
                <a:moveTo>
                  <a:pt x="0" y="0"/>
                </a:moveTo>
                <a:lnTo>
                  <a:pt x="1286937" y="0"/>
                </a:lnTo>
                <a:lnTo>
                  <a:pt x="1286937" y="1647279"/>
                </a:lnTo>
                <a:lnTo>
                  <a:pt x="0" y="16472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876225" y="4530989"/>
            <a:ext cx="520172" cy="520172"/>
          </a:xfrm>
          <a:custGeom>
            <a:avLst/>
            <a:gdLst/>
            <a:ahLst/>
            <a:cxnLst/>
            <a:rect l="l" t="t" r="r" b="b"/>
            <a:pathLst>
              <a:path w="520172" h="520172">
                <a:moveTo>
                  <a:pt x="0" y="0"/>
                </a:moveTo>
                <a:lnTo>
                  <a:pt x="520171" y="0"/>
                </a:lnTo>
                <a:lnTo>
                  <a:pt x="520171" y="520172"/>
                </a:lnTo>
                <a:lnTo>
                  <a:pt x="0" y="520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842809" y="7346686"/>
            <a:ext cx="553587" cy="553587"/>
          </a:xfrm>
          <a:custGeom>
            <a:avLst/>
            <a:gdLst/>
            <a:ahLst/>
            <a:cxnLst/>
            <a:rect l="l" t="t" r="r" b="b"/>
            <a:pathLst>
              <a:path w="553587" h="553587">
                <a:moveTo>
                  <a:pt x="0" y="0"/>
                </a:moveTo>
                <a:lnTo>
                  <a:pt x="553587" y="0"/>
                </a:lnTo>
                <a:lnTo>
                  <a:pt x="553587" y="553587"/>
                </a:lnTo>
                <a:lnTo>
                  <a:pt x="0" y="5535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494847" y="6921477"/>
            <a:ext cx="553587" cy="553587"/>
          </a:xfrm>
          <a:custGeom>
            <a:avLst/>
            <a:gdLst/>
            <a:ahLst/>
            <a:cxnLst/>
            <a:rect l="l" t="t" r="r" b="b"/>
            <a:pathLst>
              <a:path w="553587" h="553587">
                <a:moveTo>
                  <a:pt x="0" y="0"/>
                </a:moveTo>
                <a:lnTo>
                  <a:pt x="553587" y="0"/>
                </a:lnTo>
                <a:lnTo>
                  <a:pt x="553587" y="553588"/>
                </a:lnTo>
                <a:lnTo>
                  <a:pt x="0" y="5535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2889637" y="5143500"/>
            <a:ext cx="970423" cy="0"/>
          </a:xfrm>
          <a:prstGeom prst="line">
            <a:avLst/>
          </a:prstGeom>
          <a:ln w="38100" cap="flat">
            <a:solidFill>
              <a:srgbClr val="140E0C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6390031" y="5143500"/>
            <a:ext cx="970423" cy="0"/>
          </a:xfrm>
          <a:prstGeom prst="line">
            <a:avLst/>
          </a:prstGeom>
          <a:ln w="38100" cap="flat">
            <a:solidFill>
              <a:srgbClr val="140E0C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0136332" y="5162550"/>
            <a:ext cx="3628717" cy="0"/>
          </a:xfrm>
          <a:prstGeom prst="line">
            <a:avLst/>
          </a:prstGeom>
          <a:ln w="38100" cap="flat">
            <a:solidFill>
              <a:srgbClr val="140E0C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192349" y="7496097"/>
            <a:ext cx="1450547" cy="1098647"/>
          </a:xfrm>
          <a:custGeom>
            <a:avLst/>
            <a:gdLst/>
            <a:ahLst/>
            <a:cxnLst/>
            <a:rect l="l" t="t" r="r" b="b"/>
            <a:pathLst>
              <a:path w="1450547" h="1098647">
                <a:moveTo>
                  <a:pt x="0" y="0"/>
                </a:moveTo>
                <a:lnTo>
                  <a:pt x="1450547" y="0"/>
                </a:lnTo>
                <a:lnTo>
                  <a:pt x="1450547" y="1098646"/>
                </a:lnTo>
                <a:lnTo>
                  <a:pt x="0" y="1098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109619" b="-1767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2948727" y="7900273"/>
            <a:ext cx="970423" cy="0"/>
          </a:xfrm>
          <a:prstGeom prst="line">
            <a:avLst/>
          </a:prstGeom>
          <a:ln w="38100" cap="flat">
            <a:solidFill>
              <a:srgbClr val="140E0C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6390031" y="7862173"/>
            <a:ext cx="970423" cy="0"/>
          </a:xfrm>
          <a:prstGeom prst="line">
            <a:avLst/>
          </a:prstGeom>
          <a:ln w="38100" cap="flat">
            <a:solidFill>
              <a:srgbClr val="140E0C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0253865" y="5519928"/>
            <a:ext cx="3511183" cy="2525492"/>
          </a:xfrm>
          <a:custGeom>
            <a:avLst/>
            <a:gdLst/>
            <a:ahLst/>
            <a:cxnLst/>
            <a:rect l="l" t="t" r="r" b="b"/>
            <a:pathLst>
              <a:path w="3511183" h="2525492">
                <a:moveTo>
                  <a:pt x="0" y="2525492"/>
                </a:moveTo>
                <a:lnTo>
                  <a:pt x="0" y="2515967"/>
                </a:lnTo>
                <a:cubicBezTo>
                  <a:pt x="0" y="2513441"/>
                  <a:pt x="1004" y="2511018"/>
                  <a:pt x="2790" y="2509232"/>
                </a:cubicBezTo>
                <a:cubicBezTo>
                  <a:pt x="4576" y="2507446"/>
                  <a:pt x="6999" y="2506442"/>
                  <a:pt x="9525" y="2506442"/>
                </a:cubicBezTo>
                <a:lnTo>
                  <a:pt x="2753384" y="2506442"/>
                </a:lnTo>
                <a:cubicBezTo>
                  <a:pt x="2879637" y="2506442"/>
                  <a:pt x="2981984" y="2404094"/>
                  <a:pt x="2981984" y="2277842"/>
                </a:cubicBezTo>
                <a:lnTo>
                  <a:pt x="2981984" y="228600"/>
                </a:lnTo>
                <a:cubicBezTo>
                  <a:pt x="2981984" y="102347"/>
                  <a:pt x="3084332" y="0"/>
                  <a:pt x="3210584" y="0"/>
                </a:cubicBezTo>
                <a:lnTo>
                  <a:pt x="3511183" y="0"/>
                </a:lnTo>
              </a:path>
            </a:pathLst>
          </a:custGeom>
          <a:ln w="38100" cap="flat">
            <a:solidFill>
              <a:srgbClr val="140E0C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5035859" y="7990552"/>
            <a:ext cx="383040" cy="490291"/>
          </a:xfrm>
          <a:custGeom>
            <a:avLst/>
            <a:gdLst/>
            <a:ahLst/>
            <a:cxnLst/>
            <a:rect l="l" t="t" r="r" b="b"/>
            <a:pathLst>
              <a:path w="383040" h="490291">
                <a:moveTo>
                  <a:pt x="0" y="0"/>
                </a:moveTo>
                <a:lnTo>
                  <a:pt x="383040" y="0"/>
                </a:lnTo>
                <a:lnTo>
                  <a:pt x="383040" y="490291"/>
                </a:lnTo>
                <a:lnTo>
                  <a:pt x="0" y="4902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5552249" y="8871191"/>
            <a:ext cx="402725" cy="515487"/>
          </a:xfrm>
          <a:custGeom>
            <a:avLst/>
            <a:gdLst/>
            <a:ahLst/>
            <a:cxnLst/>
            <a:rect l="l" t="t" r="r" b="b"/>
            <a:pathLst>
              <a:path w="402725" h="515487">
                <a:moveTo>
                  <a:pt x="0" y="0"/>
                </a:moveTo>
                <a:lnTo>
                  <a:pt x="402724" y="0"/>
                </a:lnTo>
                <a:lnTo>
                  <a:pt x="402724" y="515488"/>
                </a:lnTo>
                <a:lnTo>
                  <a:pt x="0" y="5154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5458788" y="7955901"/>
            <a:ext cx="589646" cy="754747"/>
          </a:xfrm>
          <a:custGeom>
            <a:avLst/>
            <a:gdLst/>
            <a:ahLst/>
            <a:cxnLst/>
            <a:rect l="l" t="t" r="r" b="b"/>
            <a:pathLst>
              <a:path w="589646" h="754747">
                <a:moveTo>
                  <a:pt x="0" y="0"/>
                </a:moveTo>
                <a:lnTo>
                  <a:pt x="589646" y="0"/>
                </a:lnTo>
                <a:lnTo>
                  <a:pt x="589646" y="754747"/>
                </a:lnTo>
                <a:lnTo>
                  <a:pt x="0" y="754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4939141" y="8721269"/>
            <a:ext cx="479758" cy="614090"/>
          </a:xfrm>
          <a:custGeom>
            <a:avLst/>
            <a:gdLst/>
            <a:ahLst/>
            <a:cxnLst/>
            <a:rect l="l" t="t" r="r" b="b"/>
            <a:pathLst>
              <a:path w="479758" h="614090">
                <a:moveTo>
                  <a:pt x="0" y="0"/>
                </a:moveTo>
                <a:lnTo>
                  <a:pt x="479758" y="0"/>
                </a:lnTo>
                <a:lnTo>
                  <a:pt x="479758" y="614089"/>
                </a:lnTo>
                <a:lnTo>
                  <a:pt x="0" y="614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15272344" y="6704161"/>
            <a:ext cx="0" cy="1149430"/>
          </a:xfrm>
          <a:prstGeom prst="line">
            <a:avLst/>
          </a:prstGeom>
          <a:ln w="38100" cap="flat">
            <a:solidFill>
              <a:srgbClr val="140E0C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8236143" y="4356879"/>
            <a:ext cx="1024501" cy="1249391"/>
          </a:xfrm>
          <a:custGeom>
            <a:avLst/>
            <a:gdLst/>
            <a:ahLst/>
            <a:cxnLst/>
            <a:rect l="l" t="t" r="r" b="b"/>
            <a:pathLst>
              <a:path w="1024501" h="1249391">
                <a:moveTo>
                  <a:pt x="0" y="0"/>
                </a:moveTo>
                <a:lnTo>
                  <a:pt x="1024500" y="0"/>
                </a:lnTo>
                <a:lnTo>
                  <a:pt x="1024500" y="1249392"/>
                </a:lnTo>
                <a:lnTo>
                  <a:pt x="0" y="12493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 rot="24753">
            <a:off x="7835522" y="6987705"/>
            <a:ext cx="1996174" cy="1271550"/>
          </a:xfrm>
          <a:custGeom>
            <a:avLst/>
            <a:gdLst/>
            <a:ahLst/>
            <a:cxnLst/>
            <a:rect l="l" t="t" r="r" b="b"/>
            <a:pathLst>
              <a:path w="1996174" h="1271550">
                <a:moveTo>
                  <a:pt x="0" y="0"/>
                </a:moveTo>
                <a:lnTo>
                  <a:pt x="1996174" y="0"/>
                </a:lnTo>
                <a:lnTo>
                  <a:pt x="1996174" y="1271550"/>
                </a:lnTo>
                <a:lnTo>
                  <a:pt x="0" y="1271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b="-14292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4336549" y="3870176"/>
            <a:ext cx="1901210" cy="1841797"/>
          </a:xfrm>
          <a:custGeom>
            <a:avLst/>
            <a:gdLst/>
            <a:ahLst/>
            <a:cxnLst/>
            <a:rect l="l" t="t" r="r" b="b"/>
            <a:pathLst>
              <a:path w="1901210" h="1841797">
                <a:moveTo>
                  <a:pt x="0" y="0"/>
                </a:moveTo>
                <a:lnTo>
                  <a:pt x="1901210" y="0"/>
                </a:lnTo>
                <a:lnTo>
                  <a:pt x="1901210" y="1841798"/>
                </a:lnTo>
                <a:lnTo>
                  <a:pt x="0" y="18417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4.3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909082" y="493155"/>
            <a:ext cx="309157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Graph Traversal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319462" y="2349776"/>
            <a:ext cx="7853946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Graph Traversal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2349776"/>
            <a:ext cx="6383635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Hybrid RAG: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420011" y="5162550"/>
            <a:ext cx="1447389" cy="346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2500" dirty="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Extraction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6048678"/>
            <a:ext cx="1636216" cy="761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7"/>
              </a:lnSpc>
            </a:pPr>
            <a:r>
              <a:rPr lang="en-US" sz="2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Session</a:t>
            </a:r>
          </a:p>
          <a:p>
            <a:pPr algn="ctr">
              <a:lnSpc>
                <a:spcPts val="2957"/>
              </a:lnSpc>
            </a:pPr>
            <a:r>
              <a:rPr lang="en-US" sz="2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Transcript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106931" y="5644056"/>
            <a:ext cx="1453356" cy="761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7"/>
              </a:lnSpc>
            </a:pPr>
            <a:r>
              <a:rPr lang="en-US" sz="2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Nodes</a:t>
            </a:r>
          </a:p>
          <a:p>
            <a:pPr algn="ctr">
              <a:lnSpc>
                <a:spcPts val="2957"/>
              </a:lnSpc>
            </a:pPr>
            <a:r>
              <a:rPr lang="en-US" sz="2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&amp; Edgess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850816" y="4724401"/>
            <a:ext cx="1417384" cy="342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2500" dirty="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Clustering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441324" y="5953428"/>
            <a:ext cx="1862237" cy="761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7"/>
              </a:lnSpc>
            </a:pPr>
            <a:r>
              <a:rPr lang="en-US" sz="2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PostgreSQL</a:t>
            </a:r>
          </a:p>
          <a:p>
            <a:pPr algn="ctr">
              <a:lnSpc>
                <a:spcPts val="2957"/>
              </a:lnSpc>
            </a:pPr>
            <a:r>
              <a:rPr lang="en-US" sz="2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(NetworkX)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02960" y="7919323"/>
            <a:ext cx="1866702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25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Transformed </a:t>
            </a:r>
          </a:p>
          <a:p>
            <a:pPr algn="ctr">
              <a:lnSpc>
                <a:spcPts val="2550"/>
              </a:lnSpc>
            </a:pPr>
            <a:r>
              <a:rPr lang="en-US" sz="25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into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55030" y="8642368"/>
            <a:ext cx="983556" cy="390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7"/>
              </a:lnSpc>
            </a:pPr>
            <a:r>
              <a:rPr lang="en-US" sz="2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Query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391266" y="8496681"/>
            <a:ext cx="2884686" cy="761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7"/>
              </a:lnSpc>
            </a:pPr>
            <a:r>
              <a:rPr lang="en-US" sz="2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Fuzzy &amp; Heuristic </a:t>
            </a:r>
          </a:p>
          <a:p>
            <a:pPr algn="ctr">
              <a:lnSpc>
                <a:spcPts val="2957"/>
              </a:lnSpc>
            </a:pPr>
            <a:r>
              <a:rPr lang="en-US" sz="2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matching wordss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684971" y="7620000"/>
            <a:ext cx="1850628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25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Nodes search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768018" y="8115300"/>
            <a:ext cx="1767582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25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Graph hopes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945681" y="6891050"/>
            <a:ext cx="1399183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sz="24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Context Fusion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Hybrid RAG</a:t>
            </a:r>
          </a:p>
        </p:txBody>
      </p:sp>
      <p:sp>
        <p:nvSpPr>
          <p:cNvPr id="39" name="Freeform 39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878691" y="4530989"/>
            <a:ext cx="520172" cy="520172"/>
          </a:xfrm>
          <a:custGeom>
            <a:avLst/>
            <a:gdLst/>
            <a:ahLst/>
            <a:cxnLst/>
            <a:rect l="l" t="t" r="r" b="b"/>
            <a:pathLst>
              <a:path w="520172" h="520172">
                <a:moveTo>
                  <a:pt x="0" y="0"/>
                </a:moveTo>
                <a:lnTo>
                  <a:pt x="520172" y="0"/>
                </a:lnTo>
                <a:lnTo>
                  <a:pt x="520172" y="520172"/>
                </a:lnTo>
                <a:lnTo>
                  <a:pt x="0" y="520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6093371" y="4925253"/>
            <a:ext cx="970423" cy="0"/>
          </a:xfrm>
          <a:prstGeom prst="line">
            <a:avLst/>
          </a:prstGeom>
          <a:ln w="38100" cap="flat">
            <a:solidFill>
              <a:srgbClr val="140E0C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28700" y="4356879"/>
            <a:ext cx="1450547" cy="1098647"/>
          </a:xfrm>
          <a:custGeom>
            <a:avLst/>
            <a:gdLst/>
            <a:ahLst/>
            <a:cxnLst/>
            <a:rect l="l" t="t" r="r" b="b"/>
            <a:pathLst>
              <a:path w="1450547" h="1098647">
                <a:moveTo>
                  <a:pt x="0" y="0"/>
                </a:moveTo>
                <a:lnTo>
                  <a:pt x="1450547" y="0"/>
                </a:lnTo>
                <a:lnTo>
                  <a:pt x="1450547" y="1098647"/>
                </a:lnTo>
                <a:lnTo>
                  <a:pt x="0" y="1098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09619" b="-1767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2953287" y="4925253"/>
            <a:ext cx="970423" cy="0"/>
          </a:xfrm>
          <a:prstGeom prst="line">
            <a:avLst/>
          </a:prstGeom>
          <a:ln w="38100" cap="flat">
            <a:solidFill>
              <a:srgbClr val="140E0C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711484" y="4131777"/>
            <a:ext cx="1373419" cy="1647280"/>
          </a:xfrm>
          <a:custGeom>
            <a:avLst/>
            <a:gdLst/>
            <a:ahLst/>
            <a:cxnLst/>
            <a:rect l="l" t="t" r="r" b="b"/>
            <a:pathLst>
              <a:path w="1373419" h="1647280">
                <a:moveTo>
                  <a:pt x="0" y="0"/>
                </a:moveTo>
                <a:lnTo>
                  <a:pt x="1373419" y="0"/>
                </a:lnTo>
                <a:lnTo>
                  <a:pt x="1373419" y="1647279"/>
                </a:lnTo>
                <a:lnTo>
                  <a:pt x="0" y="16472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3287959" y="4925253"/>
            <a:ext cx="635751" cy="3231966"/>
          </a:xfrm>
          <a:custGeom>
            <a:avLst/>
            <a:gdLst/>
            <a:ahLst/>
            <a:cxnLst/>
            <a:rect l="l" t="t" r="r" b="b"/>
            <a:pathLst>
              <a:path w="635751" h="3231966">
                <a:moveTo>
                  <a:pt x="0" y="0"/>
                </a:moveTo>
                <a:lnTo>
                  <a:pt x="0" y="3003365"/>
                </a:lnTo>
                <a:cubicBezTo>
                  <a:pt x="0" y="3063994"/>
                  <a:pt x="24085" y="3122140"/>
                  <a:pt x="66956" y="3165010"/>
                </a:cubicBezTo>
                <a:cubicBezTo>
                  <a:pt x="109827" y="3207881"/>
                  <a:pt x="167972" y="3231965"/>
                  <a:pt x="228600" y="3231965"/>
                </a:cubicBezTo>
                <a:lnTo>
                  <a:pt x="635751" y="3231965"/>
                </a:lnTo>
              </a:path>
            </a:pathLst>
          </a:custGeom>
          <a:ln w="38100" cap="flat">
            <a:solidFill>
              <a:srgbClr val="140E0C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7540044" y="7266483"/>
            <a:ext cx="1901210" cy="1841797"/>
          </a:xfrm>
          <a:custGeom>
            <a:avLst/>
            <a:gdLst/>
            <a:ahLst/>
            <a:cxnLst/>
            <a:rect l="l" t="t" r="r" b="b"/>
            <a:pathLst>
              <a:path w="1901210" h="1841797">
                <a:moveTo>
                  <a:pt x="0" y="0"/>
                </a:moveTo>
                <a:lnTo>
                  <a:pt x="1901210" y="0"/>
                </a:lnTo>
                <a:lnTo>
                  <a:pt x="1901210" y="1841798"/>
                </a:lnTo>
                <a:lnTo>
                  <a:pt x="0" y="18417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6093371" y="7975071"/>
            <a:ext cx="970423" cy="0"/>
          </a:xfrm>
          <a:prstGeom prst="line">
            <a:avLst/>
          </a:prstGeom>
          <a:ln w="38100" cap="flat">
            <a:solidFill>
              <a:srgbClr val="140E0C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9565079" y="8055175"/>
            <a:ext cx="970423" cy="0"/>
          </a:xfrm>
          <a:prstGeom prst="line">
            <a:avLst/>
          </a:prstGeom>
          <a:ln w="38100" cap="flat">
            <a:solidFill>
              <a:srgbClr val="140E0C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1078298" y="7413821"/>
            <a:ext cx="383040" cy="490291"/>
          </a:xfrm>
          <a:custGeom>
            <a:avLst/>
            <a:gdLst/>
            <a:ahLst/>
            <a:cxnLst/>
            <a:rect l="l" t="t" r="r" b="b"/>
            <a:pathLst>
              <a:path w="383040" h="490291">
                <a:moveTo>
                  <a:pt x="0" y="0"/>
                </a:moveTo>
                <a:lnTo>
                  <a:pt x="383040" y="0"/>
                </a:lnTo>
                <a:lnTo>
                  <a:pt x="383040" y="490292"/>
                </a:lnTo>
                <a:lnTo>
                  <a:pt x="0" y="4902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1594688" y="8294460"/>
            <a:ext cx="402725" cy="515487"/>
          </a:xfrm>
          <a:custGeom>
            <a:avLst/>
            <a:gdLst/>
            <a:ahLst/>
            <a:cxnLst/>
            <a:rect l="l" t="t" r="r" b="b"/>
            <a:pathLst>
              <a:path w="402725" h="515487">
                <a:moveTo>
                  <a:pt x="0" y="0"/>
                </a:moveTo>
                <a:lnTo>
                  <a:pt x="402725" y="0"/>
                </a:lnTo>
                <a:lnTo>
                  <a:pt x="402725" y="515488"/>
                </a:lnTo>
                <a:lnTo>
                  <a:pt x="0" y="5154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1501228" y="7379170"/>
            <a:ext cx="589646" cy="754747"/>
          </a:xfrm>
          <a:custGeom>
            <a:avLst/>
            <a:gdLst/>
            <a:ahLst/>
            <a:cxnLst/>
            <a:rect l="l" t="t" r="r" b="b"/>
            <a:pathLst>
              <a:path w="589646" h="754747">
                <a:moveTo>
                  <a:pt x="0" y="0"/>
                </a:moveTo>
                <a:lnTo>
                  <a:pt x="589645" y="0"/>
                </a:lnTo>
                <a:lnTo>
                  <a:pt x="589645" y="754747"/>
                </a:lnTo>
                <a:lnTo>
                  <a:pt x="0" y="754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0981581" y="8144538"/>
            <a:ext cx="479758" cy="614090"/>
          </a:xfrm>
          <a:custGeom>
            <a:avLst/>
            <a:gdLst/>
            <a:ahLst/>
            <a:cxnLst/>
            <a:rect l="l" t="t" r="r" b="b"/>
            <a:pathLst>
              <a:path w="479758" h="614090">
                <a:moveTo>
                  <a:pt x="0" y="0"/>
                </a:moveTo>
                <a:lnTo>
                  <a:pt x="479757" y="0"/>
                </a:lnTo>
                <a:lnTo>
                  <a:pt x="479757" y="614089"/>
                </a:lnTo>
                <a:lnTo>
                  <a:pt x="0" y="614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1003409" y="4255752"/>
            <a:ext cx="383040" cy="490291"/>
          </a:xfrm>
          <a:custGeom>
            <a:avLst/>
            <a:gdLst/>
            <a:ahLst/>
            <a:cxnLst/>
            <a:rect l="l" t="t" r="r" b="b"/>
            <a:pathLst>
              <a:path w="383040" h="490291">
                <a:moveTo>
                  <a:pt x="0" y="0"/>
                </a:moveTo>
                <a:lnTo>
                  <a:pt x="383041" y="0"/>
                </a:lnTo>
                <a:lnTo>
                  <a:pt x="383041" y="490292"/>
                </a:lnTo>
                <a:lnTo>
                  <a:pt x="0" y="4902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1461338" y="4827064"/>
            <a:ext cx="402725" cy="515487"/>
          </a:xfrm>
          <a:custGeom>
            <a:avLst/>
            <a:gdLst/>
            <a:ahLst/>
            <a:cxnLst/>
            <a:rect l="l" t="t" r="r" b="b"/>
            <a:pathLst>
              <a:path w="402725" h="515487">
                <a:moveTo>
                  <a:pt x="0" y="0"/>
                </a:moveTo>
                <a:lnTo>
                  <a:pt x="402725" y="0"/>
                </a:lnTo>
                <a:lnTo>
                  <a:pt x="402725" y="515487"/>
                </a:lnTo>
                <a:lnTo>
                  <a:pt x="0" y="5154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0941708" y="5044741"/>
            <a:ext cx="465329" cy="595621"/>
          </a:xfrm>
          <a:custGeom>
            <a:avLst/>
            <a:gdLst/>
            <a:ahLst/>
            <a:cxnLst/>
            <a:rect l="l" t="t" r="r" b="b"/>
            <a:pathLst>
              <a:path w="465329" h="595621">
                <a:moveTo>
                  <a:pt x="0" y="0"/>
                </a:moveTo>
                <a:lnTo>
                  <a:pt x="465329" y="0"/>
                </a:lnTo>
                <a:lnTo>
                  <a:pt x="465329" y="595621"/>
                </a:lnTo>
                <a:lnTo>
                  <a:pt x="0" y="5956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1517655" y="4131777"/>
            <a:ext cx="479758" cy="614090"/>
          </a:xfrm>
          <a:custGeom>
            <a:avLst/>
            <a:gdLst/>
            <a:ahLst/>
            <a:cxnLst/>
            <a:rect l="l" t="t" r="r" b="b"/>
            <a:pathLst>
              <a:path w="479758" h="614090">
                <a:moveTo>
                  <a:pt x="0" y="0"/>
                </a:moveTo>
                <a:lnTo>
                  <a:pt x="479758" y="0"/>
                </a:lnTo>
                <a:lnTo>
                  <a:pt x="479758" y="614089"/>
                </a:lnTo>
                <a:lnTo>
                  <a:pt x="0" y="614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>
            <a:off x="9565079" y="5043457"/>
            <a:ext cx="970423" cy="0"/>
          </a:xfrm>
          <a:prstGeom prst="line">
            <a:avLst/>
          </a:prstGeom>
          <a:ln w="38100" cap="flat">
            <a:solidFill>
              <a:srgbClr val="140E0C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1997413" y="5044741"/>
            <a:ext cx="320051" cy="409666"/>
          </a:xfrm>
          <a:custGeom>
            <a:avLst/>
            <a:gdLst/>
            <a:ahLst/>
            <a:cxnLst/>
            <a:rect l="l" t="t" r="r" b="b"/>
            <a:pathLst>
              <a:path w="320051" h="409666">
                <a:moveTo>
                  <a:pt x="0" y="0"/>
                </a:moveTo>
                <a:lnTo>
                  <a:pt x="320051" y="0"/>
                </a:lnTo>
                <a:lnTo>
                  <a:pt x="320051" y="409666"/>
                </a:lnTo>
                <a:lnTo>
                  <a:pt x="0" y="409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2741834" y="5287937"/>
            <a:ext cx="901833" cy="2850232"/>
          </a:xfrm>
          <a:custGeom>
            <a:avLst/>
            <a:gdLst/>
            <a:ahLst/>
            <a:cxnLst/>
            <a:rect l="l" t="t" r="r" b="b"/>
            <a:pathLst>
              <a:path w="901833" h="2850232">
                <a:moveTo>
                  <a:pt x="0" y="2850231"/>
                </a:moveTo>
                <a:lnTo>
                  <a:pt x="167833" y="2850231"/>
                </a:lnTo>
                <a:cubicBezTo>
                  <a:pt x="260524" y="2850231"/>
                  <a:pt x="335665" y="2775090"/>
                  <a:pt x="335665" y="2682399"/>
                </a:cubicBezTo>
                <a:lnTo>
                  <a:pt x="335665" y="228600"/>
                </a:lnTo>
                <a:cubicBezTo>
                  <a:pt x="335665" y="102347"/>
                  <a:pt x="438013" y="0"/>
                  <a:pt x="564265" y="0"/>
                </a:cubicBezTo>
                <a:lnTo>
                  <a:pt x="901832" y="0"/>
                </a:lnTo>
              </a:path>
            </a:pathLst>
          </a:custGeom>
          <a:ln w="38100" cap="flat">
            <a:solidFill>
              <a:srgbClr val="140E0C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>
            <a:off x="12741834" y="4791075"/>
            <a:ext cx="954602" cy="0"/>
          </a:xfrm>
          <a:prstGeom prst="line">
            <a:avLst/>
          </a:prstGeom>
          <a:ln w="38100" cap="flat">
            <a:solidFill>
              <a:srgbClr val="140E0C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6139424" y="3903634"/>
            <a:ext cx="1119876" cy="1139823"/>
          </a:xfrm>
          <a:custGeom>
            <a:avLst/>
            <a:gdLst/>
            <a:ahLst/>
            <a:cxnLst/>
            <a:rect l="l" t="t" r="r" b="b"/>
            <a:pathLst>
              <a:path w="1119876" h="1139823">
                <a:moveTo>
                  <a:pt x="0" y="0"/>
                </a:moveTo>
                <a:lnTo>
                  <a:pt x="1119876" y="0"/>
                </a:lnTo>
                <a:lnTo>
                  <a:pt x="1119876" y="1139823"/>
                </a:lnTo>
                <a:lnTo>
                  <a:pt x="0" y="1139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4.4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09082" y="493155"/>
            <a:ext cx="309157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Hybrid RAG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19462" y="2349776"/>
            <a:ext cx="7853946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Fusing Data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8700" y="2349776"/>
            <a:ext cx="6383635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Hybrid RAG: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150767" y="5205906"/>
            <a:ext cx="1942604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25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Vector Search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71215" y="5884151"/>
            <a:ext cx="983556" cy="390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7"/>
              </a:lnSpc>
            </a:pPr>
            <a:r>
              <a:rPr lang="en-US" sz="2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Query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95365" y="5961558"/>
            <a:ext cx="1605657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25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PostgreSQL</a:t>
            </a:r>
          </a:p>
          <a:p>
            <a:pPr algn="ctr">
              <a:lnSpc>
                <a:spcPts val="2550"/>
              </a:lnSpc>
            </a:pPr>
            <a:r>
              <a:rPr lang="en-US" sz="25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(pgVector)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59530" y="9279961"/>
            <a:ext cx="1862237" cy="761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7"/>
              </a:lnSpc>
            </a:pPr>
            <a:r>
              <a:rPr lang="en-US" sz="2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PostgreSQL</a:t>
            </a:r>
          </a:p>
          <a:p>
            <a:pPr algn="ctr">
              <a:lnSpc>
                <a:spcPts val="2957"/>
              </a:lnSpc>
            </a:pPr>
            <a:r>
              <a:rPr lang="en-US" sz="2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(NetworkX)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927723" y="8370852"/>
            <a:ext cx="2388691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25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Graph Traveersal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330620" y="9248098"/>
            <a:ext cx="2411214" cy="390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7"/>
              </a:lnSpc>
            </a:pPr>
            <a:r>
              <a:rPr lang="en-US" sz="2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Context Fusion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300330" y="6090029"/>
            <a:ext cx="2322016" cy="390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7"/>
              </a:lnSpc>
            </a:pPr>
            <a:r>
              <a:rPr lang="en-US" sz="2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Similar chunks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6354478" y="5283147"/>
            <a:ext cx="689769" cy="390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7"/>
              </a:lnSpc>
            </a:pPr>
            <a:r>
              <a:rPr lang="en-US" sz="28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LLM</a:t>
            </a:r>
          </a:p>
        </p:txBody>
      </p:sp>
      <p:sp>
        <p:nvSpPr>
          <p:cNvPr id="38" name="Freeform 38"/>
          <p:cNvSpPr/>
          <p:nvPr/>
        </p:nvSpPr>
        <p:spPr>
          <a:xfrm>
            <a:off x="4845275" y="7658967"/>
            <a:ext cx="553587" cy="553587"/>
          </a:xfrm>
          <a:custGeom>
            <a:avLst/>
            <a:gdLst/>
            <a:ahLst/>
            <a:cxnLst/>
            <a:rect l="l" t="t" r="r" b="b"/>
            <a:pathLst>
              <a:path w="553587" h="553587">
                <a:moveTo>
                  <a:pt x="0" y="0"/>
                </a:moveTo>
                <a:lnTo>
                  <a:pt x="553588" y="0"/>
                </a:lnTo>
                <a:lnTo>
                  <a:pt x="553588" y="553587"/>
                </a:lnTo>
                <a:lnTo>
                  <a:pt x="0" y="5535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13804131" y="4973612"/>
            <a:ext cx="1500981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25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Combined </a:t>
            </a:r>
          </a:p>
          <a:p>
            <a:pPr algn="ctr">
              <a:lnSpc>
                <a:spcPts val="2550"/>
              </a:lnSpc>
            </a:pPr>
            <a:r>
              <a:rPr lang="en-US" sz="25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Context</a:t>
            </a:r>
          </a:p>
        </p:txBody>
      </p:sp>
      <p:sp>
        <p:nvSpPr>
          <p:cNvPr id="40" name="AutoShape 40"/>
          <p:cNvSpPr/>
          <p:nvPr/>
        </p:nvSpPr>
        <p:spPr>
          <a:xfrm>
            <a:off x="15191507" y="4764916"/>
            <a:ext cx="587825" cy="0"/>
          </a:xfrm>
          <a:prstGeom prst="line">
            <a:avLst/>
          </a:prstGeom>
          <a:ln w="38100" cap="flat">
            <a:solidFill>
              <a:srgbClr val="140E0C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41" name="Freeform 41"/>
          <p:cNvSpPr/>
          <p:nvPr/>
        </p:nvSpPr>
        <p:spPr>
          <a:xfrm flipH="1">
            <a:off x="14081437" y="7116737"/>
            <a:ext cx="1450547" cy="1098647"/>
          </a:xfrm>
          <a:custGeom>
            <a:avLst/>
            <a:gdLst/>
            <a:ahLst/>
            <a:cxnLst/>
            <a:rect l="l" t="t" r="r" b="b"/>
            <a:pathLst>
              <a:path w="1450547" h="1098647">
                <a:moveTo>
                  <a:pt x="1450547" y="0"/>
                </a:moveTo>
                <a:lnTo>
                  <a:pt x="0" y="0"/>
                </a:lnTo>
                <a:lnTo>
                  <a:pt x="0" y="1098646"/>
                </a:lnTo>
                <a:lnTo>
                  <a:pt x="1450547" y="1098646"/>
                </a:lnTo>
                <a:lnTo>
                  <a:pt x="145054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09619" b="-1767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TextBox 42"/>
          <p:cNvSpPr txBox="1"/>
          <p:nvPr/>
        </p:nvSpPr>
        <p:spPr>
          <a:xfrm>
            <a:off x="13966377" y="8453508"/>
            <a:ext cx="1901210" cy="7847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57"/>
              </a:lnSpc>
            </a:pPr>
            <a:r>
              <a:rPr lang="en-US" sz="2899" dirty="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Contextual</a:t>
            </a:r>
          </a:p>
          <a:p>
            <a:pPr algn="ctr">
              <a:lnSpc>
                <a:spcPts val="2957"/>
              </a:lnSpc>
            </a:pPr>
            <a:r>
              <a:rPr lang="en-US" sz="2899" dirty="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Answer</a:t>
            </a:r>
          </a:p>
        </p:txBody>
      </p:sp>
      <p:sp>
        <p:nvSpPr>
          <p:cNvPr id="43" name="Freeform 43"/>
          <p:cNvSpPr/>
          <p:nvPr/>
        </p:nvSpPr>
        <p:spPr>
          <a:xfrm>
            <a:off x="16099220" y="6042404"/>
            <a:ext cx="600142" cy="1616563"/>
          </a:xfrm>
          <a:custGeom>
            <a:avLst/>
            <a:gdLst/>
            <a:ahLst/>
            <a:cxnLst/>
            <a:rect l="l" t="t" r="r" b="b"/>
            <a:pathLst>
              <a:path w="600142" h="1616563">
                <a:moveTo>
                  <a:pt x="600142" y="0"/>
                </a:moveTo>
                <a:lnTo>
                  <a:pt x="600142" y="1387963"/>
                </a:lnTo>
                <a:cubicBezTo>
                  <a:pt x="600142" y="1514215"/>
                  <a:pt x="497795" y="1616563"/>
                  <a:pt x="371542" y="1616563"/>
                </a:cubicBezTo>
                <a:lnTo>
                  <a:pt x="0" y="1616563"/>
                </a:lnTo>
              </a:path>
            </a:pathLst>
          </a:custGeom>
          <a:ln w="38100" cap="flat">
            <a:solidFill>
              <a:srgbClr val="140E0C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44" name="Freeform 44"/>
          <p:cNvSpPr/>
          <p:nvPr/>
        </p:nvSpPr>
        <p:spPr>
          <a:xfrm>
            <a:off x="14253123" y="4371665"/>
            <a:ext cx="553587" cy="553587"/>
          </a:xfrm>
          <a:custGeom>
            <a:avLst/>
            <a:gdLst/>
            <a:ahLst/>
            <a:cxnLst/>
            <a:rect l="l" t="t" r="r" b="b"/>
            <a:pathLst>
              <a:path w="553587" h="553587">
                <a:moveTo>
                  <a:pt x="0" y="0"/>
                </a:moveTo>
                <a:lnTo>
                  <a:pt x="553588" y="0"/>
                </a:lnTo>
                <a:lnTo>
                  <a:pt x="553588" y="553588"/>
                </a:lnTo>
                <a:lnTo>
                  <a:pt x="0" y="5535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TextBox 45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Hybrid RAG</a:t>
            </a:r>
          </a:p>
        </p:txBody>
      </p:sp>
      <p:sp>
        <p:nvSpPr>
          <p:cNvPr id="46" name="Freeform 46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BD473-50E2-9E6E-7B8D-AE6B121B7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40ACCFC-79E5-35A4-9252-DCD4642A24A6}"/>
              </a:ext>
            </a:extLst>
          </p:cNvPr>
          <p:cNvSpPr/>
          <p:nvPr/>
        </p:nvSpPr>
        <p:spPr>
          <a:xfrm>
            <a:off x="1028700" y="38969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6E78F23-3989-12E0-C5E7-4A06B675EF99}"/>
              </a:ext>
            </a:extLst>
          </p:cNvPr>
          <p:cNvSpPr/>
          <p:nvPr/>
        </p:nvSpPr>
        <p:spPr>
          <a:xfrm>
            <a:off x="1028700" y="533649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75F911D-47EA-0A44-E313-9A7A1320418A}"/>
              </a:ext>
            </a:extLst>
          </p:cNvPr>
          <p:cNvSpPr/>
          <p:nvPr/>
        </p:nvSpPr>
        <p:spPr>
          <a:xfrm>
            <a:off x="10303079" y="38969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DDB4FF44-CEC4-BE0C-74E3-5193BA46B4E9}"/>
              </a:ext>
            </a:extLst>
          </p:cNvPr>
          <p:cNvSpPr/>
          <p:nvPr/>
        </p:nvSpPr>
        <p:spPr>
          <a:xfrm>
            <a:off x="10303079" y="533649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D1198DF-2ED2-6950-A6C6-A3CB5DC9F611}"/>
              </a:ext>
            </a:extLst>
          </p:cNvPr>
          <p:cNvSpPr txBox="1"/>
          <p:nvPr/>
        </p:nvSpPr>
        <p:spPr>
          <a:xfrm>
            <a:off x="1028700" y="990884"/>
            <a:ext cx="6462096" cy="1311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71"/>
              </a:lnSpc>
            </a:pPr>
            <a:r>
              <a:rPr lang="en-US" sz="11323" b="1" spc="-679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Content.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0B839BE-8A99-4456-3819-839EB14B2C2C}"/>
              </a:ext>
            </a:extLst>
          </p:cNvPr>
          <p:cNvSpPr txBox="1"/>
          <p:nvPr/>
        </p:nvSpPr>
        <p:spPr>
          <a:xfrm>
            <a:off x="2396992" y="3082626"/>
            <a:ext cx="2180301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Introduction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&amp; Importance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B4414B9-47BE-80F4-E69B-4E6CC7999215}"/>
              </a:ext>
            </a:extLst>
          </p:cNvPr>
          <p:cNvSpPr txBox="1"/>
          <p:nvPr/>
        </p:nvSpPr>
        <p:spPr>
          <a:xfrm>
            <a:off x="2396992" y="4522176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 Features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EB5C5F4-BBBE-EFCB-A373-C525D61B6110}"/>
              </a:ext>
            </a:extLst>
          </p:cNvPr>
          <p:cNvSpPr txBox="1"/>
          <p:nvPr/>
        </p:nvSpPr>
        <p:spPr>
          <a:xfrm>
            <a:off x="11667638" y="4522176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Results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&amp; Analysis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093357C-62F0-9652-184D-A6FDC923B1A8}"/>
              </a:ext>
            </a:extLst>
          </p:cNvPr>
          <p:cNvSpPr txBox="1"/>
          <p:nvPr/>
        </p:nvSpPr>
        <p:spPr>
          <a:xfrm>
            <a:off x="11667638" y="5933589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Futu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Work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C06C112-2FC8-3CD1-4D7C-5E82592ACCF5}"/>
              </a:ext>
            </a:extLst>
          </p:cNvPr>
          <p:cNvSpPr txBox="1"/>
          <p:nvPr/>
        </p:nvSpPr>
        <p:spPr>
          <a:xfrm>
            <a:off x="1028700" y="29211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1.0 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65315A2-3AD7-F5DE-961A-F10851B99510}"/>
              </a:ext>
            </a:extLst>
          </p:cNvPr>
          <p:cNvSpPr txBox="1"/>
          <p:nvPr/>
        </p:nvSpPr>
        <p:spPr>
          <a:xfrm>
            <a:off x="1028700" y="436068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66B1E68-08DC-1A45-6651-5AF92BACA728}"/>
              </a:ext>
            </a:extLst>
          </p:cNvPr>
          <p:cNvSpPr txBox="1"/>
          <p:nvPr/>
        </p:nvSpPr>
        <p:spPr>
          <a:xfrm>
            <a:off x="10303079" y="29211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5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66E4675-0AC3-E4E8-CA6F-B9D94400DB38}"/>
              </a:ext>
            </a:extLst>
          </p:cNvPr>
          <p:cNvSpPr txBox="1"/>
          <p:nvPr/>
        </p:nvSpPr>
        <p:spPr>
          <a:xfrm>
            <a:off x="10303079" y="436068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6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C9DFCEBE-ADB4-2BF3-7AC2-A95370B03DC8}"/>
              </a:ext>
            </a:extLst>
          </p:cNvPr>
          <p:cNvSpPr/>
          <p:nvPr/>
        </p:nvSpPr>
        <p:spPr>
          <a:xfrm>
            <a:off x="1028700" y="67760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D6689359-51EE-B781-82B2-E6379D8C8C11}"/>
              </a:ext>
            </a:extLst>
          </p:cNvPr>
          <p:cNvSpPr/>
          <p:nvPr/>
        </p:nvSpPr>
        <p:spPr>
          <a:xfrm>
            <a:off x="10303079" y="67760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603455E-EC5A-2892-2EAA-8363CA2C10E9}"/>
              </a:ext>
            </a:extLst>
          </p:cNvPr>
          <p:cNvSpPr txBox="1"/>
          <p:nvPr/>
        </p:nvSpPr>
        <p:spPr>
          <a:xfrm>
            <a:off x="2396992" y="5961727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Syst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em Architecture 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06D611C-5F09-F0B6-E2ED-0E34011F344A}"/>
              </a:ext>
            </a:extLst>
          </p:cNvPr>
          <p:cNvSpPr txBox="1"/>
          <p:nvPr/>
        </p:nvSpPr>
        <p:spPr>
          <a:xfrm>
            <a:off x="1028700" y="58002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5D08C1A-D832-595A-7C0D-4C70266DF6C1}"/>
              </a:ext>
            </a:extLst>
          </p:cNvPr>
          <p:cNvSpPr txBox="1"/>
          <p:nvPr/>
        </p:nvSpPr>
        <p:spPr>
          <a:xfrm>
            <a:off x="10303079" y="58002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7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B9F6BE1F-77CA-7010-6430-5DFC5D091301}"/>
              </a:ext>
            </a:extLst>
          </p:cNvPr>
          <p:cNvSpPr/>
          <p:nvPr/>
        </p:nvSpPr>
        <p:spPr>
          <a:xfrm>
            <a:off x="1028700" y="821559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844A7DC-E039-0FC9-9857-495570E42289}"/>
              </a:ext>
            </a:extLst>
          </p:cNvPr>
          <p:cNvSpPr txBox="1"/>
          <p:nvPr/>
        </p:nvSpPr>
        <p:spPr>
          <a:xfrm>
            <a:off x="2396992" y="7401277"/>
            <a:ext cx="2749832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Hybrid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RAG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BD109D8-F629-D3B3-4455-7D6E35D2219B}"/>
              </a:ext>
            </a:extLst>
          </p:cNvPr>
          <p:cNvSpPr txBox="1"/>
          <p:nvPr/>
        </p:nvSpPr>
        <p:spPr>
          <a:xfrm>
            <a:off x="1028700" y="723978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B4F2628-DC3A-2B3E-4082-6E9D71389B39}"/>
              </a:ext>
            </a:extLst>
          </p:cNvPr>
          <p:cNvSpPr txBox="1"/>
          <p:nvPr/>
        </p:nvSpPr>
        <p:spPr>
          <a:xfrm>
            <a:off x="11667638" y="3234692"/>
            <a:ext cx="2749832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Implement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ation </a:t>
            </a: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B1EB2967-A779-8CFF-F061-4E72BC18B900}"/>
              </a:ext>
            </a:extLst>
          </p:cNvPr>
          <p:cNvSpPr/>
          <p:nvPr/>
        </p:nvSpPr>
        <p:spPr>
          <a:xfrm>
            <a:off x="10303079" y="8206067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40DC950-94BE-42F6-7D3B-EF12B5B11DA0}"/>
              </a:ext>
            </a:extLst>
          </p:cNvPr>
          <p:cNvSpPr txBox="1"/>
          <p:nvPr/>
        </p:nvSpPr>
        <p:spPr>
          <a:xfrm>
            <a:off x="11671372" y="7543817"/>
            <a:ext cx="1895536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Conclusion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FE12EF7-4DE0-C196-6FB5-16C5CF080592}"/>
              </a:ext>
            </a:extLst>
          </p:cNvPr>
          <p:cNvSpPr txBox="1"/>
          <p:nvPr/>
        </p:nvSpPr>
        <p:spPr>
          <a:xfrm>
            <a:off x="10303079" y="7230264"/>
            <a:ext cx="1221684" cy="821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8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</p:spTree>
    <p:extLst>
      <p:ext uri="{BB962C8B-B14F-4D97-AF65-F5344CB8AC3E}">
        <p14:creationId xmlns:p14="http://schemas.microsoft.com/office/powerpoint/2010/main" val="1432310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77" b="-92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2636013"/>
            <a:ext cx="4970131" cy="420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384"/>
              </a:lnSpc>
              <a:spcBef>
                <a:spcPct val="0"/>
              </a:spcBef>
            </a:pPr>
            <a:r>
              <a:rPr lang="en-US" sz="24560" b="1" spc="-147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5.0</a:t>
            </a:r>
          </a:p>
        </p:txBody>
      </p:sp>
      <p:sp>
        <p:nvSpPr>
          <p:cNvPr id="4" name="AutoShape 4"/>
          <p:cNvSpPr/>
          <p:nvPr/>
        </p:nvSpPr>
        <p:spPr>
          <a:xfrm>
            <a:off x="1028700" y="9751838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Hybrid RAG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Page 5.0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09082" y="493142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Section 5.0</a:t>
            </a:r>
          </a:p>
        </p:txBody>
      </p:sp>
      <p:sp>
        <p:nvSpPr>
          <p:cNvPr id="8" name="AutoShape 8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Bluseel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00423" y="4315778"/>
            <a:ext cx="11339847" cy="1645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089"/>
              </a:lnSpc>
              <a:spcBef>
                <a:spcPct val="0"/>
              </a:spcBef>
            </a:pPr>
            <a:r>
              <a:rPr lang="en-US" sz="12999" b="1" spc="-25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Implementation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717110"/>
            <a:ext cx="19644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Group Members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9124445"/>
            <a:ext cx="579554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Muhammad Ahmed &amp; Attique Rehman Alias Adeel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94855" y="8717110"/>
            <a:ext cx="19644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Supervisor: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557955" y="9059863"/>
            <a:ext cx="270134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Dr. Jawad Shafi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028700" y="2032369"/>
            <a:ext cx="2971358" cy="5879342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b="-139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405354" y="8146924"/>
            <a:ext cx="7853946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Frontend</a:t>
            </a:r>
          </a:p>
        </p:txBody>
      </p: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7367619" y="2011196"/>
            <a:ext cx="2971358" cy="5879342"/>
            <a:chOff x="0" y="0"/>
            <a:chExt cx="2620010" cy="5184140"/>
          </a:xfrm>
        </p:grpSpPr>
        <p:sp>
          <p:nvSpPr>
            <p:cNvPr id="15" name="Freeform 1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b="-733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28700" y="8146924"/>
            <a:ext cx="8115300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Implementation:</a:t>
            </a:r>
          </a:p>
        </p:txBody>
      </p:sp>
      <p:grpSp>
        <p:nvGrpSpPr>
          <p:cNvPr id="25" name="Group 25"/>
          <p:cNvGrpSpPr>
            <a:grpSpLocks noChangeAspect="1"/>
          </p:cNvGrpSpPr>
          <p:nvPr/>
        </p:nvGrpSpPr>
        <p:grpSpPr>
          <a:xfrm>
            <a:off x="4196236" y="2011196"/>
            <a:ext cx="2971358" cy="5879342"/>
            <a:chOff x="0" y="0"/>
            <a:chExt cx="2620010" cy="5184140"/>
          </a:xfrm>
        </p:grpSpPr>
        <p:sp>
          <p:nvSpPr>
            <p:cNvPr id="26" name="Freeform 2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b="-13218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5.1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909082" y="493155"/>
            <a:ext cx="309157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Frontend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Implementation</a:t>
            </a:r>
          </a:p>
        </p:txBody>
      </p:sp>
      <p:sp>
        <p:nvSpPr>
          <p:cNvPr id="39" name="AutoShape 39"/>
          <p:cNvSpPr/>
          <p:nvPr/>
        </p:nvSpPr>
        <p:spPr>
          <a:xfrm>
            <a:off x="11685731" y="2224104"/>
            <a:ext cx="5029021" cy="0"/>
          </a:xfrm>
          <a:prstGeom prst="line">
            <a:avLst/>
          </a:prstGeom>
          <a:ln w="38100" cap="flat">
            <a:gradFill>
              <a:gsLst>
                <a:gs pos="0">
                  <a:srgbClr val="8A3AFF">
                    <a:alpha val="100000"/>
                  </a:srgbClr>
                </a:gs>
                <a:gs pos="100000">
                  <a:srgbClr val="FF4FF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" name="AutoShape 40"/>
          <p:cNvSpPr/>
          <p:nvPr/>
        </p:nvSpPr>
        <p:spPr>
          <a:xfrm>
            <a:off x="11681303" y="6469496"/>
            <a:ext cx="5029021" cy="0"/>
          </a:xfrm>
          <a:prstGeom prst="line">
            <a:avLst/>
          </a:prstGeom>
          <a:ln w="38100" cap="flat">
            <a:gradFill>
              <a:gsLst>
                <a:gs pos="0">
                  <a:srgbClr val="8A3AFF">
                    <a:alpha val="100000"/>
                  </a:srgbClr>
                </a:gs>
                <a:gs pos="100000">
                  <a:srgbClr val="FF4FF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Box 41"/>
          <p:cNvSpPr txBox="1"/>
          <p:nvPr/>
        </p:nvSpPr>
        <p:spPr>
          <a:xfrm>
            <a:off x="11055829" y="2714027"/>
            <a:ext cx="6203471" cy="69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Clean UI using Flutter 3.10</a:t>
            </a:r>
          </a:p>
          <a:p>
            <a:pPr algn="l">
              <a:lnSpc>
                <a:spcPts val="2694"/>
              </a:lnSpc>
            </a:pPr>
            <a:endParaRPr lang="en-US" sz="3061" b="1" spc="-39">
              <a:solidFill>
                <a:srgbClr val="140E0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1036692" y="4660484"/>
            <a:ext cx="4998753" cy="69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Low-Latency Audio Pipeline</a:t>
            </a:r>
          </a:p>
          <a:p>
            <a:pPr algn="l">
              <a:lnSpc>
                <a:spcPts val="2694"/>
              </a:lnSpc>
            </a:pPr>
            <a:endParaRPr lang="en-US" sz="3061" b="1" spc="-39">
              <a:solidFill>
                <a:srgbClr val="140E0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1036692" y="6854644"/>
            <a:ext cx="4998753" cy="695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Glassmorphic Visual Identity</a:t>
            </a:r>
          </a:p>
          <a:p>
            <a:pPr algn="l">
              <a:lnSpc>
                <a:spcPts val="2694"/>
              </a:lnSpc>
            </a:pPr>
            <a:endParaRPr lang="en-US" sz="3061" b="1" spc="-39">
              <a:solidFill>
                <a:srgbClr val="140E0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44" name="Freeform 44"/>
          <p:cNvSpPr/>
          <p:nvPr/>
        </p:nvSpPr>
        <p:spPr>
          <a:xfrm>
            <a:off x="11036692" y="2038982"/>
            <a:ext cx="394928" cy="370245"/>
          </a:xfrm>
          <a:custGeom>
            <a:avLst/>
            <a:gdLst/>
            <a:ahLst/>
            <a:cxnLst/>
            <a:rect l="l" t="t" r="r" b="b"/>
            <a:pathLst>
              <a:path w="394928" h="370245">
                <a:moveTo>
                  <a:pt x="0" y="0"/>
                </a:moveTo>
                <a:lnTo>
                  <a:pt x="394927" y="0"/>
                </a:lnTo>
                <a:lnTo>
                  <a:pt x="394927" y="370245"/>
                </a:lnTo>
                <a:lnTo>
                  <a:pt x="0" y="3702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5" name="Freeform 45"/>
          <p:cNvSpPr/>
          <p:nvPr/>
        </p:nvSpPr>
        <p:spPr>
          <a:xfrm>
            <a:off x="11032263" y="6284374"/>
            <a:ext cx="394928" cy="370245"/>
          </a:xfrm>
          <a:custGeom>
            <a:avLst/>
            <a:gdLst/>
            <a:ahLst/>
            <a:cxnLst/>
            <a:rect l="l" t="t" r="r" b="b"/>
            <a:pathLst>
              <a:path w="394928" h="370245">
                <a:moveTo>
                  <a:pt x="0" y="0"/>
                </a:moveTo>
                <a:lnTo>
                  <a:pt x="394928" y="0"/>
                </a:lnTo>
                <a:lnTo>
                  <a:pt x="394928" y="370245"/>
                </a:lnTo>
                <a:lnTo>
                  <a:pt x="0" y="3702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6" name="AutoShape 46"/>
          <p:cNvSpPr/>
          <p:nvPr/>
        </p:nvSpPr>
        <p:spPr>
          <a:xfrm>
            <a:off x="11681303" y="4275336"/>
            <a:ext cx="5029021" cy="0"/>
          </a:xfrm>
          <a:prstGeom prst="line">
            <a:avLst/>
          </a:prstGeom>
          <a:ln w="38100" cap="flat">
            <a:gradFill>
              <a:gsLst>
                <a:gs pos="0">
                  <a:srgbClr val="8A3AFF">
                    <a:alpha val="100000"/>
                  </a:srgbClr>
                </a:gs>
                <a:gs pos="100000">
                  <a:srgbClr val="FF4FF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7" name="Freeform 47"/>
          <p:cNvSpPr/>
          <p:nvPr/>
        </p:nvSpPr>
        <p:spPr>
          <a:xfrm>
            <a:off x="11032263" y="4090214"/>
            <a:ext cx="394928" cy="370245"/>
          </a:xfrm>
          <a:custGeom>
            <a:avLst/>
            <a:gdLst/>
            <a:ahLst/>
            <a:cxnLst/>
            <a:rect l="l" t="t" r="r" b="b"/>
            <a:pathLst>
              <a:path w="394928" h="370245">
                <a:moveTo>
                  <a:pt x="0" y="0"/>
                </a:moveTo>
                <a:lnTo>
                  <a:pt x="394928" y="0"/>
                </a:lnTo>
                <a:lnTo>
                  <a:pt x="394928" y="370245"/>
                </a:lnTo>
                <a:lnTo>
                  <a:pt x="0" y="3702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8" name="Freeform 48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TextBox 49"/>
          <p:cNvSpPr txBox="1"/>
          <p:nvPr/>
        </p:nvSpPr>
        <p:spPr>
          <a:xfrm>
            <a:off x="11055829" y="3080386"/>
            <a:ext cx="5678061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U</a:t>
            </a:r>
            <a:r>
              <a:rPr lang="en-US" sz="1800" u="none" strike="noStrike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tilizes the Flutter framework for a smooth, cross-platform mobile experience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229727" y="5042851"/>
            <a:ext cx="5504162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Maintains a direct, custom WebSocket connection to ensure real-time audio streaming and processing with minimal delay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032263" y="7297294"/>
            <a:ext cx="5701626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Employs frosted glass effects and layered UI components to create a modern, visually engaging mobile experience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3866403" y="3387608"/>
            <a:ext cx="2971800" cy="5880217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t="-1273" b="-12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0656478" y="3386733"/>
            <a:ext cx="2971800" cy="5880217"/>
            <a:chOff x="0" y="0"/>
            <a:chExt cx="2620010" cy="5184140"/>
          </a:xfrm>
        </p:grpSpPr>
        <p:sp>
          <p:nvSpPr>
            <p:cNvPr id="14" name="Freeform 1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t="-6970" b="-697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7446553" y="3386733"/>
            <a:ext cx="2971800" cy="5880217"/>
            <a:chOff x="0" y="0"/>
            <a:chExt cx="2620010" cy="5184140"/>
          </a:xfrm>
        </p:grpSpPr>
        <p:sp>
          <p:nvSpPr>
            <p:cNvPr id="24" name="Freeform 2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t="-1273" b="-12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>
            <a:grpSpLocks noChangeAspect="1"/>
          </p:cNvGrpSpPr>
          <p:nvPr/>
        </p:nvGrpSpPr>
        <p:grpSpPr>
          <a:xfrm>
            <a:off x="1028700" y="3387608"/>
            <a:ext cx="2971800" cy="5880217"/>
            <a:chOff x="0" y="0"/>
            <a:chExt cx="2620010" cy="5184140"/>
          </a:xfrm>
        </p:grpSpPr>
        <p:sp>
          <p:nvSpPr>
            <p:cNvPr id="34" name="Freeform 3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50" r="-5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5.2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909082" y="493155"/>
            <a:ext cx="309157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Frontend (2)</a:t>
            </a:r>
          </a:p>
        </p:txBody>
      </p:sp>
      <p:grpSp>
        <p:nvGrpSpPr>
          <p:cNvPr id="46" name="Group 46"/>
          <p:cNvGrpSpPr>
            <a:grpSpLocks noChangeAspect="1"/>
          </p:cNvGrpSpPr>
          <p:nvPr/>
        </p:nvGrpSpPr>
        <p:grpSpPr>
          <a:xfrm>
            <a:off x="4236628" y="3387608"/>
            <a:ext cx="2971800" cy="5880217"/>
            <a:chOff x="0" y="0"/>
            <a:chExt cx="2620010" cy="5184140"/>
          </a:xfrm>
        </p:grpSpPr>
        <p:sp>
          <p:nvSpPr>
            <p:cNvPr id="47" name="Freeform 47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434" r="-4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F7F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2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3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Implementation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339052" y="2349776"/>
            <a:ext cx="5202098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Frontend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28700" y="2349776"/>
            <a:ext cx="8115300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Implementation:</a:t>
            </a:r>
          </a:p>
        </p:txBody>
      </p:sp>
      <p:sp>
        <p:nvSpPr>
          <p:cNvPr id="59" name="Freeform 59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4204897"/>
            <a:ext cx="4964299" cy="5053403"/>
            <a:chOff x="0" y="0"/>
            <a:chExt cx="1021461" cy="10397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21461" cy="1039795"/>
            </a:xfrm>
            <a:custGeom>
              <a:avLst/>
              <a:gdLst/>
              <a:ahLst/>
              <a:cxnLst/>
              <a:rect l="l" t="t" r="r" b="b"/>
              <a:pathLst>
                <a:path w="1021461" h="1039795">
                  <a:moveTo>
                    <a:pt x="30459" y="0"/>
                  </a:moveTo>
                  <a:lnTo>
                    <a:pt x="991001" y="0"/>
                  </a:lnTo>
                  <a:cubicBezTo>
                    <a:pt x="1007824" y="0"/>
                    <a:pt x="1021461" y="13637"/>
                    <a:pt x="1021461" y="30459"/>
                  </a:cubicBezTo>
                  <a:lnTo>
                    <a:pt x="1021461" y="1009336"/>
                  </a:lnTo>
                  <a:cubicBezTo>
                    <a:pt x="1021461" y="1026158"/>
                    <a:pt x="1007824" y="1039795"/>
                    <a:pt x="991001" y="1039795"/>
                  </a:cubicBezTo>
                  <a:lnTo>
                    <a:pt x="30459" y="1039795"/>
                  </a:lnTo>
                  <a:cubicBezTo>
                    <a:pt x="13637" y="1039795"/>
                    <a:pt x="0" y="1026158"/>
                    <a:pt x="0" y="1009336"/>
                  </a:cubicBezTo>
                  <a:lnTo>
                    <a:pt x="0" y="30459"/>
                  </a:lnTo>
                  <a:cubicBezTo>
                    <a:pt x="0" y="13637"/>
                    <a:pt x="13637" y="0"/>
                    <a:pt x="30459" y="0"/>
                  </a:cubicBezTo>
                  <a:close/>
                </a:path>
              </a:pathLst>
            </a:custGeom>
            <a:ln w="114300" cap="rnd">
              <a:solidFill>
                <a:srgbClr val="00808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21461" cy="1077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567958" y="3262005"/>
            <a:ext cx="1885784" cy="1885784"/>
          </a:xfrm>
          <a:custGeom>
            <a:avLst/>
            <a:gdLst/>
            <a:ahLst/>
            <a:cxnLst/>
            <a:rect l="l" t="t" r="r" b="b"/>
            <a:pathLst>
              <a:path w="1885784" h="1885784">
                <a:moveTo>
                  <a:pt x="0" y="0"/>
                </a:moveTo>
                <a:lnTo>
                  <a:pt x="1885784" y="0"/>
                </a:lnTo>
                <a:lnTo>
                  <a:pt x="1885784" y="1885784"/>
                </a:lnTo>
                <a:lnTo>
                  <a:pt x="0" y="1885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6575269" y="4214422"/>
            <a:ext cx="4964299" cy="5053403"/>
            <a:chOff x="0" y="0"/>
            <a:chExt cx="1021461" cy="10397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21461" cy="1039795"/>
            </a:xfrm>
            <a:custGeom>
              <a:avLst/>
              <a:gdLst/>
              <a:ahLst/>
              <a:cxnLst/>
              <a:rect l="l" t="t" r="r" b="b"/>
              <a:pathLst>
                <a:path w="1021461" h="1039795">
                  <a:moveTo>
                    <a:pt x="30459" y="0"/>
                  </a:moveTo>
                  <a:lnTo>
                    <a:pt x="991001" y="0"/>
                  </a:lnTo>
                  <a:cubicBezTo>
                    <a:pt x="1007824" y="0"/>
                    <a:pt x="1021461" y="13637"/>
                    <a:pt x="1021461" y="30459"/>
                  </a:cubicBezTo>
                  <a:lnTo>
                    <a:pt x="1021461" y="1009336"/>
                  </a:lnTo>
                  <a:cubicBezTo>
                    <a:pt x="1021461" y="1026158"/>
                    <a:pt x="1007824" y="1039795"/>
                    <a:pt x="991001" y="1039795"/>
                  </a:cubicBezTo>
                  <a:lnTo>
                    <a:pt x="30459" y="1039795"/>
                  </a:lnTo>
                  <a:cubicBezTo>
                    <a:pt x="13637" y="1039795"/>
                    <a:pt x="0" y="1026158"/>
                    <a:pt x="0" y="1009336"/>
                  </a:cubicBezTo>
                  <a:lnTo>
                    <a:pt x="0" y="30459"/>
                  </a:lnTo>
                  <a:cubicBezTo>
                    <a:pt x="0" y="13637"/>
                    <a:pt x="13637" y="0"/>
                    <a:pt x="30459" y="0"/>
                  </a:cubicBezTo>
                  <a:close/>
                </a:path>
              </a:pathLst>
            </a:custGeom>
            <a:ln w="114300" cap="rnd">
              <a:solidFill>
                <a:srgbClr val="8A3A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21461" cy="1077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8115300" y="3257550"/>
            <a:ext cx="1885950" cy="1885950"/>
          </a:xfrm>
          <a:custGeom>
            <a:avLst/>
            <a:gdLst/>
            <a:ahLst/>
            <a:cxnLst/>
            <a:rect l="l" t="t" r="r" b="b"/>
            <a:pathLst>
              <a:path w="1885950" h="1885950">
                <a:moveTo>
                  <a:pt x="0" y="0"/>
                </a:moveTo>
                <a:lnTo>
                  <a:pt x="1885950" y="0"/>
                </a:lnTo>
                <a:lnTo>
                  <a:pt x="1885950" y="1885950"/>
                </a:lnTo>
                <a:lnTo>
                  <a:pt x="0" y="1885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2120593" y="4214422"/>
            <a:ext cx="4964299" cy="5053403"/>
            <a:chOff x="0" y="0"/>
            <a:chExt cx="1021461" cy="10397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21461" cy="1039795"/>
            </a:xfrm>
            <a:custGeom>
              <a:avLst/>
              <a:gdLst/>
              <a:ahLst/>
              <a:cxnLst/>
              <a:rect l="l" t="t" r="r" b="b"/>
              <a:pathLst>
                <a:path w="1021461" h="1039795">
                  <a:moveTo>
                    <a:pt x="30459" y="0"/>
                  </a:moveTo>
                  <a:lnTo>
                    <a:pt x="991001" y="0"/>
                  </a:lnTo>
                  <a:cubicBezTo>
                    <a:pt x="1007824" y="0"/>
                    <a:pt x="1021461" y="13637"/>
                    <a:pt x="1021461" y="30459"/>
                  </a:cubicBezTo>
                  <a:lnTo>
                    <a:pt x="1021461" y="1009336"/>
                  </a:lnTo>
                  <a:cubicBezTo>
                    <a:pt x="1021461" y="1026158"/>
                    <a:pt x="1007824" y="1039795"/>
                    <a:pt x="991001" y="1039795"/>
                  </a:cubicBezTo>
                  <a:lnTo>
                    <a:pt x="30459" y="1039795"/>
                  </a:lnTo>
                  <a:cubicBezTo>
                    <a:pt x="13637" y="1039795"/>
                    <a:pt x="0" y="1026158"/>
                    <a:pt x="0" y="1009336"/>
                  </a:cubicBezTo>
                  <a:lnTo>
                    <a:pt x="0" y="30459"/>
                  </a:lnTo>
                  <a:cubicBezTo>
                    <a:pt x="0" y="13637"/>
                    <a:pt x="13637" y="0"/>
                    <a:pt x="30459" y="0"/>
                  </a:cubicBezTo>
                  <a:close/>
                </a:path>
              </a:pathLst>
            </a:custGeom>
            <a:ln w="114300" cap="rnd">
              <a:solidFill>
                <a:srgbClr val="E85D0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21461" cy="1077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580050" y="3280889"/>
            <a:ext cx="1885950" cy="1885950"/>
            <a:chOff x="0" y="0"/>
            <a:chExt cx="2514600" cy="2514600"/>
          </a:xfrm>
        </p:grpSpPr>
        <p:grpSp>
          <p:nvGrpSpPr>
            <p:cNvPr id="15" name="Group 15"/>
            <p:cNvGrpSpPr/>
            <p:nvPr/>
          </p:nvGrpSpPr>
          <p:grpSpPr>
            <a:xfrm>
              <a:off x="479233" y="609450"/>
              <a:ext cx="1332889" cy="1389743"/>
              <a:chOff x="0" y="0"/>
              <a:chExt cx="878317" cy="91578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78317" cy="915781"/>
              </a:xfrm>
              <a:custGeom>
                <a:avLst/>
                <a:gdLst/>
                <a:ahLst/>
                <a:cxnLst/>
                <a:rect l="l" t="t" r="r" b="b"/>
                <a:pathLst>
                  <a:path w="878317" h="915781">
                    <a:moveTo>
                      <a:pt x="0" y="0"/>
                    </a:moveTo>
                    <a:lnTo>
                      <a:pt x="878317" y="0"/>
                    </a:lnTo>
                    <a:lnTo>
                      <a:pt x="878317" y="915781"/>
                    </a:lnTo>
                    <a:lnTo>
                      <a:pt x="0" y="91578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878317" cy="9538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0" y="0"/>
              <a:ext cx="2514600" cy="2514600"/>
            </a:xfrm>
            <a:custGeom>
              <a:avLst/>
              <a:gdLst/>
              <a:ahLst/>
              <a:cxnLst/>
              <a:rect l="l" t="t" r="r" b="b"/>
              <a:pathLst>
                <a:path w="2514600" h="2514600">
                  <a:moveTo>
                    <a:pt x="0" y="0"/>
                  </a:moveTo>
                  <a:lnTo>
                    <a:pt x="2514600" y="0"/>
                  </a:lnTo>
                  <a:lnTo>
                    <a:pt x="2514600" y="2514600"/>
                  </a:lnTo>
                  <a:lnTo>
                    <a:pt x="0" y="251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5.3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Backend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741755" y="5166839"/>
            <a:ext cx="1711987" cy="6058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 dirty="0" err="1">
                <a:solidFill>
                  <a:srgbClr val="05966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FastAPI</a:t>
            </a:r>
            <a:endParaRPr lang="en-US" sz="3500" b="1" dirty="0">
              <a:solidFill>
                <a:srgbClr val="059669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429397" y="5946186"/>
            <a:ext cx="4162906" cy="196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Asynchronous high-performance framework handling concurrent WebSocket audio streams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95058" y="5081114"/>
            <a:ext cx="3724721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Multi-LLM Routing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75965" y="5955711"/>
            <a:ext cx="4162906" cy="196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Dynamic fallback logic between Cerebras (Low Latency) and Groq (Deep Reasoning)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271326" y="5114927"/>
            <a:ext cx="2806874" cy="6058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 u="none" strike="noStrike" dirty="0">
                <a:solidFill>
                  <a:srgbClr val="E85D0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Task Queuing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521290" y="5955711"/>
            <a:ext cx="4162906" cy="196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14-worker ARQ queue on Redis for non-blocking extraction, sentiment, and summarization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Implementation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293746" y="2349776"/>
            <a:ext cx="4825247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Backend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8700" y="2349776"/>
            <a:ext cx="8115300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Implementation:</a:t>
            </a:r>
          </a:p>
        </p:txBody>
      </p:sp>
      <p:sp>
        <p:nvSpPr>
          <p:cNvPr id="31" name="Freeform 31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4558660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028700" y="6034036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7406790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1028700" y="8786363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467094" y="4906140"/>
            <a:ext cx="5792206" cy="3732364"/>
          </a:xfrm>
          <a:custGeom>
            <a:avLst/>
            <a:gdLst/>
            <a:ahLst/>
            <a:cxnLst/>
            <a:rect l="l" t="t" r="r" b="b"/>
            <a:pathLst>
              <a:path w="5792206" h="3732364">
                <a:moveTo>
                  <a:pt x="0" y="0"/>
                </a:moveTo>
                <a:lnTo>
                  <a:pt x="5792206" y="0"/>
                </a:lnTo>
                <a:lnTo>
                  <a:pt x="5792206" y="3732364"/>
                </a:lnTo>
                <a:lnTo>
                  <a:pt x="0" y="3732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5.4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Custom websocket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51037" y="2349776"/>
            <a:ext cx="5858045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websocket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349776"/>
            <a:ext cx="3898641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Custom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938230"/>
            <a:ext cx="9148381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Low-Latency Transport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413606"/>
            <a:ext cx="879433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High-Quality Capture sampled at 16,000Hz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6786361"/>
            <a:ext cx="779728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Adaptive Streaming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8156408"/>
            <a:ext cx="8661905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Scheduled Processing with 12 second flush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Implementation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028700" y="4549135"/>
            <a:ext cx="988038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Ensures audio data is sent to the server with minimal delay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6034036"/>
            <a:ext cx="988038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Capt</a:t>
            </a: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ures clear, professional-grade audio for accurate transcription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7406790"/>
            <a:ext cx="988038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data t</a:t>
            </a: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ransfer rates dynamically to maintain a stable connection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8786363"/>
            <a:ext cx="1043839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Processes audio i</a:t>
            </a: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n reliable chunks to maintain real-time conversational flow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4587235"/>
            <a:ext cx="6416497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V="1">
            <a:off x="1028700" y="6151401"/>
            <a:ext cx="6416497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7939977"/>
            <a:ext cx="6416497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445197" y="4785127"/>
            <a:ext cx="9814103" cy="4183261"/>
          </a:xfrm>
          <a:custGeom>
            <a:avLst/>
            <a:gdLst/>
            <a:ahLst/>
            <a:cxnLst/>
            <a:rect l="l" t="t" r="r" b="b"/>
            <a:pathLst>
              <a:path w="9814103" h="4183261">
                <a:moveTo>
                  <a:pt x="0" y="0"/>
                </a:moveTo>
                <a:lnTo>
                  <a:pt x="9814103" y="0"/>
                </a:lnTo>
                <a:lnTo>
                  <a:pt x="9814103" y="4183261"/>
                </a:lnTo>
                <a:lnTo>
                  <a:pt x="0" y="41832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5.5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Background Execution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51037" y="2349776"/>
            <a:ext cx="11048184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Background Execution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349776"/>
            <a:ext cx="4022337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Parallel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3966805"/>
            <a:ext cx="9148381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Pipeline Rearchitecture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5530972"/>
            <a:ext cx="879433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Latency-Critical Path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7319547"/>
            <a:ext cx="779728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Async Worker Offloading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Implementation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028700" y="4653910"/>
            <a:ext cx="10292984" cy="629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24"/>
              </a:lnSpc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Split</a:t>
            </a: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 operations into main and background </a:t>
            </a:r>
          </a:p>
          <a:p>
            <a:pPr marL="0" lvl="0" indent="0" algn="l">
              <a:lnSpc>
                <a:spcPts val="2424"/>
              </a:lnSpc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threads for maximum efficiency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6246651"/>
            <a:ext cx="10292984" cy="577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2"/>
              </a:lnSpc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Keep</a:t>
            </a: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 urgent tasks like audio and UI on </a:t>
            </a:r>
          </a:p>
          <a:p>
            <a:pPr marL="0" lvl="0" indent="0" algn="l">
              <a:lnSpc>
                <a:spcPts val="2232"/>
              </a:lnSpc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main thread for fast feedback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7930452"/>
            <a:ext cx="10292984" cy="730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Moves heavy p</a:t>
            </a: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rocessing and database writes </a:t>
            </a:r>
          </a:p>
          <a:p>
            <a:pPr marL="0" lvl="0" indent="0" algn="l">
              <a:lnSpc>
                <a:spcPts val="1848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to the background to prevent lag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4520866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V="1">
            <a:off x="1028700" y="6023310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028700" y="7984098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791774" y="4010448"/>
            <a:ext cx="9260307" cy="5741390"/>
          </a:xfrm>
          <a:custGeom>
            <a:avLst/>
            <a:gdLst/>
            <a:ahLst/>
            <a:cxnLst/>
            <a:rect l="l" t="t" r="r" b="b"/>
            <a:pathLst>
              <a:path w="9260307" h="5741390">
                <a:moveTo>
                  <a:pt x="0" y="0"/>
                </a:moveTo>
                <a:lnTo>
                  <a:pt x="9260307" y="0"/>
                </a:lnTo>
                <a:lnTo>
                  <a:pt x="9260307" y="5741390"/>
                </a:lnTo>
                <a:lnTo>
                  <a:pt x="0" y="5741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5.6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Voiceprint Filtering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5402881"/>
            <a:ext cx="879433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Vector Verification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7363668"/>
            <a:ext cx="779728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Targeted Execution on other speaking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Implementation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18051" y="2349776"/>
            <a:ext cx="9403876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Voiceprint Filtering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2349776"/>
            <a:ext cx="2811628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Strict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028700" y="3878880"/>
            <a:ext cx="1174633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Diarization Architecture: SpeechBrain ECAPA-TDNN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4530391"/>
            <a:ext cx="1277503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Integrates SpeechBrain ECAPA-TDNN for highly accurate, real-time speaker separation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6156660"/>
            <a:ext cx="7449725" cy="60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76"/>
              </a:lnSpc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Uses consine difference to confirm  the speaker's identity confidently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2908" y="8115667"/>
            <a:ext cx="10595692" cy="323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76"/>
              </a:lnSpc>
              <a:spcBef>
                <a:spcPct val="0"/>
              </a:spcBef>
            </a:pPr>
            <a:r>
              <a:rPr lang="en-US" sz="2400" u="none" strike="noStrike" dirty="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Ensures Wingman advice is triggered specifically by what the other person says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5943797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V="1">
            <a:off x="1028700" y="7318055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1028700" y="8692313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409817" y="3040060"/>
            <a:ext cx="8849483" cy="5807473"/>
          </a:xfrm>
          <a:custGeom>
            <a:avLst/>
            <a:gdLst/>
            <a:ahLst/>
            <a:cxnLst/>
            <a:rect l="l" t="t" r="r" b="b"/>
            <a:pathLst>
              <a:path w="8849483" h="5807473">
                <a:moveTo>
                  <a:pt x="0" y="0"/>
                </a:moveTo>
                <a:lnTo>
                  <a:pt x="8849483" y="0"/>
                </a:lnTo>
                <a:lnTo>
                  <a:pt x="8849483" y="5807473"/>
                </a:lnTo>
                <a:lnTo>
                  <a:pt x="0" y="58074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5.7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Custom websocket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5323367"/>
            <a:ext cx="9148381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Dual-Tiered Architecture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6697625"/>
            <a:ext cx="879433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In-Memory Speed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8071884"/>
            <a:ext cx="779728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Reliable Persistence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Implementation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98106" y="2349776"/>
            <a:ext cx="10406486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Session Management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2349776"/>
            <a:ext cx="3269406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Tiered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028700" y="5934272"/>
            <a:ext cx="779728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Splits data between a fast cache and permanent storage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7308530"/>
            <a:ext cx="879433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Uses high-speed RAM for instant data access during active chats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8682788"/>
            <a:ext cx="879433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Securely auto-saves completed sessions to prevent any data loss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A3AC7-79D7-EECD-D629-18ED9416C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1E6C73A-259E-E326-4B27-8B9727CAC9F2}"/>
              </a:ext>
            </a:extLst>
          </p:cNvPr>
          <p:cNvSpPr/>
          <p:nvPr/>
        </p:nvSpPr>
        <p:spPr>
          <a:xfrm>
            <a:off x="1028700" y="38969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BFE8BDB-6382-88E1-765A-C97E07446F2A}"/>
              </a:ext>
            </a:extLst>
          </p:cNvPr>
          <p:cNvSpPr/>
          <p:nvPr/>
        </p:nvSpPr>
        <p:spPr>
          <a:xfrm>
            <a:off x="1028700" y="533649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CFD1930-37A7-A3D4-EFB8-F5ADB207521C}"/>
              </a:ext>
            </a:extLst>
          </p:cNvPr>
          <p:cNvSpPr/>
          <p:nvPr/>
        </p:nvSpPr>
        <p:spPr>
          <a:xfrm>
            <a:off x="10303079" y="38969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9D6E4556-8FA9-1A34-877A-0CF8340F579C}"/>
              </a:ext>
            </a:extLst>
          </p:cNvPr>
          <p:cNvSpPr/>
          <p:nvPr/>
        </p:nvSpPr>
        <p:spPr>
          <a:xfrm>
            <a:off x="10303079" y="533649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97CF404-1245-1A91-2A7B-7283239703FC}"/>
              </a:ext>
            </a:extLst>
          </p:cNvPr>
          <p:cNvSpPr txBox="1"/>
          <p:nvPr/>
        </p:nvSpPr>
        <p:spPr>
          <a:xfrm>
            <a:off x="1028700" y="990884"/>
            <a:ext cx="6462096" cy="1311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71"/>
              </a:lnSpc>
            </a:pPr>
            <a:r>
              <a:rPr lang="en-US" sz="11323" b="1" spc="-679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Content.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4A10455-B91E-980C-CBAF-C8F5396EFF12}"/>
              </a:ext>
            </a:extLst>
          </p:cNvPr>
          <p:cNvSpPr txBox="1"/>
          <p:nvPr/>
        </p:nvSpPr>
        <p:spPr>
          <a:xfrm>
            <a:off x="2396992" y="3082626"/>
            <a:ext cx="2180301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Introduction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&amp; Importance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9260768-5219-A4C5-EB75-6043951C0AE0}"/>
              </a:ext>
            </a:extLst>
          </p:cNvPr>
          <p:cNvSpPr txBox="1"/>
          <p:nvPr/>
        </p:nvSpPr>
        <p:spPr>
          <a:xfrm>
            <a:off x="2396992" y="4522176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 Features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FF10433-6B60-62AD-ACF6-6020A99A49BA}"/>
              </a:ext>
            </a:extLst>
          </p:cNvPr>
          <p:cNvSpPr txBox="1"/>
          <p:nvPr/>
        </p:nvSpPr>
        <p:spPr>
          <a:xfrm>
            <a:off x="11667638" y="4522176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Results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&amp; Analysis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9834ECF-7F74-0C10-8D5A-7503CBABD0AA}"/>
              </a:ext>
            </a:extLst>
          </p:cNvPr>
          <p:cNvSpPr txBox="1"/>
          <p:nvPr/>
        </p:nvSpPr>
        <p:spPr>
          <a:xfrm>
            <a:off x="11667638" y="5933589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Futu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Work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8177C3F-549B-59E3-F6A1-4CCEC35005E1}"/>
              </a:ext>
            </a:extLst>
          </p:cNvPr>
          <p:cNvSpPr txBox="1"/>
          <p:nvPr/>
        </p:nvSpPr>
        <p:spPr>
          <a:xfrm>
            <a:off x="1028700" y="29211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1.0 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7B2C6A8-7C2F-2B5D-8EF2-80DAFFB17FF6}"/>
              </a:ext>
            </a:extLst>
          </p:cNvPr>
          <p:cNvSpPr txBox="1"/>
          <p:nvPr/>
        </p:nvSpPr>
        <p:spPr>
          <a:xfrm>
            <a:off x="1028700" y="436068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BCED5D9-6593-2347-8FF1-6C8722F90FDA}"/>
              </a:ext>
            </a:extLst>
          </p:cNvPr>
          <p:cNvSpPr txBox="1"/>
          <p:nvPr/>
        </p:nvSpPr>
        <p:spPr>
          <a:xfrm>
            <a:off x="10303079" y="29211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5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759E166-086C-250C-CF0F-26A2C1F0843C}"/>
              </a:ext>
            </a:extLst>
          </p:cNvPr>
          <p:cNvSpPr txBox="1"/>
          <p:nvPr/>
        </p:nvSpPr>
        <p:spPr>
          <a:xfrm>
            <a:off x="10303079" y="436068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6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840FCB89-AA41-C309-8424-C7A1E6377F94}"/>
              </a:ext>
            </a:extLst>
          </p:cNvPr>
          <p:cNvSpPr/>
          <p:nvPr/>
        </p:nvSpPr>
        <p:spPr>
          <a:xfrm>
            <a:off x="1028700" y="67760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B4B3A869-50C5-C8D9-A8DC-805E1000A979}"/>
              </a:ext>
            </a:extLst>
          </p:cNvPr>
          <p:cNvSpPr/>
          <p:nvPr/>
        </p:nvSpPr>
        <p:spPr>
          <a:xfrm>
            <a:off x="10303079" y="67760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8D1C436-72F5-25DB-72FC-1DE2C1F2BC31}"/>
              </a:ext>
            </a:extLst>
          </p:cNvPr>
          <p:cNvSpPr txBox="1"/>
          <p:nvPr/>
        </p:nvSpPr>
        <p:spPr>
          <a:xfrm>
            <a:off x="2396992" y="5961727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Syst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em Architecture 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EA36FC0-3C89-9C8B-4C24-A94BB32733AE}"/>
              </a:ext>
            </a:extLst>
          </p:cNvPr>
          <p:cNvSpPr txBox="1"/>
          <p:nvPr/>
        </p:nvSpPr>
        <p:spPr>
          <a:xfrm>
            <a:off x="1028700" y="58002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44E2BCA-FCB3-7651-06BE-B56FF759B0D3}"/>
              </a:ext>
            </a:extLst>
          </p:cNvPr>
          <p:cNvSpPr txBox="1"/>
          <p:nvPr/>
        </p:nvSpPr>
        <p:spPr>
          <a:xfrm>
            <a:off x="10303079" y="58002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7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80940FBE-2C16-E7F8-C4FD-661A156E5B7F}"/>
              </a:ext>
            </a:extLst>
          </p:cNvPr>
          <p:cNvSpPr/>
          <p:nvPr/>
        </p:nvSpPr>
        <p:spPr>
          <a:xfrm>
            <a:off x="1028700" y="821559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B424A86-83CA-5853-3D20-99924AAACE0A}"/>
              </a:ext>
            </a:extLst>
          </p:cNvPr>
          <p:cNvSpPr txBox="1"/>
          <p:nvPr/>
        </p:nvSpPr>
        <p:spPr>
          <a:xfrm>
            <a:off x="2396992" y="7401277"/>
            <a:ext cx="2749832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Hybrid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RAG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ACD62BED-B5A2-F897-63C3-238D19DEF02D}"/>
              </a:ext>
            </a:extLst>
          </p:cNvPr>
          <p:cNvSpPr txBox="1"/>
          <p:nvPr/>
        </p:nvSpPr>
        <p:spPr>
          <a:xfrm>
            <a:off x="1028700" y="723978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9753018-D726-1BE7-63A1-6FB90E15E8C9}"/>
              </a:ext>
            </a:extLst>
          </p:cNvPr>
          <p:cNvSpPr txBox="1"/>
          <p:nvPr/>
        </p:nvSpPr>
        <p:spPr>
          <a:xfrm>
            <a:off x="11667638" y="3234692"/>
            <a:ext cx="2749832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Implement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ation </a:t>
            </a: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6DF0E225-98FC-FA35-B408-2FA93940191A}"/>
              </a:ext>
            </a:extLst>
          </p:cNvPr>
          <p:cNvSpPr/>
          <p:nvPr/>
        </p:nvSpPr>
        <p:spPr>
          <a:xfrm>
            <a:off x="10303079" y="8206067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74915BF-6C42-271E-6405-0183078C1001}"/>
              </a:ext>
            </a:extLst>
          </p:cNvPr>
          <p:cNvSpPr txBox="1"/>
          <p:nvPr/>
        </p:nvSpPr>
        <p:spPr>
          <a:xfrm>
            <a:off x="11671372" y="7543817"/>
            <a:ext cx="1895536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Conclusion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9297F26F-5E75-5E3F-E771-F0D357295C7C}"/>
              </a:ext>
            </a:extLst>
          </p:cNvPr>
          <p:cNvSpPr txBox="1"/>
          <p:nvPr/>
        </p:nvSpPr>
        <p:spPr>
          <a:xfrm>
            <a:off x="10303079" y="7230264"/>
            <a:ext cx="1221684" cy="821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8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</p:spTree>
    <p:extLst>
      <p:ext uri="{BB962C8B-B14F-4D97-AF65-F5344CB8AC3E}">
        <p14:creationId xmlns:p14="http://schemas.microsoft.com/office/powerpoint/2010/main" val="839220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77" b="-92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2636013"/>
            <a:ext cx="4970131" cy="420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384"/>
              </a:lnSpc>
              <a:spcBef>
                <a:spcPct val="0"/>
              </a:spcBef>
            </a:pPr>
            <a:r>
              <a:rPr lang="en-US" sz="24560" b="1" spc="-147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6.0</a:t>
            </a:r>
          </a:p>
        </p:txBody>
      </p:sp>
      <p:sp>
        <p:nvSpPr>
          <p:cNvPr id="4" name="AutoShape 4"/>
          <p:cNvSpPr/>
          <p:nvPr/>
        </p:nvSpPr>
        <p:spPr>
          <a:xfrm>
            <a:off x="1028700" y="9751838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Results &amp;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Page 6.0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09082" y="493142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Section 6.0</a:t>
            </a:r>
          </a:p>
        </p:txBody>
      </p:sp>
      <p:sp>
        <p:nvSpPr>
          <p:cNvPr id="8" name="AutoShape 8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Bluseel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00423" y="3549015"/>
            <a:ext cx="11339847" cy="3179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89"/>
              </a:lnSpc>
            </a:pPr>
            <a:r>
              <a:rPr lang="en-US" sz="12999" b="1" spc="-25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Results </a:t>
            </a:r>
          </a:p>
          <a:p>
            <a:pPr marL="0" lvl="0" indent="0" algn="l">
              <a:lnSpc>
                <a:spcPts val="12089"/>
              </a:lnSpc>
              <a:spcBef>
                <a:spcPct val="0"/>
              </a:spcBef>
            </a:pPr>
            <a:r>
              <a:rPr lang="en-US" sz="12999" b="1" spc="-25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&amp;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717110"/>
            <a:ext cx="19644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Group Members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9124445"/>
            <a:ext cx="579554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Muhammad Ahmed &amp; Attique Rehman Alias Adeel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94855" y="8717110"/>
            <a:ext cx="19644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Supervisor: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557955" y="9059863"/>
            <a:ext cx="270134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Dr. Jawad Shafi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4558660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V="1">
            <a:off x="1028700" y="6051579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1028700" y="7347735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028700" y="8785410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144500" y="512695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6.1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Testing setup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27341" y="2349776"/>
            <a:ext cx="2847174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setup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349776"/>
            <a:ext cx="3720331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Testing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938230"/>
            <a:ext cx="9627299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Backend: Laptop with Nividia 3060 mobile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431150"/>
            <a:ext cx="879433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Stack: FastAPI, Docker, Redis, Supabase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6727306"/>
            <a:ext cx="779728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Dataset: 20+ Sessions, 3500+ Lines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8155455"/>
            <a:ext cx="8661905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Scale: 700+ Knowledge Graph Entities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Results &amp; Analysis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028700" y="4558660"/>
            <a:ext cx="12964778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Runs locally on a laptop powered by an Nvidia 3060 mobile GPU for fast, on-device AI processing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8794935"/>
            <a:ext cx="12367547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Successfully manages and queries complex relational data within a </a:t>
            </a:r>
          </a:p>
          <a:p>
            <a:pPr algn="l"/>
            <a:r>
              <a:rPr lang="en-US" sz="2400" dirty="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Knowledge Graph of over 700 distinct entities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6061104"/>
            <a:ext cx="1236754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Utilizes scalable, backend architecture featuring FastAPI, Docker, Redis, and Supabase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7347735"/>
            <a:ext cx="1236754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Evaluated against test set of over 20 live conversational sessions and 3,500+ lines of dialogue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335000" y="7572375"/>
            <a:ext cx="762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80%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762500" y="7543800"/>
            <a:ext cx="11906250" cy="419100"/>
            <a:chOff x="0" y="0"/>
            <a:chExt cx="15875000" cy="558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875000" cy="558800"/>
            </a:xfrm>
            <a:custGeom>
              <a:avLst/>
              <a:gdLst/>
              <a:ahLst/>
              <a:cxnLst/>
              <a:rect l="l" t="t" r="r" b="b"/>
              <a:pathLst>
                <a:path w="15875000" h="558800">
                  <a:moveTo>
                    <a:pt x="15595600" y="0"/>
                  </a:moveTo>
                  <a:cubicBezTo>
                    <a:pt x="15749908" y="0"/>
                    <a:pt x="15875000" y="125092"/>
                    <a:pt x="15875000" y="279400"/>
                  </a:cubicBezTo>
                  <a:cubicBezTo>
                    <a:pt x="15875000" y="433708"/>
                    <a:pt x="15749908" y="558800"/>
                    <a:pt x="15595600" y="558800"/>
                  </a:cubicBezTo>
                  <a:lnTo>
                    <a:pt x="279400" y="558800"/>
                  </a:lnTo>
                  <a:cubicBezTo>
                    <a:pt x="125092" y="558800"/>
                    <a:pt x="0" y="433708"/>
                    <a:pt x="0" y="279400"/>
                  </a:cubicBez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E8E8E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58750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762500" y="7543800"/>
            <a:ext cx="9525000" cy="419100"/>
            <a:chOff x="0" y="0"/>
            <a:chExt cx="12700000" cy="558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700000" cy="558800"/>
            </a:xfrm>
            <a:custGeom>
              <a:avLst/>
              <a:gdLst/>
              <a:ahLst/>
              <a:cxnLst/>
              <a:rect l="l" t="t" r="r" b="b"/>
              <a:pathLst>
                <a:path w="12700000" h="558800">
                  <a:moveTo>
                    <a:pt x="12420600" y="0"/>
                  </a:moveTo>
                  <a:cubicBezTo>
                    <a:pt x="12574908" y="0"/>
                    <a:pt x="12700000" y="125092"/>
                    <a:pt x="12700000" y="279400"/>
                  </a:cubicBezTo>
                  <a:cubicBezTo>
                    <a:pt x="12700000" y="433708"/>
                    <a:pt x="12574908" y="558800"/>
                    <a:pt x="12420600" y="558800"/>
                  </a:cubicBezTo>
                  <a:lnTo>
                    <a:pt x="279400" y="558800"/>
                  </a:lnTo>
                  <a:cubicBezTo>
                    <a:pt x="125092" y="558800"/>
                    <a:pt x="0" y="433708"/>
                    <a:pt x="0" y="279400"/>
                  </a:cubicBez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E8512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7000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7534275"/>
            <a:ext cx="3524250" cy="347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4"/>
              </a:lnSpc>
              <a:spcBef>
                <a:spcPct val="0"/>
              </a:spcBef>
            </a:pPr>
            <a:r>
              <a:rPr lang="en-US" sz="2053" u="none" strike="noStrike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Outdoor (Wind/Traffic) ::  80%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87500" y="6486525"/>
            <a:ext cx="762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88%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762500" y="6457950"/>
            <a:ext cx="11906250" cy="419100"/>
            <a:chOff x="0" y="0"/>
            <a:chExt cx="15875000" cy="558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875000" cy="558800"/>
            </a:xfrm>
            <a:custGeom>
              <a:avLst/>
              <a:gdLst/>
              <a:ahLst/>
              <a:cxnLst/>
              <a:rect l="l" t="t" r="r" b="b"/>
              <a:pathLst>
                <a:path w="15875000" h="558800">
                  <a:moveTo>
                    <a:pt x="15595600" y="0"/>
                  </a:moveTo>
                  <a:cubicBezTo>
                    <a:pt x="15749908" y="0"/>
                    <a:pt x="15875000" y="125092"/>
                    <a:pt x="15875000" y="279400"/>
                  </a:cubicBezTo>
                  <a:cubicBezTo>
                    <a:pt x="15875000" y="433708"/>
                    <a:pt x="15749908" y="558800"/>
                    <a:pt x="15595600" y="558800"/>
                  </a:cubicBezTo>
                  <a:lnTo>
                    <a:pt x="279400" y="558800"/>
                  </a:lnTo>
                  <a:cubicBezTo>
                    <a:pt x="125092" y="558800"/>
                    <a:pt x="0" y="433708"/>
                    <a:pt x="0" y="279400"/>
                  </a:cubicBez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E8E8E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58750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0" y="6457950"/>
            <a:ext cx="10477500" cy="419100"/>
            <a:chOff x="0" y="0"/>
            <a:chExt cx="13970000" cy="558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970000" cy="558800"/>
            </a:xfrm>
            <a:custGeom>
              <a:avLst/>
              <a:gdLst/>
              <a:ahLst/>
              <a:cxnLst/>
              <a:rect l="l" t="t" r="r" b="b"/>
              <a:pathLst>
                <a:path w="13970000" h="558800">
                  <a:moveTo>
                    <a:pt x="13690600" y="0"/>
                  </a:moveTo>
                  <a:cubicBezTo>
                    <a:pt x="13844908" y="0"/>
                    <a:pt x="13970000" y="125092"/>
                    <a:pt x="13970000" y="279400"/>
                  </a:cubicBezTo>
                  <a:cubicBezTo>
                    <a:pt x="13970000" y="433708"/>
                    <a:pt x="13844908" y="558800"/>
                    <a:pt x="13690600" y="558800"/>
                  </a:cubicBezTo>
                  <a:lnTo>
                    <a:pt x="279400" y="558800"/>
                  </a:lnTo>
                  <a:cubicBezTo>
                    <a:pt x="125092" y="558800"/>
                    <a:pt x="0" y="433708"/>
                    <a:pt x="0" y="279400"/>
                  </a:cubicBez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3B2D8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9700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6438900"/>
            <a:ext cx="352425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3+ Speakers ::  88%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25550" y="5400675"/>
            <a:ext cx="762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85%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762500" y="5372100"/>
            <a:ext cx="11906250" cy="419100"/>
            <a:chOff x="0" y="0"/>
            <a:chExt cx="15875000" cy="558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875000" cy="558800"/>
            </a:xfrm>
            <a:custGeom>
              <a:avLst/>
              <a:gdLst/>
              <a:ahLst/>
              <a:cxnLst/>
              <a:rect l="l" t="t" r="r" b="b"/>
              <a:pathLst>
                <a:path w="15875000" h="558800">
                  <a:moveTo>
                    <a:pt x="15595600" y="0"/>
                  </a:moveTo>
                  <a:cubicBezTo>
                    <a:pt x="15749908" y="0"/>
                    <a:pt x="15875000" y="125092"/>
                    <a:pt x="15875000" y="279400"/>
                  </a:cubicBezTo>
                  <a:cubicBezTo>
                    <a:pt x="15875000" y="433708"/>
                    <a:pt x="15749908" y="558800"/>
                    <a:pt x="15595600" y="558800"/>
                  </a:cubicBezTo>
                  <a:lnTo>
                    <a:pt x="279400" y="558800"/>
                  </a:lnTo>
                  <a:cubicBezTo>
                    <a:pt x="125092" y="558800"/>
                    <a:pt x="0" y="433708"/>
                    <a:pt x="0" y="279400"/>
                  </a:cubicBez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E8E8E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58750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762500" y="5372100"/>
            <a:ext cx="10115550" cy="419100"/>
            <a:chOff x="0" y="0"/>
            <a:chExt cx="13487400" cy="558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487400" cy="558800"/>
            </a:xfrm>
            <a:custGeom>
              <a:avLst/>
              <a:gdLst/>
              <a:ahLst/>
              <a:cxnLst/>
              <a:rect l="l" t="t" r="r" b="b"/>
              <a:pathLst>
                <a:path w="13487400" h="558800">
                  <a:moveTo>
                    <a:pt x="13208000" y="0"/>
                  </a:moveTo>
                  <a:cubicBezTo>
                    <a:pt x="13362308" y="0"/>
                    <a:pt x="13487400" y="125092"/>
                    <a:pt x="13487400" y="279400"/>
                  </a:cubicBezTo>
                  <a:cubicBezTo>
                    <a:pt x="13487400" y="433708"/>
                    <a:pt x="13362308" y="558800"/>
                    <a:pt x="13208000" y="558800"/>
                  </a:cubicBezTo>
                  <a:lnTo>
                    <a:pt x="279400" y="558800"/>
                  </a:lnTo>
                  <a:cubicBezTo>
                    <a:pt x="125092" y="558800"/>
                    <a:pt x="0" y="433708"/>
                    <a:pt x="0" y="279400"/>
                  </a:cubicBez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3B2D8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34874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028700" y="5353050"/>
            <a:ext cx="352425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Moderate Noise ::  85%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6.2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ASR Accuracy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542009" y="2349776"/>
            <a:ext cx="11983741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Accuracy (Groq Whisper)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2349776"/>
            <a:ext cx="2279990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ASR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763750" y="4314825"/>
            <a:ext cx="76200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92%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4762500" y="4286250"/>
            <a:ext cx="11906250" cy="419100"/>
            <a:chOff x="0" y="0"/>
            <a:chExt cx="15875000" cy="558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5875000" cy="558800"/>
            </a:xfrm>
            <a:custGeom>
              <a:avLst/>
              <a:gdLst/>
              <a:ahLst/>
              <a:cxnLst/>
              <a:rect l="l" t="t" r="r" b="b"/>
              <a:pathLst>
                <a:path w="15875000" h="558800">
                  <a:moveTo>
                    <a:pt x="15595600" y="0"/>
                  </a:moveTo>
                  <a:cubicBezTo>
                    <a:pt x="15749908" y="0"/>
                    <a:pt x="15875000" y="125092"/>
                    <a:pt x="15875000" y="279400"/>
                  </a:cubicBezTo>
                  <a:cubicBezTo>
                    <a:pt x="15875000" y="433708"/>
                    <a:pt x="15749908" y="558800"/>
                    <a:pt x="15595600" y="558800"/>
                  </a:cubicBezTo>
                  <a:lnTo>
                    <a:pt x="279400" y="558800"/>
                  </a:lnTo>
                  <a:cubicBezTo>
                    <a:pt x="125092" y="558800"/>
                    <a:pt x="0" y="433708"/>
                    <a:pt x="0" y="279400"/>
                  </a:cubicBez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E8E8E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58750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762500" y="4286250"/>
            <a:ext cx="10953750" cy="419100"/>
            <a:chOff x="0" y="0"/>
            <a:chExt cx="14605000" cy="558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4605000" cy="558800"/>
            </a:xfrm>
            <a:custGeom>
              <a:avLst/>
              <a:gdLst/>
              <a:ahLst/>
              <a:cxnLst/>
              <a:rect l="l" t="t" r="r" b="b"/>
              <a:pathLst>
                <a:path w="14605000" h="558800">
                  <a:moveTo>
                    <a:pt x="14325600" y="0"/>
                  </a:moveTo>
                  <a:cubicBezTo>
                    <a:pt x="14479908" y="0"/>
                    <a:pt x="14605000" y="125092"/>
                    <a:pt x="14605000" y="279400"/>
                  </a:cubicBezTo>
                  <a:cubicBezTo>
                    <a:pt x="14605000" y="433708"/>
                    <a:pt x="14479908" y="558800"/>
                    <a:pt x="14325600" y="558800"/>
                  </a:cubicBezTo>
                  <a:lnTo>
                    <a:pt x="279400" y="558800"/>
                  </a:lnTo>
                  <a:cubicBezTo>
                    <a:pt x="125092" y="558800"/>
                    <a:pt x="0" y="433708"/>
                    <a:pt x="0" y="279400"/>
                  </a:cubicBezTo>
                  <a:cubicBezTo>
                    <a:pt x="0" y="125092"/>
                    <a:pt x="125092" y="0"/>
                    <a:pt x="279400" y="0"/>
                  </a:cubicBezTo>
                  <a:close/>
                </a:path>
              </a:pathLst>
            </a:custGeom>
            <a:solidFill>
              <a:srgbClr val="3B2D8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46050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028700" y="4267200"/>
            <a:ext cx="352425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Quiet Room  ::  92%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Results &amp; Analysis</a:t>
            </a:r>
          </a:p>
        </p:txBody>
      </p:sp>
      <p:sp>
        <p:nvSpPr>
          <p:cNvPr id="41" name="Freeform 41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216297" y="3736061"/>
            <a:ext cx="51435" cy="4114800"/>
          </a:xfrm>
          <a:custGeom>
            <a:avLst/>
            <a:gdLst/>
            <a:ahLst/>
            <a:cxnLst/>
            <a:rect l="l" t="t" r="r" b="b"/>
            <a:pathLst>
              <a:path w="51435" h="4114800">
                <a:moveTo>
                  <a:pt x="0" y="0"/>
                </a:moveTo>
                <a:lnTo>
                  <a:pt x="51435" y="0"/>
                </a:lnTo>
                <a:lnTo>
                  <a:pt x="51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6.3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ASR Accuracy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55890" y="2349776"/>
            <a:ext cx="8495585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Aware Diarization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349776"/>
            <a:ext cx="4027190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Identity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998" y="3787774"/>
            <a:ext cx="4441204" cy="2736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9"/>
              </a:lnSpc>
            </a:pPr>
            <a:r>
              <a:rPr lang="en-US" sz="15999" b="1" dirty="0">
                <a:solidFill>
                  <a:srgbClr val="13AFA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94%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49482" y="3787774"/>
            <a:ext cx="5542261" cy="2736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9"/>
              </a:lnSpc>
            </a:pPr>
            <a:r>
              <a:rPr lang="en-US" sz="15999" b="1" dirty="0">
                <a:solidFill>
                  <a:srgbClr val="13AFA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50ms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12764" y="3787774"/>
            <a:ext cx="3346365" cy="2736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9"/>
              </a:lnSpc>
            </a:pPr>
            <a:r>
              <a:rPr lang="en-US" sz="15999" b="1" dirty="0">
                <a:solidFill>
                  <a:srgbClr val="13AFA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2823" y="6457950"/>
            <a:ext cx="407223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Speaker Identification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51351" y="6457950"/>
            <a:ext cx="446305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Voiceprint Computation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25971" y="6457950"/>
            <a:ext cx="346868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False Positive Rate</a:t>
            </a:r>
          </a:p>
        </p:txBody>
      </p:sp>
      <p:sp>
        <p:nvSpPr>
          <p:cNvPr id="15" name="Freeform 15"/>
          <p:cNvSpPr/>
          <p:nvPr/>
        </p:nvSpPr>
        <p:spPr>
          <a:xfrm>
            <a:off x="13050819" y="3736061"/>
            <a:ext cx="51435" cy="4114800"/>
          </a:xfrm>
          <a:custGeom>
            <a:avLst/>
            <a:gdLst/>
            <a:ahLst/>
            <a:cxnLst/>
            <a:rect l="l" t="t" r="r" b="b"/>
            <a:pathLst>
              <a:path w="51435" h="4114800">
                <a:moveTo>
                  <a:pt x="0" y="0"/>
                </a:moveTo>
                <a:lnTo>
                  <a:pt x="51435" y="0"/>
                </a:lnTo>
                <a:lnTo>
                  <a:pt x="514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Results &amp; Analysis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564261" y="2349776"/>
            <a:ext cx="12890654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RAG Retrieval Performance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349776"/>
            <a:ext cx="3504506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Hybrid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97042" y="3461152"/>
            <a:ext cx="7660506" cy="6332704"/>
            <a:chOff x="-975544" y="654309"/>
            <a:chExt cx="10214008" cy="8443606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t="13923" b="13949"/>
            <a:stretch>
              <a:fillRect/>
            </a:stretch>
          </p:blipFill>
          <p:spPr>
            <a:xfrm>
              <a:off x="-975544" y="654309"/>
              <a:ext cx="10214008" cy="8443606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2836324" y="3905112"/>
              <a:ext cx="2590271" cy="1783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200"/>
                </a:lnSpc>
                <a:spcBef>
                  <a:spcPct val="0"/>
                </a:spcBef>
              </a:pPr>
              <a:r>
                <a:rPr lang="en-US" sz="8000" b="1">
                  <a:solidFill>
                    <a:srgbClr val="4A7FF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95%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8110919" y="5943797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 flipV="1">
            <a:off x="8110919" y="7043184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flipV="1">
            <a:off x="8110919" y="8142570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flipV="1">
            <a:off x="8110919" y="9248775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6.4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Hybrid RAG Performance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Results &amp; Analysis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10919" y="5323367"/>
            <a:ext cx="9627299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Hybrid (Vector Serach + KG): 95%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10919" y="6422754"/>
            <a:ext cx="879433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Vector Search Only: 72%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10919" y="7522141"/>
            <a:ext cx="779728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Graph Only: 68%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10919" y="8618820"/>
            <a:ext cx="8661905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Scale: 700+ Knowledge Graph Entities</a:t>
            </a:r>
          </a:p>
        </p:txBody>
      </p:sp>
      <p:sp>
        <p:nvSpPr>
          <p:cNvPr id="20" name="Freeform 20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6.5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Summary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26577" y="2349776"/>
            <a:ext cx="9631660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of System Execution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349776"/>
            <a:ext cx="4964299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Summary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Results &amp; Analysis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4204897"/>
            <a:ext cx="4964299" cy="5053403"/>
            <a:chOff x="0" y="0"/>
            <a:chExt cx="1021461" cy="103979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21461" cy="1039795"/>
            </a:xfrm>
            <a:custGeom>
              <a:avLst/>
              <a:gdLst/>
              <a:ahLst/>
              <a:cxnLst/>
              <a:rect l="l" t="t" r="r" b="b"/>
              <a:pathLst>
                <a:path w="1021461" h="1039795">
                  <a:moveTo>
                    <a:pt x="30459" y="0"/>
                  </a:moveTo>
                  <a:lnTo>
                    <a:pt x="991001" y="0"/>
                  </a:lnTo>
                  <a:cubicBezTo>
                    <a:pt x="1007824" y="0"/>
                    <a:pt x="1021461" y="13637"/>
                    <a:pt x="1021461" y="30459"/>
                  </a:cubicBezTo>
                  <a:lnTo>
                    <a:pt x="1021461" y="1009336"/>
                  </a:lnTo>
                  <a:cubicBezTo>
                    <a:pt x="1021461" y="1026158"/>
                    <a:pt x="1007824" y="1039795"/>
                    <a:pt x="991001" y="1039795"/>
                  </a:cubicBezTo>
                  <a:lnTo>
                    <a:pt x="30459" y="1039795"/>
                  </a:lnTo>
                  <a:cubicBezTo>
                    <a:pt x="13637" y="1039795"/>
                    <a:pt x="0" y="1026158"/>
                    <a:pt x="0" y="1009336"/>
                  </a:cubicBezTo>
                  <a:lnTo>
                    <a:pt x="0" y="30459"/>
                  </a:lnTo>
                  <a:cubicBezTo>
                    <a:pt x="0" y="13637"/>
                    <a:pt x="13637" y="0"/>
                    <a:pt x="30459" y="0"/>
                  </a:cubicBezTo>
                  <a:close/>
                </a:path>
              </a:pathLst>
            </a:custGeom>
            <a:ln w="114300" cap="rnd">
              <a:solidFill>
                <a:srgbClr val="2563E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21461" cy="1077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575269" y="4214422"/>
            <a:ext cx="4964299" cy="5053403"/>
            <a:chOff x="0" y="0"/>
            <a:chExt cx="1021461" cy="103979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21461" cy="1039795"/>
            </a:xfrm>
            <a:custGeom>
              <a:avLst/>
              <a:gdLst/>
              <a:ahLst/>
              <a:cxnLst/>
              <a:rect l="l" t="t" r="r" b="b"/>
              <a:pathLst>
                <a:path w="1021461" h="1039795">
                  <a:moveTo>
                    <a:pt x="30459" y="0"/>
                  </a:moveTo>
                  <a:lnTo>
                    <a:pt x="991001" y="0"/>
                  </a:lnTo>
                  <a:cubicBezTo>
                    <a:pt x="1007824" y="0"/>
                    <a:pt x="1021461" y="13637"/>
                    <a:pt x="1021461" y="30459"/>
                  </a:cubicBezTo>
                  <a:lnTo>
                    <a:pt x="1021461" y="1009336"/>
                  </a:lnTo>
                  <a:cubicBezTo>
                    <a:pt x="1021461" y="1026158"/>
                    <a:pt x="1007824" y="1039795"/>
                    <a:pt x="991001" y="1039795"/>
                  </a:cubicBezTo>
                  <a:lnTo>
                    <a:pt x="30459" y="1039795"/>
                  </a:lnTo>
                  <a:cubicBezTo>
                    <a:pt x="13637" y="1039795"/>
                    <a:pt x="0" y="1026158"/>
                    <a:pt x="0" y="1009336"/>
                  </a:cubicBezTo>
                  <a:lnTo>
                    <a:pt x="0" y="30459"/>
                  </a:lnTo>
                  <a:cubicBezTo>
                    <a:pt x="0" y="13637"/>
                    <a:pt x="13637" y="0"/>
                    <a:pt x="30459" y="0"/>
                  </a:cubicBezTo>
                  <a:close/>
                </a:path>
              </a:pathLst>
            </a:custGeom>
            <a:ln w="114300" cap="rnd">
              <a:solidFill>
                <a:srgbClr val="8A3A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021461" cy="1077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20593" y="4214422"/>
            <a:ext cx="4964299" cy="5053403"/>
            <a:chOff x="0" y="0"/>
            <a:chExt cx="1021461" cy="103979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21461" cy="1039795"/>
            </a:xfrm>
            <a:custGeom>
              <a:avLst/>
              <a:gdLst/>
              <a:ahLst/>
              <a:cxnLst/>
              <a:rect l="l" t="t" r="r" b="b"/>
              <a:pathLst>
                <a:path w="1021461" h="1039795">
                  <a:moveTo>
                    <a:pt x="30459" y="0"/>
                  </a:moveTo>
                  <a:lnTo>
                    <a:pt x="991001" y="0"/>
                  </a:lnTo>
                  <a:cubicBezTo>
                    <a:pt x="1007824" y="0"/>
                    <a:pt x="1021461" y="13637"/>
                    <a:pt x="1021461" y="30459"/>
                  </a:cubicBezTo>
                  <a:lnTo>
                    <a:pt x="1021461" y="1009336"/>
                  </a:lnTo>
                  <a:cubicBezTo>
                    <a:pt x="1021461" y="1026158"/>
                    <a:pt x="1007824" y="1039795"/>
                    <a:pt x="991001" y="1039795"/>
                  </a:cubicBezTo>
                  <a:lnTo>
                    <a:pt x="30459" y="1039795"/>
                  </a:lnTo>
                  <a:cubicBezTo>
                    <a:pt x="13637" y="1039795"/>
                    <a:pt x="0" y="1026158"/>
                    <a:pt x="0" y="1009336"/>
                  </a:cubicBezTo>
                  <a:lnTo>
                    <a:pt x="0" y="30459"/>
                  </a:lnTo>
                  <a:cubicBezTo>
                    <a:pt x="0" y="13637"/>
                    <a:pt x="13637" y="0"/>
                    <a:pt x="30459" y="0"/>
                  </a:cubicBezTo>
                  <a:close/>
                </a:path>
              </a:pathLst>
            </a:custGeom>
            <a:ln w="114300" cap="rnd">
              <a:solidFill>
                <a:srgbClr val="E85D0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21461" cy="1077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312262" y="5071589"/>
            <a:ext cx="2397175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 u="none" strike="noStrike">
                <a:solidFill>
                  <a:srgbClr val="2563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Multi Modal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29397" y="5946186"/>
            <a:ext cx="4162906" cy="295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5 SOTA models orchestrated for specialized tasks: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Llama 3.1 3b/70b, Groq Wshiper, all-MiniLM and Picovoice.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00131" y="5081114"/>
            <a:ext cx="2314575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Para</a:t>
            </a:r>
            <a:r>
              <a:rPr lang="en-US" sz="3500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llelized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75965" y="5955711"/>
            <a:ext cx="4162906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Context building moved to async background threads to zero-out latency.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130088" y="5081114"/>
            <a:ext cx="2945309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E85D0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Context</a:t>
            </a:r>
            <a:r>
              <a:rPr lang="en-US" sz="3500" b="1" u="none" strike="noStrike">
                <a:solidFill>
                  <a:srgbClr val="E85D0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Aware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521290" y="5955711"/>
            <a:ext cx="4162906" cy="196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384-dim embeddings paired with relational graph neighborhood traversal.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522030" y="3756427"/>
            <a:ext cx="961286" cy="828675"/>
            <a:chOff x="0" y="0"/>
            <a:chExt cx="1287153" cy="11095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87153" cy="1109588"/>
            </a:xfrm>
            <a:custGeom>
              <a:avLst/>
              <a:gdLst/>
              <a:ahLst/>
              <a:cxnLst/>
              <a:rect l="l" t="t" r="r" b="b"/>
              <a:pathLst>
                <a:path w="1287153" h="1109588">
                  <a:moveTo>
                    <a:pt x="0" y="0"/>
                  </a:moveTo>
                  <a:lnTo>
                    <a:pt x="1287153" y="0"/>
                  </a:lnTo>
                  <a:lnTo>
                    <a:pt x="1287153" y="1109588"/>
                  </a:lnTo>
                  <a:lnTo>
                    <a:pt x="0" y="11095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287153" cy="1147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8391525" y="3566722"/>
            <a:ext cx="1333500" cy="1333500"/>
          </a:xfrm>
          <a:custGeom>
            <a:avLst/>
            <a:gdLst/>
            <a:ahLst/>
            <a:cxnLst/>
            <a:rect l="l" t="t" r="r" b="b"/>
            <a:pathLst>
              <a:path w="1333500" h="1333500">
                <a:moveTo>
                  <a:pt x="0" y="0"/>
                </a:moveTo>
                <a:lnTo>
                  <a:pt x="1333500" y="0"/>
                </a:lnTo>
                <a:lnTo>
                  <a:pt x="13335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14082743" y="3819134"/>
            <a:ext cx="961286" cy="828675"/>
            <a:chOff x="0" y="0"/>
            <a:chExt cx="1287153" cy="110958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87153" cy="1109588"/>
            </a:xfrm>
            <a:custGeom>
              <a:avLst/>
              <a:gdLst/>
              <a:ahLst/>
              <a:cxnLst/>
              <a:rect l="l" t="t" r="r" b="b"/>
              <a:pathLst>
                <a:path w="1287153" h="1109588">
                  <a:moveTo>
                    <a:pt x="0" y="0"/>
                  </a:moveTo>
                  <a:lnTo>
                    <a:pt x="1287153" y="0"/>
                  </a:lnTo>
                  <a:lnTo>
                    <a:pt x="1287153" y="1109588"/>
                  </a:lnTo>
                  <a:lnTo>
                    <a:pt x="0" y="11095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287153" cy="1147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13901768" y="3524250"/>
            <a:ext cx="1333500" cy="1333500"/>
          </a:xfrm>
          <a:custGeom>
            <a:avLst/>
            <a:gdLst/>
            <a:ahLst/>
            <a:cxnLst/>
            <a:rect l="l" t="t" r="r" b="b"/>
            <a:pathLst>
              <a:path w="1333500" h="1333500">
                <a:moveTo>
                  <a:pt x="0" y="0"/>
                </a:moveTo>
                <a:lnTo>
                  <a:pt x="1333500" y="0"/>
                </a:lnTo>
                <a:lnTo>
                  <a:pt x="13335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2" name="Group 32"/>
          <p:cNvGrpSpPr/>
          <p:nvPr/>
        </p:nvGrpSpPr>
        <p:grpSpPr>
          <a:xfrm>
            <a:off x="3030207" y="3776662"/>
            <a:ext cx="961286" cy="828675"/>
            <a:chOff x="0" y="0"/>
            <a:chExt cx="1287153" cy="110958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87153" cy="1109588"/>
            </a:xfrm>
            <a:custGeom>
              <a:avLst/>
              <a:gdLst/>
              <a:ahLst/>
              <a:cxnLst/>
              <a:rect l="l" t="t" r="r" b="b"/>
              <a:pathLst>
                <a:path w="1287153" h="1109588">
                  <a:moveTo>
                    <a:pt x="0" y="0"/>
                  </a:moveTo>
                  <a:lnTo>
                    <a:pt x="1287153" y="0"/>
                  </a:lnTo>
                  <a:lnTo>
                    <a:pt x="1287153" y="1109588"/>
                  </a:lnTo>
                  <a:lnTo>
                    <a:pt x="0" y="11095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287153" cy="11476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2847975" y="3524250"/>
            <a:ext cx="1333500" cy="1333500"/>
          </a:xfrm>
          <a:custGeom>
            <a:avLst/>
            <a:gdLst/>
            <a:ahLst/>
            <a:cxnLst/>
            <a:rect l="l" t="t" r="r" b="b"/>
            <a:pathLst>
              <a:path w="1333500" h="1333500">
                <a:moveTo>
                  <a:pt x="0" y="0"/>
                </a:moveTo>
                <a:lnTo>
                  <a:pt x="1333500" y="0"/>
                </a:lnTo>
                <a:lnTo>
                  <a:pt x="13335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3114675"/>
            <a:ext cx="16192500" cy="1143000"/>
            <a:chOff x="0" y="0"/>
            <a:chExt cx="21590000" cy="1524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590000" cy="1524000"/>
            </a:xfrm>
            <a:custGeom>
              <a:avLst/>
              <a:gdLst/>
              <a:ahLst/>
              <a:cxnLst/>
              <a:rect l="l" t="t" r="r" b="b"/>
              <a:pathLst>
                <a:path w="21590000" h="1524000">
                  <a:moveTo>
                    <a:pt x="0" y="0"/>
                  </a:moveTo>
                  <a:lnTo>
                    <a:pt x="21590000" y="0"/>
                  </a:lnTo>
                  <a:lnTo>
                    <a:pt x="21590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8A3A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590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4257675"/>
            <a:ext cx="16192500" cy="1143000"/>
            <a:chOff x="0" y="0"/>
            <a:chExt cx="21590000" cy="1524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590000" cy="1524000"/>
            </a:xfrm>
            <a:custGeom>
              <a:avLst/>
              <a:gdLst/>
              <a:ahLst/>
              <a:cxnLst/>
              <a:rect l="l" t="t" r="r" b="b"/>
              <a:pathLst>
                <a:path w="21590000" h="1524000">
                  <a:moveTo>
                    <a:pt x="0" y="0"/>
                  </a:moveTo>
                  <a:lnTo>
                    <a:pt x="21590000" y="0"/>
                  </a:lnTo>
                  <a:lnTo>
                    <a:pt x="21590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AF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590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5400675"/>
            <a:ext cx="16192500" cy="1143000"/>
            <a:chOff x="0" y="0"/>
            <a:chExt cx="21590000" cy="152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590000" cy="1524000"/>
            </a:xfrm>
            <a:custGeom>
              <a:avLst/>
              <a:gdLst/>
              <a:ahLst/>
              <a:cxnLst/>
              <a:rect l="l" t="t" r="r" b="b"/>
              <a:pathLst>
                <a:path w="21590000" h="1524000">
                  <a:moveTo>
                    <a:pt x="0" y="0"/>
                  </a:moveTo>
                  <a:lnTo>
                    <a:pt x="21590000" y="0"/>
                  </a:lnTo>
                  <a:lnTo>
                    <a:pt x="21590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1590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6543675"/>
            <a:ext cx="16192500" cy="1143000"/>
            <a:chOff x="0" y="0"/>
            <a:chExt cx="21590000" cy="152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590000" cy="1524000"/>
            </a:xfrm>
            <a:custGeom>
              <a:avLst/>
              <a:gdLst/>
              <a:ahLst/>
              <a:cxnLst/>
              <a:rect l="l" t="t" r="r" b="b"/>
              <a:pathLst>
                <a:path w="21590000" h="1524000">
                  <a:moveTo>
                    <a:pt x="0" y="0"/>
                  </a:moveTo>
                  <a:lnTo>
                    <a:pt x="21590000" y="0"/>
                  </a:lnTo>
                  <a:lnTo>
                    <a:pt x="21590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AF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1590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7686675"/>
            <a:ext cx="16192500" cy="1143000"/>
            <a:chOff x="0" y="0"/>
            <a:chExt cx="21590000" cy="1524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590000" cy="1524000"/>
            </a:xfrm>
            <a:custGeom>
              <a:avLst/>
              <a:gdLst/>
              <a:ahLst/>
              <a:cxnLst/>
              <a:rect l="l" t="t" r="r" b="b"/>
              <a:pathLst>
                <a:path w="21590000" h="1524000">
                  <a:moveTo>
                    <a:pt x="0" y="0"/>
                  </a:moveTo>
                  <a:lnTo>
                    <a:pt x="21590000" y="0"/>
                  </a:lnTo>
                  <a:lnTo>
                    <a:pt x="21590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1590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28700" y="8829675"/>
            <a:ext cx="16192500" cy="1143000"/>
            <a:chOff x="0" y="0"/>
            <a:chExt cx="21590000" cy="1524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590000" cy="1524000"/>
            </a:xfrm>
            <a:custGeom>
              <a:avLst/>
              <a:gdLst/>
              <a:ahLst/>
              <a:cxnLst/>
              <a:rect l="l" t="t" r="r" b="b"/>
              <a:pathLst>
                <a:path w="21590000" h="1524000">
                  <a:moveTo>
                    <a:pt x="0" y="0"/>
                  </a:moveTo>
                  <a:lnTo>
                    <a:pt x="21590000" y="0"/>
                  </a:lnTo>
                  <a:lnTo>
                    <a:pt x="21590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AF6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1590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28700" y="10525125"/>
            <a:ext cx="16192500" cy="1143000"/>
            <a:chOff x="0" y="0"/>
            <a:chExt cx="21590000" cy="1524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590000" cy="1524000"/>
            </a:xfrm>
            <a:custGeom>
              <a:avLst/>
              <a:gdLst/>
              <a:ahLst/>
              <a:cxnLst/>
              <a:rect l="l" t="t" r="r" b="b"/>
              <a:pathLst>
                <a:path w="21590000" h="1524000">
                  <a:moveTo>
                    <a:pt x="0" y="0"/>
                  </a:moveTo>
                  <a:lnTo>
                    <a:pt x="21590000" y="0"/>
                  </a:lnTo>
                  <a:lnTo>
                    <a:pt x="21590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1590000" cy="156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76325" y="3448050"/>
            <a:ext cx="304800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Feature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219575" y="3448050"/>
            <a:ext cx="295275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Otter.ai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67575" y="3448050"/>
            <a:ext cx="295275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Yoodli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15575" y="3448050"/>
            <a:ext cx="333375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Google Assistant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744575" y="3448050"/>
            <a:ext cx="342900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 (Ours)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76325" y="4591050"/>
            <a:ext cx="304800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Real-time coaching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19575" y="4591050"/>
            <a:ext cx="295275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DC2626"/>
                </a:solidFill>
                <a:latin typeface="HK Grotesk"/>
                <a:ea typeface="HK Grotesk"/>
                <a:cs typeface="HK Grotesk"/>
                <a:sym typeface="HK Grotesk"/>
              </a:rPr>
              <a:t>No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67575" y="4591050"/>
            <a:ext cx="295275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CA8A04"/>
                </a:solidFill>
                <a:latin typeface="HK Grotesk"/>
                <a:ea typeface="HK Grotesk"/>
                <a:cs typeface="HK Grotesk"/>
                <a:sym typeface="HK Grotesk"/>
              </a:rPr>
              <a:t>⚠ Partial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315575" y="4591050"/>
            <a:ext cx="333375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DC2626"/>
                </a:solidFill>
                <a:latin typeface="HK Grotesk"/>
                <a:ea typeface="HK Grotesk"/>
                <a:cs typeface="HK Grotesk"/>
                <a:sym typeface="HK Grotesk"/>
              </a:rPr>
              <a:t>No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744575" y="4591050"/>
            <a:ext cx="342900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16A34A"/>
                </a:solidFill>
                <a:latin typeface="HK Grotesk"/>
                <a:ea typeface="HK Grotesk"/>
                <a:cs typeface="HK Grotesk"/>
                <a:sym typeface="HK Grotesk"/>
              </a:rPr>
              <a:t>✓ Yes (Wingman)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76325" y="5734050"/>
            <a:ext cx="304800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Identity Diarization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219575" y="5734050"/>
            <a:ext cx="295275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Speaker 0/1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267575" y="5734050"/>
            <a:ext cx="295275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Single speaker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315575" y="5734050"/>
            <a:ext cx="333375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6B7280"/>
                </a:solidFill>
                <a:latin typeface="HK Grotesk"/>
                <a:ea typeface="HK Grotesk"/>
                <a:cs typeface="HK Grotesk"/>
                <a:sym typeface="HK Grotesk"/>
              </a:rPr>
              <a:t>N/A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744575" y="5734050"/>
            <a:ext cx="342900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16A34A"/>
                </a:solidFill>
                <a:latin typeface="HK Grotesk"/>
                <a:ea typeface="HK Grotesk"/>
                <a:cs typeface="HK Grotesk"/>
                <a:sym typeface="HK Grotesk"/>
              </a:rPr>
              <a:t>✓ Voiceprint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76325" y="6657975"/>
            <a:ext cx="3048000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Cross-session memory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219575" y="6877050"/>
            <a:ext cx="295275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Per-meeting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267575" y="6877050"/>
            <a:ext cx="295275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Metrics only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315575" y="6877050"/>
            <a:ext cx="333375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CA8A04"/>
                </a:solidFill>
                <a:latin typeface="HK Grotesk"/>
                <a:ea typeface="HK Grotesk"/>
                <a:cs typeface="HK Grotesk"/>
                <a:sym typeface="HK Grotesk"/>
              </a:rPr>
              <a:t>⚠ Partial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744575" y="6877050"/>
            <a:ext cx="342900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16A34A"/>
                </a:solidFill>
                <a:latin typeface="HK Grotesk"/>
                <a:ea typeface="HK Grotesk"/>
                <a:cs typeface="HK Grotesk"/>
                <a:sym typeface="HK Grotesk"/>
              </a:rPr>
              <a:t>✓ KG + Vector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76325" y="8020050"/>
            <a:ext cx="304800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Gamification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19575" y="8020050"/>
            <a:ext cx="295275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DC2626"/>
                </a:solidFill>
                <a:latin typeface="HK Grotesk"/>
                <a:ea typeface="HK Grotesk"/>
                <a:cs typeface="HK Grotesk"/>
                <a:sym typeface="HK Grotesk"/>
              </a:rPr>
              <a:t>No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267575" y="8020050"/>
            <a:ext cx="295275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DC2626"/>
                </a:solidFill>
                <a:latin typeface="HK Grotesk"/>
                <a:ea typeface="HK Grotesk"/>
                <a:cs typeface="HK Grotesk"/>
                <a:sym typeface="HK Grotesk"/>
              </a:rPr>
              <a:t>No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315575" y="8020050"/>
            <a:ext cx="333375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DC2626"/>
                </a:solidFill>
                <a:latin typeface="HK Grotesk"/>
                <a:ea typeface="HK Grotesk"/>
                <a:cs typeface="HK Grotesk"/>
                <a:sym typeface="HK Grotesk"/>
              </a:rPr>
              <a:t>No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744575" y="8020050"/>
            <a:ext cx="342900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16A34A"/>
                </a:solidFill>
                <a:latin typeface="HK Grotesk"/>
                <a:ea typeface="HK Grotesk"/>
                <a:cs typeface="HK Grotesk"/>
                <a:sym typeface="HK Grotesk"/>
              </a:rPr>
              <a:t>✓ XP, Levels, Quests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76325" y="9163050"/>
            <a:ext cx="304800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Privacy Model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219575" y="9163050"/>
            <a:ext cx="295275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Enterprise harvesting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267575" y="9163050"/>
            <a:ext cx="295275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Cloud processing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315575" y="9163050"/>
            <a:ext cx="333375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Google ecosystem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3744575" y="8943975"/>
            <a:ext cx="3429000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>
                <a:solidFill>
                  <a:srgbClr val="16A34A"/>
                </a:solidFill>
                <a:latin typeface="HK Grotesk"/>
                <a:ea typeface="HK Grotesk"/>
                <a:cs typeface="HK Grotesk"/>
                <a:sym typeface="HK Grotesk"/>
              </a:rPr>
              <a:t>✓ Open-source, User-controlled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6.6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Competitive Analysis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192218" y="1831849"/>
            <a:ext cx="4384165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Analysis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28700" y="1831849"/>
            <a:ext cx="6143625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Competitive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Results &amp; Analysis</a:t>
            </a:r>
          </a:p>
        </p:txBody>
      </p:sp>
      <p:sp>
        <p:nvSpPr>
          <p:cNvPr id="60" name="Freeform 60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A2444-E370-859B-976F-F47FD2ABF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64CD5B8-625C-467A-270C-288BEF1F81E3}"/>
              </a:ext>
            </a:extLst>
          </p:cNvPr>
          <p:cNvSpPr/>
          <p:nvPr/>
        </p:nvSpPr>
        <p:spPr>
          <a:xfrm>
            <a:off x="1028700" y="38969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1FC0C23-822D-1FC7-CA8E-6119D4C7FCD3}"/>
              </a:ext>
            </a:extLst>
          </p:cNvPr>
          <p:cNvSpPr/>
          <p:nvPr/>
        </p:nvSpPr>
        <p:spPr>
          <a:xfrm>
            <a:off x="1028700" y="533649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1C7210C-D550-2310-EEFA-AAB4978AC2FA}"/>
              </a:ext>
            </a:extLst>
          </p:cNvPr>
          <p:cNvSpPr/>
          <p:nvPr/>
        </p:nvSpPr>
        <p:spPr>
          <a:xfrm>
            <a:off x="10303079" y="38969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E21AFEB6-3029-886B-58A4-8C0ABB68BE62}"/>
              </a:ext>
            </a:extLst>
          </p:cNvPr>
          <p:cNvSpPr/>
          <p:nvPr/>
        </p:nvSpPr>
        <p:spPr>
          <a:xfrm>
            <a:off x="10303079" y="533649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D8F480B-8AD7-4920-1C45-C7A89EF6D4EC}"/>
              </a:ext>
            </a:extLst>
          </p:cNvPr>
          <p:cNvSpPr txBox="1"/>
          <p:nvPr/>
        </p:nvSpPr>
        <p:spPr>
          <a:xfrm>
            <a:off x="1028700" y="990884"/>
            <a:ext cx="6462096" cy="1311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71"/>
              </a:lnSpc>
            </a:pPr>
            <a:r>
              <a:rPr lang="en-US" sz="11323" b="1" spc="-679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Content.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66E06C3-8A81-E60C-292F-6146BD18AC83}"/>
              </a:ext>
            </a:extLst>
          </p:cNvPr>
          <p:cNvSpPr txBox="1"/>
          <p:nvPr/>
        </p:nvSpPr>
        <p:spPr>
          <a:xfrm>
            <a:off x="2396992" y="3082626"/>
            <a:ext cx="2180301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Introduction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&amp; Importance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BA67EC4-9F0B-E25B-9133-64A4CAE54ED8}"/>
              </a:ext>
            </a:extLst>
          </p:cNvPr>
          <p:cNvSpPr txBox="1"/>
          <p:nvPr/>
        </p:nvSpPr>
        <p:spPr>
          <a:xfrm>
            <a:off x="2396992" y="4522176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 Features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04FB179-DE93-7ED8-9E18-59F24CE70C65}"/>
              </a:ext>
            </a:extLst>
          </p:cNvPr>
          <p:cNvSpPr txBox="1"/>
          <p:nvPr/>
        </p:nvSpPr>
        <p:spPr>
          <a:xfrm>
            <a:off x="11667638" y="4522176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Results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&amp; Analysis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497F20D-0B55-AC21-27B5-5EAF0E3371A3}"/>
              </a:ext>
            </a:extLst>
          </p:cNvPr>
          <p:cNvSpPr txBox="1"/>
          <p:nvPr/>
        </p:nvSpPr>
        <p:spPr>
          <a:xfrm>
            <a:off x="11667638" y="5933589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Futu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Work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7CB4B51-15F0-32F6-A15D-FEF8B320C822}"/>
              </a:ext>
            </a:extLst>
          </p:cNvPr>
          <p:cNvSpPr txBox="1"/>
          <p:nvPr/>
        </p:nvSpPr>
        <p:spPr>
          <a:xfrm>
            <a:off x="1028700" y="29211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1.0 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DDE7138-0400-579D-8D98-2B23525A3426}"/>
              </a:ext>
            </a:extLst>
          </p:cNvPr>
          <p:cNvSpPr txBox="1"/>
          <p:nvPr/>
        </p:nvSpPr>
        <p:spPr>
          <a:xfrm>
            <a:off x="1028700" y="436068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BB102C1-5EFE-414C-B944-5F551C680CC2}"/>
              </a:ext>
            </a:extLst>
          </p:cNvPr>
          <p:cNvSpPr txBox="1"/>
          <p:nvPr/>
        </p:nvSpPr>
        <p:spPr>
          <a:xfrm>
            <a:off x="10303079" y="29211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5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C9EDD2A-6A54-FC67-4425-48DEF8249F63}"/>
              </a:ext>
            </a:extLst>
          </p:cNvPr>
          <p:cNvSpPr txBox="1"/>
          <p:nvPr/>
        </p:nvSpPr>
        <p:spPr>
          <a:xfrm>
            <a:off x="10303079" y="436068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6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83520BF8-04D2-400B-093C-085DB0E3326F}"/>
              </a:ext>
            </a:extLst>
          </p:cNvPr>
          <p:cNvSpPr/>
          <p:nvPr/>
        </p:nvSpPr>
        <p:spPr>
          <a:xfrm>
            <a:off x="1028700" y="67760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6A271D84-2059-C58A-0B06-2070AA013E77}"/>
              </a:ext>
            </a:extLst>
          </p:cNvPr>
          <p:cNvSpPr/>
          <p:nvPr/>
        </p:nvSpPr>
        <p:spPr>
          <a:xfrm>
            <a:off x="10303079" y="67760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943E084-445D-382F-793E-0B10C18F27F4}"/>
              </a:ext>
            </a:extLst>
          </p:cNvPr>
          <p:cNvSpPr txBox="1"/>
          <p:nvPr/>
        </p:nvSpPr>
        <p:spPr>
          <a:xfrm>
            <a:off x="2396992" y="5961727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Syst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em Architecture 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1447B9C-C9BF-B004-5406-7DD8AD0848AA}"/>
              </a:ext>
            </a:extLst>
          </p:cNvPr>
          <p:cNvSpPr txBox="1"/>
          <p:nvPr/>
        </p:nvSpPr>
        <p:spPr>
          <a:xfrm>
            <a:off x="1028700" y="58002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D549B51-2ACE-3DE6-52F5-6F724D890D60}"/>
              </a:ext>
            </a:extLst>
          </p:cNvPr>
          <p:cNvSpPr txBox="1"/>
          <p:nvPr/>
        </p:nvSpPr>
        <p:spPr>
          <a:xfrm>
            <a:off x="10303079" y="58002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7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A0F61A52-7AF4-6E3E-7EB1-B7B92DDA795C}"/>
              </a:ext>
            </a:extLst>
          </p:cNvPr>
          <p:cNvSpPr/>
          <p:nvPr/>
        </p:nvSpPr>
        <p:spPr>
          <a:xfrm>
            <a:off x="1028700" y="821559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BC502DA-4975-206F-0FC3-A0F75580CF9D}"/>
              </a:ext>
            </a:extLst>
          </p:cNvPr>
          <p:cNvSpPr txBox="1"/>
          <p:nvPr/>
        </p:nvSpPr>
        <p:spPr>
          <a:xfrm>
            <a:off x="2396992" y="7401277"/>
            <a:ext cx="2749832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Hybrid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RAG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DAEFE6C-57CE-DDA2-FB97-6AB01645FC9E}"/>
              </a:ext>
            </a:extLst>
          </p:cNvPr>
          <p:cNvSpPr txBox="1"/>
          <p:nvPr/>
        </p:nvSpPr>
        <p:spPr>
          <a:xfrm>
            <a:off x="1028700" y="723978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23B1265-1ADD-7BA6-281F-E2A700C75B22}"/>
              </a:ext>
            </a:extLst>
          </p:cNvPr>
          <p:cNvSpPr txBox="1"/>
          <p:nvPr/>
        </p:nvSpPr>
        <p:spPr>
          <a:xfrm>
            <a:off x="11667638" y="3234692"/>
            <a:ext cx="2749832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Implement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ation </a:t>
            </a: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1F383B96-FFCB-647D-D990-7C7AF707234D}"/>
              </a:ext>
            </a:extLst>
          </p:cNvPr>
          <p:cNvSpPr/>
          <p:nvPr/>
        </p:nvSpPr>
        <p:spPr>
          <a:xfrm>
            <a:off x="10303079" y="8206067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876DBAB-6EB6-BCAD-6669-E5BAFC51069C}"/>
              </a:ext>
            </a:extLst>
          </p:cNvPr>
          <p:cNvSpPr txBox="1"/>
          <p:nvPr/>
        </p:nvSpPr>
        <p:spPr>
          <a:xfrm>
            <a:off x="11671372" y="7543817"/>
            <a:ext cx="1895536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Conclusion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35CE482-0455-0203-5666-A3D05A8C1972}"/>
              </a:ext>
            </a:extLst>
          </p:cNvPr>
          <p:cNvSpPr txBox="1"/>
          <p:nvPr/>
        </p:nvSpPr>
        <p:spPr>
          <a:xfrm>
            <a:off x="10303079" y="7230264"/>
            <a:ext cx="1221684" cy="821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8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</p:spTree>
    <p:extLst>
      <p:ext uri="{BB962C8B-B14F-4D97-AF65-F5344CB8AC3E}">
        <p14:creationId xmlns:p14="http://schemas.microsoft.com/office/powerpoint/2010/main" val="427065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77" b="-92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2636013"/>
            <a:ext cx="4970131" cy="420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384"/>
              </a:lnSpc>
              <a:spcBef>
                <a:spcPct val="0"/>
              </a:spcBef>
            </a:pPr>
            <a:r>
              <a:rPr lang="en-US" sz="24560" b="1" spc="-147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7.0</a:t>
            </a:r>
          </a:p>
        </p:txBody>
      </p:sp>
      <p:sp>
        <p:nvSpPr>
          <p:cNvPr id="4" name="AutoShape 4"/>
          <p:cNvSpPr/>
          <p:nvPr/>
        </p:nvSpPr>
        <p:spPr>
          <a:xfrm>
            <a:off x="1028700" y="9751838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Future Work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Page 7.0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09082" y="493142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Section 7.0</a:t>
            </a:r>
          </a:p>
        </p:txBody>
      </p:sp>
      <p:sp>
        <p:nvSpPr>
          <p:cNvPr id="8" name="AutoShape 8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Bluseel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00423" y="3549015"/>
            <a:ext cx="11339847" cy="3179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89"/>
              </a:lnSpc>
            </a:pPr>
            <a:r>
              <a:rPr lang="en-US" sz="12999" b="1" spc="-25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Future</a:t>
            </a:r>
          </a:p>
          <a:p>
            <a:pPr marL="0" lvl="0" indent="0" algn="l">
              <a:lnSpc>
                <a:spcPts val="12089"/>
              </a:lnSpc>
              <a:spcBef>
                <a:spcPct val="0"/>
              </a:spcBef>
            </a:pPr>
            <a:r>
              <a:rPr lang="en-US" sz="12999" b="1" spc="-25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Work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717110"/>
            <a:ext cx="19644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Group Members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9124445"/>
            <a:ext cx="579554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Muhammad Ahmed &amp; Attique Rehman Alias Adeel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94855" y="8717110"/>
            <a:ext cx="19644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Supervisor: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557955" y="9059863"/>
            <a:ext cx="270134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Dr. Jawad Shafi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4581324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V="1">
            <a:off x="1028700" y="5910265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1028700" y="7245070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>
            <a:off x="10909082" y="3155732"/>
            <a:ext cx="6390123" cy="6102568"/>
          </a:xfrm>
          <a:custGeom>
            <a:avLst/>
            <a:gdLst/>
            <a:ahLst/>
            <a:cxnLst/>
            <a:rect l="l" t="t" r="r" b="b"/>
            <a:pathLst>
              <a:path w="6390123" h="6102568">
                <a:moveTo>
                  <a:pt x="6390124" y="0"/>
                </a:moveTo>
                <a:lnTo>
                  <a:pt x="0" y="0"/>
                </a:lnTo>
                <a:lnTo>
                  <a:pt x="0" y="6102568"/>
                </a:lnTo>
                <a:lnTo>
                  <a:pt x="6390124" y="6102568"/>
                </a:lnTo>
                <a:lnTo>
                  <a:pt x="6390124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7.1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Edge Computing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86054" y="2349776"/>
            <a:ext cx="5457946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Computing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349776"/>
            <a:ext cx="2657354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Edge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3960894"/>
            <a:ext cx="9148381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Edge Processing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5289836"/>
            <a:ext cx="7424217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Offline Functionality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6624640"/>
            <a:ext cx="779728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Noise Filtering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Future Work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028700" y="4571799"/>
            <a:ext cx="1180238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Shifting computational tasks directly to the mobile device instead of cloud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5910265"/>
            <a:ext cx="1180238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Allowing app to provide coaching without an active internet connection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7254595"/>
            <a:ext cx="988038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Enhancing on-device audio cleanup before it reaches the AI models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4581324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V="1">
            <a:off x="1028700" y="5910265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1028700" y="7250785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7.2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Multi-Speaker Diarization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88318" y="2349776"/>
            <a:ext cx="5241528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Diarization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349776"/>
            <a:ext cx="7259618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Multi-Speaker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960894"/>
            <a:ext cx="9148381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N-Speaker Tracking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5289836"/>
            <a:ext cx="7424217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Manual Identity Tagging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6630355"/>
            <a:ext cx="779728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 dirty="0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Interaction Maps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Future Work</a:t>
            </a:r>
          </a:p>
        </p:txBody>
      </p:sp>
      <p:sp>
        <p:nvSpPr>
          <p:cNvPr id="15" name="Freeform 15"/>
          <p:cNvSpPr/>
          <p:nvPr/>
        </p:nvSpPr>
        <p:spPr>
          <a:xfrm>
            <a:off x="11315465" y="4785127"/>
            <a:ext cx="5943835" cy="4093816"/>
          </a:xfrm>
          <a:custGeom>
            <a:avLst/>
            <a:gdLst/>
            <a:ahLst/>
            <a:cxnLst/>
            <a:rect l="l" t="t" r="r" b="b"/>
            <a:pathLst>
              <a:path w="5943835" h="4093816">
                <a:moveTo>
                  <a:pt x="0" y="0"/>
                </a:moveTo>
                <a:lnTo>
                  <a:pt x="5943835" y="0"/>
                </a:lnTo>
                <a:lnTo>
                  <a:pt x="5943835" y="4093816"/>
                </a:lnTo>
                <a:lnTo>
                  <a:pt x="0" y="40938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028700" y="4577482"/>
            <a:ext cx="1281924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Expanding system to track and identify unlimited number of distinct speakers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5924349"/>
            <a:ext cx="9639300" cy="419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 dirty="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Allowing users to manually assign names to newly recognized voices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7260310"/>
            <a:ext cx="9148380" cy="419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 dirty="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Visualizing who spoke to whom and how often during a meeting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4581324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V="1">
            <a:off x="1028700" y="5910265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1028700" y="7298410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1883468" y="4571445"/>
            <a:ext cx="5375832" cy="4529139"/>
          </a:xfrm>
          <a:custGeom>
            <a:avLst/>
            <a:gdLst/>
            <a:ahLst/>
            <a:cxnLst/>
            <a:rect l="l" t="t" r="r" b="b"/>
            <a:pathLst>
              <a:path w="5375832" h="4529139">
                <a:moveTo>
                  <a:pt x="0" y="0"/>
                </a:moveTo>
                <a:lnTo>
                  <a:pt x="5375832" y="0"/>
                </a:lnTo>
                <a:lnTo>
                  <a:pt x="5375832" y="4529139"/>
                </a:lnTo>
                <a:lnTo>
                  <a:pt x="0" y="45291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7.3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Multilingual Expansion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59365" y="2349776"/>
            <a:ext cx="5070914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Expansion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349776"/>
            <a:ext cx="6130665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Multilingual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3960894"/>
            <a:ext cx="9148381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Urdu STT Pipeline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5289836"/>
            <a:ext cx="7424217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Contextual Retrieval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6677980"/>
            <a:ext cx="779728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Broader Reach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Future Work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071867" y="4581324"/>
            <a:ext cx="1031622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Developing a dedicated speech-to-text pipeline for the Urdu language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1867" y="5910265"/>
            <a:ext cx="1294404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Adapting the RAG memory system to accurately fetch context on urdu language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1867" y="7307935"/>
            <a:ext cx="12944042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Expanding the app's accessibility to non-English speaking demographics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4581324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V="1">
            <a:off x="1028700" y="5923499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1028700" y="7298410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1028700" y="8642739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7.4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Multimodal Integration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59365" y="2349776"/>
            <a:ext cx="5446485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spc="-175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Integration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349776"/>
            <a:ext cx="5863819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Multimodal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3960894"/>
            <a:ext cx="9148381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Video Feed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5303070"/>
            <a:ext cx="7424217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Facial Expression Recognition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6677980"/>
            <a:ext cx="779728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Speaking pitch and tone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Future Work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8022310"/>
            <a:ext cx="779728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Holistic Metrics</a:t>
            </a:r>
          </a:p>
        </p:txBody>
      </p:sp>
      <p:sp>
        <p:nvSpPr>
          <p:cNvPr id="17" name="Freeform 17"/>
          <p:cNvSpPr/>
          <p:nvPr/>
        </p:nvSpPr>
        <p:spPr>
          <a:xfrm>
            <a:off x="11398031" y="4443352"/>
            <a:ext cx="7082219" cy="5199663"/>
          </a:xfrm>
          <a:custGeom>
            <a:avLst/>
            <a:gdLst/>
            <a:ahLst/>
            <a:cxnLst/>
            <a:rect l="l" t="t" r="r" b="b"/>
            <a:pathLst>
              <a:path w="7082219" h="5199663">
                <a:moveTo>
                  <a:pt x="0" y="0"/>
                </a:moveTo>
                <a:lnTo>
                  <a:pt x="7082220" y="0"/>
                </a:lnTo>
                <a:lnTo>
                  <a:pt x="7082220" y="5199663"/>
                </a:lnTo>
                <a:lnTo>
                  <a:pt x="0" y="51996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2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028700" y="4582980"/>
            <a:ext cx="1030621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Processing camera input to analyze visual cues alongside audio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91821" y="5933024"/>
            <a:ext cx="1030621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Gauging the other person's emotions through their facial reactions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7307935"/>
            <a:ext cx="1030621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Analyzing vocal inflections for deeper, more accurate sentiment analysis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8661789"/>
            <a:ext cx="11201579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Combining audio, visual, and textual data for a comprehensive communication score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63A84-F609-3FB5-D26C-904313DC1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4A9CD33-6D78-373E-9588-5920D2C16B78}"/>
              </a:ext>
            </a:extLst>
          </p:cNvPr>
          <p:cNvSpPr/>
          <p:nvPr/>
        </p:nvSpPr>
        <p:spPr>
          <a:xfrm>
            <a:off x="1028700" y="38969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D20A880-85A2-957D-76F1-8223164FDBFA}"/>
              </a:ext>
            </a:extLst>
          </p:cNvPr>
          <p:cNvSpPr/>
          <p:nvPr/>
        </p:nvSpPr>
        <p:spPr>
          <a:xfrm>
            <a:off x="1028700" y="533649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2A34413F-7D54-F7C4-1EB5-1E5F7C16759E}"/>
              </a:ext>
            </a:extLst>
          </p:cNvPr>
          <p:cNvSpPr/>
          <p:nvPr/>
        </p:nvSpPr>
        <p:spPr>
          <a:xfrm>
            <a:off x="10303079" y="38969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DAC5BA40-E92C-3C29-D1E4-D408E745E101}"/>
              </a:ext>
            </a:extLst>
          </p:cNvPr>
          <p:cNvSpPr/>
          <p:nvPr/>
        </p:nvSpPr>
        <p:spPr>
          <a:xfrm>
            <a:off x="10303079" y="533649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5FC1599-47E1-2077-331C-24E217482652}"/>
              </a:ext>
            </a:extLst>
          </p:cNvPr>
          <p:cNvSpPr txBox="1"/>
          <p:nvPr/>
        </p:nvSpPr>
        <p:spPr>
          <a:xfrm>
            <a:off x="1028700" y="990884"/>
            <a:ext cx="6462096" cy="1311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71"/>
              </a:lnSpc>
            </a:pPr>
            <a:r>
              <a:rPr lang="en-US" sz="11323" b="1" spc="-679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Content.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08AE4F8-8B1D-30E6-41A4-74EFC9AAD34D}"/>
              </a:ext>
            </a:extLst>
          </p:cNvPr>
          <p:cNvSpPr txBox="1"/>
          <p:nvPr/>
        </p:nvSpPr>
        <p:spPr>
          <a:xfrm>
            <a:off x="2396992" y="3082626"/>
            <a:ext cx="2180301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Introduction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&amp; Importance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CC97142-33BB-B45E-2CDE-D337B91B2EFE}"/>
              </a:ext>
            </a:extLst>
          </p:cNvPr>
          <p:cNvSpPr txBox="1"/>
          <p:nvPr/>
        </p:nvSpPr>
        <p:spPr>
          <a:xfrm>
            <a:off x="2396992" y="4522176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 Features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82871FE-1B9C-AE9B-829E-1D9D3096F172}"/>
              </a:ext>
            </a:extLst>
          </p:cNvPr>
          <p:cNvSpPr txBox="1"/>
          <p:nvPr/>
        </p:nvSpPr>
        <p:spPr>
          <a:xfrm>
            <a:off x="11667638" y="4522176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Results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&amp; Analysis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23A9C9D-89A5-6126-7AFA-FD4B82EB8835}"/>
              </a:ext>
            </a:extLst>
          </p:cNvPr>
          <p:cNvSpPr txBox="1"/>
          <p:nvPr/>
        </p:nvSpPr>
        <p:spPr>
          <a:xfrm>
            <a:off x="11667638" y="5933589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Futu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Work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A35A594-B326-DDB1-615D-67EFB9B6B577}"/>
              </a:ext>
            </a:extLst>
          </p:cNvPr>
          <p:cNvSpPr txBox="1"/>
          <p:nvPr/>
        </p:nvSpPr>
        <p:spPr>
          <a:xfrm>
            <a:off x="1028700" y="29211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1.0 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2A81BA8-F255-5BAD-865B-68E7DE8892B5}"/>
              </a:ext>
            </a:extLst>
          </p:cNvPr>
          <p:cNvSpPr txBox="1"/>
          <p:nvPr/>
        </p:nvSpPr>
        <p:spPr>
          <a:xfrm>
            <a:off x="1028700" y="436068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6BD67CF-9550-43B7-5FEB-07BEFC6DEC34}"/>
              </a:ext>
            </a:extLst>
          </p:cNvPr>
          <p:cNvSpPr txBox="1"/>
          <p:nvPr/>
        </p:nvSpPr>
        <p:spPr>
          <a:xfrm>
            <a:off x="10303079" y="29211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5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D28F858-EBA0-E156-7A17-91B2DA318363}"/>
              </a:ext>
            </a:extLst>
          </p:cNvPr>
          <p:cNvSpPr txBox="1"/>
          <p:nvPr/>
        </p:nvSpPr>
        <p:spPr>
          <a:xfrm>
            <a:off x="10303079" y="436068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6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4E530CB1-9E3B-088B-DA45-D5F1BFFACF18}"/>
              </a:ext>
            </a:extLst>
          </p:cNvPr>
          <p:cNvSpPr/>
          <p:nvPr/>
        </p:nvSpPr>
        <p:spPr>
          <a:xfrm>
            <a:off x="1028700" y="67760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30BA5A16-8171-ED2F-AFA1-8DF425631FE5}"/>
              </a:ext>
            </a:extLst>
          </p:cNvPr>
          <p:cNvSpPr/>
          <p:nvPr/>
        </p:nvSpPr>
        <p:spPr>
          <a:xfrm>
            <a:off x="10303079" y="677604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1A743C9-F736-C36D-9452-80DB97726A81}"/>
              </a:ext>
            </a:extLst>
          </p:cNvPr>
          <p:cNvSpPr txBox="1"/>
          <p:nvPr/>
        </p:nvSpPr>
        <p:spPr>
          <a:xfrm>
            <a:off x="2396992" y="5961727"/>
            <a:ext cx="189553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Syst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em Architecture 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D8E6789-8ACA-A503-A966-4D889BDBCE69}"/>
              </a:ext>
            </a:extLst>
          </p:cNvPr>
          <p:cNvSpPr txBox="1"/>
          <p:nvPr/>
        </p:nvSpPr>
        <p:spPr>
          <a:xfrm>
            <a:off x="1028700" y="58002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F0527A2-46A7-305C-C0BA-02A8AE18E1C6}"/>
              </a:ext>
            </a:extLst>
          </p:cNvPr>
          <p:cNvSpPr txBox="1"/>
          <p:nvPr/>
        </p:nvSpPr>
        <p:spPr>
          <a:xfrm>
            <a:off x="10303079" y="580023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7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43A548F1-C73D-8F2C-3D34-FC83A018FD89}"/>
              </a:ext>
            </a:extLst>
          </p:cNvPr>
          <p:cNvSpPr/>
          <p:nvPr/>
        </p:nvSpPr>
        <p:spPr>
          <a:xfrm>
            <a:off x="1028700" y="8215592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120A117-DC1A-3762-F400-02628B0332CF}"/>
              </a:ext>
            </a:extLst>
          </p:cNvPr>
          <p:cNvSpPr txBox="1"/>
          <p:nvPr/>
        </p:nvSpPr>
        <p:spPr>
          <a:xfrm>
            <a:off x="2396992" y="7401277"/>
            <a:ext cx="2749832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Hybrid </a:t>
            </a:r>
          </a:p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RAG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A40234A1-F477-A396-9317-F5D66E4AE62C}"/>
              </a:ext>
            </a:extLst>
          </p:cNvPr>
          <p:cNvSpPr txBox="1"/>
          <p:nvPr/>
        </p:nvSpPr>
        <p:spPr>
          <a:xfrm>
            <a:off x="1028700" y="7239789"/>
            <a:ext cx="1221684" cy="821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1D44285-A020-8A74-0E79-D237F65A9A09}"/>
              </a:ext>
            </a:extLst>
          </p:cNvPr>
          <p:cNvSpPr txBox="1"/>
          <p:nvPr/>
        </p:nvSpPr>
        <p:spPr>
          <a:xfrm>
            <a:off x="11667638" y="3234692"/>
            <a:ext cx="2749832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Implement</a:t>
            </a:r>
            <a:r>
              <a:rPr lang="en-US" sz="2400" b="1" u="none" strike="noStrike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ation </a:t>
            </a: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583DA3F3-D145-5CAC-B889-2EE2BAC91BD4}"/>
              </a:ext>
            </a:extLst>
          </p:cNvPr>
          <p:cNvSpPr/>
          <p:nvPr/>
        </p:nvSpPr>
        <p:spPr>
          <a:xfrm>
            <a:off x="10303079" y="8206067"/>
            <a:ext cx="6956221" cy="0"/>
          </a:xfrm>
          <a:prstGeom prst="line">
            <a:avLst/>
          </a:prstGeom>
          <a:ln w="19050" cap="flat">
            <a:solidFill>
              <a:srgbClr val="40404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FEF9B6E0-A167-084F-DED7-1315C0BE9196}"/>
              </a:ext>
            </a:extLst>
          </p:cNvPr>
          <p:cNvSpPr txBox="1"/>
          <p:nvPr/>
        </p:nvSpPr>
        <p:spPr>
          <a:xfrm>
            <a:off x="11671372" y="7543817"/>
            <a:ext cx="1895536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400" b="1">
                <a:solidFill>
                  <a:srgbClr val="40404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Conclusion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B2210F4-0E05-1A07-A6C4-5FE38838AC20}"/>
              </a:ext>
            </a:extLst>
          </p:cNvPr>
          <p:cNvSpPr txBox="1"/>
          <p:nvPr/>
        </p:nvSpPr>
        <p:spPr>
          <a:xfrm>
            <a:off x="10303079" y="7230264"/>
            <a:ext cx="1221684" cy="821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03"/>
              </a:lnSpc>
              <a:spcBef>
                <a:spcPct val="0"/>
              </a:spcBef>
            </a:pPr>
            <a:r>
              <a:rPr lang="en-US" sz="4787" b="1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8</a:t>
            </a:r>
            <a:r>
              <a:rPr lang="en-US" sz="4787" b="1" u="none" strike="noStrike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.0 </a:t>
            </a:r>
          </a:p>
        </p:txBody>
      </p:sp>
    </p:spTree>
    <p:extLst>
      <p:ext uri="{BB962C8B-B14F-4D97-AF65-F5344CB8AC3E}">
        <p14:creationId xmlns:p14="http://schemas.microsoft.com/office/powerpoint/2010/main" val="3968959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77" b="-92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2636013"/>
            <a:ext cx="4970131" cy="420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384"/>
              </a:lnSpc>
              <a:spcBef>
                <a:spcPct val="0"/>
              </a:spcBef>
            </a:pPr>
            <a:r>
              <a:rPr lang="en-US" sz="24560" b="1" spc="-147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8.0</a:t>
            </a:r>
          </a:p>
        </p:txBody>
      </p:sp>
      <p:sp>
        <p:nvSpPr>
          <p:cNvPr id="4" name="AutoShape 4"/>
          <p:cNvSpPr/>
          <p:nvPr/>
        </p:nvSpPr>
        <p:spPr>
          <a:xfrm>
            <a:off x="1028700" y="9751838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Future Work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Page 8.0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09082" y="493142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Section 8.0</a:t>
            </a:r>
          </a:p>
        </p:txBody>
      </p:sp>
      <p:sp>
        <p:nvSpPr>
          <p:cNvPr id="8" name="AutoShape 8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Bluseel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00423" y="4235683"/>
            <a:ext cx="11339847" cy="1645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089"/>
              </a:lnSpc>
              <a:spcBef>
                <a:spcPct val="0"/>
              </a:spcBef>
            </a:pPr>
            <a:r>
              <a:rPr lang="en-US" sz="12999" b="1" spc="-25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Conclusion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717110"/>
            <a:ext cx="19644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Group Members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9124445"/>
            <a:ext cx="579554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Muhammad Ahmed &amp; Attique Rehman Alias Adeel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94855" y="8717110"/>
            <a:ext cx="19644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Supervisor: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557955" y="9059863"/>
            <a:ext cx="270134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Dr. Jawad Shafi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140E0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4600275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flipV="1">
            <a:off x="1028700" y="5923499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1028700" y="7298410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028700" y="8633214"/>
            <a:ext cx="9148381" cy="0"/>
          </a:xfrm>
          <a:prstGeom prst="line">
            <a:avLst/>
          </a:prstGeom>
          <a:ln w="19050" cap="flat">
            <a:solidFill>
              <a:srgbClr val="140E0C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276627" y="4462477"/>
            <a:ext cx="4982673" cy="4795823"/>
          </a:xfrm>
          <a:custGeom>
            <a:avLst/>
            <a:gdLst/>
            <a:ahLst/>
            <a:cxnLst/>
            <a:rect l="l" t="t" r="r" b="b"/>
            <a:pathLst>
              <a:path w="4982673" h="4795823">
                <a:moveTo>
                  <a:pt x="0" y="0"/>
                </a:moveTo>
                <a:lnTo>
                  <a:pt x="4982673" y="0"/>
                </a:lnTo>
                <a:lnTo>
                  <a:pt x="4982673" y="4795823"/>
                </a:lnTo>
                <a:lnTo>
                  <a:pt x="0" y="47958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736123" y="640129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140E0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Page 8.1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09082" y="493155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Conclusion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349776"/>
            <a:ext cx="5671723" cy="111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83"/>
              </a:lnSpc>
              <a:spcBef>
                <a:spcPct val="0"/>
              </a:spcBef>
            </a:pPr>
            <a:r>
              <a:rPr lang="en-US" sz="8799" b="1" spc="-175">
                <a:solidFill>
                  <a:srgbClr val="8A3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3979845"/>
            <a:ext cx="9148381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Low Latency for advice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5303070"/>
            <a:ext cx="7424217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Accurate transcription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6677980"/>
            <a:ext cx="779728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Context-aware retrieval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00423" y="493142"/>
            <a:ext cx="282099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spc="-36">
                <a:solidFill>
                  <a:srgbClr val="140E0C"/>
                </a:solidFill>
                <a:latin typeface="HK Grotesk"/>
                <a:ea typeface="HK Grotesk"/>
                <a:cs typeface="HK Grotesk"/>
                <a:sym typeface="HK Grotesk"/>
              </a:rPr>
              <a:t>Conclusion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8012785"/>
            <a:ext cx="7797282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140E0C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Identity-Aware Diarization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28700" y="476250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5" y="0"/>
                </a:lnTo>
                <a:lnTo>
                  <a:pt x="5238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013073" y="4609800"/>
            <a:ext cx="1089228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Successfully achieved sub-second response times for real-time coaching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3073" y="5942549"/>
            <a:ext cx="1089228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Maintained high transcription accuracy even in moderate noise environments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3073" y="7317460"/>
            <a:ext cx="1089228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Achieved ~95% relevance using the Hybrid Graph-RAG system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13073" y="8652264"/>
            <a:ext cx="1089228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Reliably distinguished the user's voice from others using precise vector matching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77" b="-92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344350" y="2807463"/>
            <a:ext cx="15599299" cy="420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384"/>
              </a:lnSpc>
              <a:spcBef>
                <a:spcPct val="0"/>
              </a:spcBef>
            </a:pPr>
            <a:r>
              <a:rPr lang="en-US" sz="24560" b="1" spc="-1473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717110"/>
            <a:ext cx="19644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Group Members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124445"/>
            <a:ext cx="579554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Muhammad Ahmed &amp; Attique Rehman Alias Adeel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294855" y="8717110"/>
            <a:ext cx="19644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Supervisor: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557955" y="9059863"/>
            <a:ext cx="270134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</a:pPr>
            <a:r>
              <a:rPr lang="en-US" sz="2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Dr. Jawad Shafi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66197"/>
            <a:ext cx="2434328" cy="3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4"/>
              </a:lnSpc>
            </a:pPr>
            <a:r>
              <a:rPr lang="en-US" sz="3061" b="1" spc="-3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Bubbles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00423" y="493142"/>
            <a:ext cx="381767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COMSATS UNIVERSITY ISLAMABAD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939141" y="493142"/>
            <a:ext cx="232015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FA22CS11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909082" y="493142"/>
            <a:ext cx="264239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LAHORE CAMPUS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700423" y="1019175"/>
            <a:ext cx="1055887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5740806" y="338136"/>
            <a:ext cx="731017" cy="731017"/>
          </a:xfrm>
          <a:custGeom>
            <a:avLst/>
            <a:gdLst/>
            <a:ahLst/>
            <a:cxnLst/>
            <a:rect l="l" t="t" r="r" b="b"/>
            <a:pathLst>
              <a:path w="731017" h="731017">
                <a:moveTo>
                  <a:pt x="0" y="0"/>
                </a:moveTo>
                <a:lnTo>
                  <a:pt x="731017" y="0"/>
                </a:lnTo>
                <a:lnTo>
                  <a:pt x="731017" y="731016"/>
                </a:lnTo>
                <a:lnTo>
                  <a:pt x="0" y="731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2634</Words>
  <Application>Microsoft Office PowerPoint</Application>
  <PresentationFormat>Custom</PresentationFormat>
  <Paragraphs>877</Paragraphs>
  <Slides>59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8" baseType="lpstr">
      <vt:lpstr>HK Grotesk</vt:lpstr>
      <vt:lpstr>DM Sans Bold</vt:lpstr>
      <vt:lpstr>HK Grotesk Bold</vt:lpstr>
      <vt:lpstr>HK Grotesk Light</vt:lpstr>
      <vt:lpstr>Arial</vt:lpstr>
      <vt:lpstr>Canva Sans Bold</vt:lpstr>
      <vt:lpstr>Aptos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FYP PPT</dc:title>
  <cp:lastModifiedBy>FA22-BCS-164 (ATTIQUE REHMAN ALIAS ADEEL)</cp:lastModifiedBy>
  <cp:revision>6</cp:revision>
  <dcterms:created xsi:type="dcterms:W3CDTF">2006-08-16T00:00:00Z</dcterms:created>
  <dcterms:modified xsi:type="dcterms:W3CDTF">2026-06-18T18:43:21Z</dcterms:modified>
  <dc:identifier>DAHM12N30GM</dc:identifier>
</cp:coreProperties>
</file>